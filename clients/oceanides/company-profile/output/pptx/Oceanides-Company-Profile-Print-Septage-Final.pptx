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f2dc8b784444bb6" /><Relationship Type="http://schemas.openxmlformats.org/officeDocument/2006/relationships/extended-properties" Target="/docProps/app.xml" Id="R0a6d4f29efb34a4b" /><Relationship Type="http://schemas.openxmlformats.org/officeDocument/2006/relationships/officeDocument" Target="/ppt/presentation.xml" Id="R89dec38696f74d7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fbed67643e54b4a"/>
  </p:sldMasterIdLst>
  <p:notesMasterIdLst>
    <p:notesMasterId xmlns:r="http://schemas.openxmlformats.org/officeDocument/2006/relationships" r:id="R06c56d4d1c014f4e"/>
  </p:notesMasterIdLst>
  <p:sldIdLst>
    <p:sldId xmlns:r="http://schemas.openxmlformats.org/officeDocument/2006/relationships" id="256" r:id="R412d9a7dedfa49b0"/>
    <p:sldId xmlns:r="http://schemas.openxmlformats.org/officeDocument/2006/relationships" id="257" r:id="R44a1c6e8734e4a1f"/>
    <p:sldId xmlns:r="http://schemas.openxmlformats.org/officeDocument/2006/relationships" id="258" r:id="Ra96a1a60cb15465f"/>
    <p:sldId xmlns:r="http://schemas.openxmlformats.org/officeDocument/2006/relationships" id="259" r:id="Rccbd044381374d73"/>
    <p:sldId xmlns:r="http://schemas.openxmlformats.org/officeDocument/2006/relationships" id="260" r:id="R13aa1ec0fdba4c63"/>
    <p:sldId xmlns:r="http://schemas.openxmlformats.org/officeDocument/2006/relationships" id="261" r:id="Red39a96ef69543e9"/>
    <p:sldId xmlns:r="http://schemas.openxmlformats.org/officeDocument/2006/relationships" id="262" r:id="Ra79a27ea4ab44b1b"/>
  </p:sldIdLst>
  <p:sldSz cx="7562850" cy="106965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e600c4912e24a1a" /><Relationship Type="http://schemas.openxmlformats.org/officeDocument/2006/relationships/slideMaster" Target="/ppt/slideMasters/slideMaster1.xml" Id="R6fbed67643e54b4a" /><Relationship Type="http://schemas.openxmlformats.org/officeDocument/2006/relationships/notesMaster" Target="/ppt/notesMasters/notesMaster1.xml" Id="R06c56d4d1c014f4e" /><Relationship Type="http://schemas.openxmlformats.org/officeDocument/2006/relationships/presProps" Target="/ppt/presProps.xml" Id="R96b724230d114114" /><Relationship Type="http://schemas.openxmlformats.org/officeDocument/2006/relationships/tableStyles" Target="/ppt/tableStyles.xml" Id="R23e8636eb33b41e6" /><Relationship Type="http://schemas.openxmlformats.org/officeDocument/2006/relationships/slide" Target="/ppt/slides/slide1.xml" Id="R412d9a7dedfa49b0" /><Relationship Type="http://schemas.openxmlformats.org/officeDocument/2006/relationships/slide" Target="/ppt/slides/slide2.xml" Id="R44a1c6e8734e4a1f" /><Relationship Type="http://schemas.openxmlformats.org/officeDocument/2006/relationships/slide" Target="/ppt/slides/slide3.xml" Id="Ra96a1a60cb15465f" /><Relationship Type="http://schemas.openxmlformats.org/officeDocument/2006/relationships/slide" Target="/ppt/slides/slide4.xml" Id="Rccbd044381374d73" /><Relationship Type="http://schemas.openxmlformats.org/officeDocument/2006/relationships/slide" Target="/ppt/slides/slide5.xml" Id="R13aa1ec0fdba4c63" /><Relationship Type="http://schemas.openxmlformats.org/officeDocument/2006/relationships/slide" Target="/ppt/slides/slide6.xml" Id="Red39a96ef69543e9" /><Relationship Type="http://schemas.openxmlformats.org/officeDocument/2006/relationships/slide" Target="/ppt/slides/slide7.xml" Id="Ra79a27ea4ab44b1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f43c5a2909d4e5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445f195076f4c68" /><Relationship Type="http://schemas.openxmlformats.org/officeDocument/2006/relationships/notesMaster" Target="/ppt/notesMasters/notesMaster1.xml" Id="R7f293f9dd4e64bd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8c8c945cc294922" /><Relationship Type="http://schemas.openxmlformats.org/officeDocument/2006/relationships/notesMaster" Target="/ppt/notesMasters/notesMaster1.xml" Id="R76106e4c3631443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77650b4b14f4b10" /><Relationship Type="http://schemas.openxmlformats.org/officeDocument/2006/relationships/notesMaster" Target="/ppt/notesMasters/notesMaster1.xml" Id="Rb8d3955f74944f3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57995758bd94a3e" /><Relationship Type="http://schemas.openxmlformats.org/officeDocument/2006/relationships/notesMaster" Target="/ppt/notesMasters/notesMaster1.xml" Id="R5ff9c56c312c4b3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8fc5e2e1a00406c" /><Relationship Type="http://schemas.openxmlformats.org/officeDocument/2006/relationships/notesMaster" Target="/ppt/notesMasters/notesMaster1.xml" Id="R789d496efd4f471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99041c58b794895" /><Relationship Type="http://schemas.openxmlformats.org/officeDocument/2006/relationships/notesMaster" Target="/ppt/notesMasters/notesMaster1.xml" Id="Rdfed443ea0bb441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d736812c5374981" /><Relationship Type="http://schemas.openxmlformats.org/officeDocument/2006/relationships/notesMaster" Target="/ppt/notesMasters/notesMaster1.xml" Id="R5355549e1692453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Logo: transparent outer-background derivative requested by Neil, from canonical clients/oceanides/assets/logo.jpg. Source and edit brief: company-profile/assets/generated-sources.json.</a:t>
            </a:r>
          </a:p>
          <a:p xmlns:a="http://schemas.openxmlformats.org/drawingml/2006/main">
            <a:r>
              <a:t>Service scope, Oceanides coordination and intended audience: user briefing in this chat.</a:t>
            </a:r>
          </a:p>
          <a:p xmlns:a="http://schemas.openxmlformats.org/drawingml/2006/main">
            <a:r>
              <a:t>Phone, email and address: user-supplied Facebook Page screenshot 1000040025.jpg; phone also explicitly confirmed by Neil.</a:t>
            </a:r>
          </a:p>
          <a:p xmlns:a="http://schemas.openxmlformats.org/drawingml/2006/main">
            <a:r>
              <a:t>Legal company name: workflows/oceanides_business_model.md, existing company records.</a:t>
            </a:r>
          </a:p>
          <a:p xmlns:a="http://schemas.openxmlformats.org/drawingml/2006/main">
            <a:r>
              <a:t>Design references: Apple 2025 Environmental Progress Report https://www.apple.com/environment/pdf/Apple_Environmental_Progress_Report_2025.pdf and OpenAI public Design Guidelines https://openai.com/brand/ ; profile-specific direction in clients/oceanides/DESIGN.md. No third-party brand marks used.</a:t>
            </a:r>
          </a:p>
          <a:p xmlns:a="http://schemas.openxmlformats.org/drawingml/2006/main">
            <a:r>
              <a:t>Septage treatment facility offer confirmed by Neil on 2026-10-01. Project scope, system details, capacity and maintenance requirements follow specialist assessment and the agreed proposal. No assertion of supplier accreditation, equipment ownership, licenses, project volume or maintenance-free operation.</a:t>
            </a:r>
          </a:p>
          <a:p xmlns:a="http://schemas.openxmlformats.org/drawingml/2006/main">
            <a:r>
              <a:t>Cover: AI-generated conceptual property cutaway, not a real project or engineering plan. Exact generation brief: company-profile/assets/generated-sources.json.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Logo: transparent outer-background derivative requested by Neil, from canonical clients/oceanides/assets/logo.jpg. Source and edit brief: company-profile/assets/generated-sources.json.</a:t>
            </a:r>
          </a:p>
          <a:p xmlns:a="http://schemas.openxmlformats.org/drawingml/2006/main">
            <a:r>
              <a:t>Service scope, Oceanides coordination and intended audience: user briefing in this chat.</a:t>
            </a:r>
          </a:p>
          <a:p xmlns:a="http://schemas.openxmlformats.org/drawingml/2006/main">
            <a:r>
              <a:t>Phone, email and address: user-supplied Facebook Page screenshot 1000040025.jpg; phone also explicitly confirmed by Neil.</a:t>
            </a:r>
          </a:p>
          <a:p xmlns:a="http://schemas.openxmlformats.org/drawingml/2006/main">
            <a:r>
              <a:t>Legal company name: workflows/oceanides_business_model.md, existing company records.</a:t>
            </a:r>
          </a:p>
          <a:p xmlns:a="http://schemas.openxmlformats.org/drawingml/2006/main">
            <a:r>
              <a:t>Design references: Apple 2025 Environmental Progress Report https://www.apple.com/environment/pdf/Apple_Environmental_Progress_Report_2025.pdf and OpenAI public Design Guidelines https://openai.com/brand/ ; profile-specific direction in clients/oceanides/DESIGN.md. No third-party brand marks used.</a:t>
            </a:r>
          </a:p>
          <a:p xmlns:a="http://schemas.openxmlformats.org/drawingml/2006/main">
            <a:r>
              <a:t>Septage treatment facility offer confirmed by Neil on 2026-10-01. Project scope, system details, capacity and maintenance requirements follow specialist assessment and the agreed proposal. No assertion of supplier accreditation, equipment ownership, licenses, project volume or maintenance-free operation.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Logo: transparent outer-background derivative requested by Neil, from canonical clients/oceanides/assets/logo.jpg. Source and edit brief: company-profile/assets/generated-sources.json.</a:t>
            </a:r>
          </a:p>
          <a:p xmlns:a="http://schemas.openxmlformats.org/drawingml/2006/main">
            <a:r>
              <a:t>Service scope, Oceanides coordination and intended audience: user briefing in this chat.</a:t>
            </a:r>
          </a:p>
          <a:p xmlns:a="http://schemas.openxmlformats.org/drawingml/2006/main">
            <a:r>
              <a:t>Phone, email and address: user-supplied Facebook Page screenshot 1000040025.jpg; phone also explicitly confirmed by Neil.</a:t>
            </a:r>
          </a:p>
          <a:p xmlns:a="http://schemas.openxmlformats.org/drawingml/2006/main">
            <a:r>
              <a:t>Legal company name: workflows/oceanides_business_model.md, existing company records.</a:t>
            </a:r>
          </a:p>
          <a:p xmlns:a="http://schemas.openxmlformats.org/drawingml/2006/main">
            <a:r>
              <a:t>Design references: Apple 2025 Environmental Progress Report https://www.apple.com/environment/pdf/Apple_Environmental_Progress_Report_2025.pdf and OpenAI public Design Guidelines https://openai.com/brand/ ; profile-specific direction in clients/oceanides/DESIGN.md. No third-party brand marks used.</a:t>
            </a:r>
          </a:p>
          <a:p xmlns:a="http://schemas.openxmlformats.org/drawingml/2006/main">
            <a:r>
              <a:t>Septage treatment facility offer confirmed by Neil on 2026-10-01. Project scope, system details, capacity and maintenance requirements follow specialist assessment and the agreed proposal. No assertion of supplier accreditation, equipment ownership, licenses, project volume or maintenance-free operation.</a:t>
            </a:r>
          </a:p>
          <a:p xmlns:a="http://schemas.openxmlformats.org/drawingml/2006/main">
            <a:r>
              <a:t>Matched before/after pair: clients/oceanides/assets/tb2-ba2-before.png and tb2-ba2-after.png. Neil confirmed real job photos on 2026-08-01; see client DESIGN.md and asset-builder source.Service scene: AI-generated fictional specialist, visibly labeled. Not an actual Oceanides employee or completed project. Exact generation brief: company-profile/assets/generated-sources.json.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Logo: transparent outer-background derivative requested by Neil, from canonical clients/oceanides/assets/logo.jpg. Source and edit brief: company-profile/assets/generated-sources.json.</a:t>
            </a:r>
          </a:p>
          <a:p xmlns:a="http://schemas.openxmlformats.org/drawingml/2006/main">
            <a:r>
              <a:t>Service scope, Oceanides coordination and intended audience: user briefing in this chat.</a:t>
            </a:r>
          </a:p>
          <a:p xmlns:a="http://schemas.openxmlformats.org/drawingml/2006/main">
            <a:r>
              <a:t>Phone, email and address: user-supplied Facebook Page screenshot 1000040025.jpg; phone also explicitly confirmed by Neil.</a:t>
            </a:r>
          </a:p>
          <a:p xmlns:a="http://schemas.openxmlformats.org/drawingml/2006/main">
            <a:r>
              <a:t>Legal company name: workflows/oceanides_business_model.md, existing company records.</a:t>
            </a:r>
          </a:p>
          <a:p xmlns:a="http://schemas.openxmlformats.org/drawingml/2006/main">
            <a:r>
              <a:t>Design references: Apple 2025 Environmental Progress Report https://www.apple.com/environment/pdf/Apple_Environmental_Progress_Report_2025.pdf and OpenAI public Design Guidelines https://openai.com/brand/ ; profile-specific direction in clients/oceanides/DESIGN.md. No third-party brand marks used.</a:t>
            </a:r>
          </a:p>
          <a:p xmlns:a="http://schemas.openxmlformats.org/drawingml/2006/main">
            <a:r>
              <a:t>Septage treatment facility offer confirmed by Neil on 2026-10-01. Project scope, system details, capacity and maintenance requirements follow specialist assessment and the agreed proposal. No assertion of supplier accreditation, equipment ownership, licenses, project volume or maintenance-free operation.</a:t>
            </a:r>
          </a:p>
          <a:p xmlns:a="http://schemas.openxmlformats.org/drawingml/2006/main">
            <a:r>
              <a:t>Septage treatment facility offer confirmed by Neil on 2026-10-01. Oceanides remains your main contact from the initial inquiry to turnover. We coordinate the site assessment, quotation and service delivery, including specialist contractors where the work requires them.</a:t>
            </a:r>
          </a:p>
          <a:p xmlns:a="http://schemas.openxmlformats.org/drawingml/2006/main">
            <a:r>
              <a:t>System details, capacity and maintenance requirements follow the agreed technical proposal.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Logo: transparent outer-background derivative requested by Neil, from canonical clients/oceanides/assets/logo.jpg. Source and edit brief: company-profile/assets/generated-sources.json.</a:t>
            </a:r>
          </a:p>
          <a:p xmlns:a="http://schemas.openxmlformats.org/drawingml/2006/main">
            <a:r>
              <a:t>Service scope, Oceanides coordination and intended audience: user briefing in this chat.</a:t>
            </a:r>
          </a:p>
          <a:p xmlns:a="http://schemas.openxmlformats.org/drawingml/2006/main">
            <a:r>
              <a:t>Phone, email and address: user-supplied Facebook Page screenshot 1000040025.jpg; phone also explicitly confirmed by Neil.</a:t>
            </a:r>
          </a:p>
          <a:p xmlns:a="http://schemas.openxmlformats.org/drawingml/2006/main">
            <a:r>
              <a:t>Legal company name: workflows/oceanides_business_model.md, existing company records.</a:t>
            </a:r>
          </a:p>
          <a:p xmlns:a="http://schemas.openxmlformats.org/drawingml/2006/main">
            <a:r>
              <a:t>Design references: Apple 2025 Environmental Progress Report https://www.apple.com/environment/pdf/Apple_Environmental_Progress_Report_2025.pdf and OpenAI public Design Guidelines https://openai.com/brand/ ; profile-specific direction in clients/oceanides/DESIGN.md. No third-party brand marks used.</a:t>
            </a:r>
          </a:p>
          <a:p xmlns:a="http://schemas.openxmlformats.org/drawingml/2006/main">
            <a:r>
              <a:t>Septage treatment facility offer confirmed by Neil on 2026-10-01. Project scope, system details, capacity and maintenance requirements follow specialist assessment and the agreed proposal. No assertion of supplier accreditation, equipment ownership, licenses, project volume or maintenance-free operation.</a:t>
            </a:r>
          </a:p>
          <a:p xmlns:a="http://schemas.openxmlformats.org/drawingml/2006/main">
            <a:r>
              <a:t>Service scene: AI-generated fictional specialist, visibly labeled. Not an actual Oceanides employee or completed project. Exact generation brief: company-profile/assets/generated-sources.json.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Logo: transparent outer-background derivative requested by Neil, from canonical clients/oceanides/assets/logo.jpg. Source and edit brief: company-profile/assets/generated-sources.json.</a:t>
            </a:r>
          </a:p>
          <a:p xmlns:a="http://schemas.openxmlformats.org/drawingml/2006/main">
            <a:r>
              <a:t>Service scope, Oceanides coordination and intended audience: user briefing in this chat.</a:t>
            </a:r>
          </a:p>
          <a:p xmlns:a="http://schemas.openxmlformats.org/drawingml/2006/main">
            <a:r>
              <a:t>Phone, email and address: user-supplied Facebook Page screenshot 1000040025.jpg; phone also explicitly confirmed by Neil.</a:t>
            </a:r>
          </a:p>
          <a:p xmlns:a="http://schemas.openxmlformats.org/drawingml/2006/main">
            <a:r>
              <a:t>Legal company name: workflows/oceanides_business_model.md, existing company records.</a:t>
            </a:r>
          </a:p>
          <a:p xmlns:a="http://schemas.openxmlformats.org/drawingml/2006/main">
            <a:r>
              <a:t>Design references: Apple 2025 Environmental Progress Report https://www.apple.com/environment/pdf/Apple_Environmental_Progress_Report_2025.pdf and OpenAI public Design Guidelines https://openai.com/brand/ ; profile-specific direction in clients/oceanides/DESIGN.md. No third-party brand marks used.</a:t>
            </a:r>
          </a:p>
          <a:p xmlns:a="http://schemas.openxmlformats.org/drawingml/2006/main">
            <a:r>
              <a:t>Septage treatment facility offer confirmed by Neil on 2026-10-01. Project scope, system details, capacity and maintenance requirements follow specialist assessment and the agreed proposal. No assertion of supplier accreditation, equipment ownership, licenses, project volume or maintenance-free operation.</a:t>
            </a:r>
          </a:p>
          <a:p xmlns:a="http://schemas.openxmlformats.org/drawingml/2006/main">
            <a:r>
              <a:t>Service scene: AI-generated fictional specialist, visibly labeled. Not an actual Oceanides employee or completed project. Exact generation brief: company-profile/assets/generated-sources.json.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Logo: transparent outer-background derivative requested by Neil, from canonical clients/oceanides/assets/logo.jpg. Source and edit brief: company-profile/assets/generated-sources.json.</a:t>
            </a:r>
          </a:p>
          <a:p xmlns:a="http://schemas.openxmlformats.org/drawingml/2006/main">
            <a:r>
              <a:t>Service scope, Oceanides coordination and intended audience: user briefing in this chat.</a:t>
            </a:r>
          </a:p>
          <a:p xmlns:a="http://schemas.openxmlformats.org/drawingml/2006/main">
            <a:r>
              <a:t>Phone, email and address: user-supplied Facebook Page screenshot 1000040025.jpg; phone also explicitly confirmed by Neil.</a:t>
            </a:r>
          </a:p>
          <a:p xmlns:a="http://schemas.openxmlformats.org/drawingml/2006/main">
            <a:r>
              <a:t>Legal company name: workflows/oceanides_business_model.md, existing company records.</a:t>
            </a:r>
          </a:p>
          <a:p xmlns:a="http://schemas.openxmlformats.org/drawingml/2006/main">
            <a:r>
              <a:t>Design references: Apple 2025 Environmental Progress Report https://www.apple.com/environment/pdf/Apple_Environmental_Progress_Report_2025.pdf and OpenAI public Design Guidelines https://openai.com/brand/ ; profile-specific direction in clients/oceanides/DESIGN.md. No third-party brand marks used.</a:t>
            </a:r>
          </a:p>
          <a:p xmlns:a="http://schemas.openxmlformats.org/drawingml/2006/main">
            <a:r>
              <a:t>Septage treatment facility offer confirmed by Neil on 2026-10-01. Project scope, system details, capacity and maintenance requirements follow specialist assessment and the agreed proposal. No assertion of supplier accreditation, equipment ownership, licenses, project volume or maintenance-free operation.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42125c1da5457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36e3ea8a9b3403e" /><Relationship Type="http://schemas.openxmlformats.org/officeDocument/2006/relationships/slideLayout" Target="/ppt/slideLayouts/slideLayout1.xml" Id="R3be7f5197d364eb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be7f5197d364eb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0d182f5c9c43bf" /><Relationship Type="http://schemas.openxmlformats.org/officeDocument/2006/relationships/image" Target="/ppt/media/image.png" Id="Rb862daf09c704d09" /><Relationship Type="http://schemas.openxmlformats.org/officeDocument/2006/relationships/image" Target="/ppt/media/image.jpeg" Id="Ref81f6d6ed2c4e2e" /><Relationship Type="http://schemas.openxmlformats.org/officeDocument/2006/relationships/notesSlide" Target="/ppt/notesSlides/notesSlide1.xml" Id="R3c3986cd448f4a7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f2c882620c45c7" /><Relationship Type="http://schemas.openxmlformats.org/officeDocument/2006/relationships/notesSlide" Target="/ppt/notesSlides/notesSlide2.xml" Id="R066f76ea7fc5406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bf863c58ec4fea" /><Relationship Type="http://schemas.openxmlformats.org/officeDocument/2006/relationships/image" Target="/ppt/media/image2.jpeg" Id="R08609da956334d08" /><Relationship Type="http://schemas.openxmlformats.org/officeDocument/2006/relationships/image" Target="/ppt/media/image3.jpeg" Id="Rddf6d43ae8664ef5" /><Relationship Type="http://schemas.openxmlformats.org/officeDocument/2006/relationships/image" Target="/ppt/media/image4.jpeg" Id="R3358a8e047b3487a" /><Relationship Type="http://schemas.openxmlformats.org/officeDocument/2006/relationships/notesSlide" Target="/ppt/notesSlides/notesSlide3.xml" Id="R56e5360ed325426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53de2d10424c2c" /><Relationship Type="http://schemas.openxmlformats.org/officeDocument/2006/relationships/notesSlide" Target="/ppt/notesSlides/notesSlide4.xml" Id="R8276350af0e8454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ed8b19228a47c0" /><Relationship Type="http://schemas.openxmlformats.org/officeDocument/2006/relationships/image" Target="/ppt/media/image5.jpeg" Id="Rbe89765e12be4247" /><Relationship Type="http://schemas.openxmlformats.org/officeDocument/2006/relationships/notesSlide" Target="/ppt/notesSlides/notesSlide5.xml" Id="R97dfc73126bd454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3e9e991c3a45f1" /><Relationship Type="http://schemas.openxmlformats.org/officeDocument/2006/relationships/image" Target="/ppt/media/image6.jpeg" Id="Rfa4009339d6a45ce" /><Relationship Type="http://schemas.openxmlformats.org/officeDocument/2006/relationships/notesSlide" Target="/ppt/notesSlides/notesSlide6.xml" Id="R78d8a01b95234c8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ea3f808c9e42a1" /><Relationship Type="http://schemas.openxmlformats.org/officeDocument/2006/relationships/image" Target="/ppt/media/image2.png" Id="R2e40fb88c30449ae" /><Relationship Type="http://schemas.openxmlformats.org/officeDocument/2006/relationships/notesSlide" Target="/ppt/notesSlides/notesSlide7.xml" Id="R7ba3bc3b0eca4ee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profile-1">
            <a:extLst xmlns:a="http://schemas.openxmlformats.org/drawingml/2006/main">
              <a:ext uri="{FF2B5EF4-FFF2-40B4-BE49-F238E27FC236}">
                <a16:creationId xmlns:a16="http://schemas.microsoft.com/office/drawing/2014/main" id="{D5257CCB-9AAA-4E75-AE3B-7428D98A0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0"/>
            <a:ext cx="1371600" cy="1257300"/>
          </a:xfrm>
          <a:custGeom xmlns:a="http://schemas.openxmlformats.org/drawingml/2006/main">
            <a:pathLst>
              <a:path w="1371600" h="1257300">
                <a:moveTo>
                  <a:pt x="0" y="1162050"/>
                </a:moveTo>
                <a:lnTo>
                  <a:pt x="34290" y="1104674"/>
                </a:lnTo>
                <a:lnTo>
                  <a:pt x="68580" y="1048750"/>
                </a:lnTo>
                <a:lnTo>
                  <a:pt x="102870" y="994279"/>
                </a:lnTo>
                <a:lnTo>
                  <a:pt x="137160" y="941261"/>
                </a:lnTo>
                <a:lnTo>
                  <a:pt x="171450" y="889695"/>
                </a:lnTo>
                <a:lnTo>
                  <a:pt x="205740" y="839581"/>
                </a:lnTo>
                <a:lnTo>
                  <a:pt x="240030" y="790920"/>
                </a:lnTo>
                <a:lnTo>
                  <a:pt x="274320" y="743712"/>
                </a:lnTo>
                <a:lnTo>
                  <a:pt x="308610" y="697956"/>
                </a:lnTo>
                <a:lnTo>
                  <a:pt x="342900" y="653653"/>
                </a:lnTo>
                <a:lnTo>
                  <a:pt x="377190" y="610803"/>
                </a:lnTo>
                <a:lnTo>
                  <a:pt x="411480" y="569405"/>
                </a:lnTo>
                <a:lnTo>
                  <a:pt x="445770" y="529459"/>
                </a:lnTo>
                <a:lnTo>
                  <a:pt x="480060" y="490966"/>
                </a:lnTo>
                <a:lnTo>
                  <a:pt x="514350" y="453926"/>
                </a:lnTo>
                <a:lnTo>
                  <a:pt x="548640" y="418338"/>
                </a:lnTo>
                <a:lnTo>
                  <a:pt x="582930" y="384203"/>
                </a:lnTo>
                <a:lnTo>
                  <a:pt x="617220" y="351520"/>
                </a:lnTo>
                <a:lnTo>
                  <a:pt x="651510" y="320290"/>
                </a:lnTo>
                <a:lnTo>
                  <a:pt x="685800" y="290513"/>
                </a:lnTo>
                <a:lnTo>
                  <a:pt x="720090" y="262188"/>
                </a:lnTo>
                <a:lnTo>
                  <a:pt x="754380" y="235315"/>
                </a:lnTo>
                <a:lnTo>
                  <a:pt x="788670" y="209895"/>
                </a:lnTo>
                <a:lnTo>
                  <a:pt x="822960" y="185928"/>
                </a:lnTo>
                <a:lnTo>
                  <a:pt x="857250" y="163413"/>
                </a:lnTo>
                <a:lnTo>
                  <a:pt x="891540" y="142351"/>
                </a:lnTo>
                <a:lnTo>
                  <a:pt x="925830" y="122742"/>
                </a:lnTo>
                <a:lnTo>
                  <a:pt x="960120" y="104585"/>
                </a:lnTo>
                <a:lnTo>
                  <a:pt x="994410" y="87880"/>
                </a:lnTo>
                <a:lnTo>
                  <a:pt x="1028700" y="72628"/>
                </a:lnTo>
                <a:lnTo>
                  <a:pt x="1062990" y="58829"/>
                </a:lnTo>
                <a:lnTo>
                  <a:pt x="1097280" y="46482"/>
                </a:lnTo>
                <a:lnTo>
                  <a:pt x="1131570" y="35588"/>
                </a:lnTo>
                <a:lnTo>
                  <a:pt x="1165860" y="26146"/>
                </a:lnTo>
                <a:lnTo>
                  <a:pt x="1200150" y="18157"/>
                </a:lnTo>
                <a:lnTo>
                  <a:pt x="1234440" y="11620"/>
                </a:lnTo>
                <a:lnTo>
                  <a:pt x="1268730" y="6537"/>
                </a:lnTo>
                <a:lnTo>
                  <a:pt x="1303020" y="2905"/>
                </a:lnTo>
                <a:lnTo>
                  <a:pt x="1337310" y="726"/>
                </a:lnTo>
                <a:lnTo>
                  <a:pt x="1371600" y="0"/>
                </a:lnTo>
                <a:lnTo>
                  <a:pt x="1371600" y="28575"/>
                </a:lnTo>
                <a:lnTo>
                  <a:pt x="1337310" y="31543"/>
                </a:lnTo>
                <a:lnTo>
                  <a:pt x="1303020" y="35950"/>
                </a:lnTo>
                <a:lnTo>
                  <a:pt x="1268730" y="41782"/>
                </a:lnTo>
                <a:lnTo>
                  <a:pt x="1234440" y="49026"/>
                </a:lnTo>
                <a:lnTo>
                  <a:pt x="1200150" y="57667"/>
                </a:lnTo>
                <a:lnTo>
                  <a:pt x="1165860" y="67694"/>
                </a:lnTo>
                <a:lnTo>
                  <a:pt x="1131570" y="79093"/>
                </a:lnTo>
                <a:lnTo>
                  <a:pt x="1097280" y="91853"/>
                </a:lnTo>
                <a:lnTo>
                  <a:pt x="1062990" y="105962"/>
                </a:lnTo>
                <a:lnTo>
                  <a:pt x="1028700" y="121409"/>
                </a:lnTo>
                <a:lnTo>
                  <a:pt x="994410" y="138184"/>
                </a:lnTo>
                <a:lnTo>
                  <a:pt x="960120" y="156277"/>
                </a:lnTo>
                <a:lnTo>
                  <a:pt x="925830" y="175681"/>
                </a:lnTo>
                <a:lnTo>
                  <a:pt x="891540" y="196387"/>
                </a:lnTo>
                <a:lnTo>
                  <a:pt x="857250" y="218388"/>
                </a:lnTo>
                <a:lnTo>
                  <a:pt x="822960" y="241679"/>
                </a:lnTo>
                <a:lnTo>
                  <a:pt x="788670" y="266256"/>
                </a:lnTo>
                <a:lnTo>
                  <a:pt x="754380" y="292113"/>
                </a:lnTo>
                <a:lnTo>
                  <a:pt x="720090" y="319249"/>
                </a:lnTo>
                <a:lnTo>
                  <a:pt x="685800" y="347663"/>
                </a:lnTo>
                <a:lnTo>
                  <a:pt x="651510" y="377352"/>
                </a:lnTo>
                <a:lnTo>
                  <a:pt x="617220" y="408318"/>
                </a:lnTo>
                <a:lnTo>
                  <a:pt x="582930" y="440563"/>
                </a:lnTo>
                <a:lnTo>
                  <a:pt x="548640" y="474089"/>
                </a:lnTo>
                <a:lnTo>
                  <a:pt x="514350" y="508901"/>
                </a:lnTo>
                <a:lnTo>
                  <a:pt x="480060" y="545002"/>
                </a:lnTo>
                <a:lnTo>
                  <a:pt x="445770" y="582398"/>
                </a:lnTo>
                <a:lnTo>
                  <a:pt x="411480" y="621097"/>
                </a:lnTo>
                <a:lnTo>
                  <a:pt x="377190" y="661106"/>
                </a:lnTo>
                <a:lnTo>
                  <a:pt x="342900" y="702434"/>
                </a:lnTo>
                <a:lnTo>
                  <a:pt x="308610" y="745089"/>
                </a:lnTo>
                <a:lnTo>
                  <a:pt x="274320" y="789083"/>
                </a:lnTo>
                <a:lnTo>
                  <a:pt x="240030" y="834426"/>
                </a:lnTo>
                <a:lnTo>
                  <a:pt x="205740" y="881129"/>
                </a:lnTo>
                <a:lnTo>
                  <a:pt x="171450" y="929205"/>
                </a:lnTo>
                <a:lnTo>
                  <a:pt x="137160" y="978666"/>
                </a:lnTo>
                <a:lnTo>
                  <a:pt x="102870" y="1029525"/>
                </a:lnTo>
                <a:lnTo>
                  <a:pt x="68580" y="1081795"/>
                </a:lnTo>
                <a:lnTo>
                  <a:pt x="34290" y="1135491"/>
                </a:lnTo>
                <a:lnTo>
                  <a:pt x="0" y="1190625"/>
                </a:lnTo>
                <a:close/>
              </a:path>
            </a:pathLst>
          </a:custGeom>
          <a:solidFill xmlns:a="http://schemas.openxmlformats.org/drawingml/2006/main">
            <a:srgbClr val="E5EEF6"/>
          </a:solidFill>
          <a:ln xmlns:a="http://schemas.openxmlformats.org/drawingml/2006/main" w="0">
            <a:noFill/>
          </a:ln>
        </p:spPr>
      </p:sp>
      <p:sp>
        <p:nvSpPr>
          <p:cNvPr id="2" name="profile-2">
            <a:extLst xmlns:a="http://schemas.openxmlformats.org/drawingml/2006/main">
              <a:ext uri="{FF2B5EF4-FFF2-40B4-BE49-F238E27FC236}">
                <a16:creationId xmlns:a16="http://schemas.microsoft.com/office/drawing/2014/main" id="{EB7DFE71-3575-4B8F-8A90-885AB656D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0"/>
            <a:ext cx="1371600" cy="1257300"/>
          </a:xfrm>
          <a:custGeom xmlns:a="http://schemas.openxmlformats.org/drawingml/2006/main">
            <a:pathLst>
              <a:path w="1371600" h="1257300">
                <a:moveTo>
                  <a:pt x="0" y="1009650"/>
                </a:moveTo>
                <a:lnTo>
                  <a:pt x="34290" y="952274"/>
                </a:lnTo>
                <a:lnTo>
                  <a:pt x="68580" y="896350"/>
                </a:lnTo>
                <a:lnTo>
                  <a:pt x="102870" y="841879"/>
                </a:lnTo>
                <a:lnTo>
                  <a:pt x="137160" y="788861"/>
                </a:lnTo>
                <a:lnTo>
                  <a:pt x="171450" y="737295"/>
                </a:lnTo>
                <a:lnTo>
                  <a:pt x="205740" y="687181"/>
                </a:lnTo>
                <a:lnTo>
                  <a:pt x="240030" y="638520"/>
                </a:lnTo>
                <a:lnTo>
                  <a:pt x="274320" y="591312"/>
                </a:lnTo>
                <a:lnTo>
                  <a:pt x="308610" y="545556"/>
                </a:lnTo>
                <a:lnTo>
                  <a:pt x="342900" y="501253"/>
                </a:lnTo>
                <a:lnTo>
                  <a:pt x="377190" y="458403"/>
                </a:lnTo>
                <a:lnTo>
                  <a:pt x="411480" y="417004"/>
                </a:lnTo>
                <a:lnTo>
                  <a:pt x="445770" y="377059"/>
                </a:lnTo>
                <a:lnTo>
                  <a:pt x="480060" y="338566"/>
                </a:lnTo>
                <a:lnTo>
                  <a:pt x="514350" y="301526"/>
                </a:lnTo>
                <a:lnTo>
                  <a:pt x="548640" y="265938"/>
                </a:lnTo>
                <a:lnTo>
                  <a:pt x="582930" y="231803"/>
                </a:lnTo>
                <a:lnTo>
                  <a:pt x="617220" y="199120"/>
                </a:lnTo>
                <a:lnTo>
                  <a:pt x="651510" y="167890"/>
                </a:lnTo>
                <a:lnTo>
                  <a:pt x="685800" y="138113"/>
                </a:lnTo>
                <a:lnTo>
                  <a:pt x="720090" y="109788"/>
                </a:lnTo>
                <a:lnTo>
                  <a:pt x="754380" y="82915"/>
                </a:lnTo>
                <a:lnTo>
                  <a:pt x="788670" y="57495"/>
                </a:lnTo>
                <a:lnTo>
                  <a:pt x="822960" y="33528"/>
                </a:lnTo>
                <a:lnTo>
                  <a:pt x="857250" y="11013"/>
                </a:lnTo>
                <a:lnTo>
                  <a:pt x="891540" y="0"/>
                </a:lnTo>
                <a:lnTo>
                  <a:pt x="925830" y="0"/>
                </a:lnTo>
                <a:lnTo>
                  <a:pt x="960120" y="0"/>
                </a:lnTo>
                <a:lnTo>
                  <a:pt x="994410" y="0"/>
                </a:lnTo>
                <a:lnTo>
                  <a:pt x="1028700" y="0"/>
                </a:lnTo>
                <a:lnTo>
                  <a:pt x="1062990" y="0"/>
                </a:lnTo>
                <a:lnTo>
                  <a:pt x="1097280" y="0"/>
                </a:lnTo>
                <a:lnTo>
                  <a:pt x="1131570" y="0"/>
                </a:lnTo>
                <a:lnTo>
                  <a:pt x="1165860" y="0"/>
                </a:lnTo>
                <a:lnTo>
                  <a:pt x="1200150" y="0"/>
                </a:lnTo>
                <a:lnTo>
                  <a:pt x="1234440" y="0"/>
                </a:lnTo>
                <a:lnTo>
                  <a:pt x="1268730" y="0"/>
                </a:lnTo>
                <a:lnTo>
                  <a:pt x="1303020" y="0"/>
                </a:lnTo>
                <a:lnTo>
                  <a:pt x="1337310" y="0"/>
                </a:lnTo>
                <a:lnTo>
                  <a:pt x="1371600" y="0"/>
                </a:lnTo>
                <a:lnTo>
                  <a:pt x="1371600" y="28575"/>
                </a:lnTo>
                <a:lnTo>
                  <a:pt x="1337310" y="30817"/>
                </a:lnTo>
                <a:lnTo>
                  <a:pt x="1303020" y="33045"/>
                </a:lnTo>
                <a:lnTo>
                  <a:pt x="1268730" y="35246"/>
                </a:lnTo>
                <a:lnTo>
                  <a:pt x="1234440" y="37405"/>
                </a:lnTo>
                <a:lnTo>
                  <a:pt x="1200150" y="39510"/>
                </a:lnTo>
                <a:lnTo>
                  <a:pt x="1165860" y="41548"/>
                </a:lnTo>
                <a:lnTo>
                  <a:pt x="1131570" y="43505"/>
                </a:lnTo>
                <a:lnTo>
                  <a:pt x="1097280" y="45371"/>
                </a:lnTo>
                <a:lnTo>
                  <a:pt x="1062990" y="47133"/>
                </a:lnTo>
                <a:lnTo>
                  <a:pt x="1028700" y="48781"/>
                </a:lnTo>
                <a:lnTo>
                  <a:pt x="994410" y="50304"/>
                </a:lnTo>
                <a:lnTo>
                  <a:pt x="960120" y="51693"/>
                </a:lnTo>
                <a:lnTo>
                  <a:pt x="925830" y="52939"/>
                </a:lnTo>
                <a:lnTo>
                  <a:pt x="891540" y="54036"/>
                </a:lnTo>
                <a:lnTo>
                  <a:pt x="857250" y="65988"/>
                </a:lnTo>
                <a:lnTo>
                  <a:pt x="822960" y="89279"/>
                </a:lnTo>
                <a:lnTo>
                  <a:pt x="788670" y="113856"/>
                </a:lnTo>
                <a:lnTo>
                  <a:pt x="754380" y="139713"/>
                </a:lnTo>
                <a:lnTo>
                  <a:pt x="720090" y="166849"/>
                </a:lnTo>
                <a:lnTo>
                  <a:pt x="685800" y="195263"/>
                </a:lnTo>
                <a:lnTo>
                  <a:pt x="651510" y="224952"/>
                </a:lnTo>
                <a:lnTo>
                  <a:pt x="617220" y="255918"/>
                </a:lnTo>
                <a:lnTo>
                  <a:pt x="582930" y="288163"/>
                </a:lnTo>
                <a:lnTo>
                  <a:pt x="548640" y="321689"/>
                </a:lnTo>
                <a:lnTo>
                  <a:pt x="514350" y="356501"/>
                </a:lnTo>
                <a:lnTo>
                  <a:pt x="480060" y="392602"/>
                </a:lnTo>
                <a:lnTo>
                  <a:pt x="445770" y="429998"/>
                </a:lnTo>
                <a:lnTo>
                  <a:pt x="411480" y="468697"/>
                </a:lnTo>
                <a:lnTo>
                  <a:pt x="377190" y="508706"/>
                </a:lnTo>
                <a:lnTo>
                  <a:pt x="342900" y="550034"/>
                </a:lnTo>
                <a:lnTo>
                  <a:pt x="308610" y="592689"/>
                </a:lnTo>
                <a:lnTo>
                  <a:pt x="274320" y="636683"/>
                </a:lnTo>
                <a:lnTo>
                  <a:pt x="240030" y="682026"/>
                </a:lnTo>
                <a:lnTo>
                  <a:pt x="205740" y="728729"/>
                </a:lnTo>
                <a:lnTo>
                  <a:pt x="171450" y="776805"/>
                </a:lnTo>
                <a:lnTo>
                  <a:pt x="137160" y="826266"/>
                </a:lnTo>
                <a:lnTo>
                  <a:pt x="102870" y="877125"/>
                </a:lnTo>
                <a:lnTo>
                  <a:pt x="68580" y="929395"/>
                </a:lnTo>
                <a:lnTo>
                  <a:pt x="34290" y="983091"/>
                </a:lnTo>
                <a:lnTo>
                  <a:pt x="0" y="1038225"/>
                </a:lnTo>
                <a:close/>
              </a:path>
            </a:pathLst>
          </a:custGeom>
          <a:solidFill xmlns:a="http://schemas.openxmlformats.org/drawingml/2006/main">
            <a:srgbClr val="D7E6F2"/>
          </a:solidFill>
          <a:ln xmlns:a="http://schemas.openxmlformats.org/drawingml/2006/main" w="0">
            <a:noFill/>
          </a:ln>
        </p:spPr>
      </p:sp>
      <p:sp>
        <p:nvSpPr>
          <p:cNvPr id="3" name="profile-3">
            <a:extLst xmlns:a="http://schemas.openxmlformats.org/drawingml/2006/main">
              <a:ext uri="{FF2B5EF4-FFF2-40B4-BE49-F238E27FC236}">
                <a16:creationId xmlns:a16="http://schemas.microsoft.com/office/drawing/2014/main" id="{B59C42EF-F78B-4B03-ADEE-00D4D754B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0"/>
            <a:ext cx="1371600" cy="1257300"/>
          </a:xfrm>
          <a:custGeom xmlns:a="http://schemas.openxmlformats.org/drawingml/2006/main">
            <a:pathLst>
              <a:path w="1371600" h="1257300">
                <a:moveTo>
                  <a:pt x="0" y="857250"/>
                </a:moveTo>
                <a:lnTo>
                  <a:pt x="34290" y="799874"/>
                </a:lnTo>
                <a:lnTo>
                  <a:pt x="68580" y="743950"/>
                </a:lnTo>
                <a:lnTo>
                  <a:pt x="102870" y="689479"/>
                </a:lnTo>
                <a:lnTo>
                  <a:pt x="137160" y="636461"/>
                </a:lnTo>
                <a:lnTo>
                  <a:pt x="171450" y="584895"/>
                </a:lnTo>
                <a:lnTo>
                  <a:pt x="205740" y="534781"/>
                </a:lnTo>
                <a:lnTo>
                  <a:pt x="240030" y="486120"/>
                </a:lnTo>
                <a:lnTo>
                  <a:pt x="274320" y="438912"/>
                </a:lnTo>
                <a:lnTo>
                  <a:pt x="308610" y="393156"/>
                </a:lnTo>
                <a:lnTo>
                  <a:pt x="342900" y="348853"/>
                </a:lnTo>
                <a:lnTo>
                  <a:pt x="377190" y="306003"/>
                </a:lnTo>
                <a:lnTo>
                  <a:pt x="411480" y="264604"/>
                </a:lnTo>
                <a:lnTo>
                  <a:pt x="445770" y="224659"/>
                </a:lnTo>
                <a:lnTo>
                  <a:pt x="480060" y="186166"/>
                </a:lnTo>
                <a:lnTo>
                  <a:pt x="514350" y="149126"/>
                </a:lnTo>
                <a:lnTo>
                  <a:pt x="548640" y="113538"/>
                </a:lnTo>
                <a:lnTo>
                  <a:pt x="582930" y="79403"/>
                </a:lnTo>
                <a:lnTo>
                  <a:pt x="617220" y="46720"/>
                </a:lnTo>
                <a:lnTo>
                  <a:pt x="651510" y="15490"/>
                </a:lnTo>
                <a:lnTo>
                  <a:pt x="685800" y="0"/>
                </a:lnTo>
                <a:lnTo>
                  <a:pt x="720090" y="0"/>
                </a:lnTo>
                <a:lnTo>
                  <a:pt x="754380" y="0"/>
                </a:lnTo>
                <a:lnTo>
                  <a:pt x="788670" y="0"/>
                </a:lnTo>
                <a:lnTo>
                  <a:pt x="822960" y="0"/>
                </a:lnTo>
                <a:lnTo>
                  <a:pt x="857250" y="0"/>
                </a:lnTo>
                <a:lnTo>
                  <a:pt x="891540" y="0"/>
                </a:lnTo>
                <a:lnTo>
                  <a:pt x="925830" y="0"/>
                </a:lnTo>
                <a:lnTo>
                  <a:pt x="960120" y="0"/>
                </a:lnTo>
                <a:lnTo>
                  <a:pt x="994410" y="0"/>
                </a:lnTo>
                <a:lnTo>
                  <a:pt x="1028700" y="0"/>
                </a:lnTo>
                <a:lnTo>
                  <a:pt x="1062990" y="0"/>
                </a:lnTo>
                <a:lnTo>
                  <a:pt x="1097280" y="0"/>
                </a:lnTo>
                <a:lnTo>
                  <a:pt x="1131570" y="0"/>
                </a:lnTo>
                <a:lnTo>
                  <a:pt x="1165860" y="0"/>
                </a:lnTo>
                <a:lnTo>
                  <a:pt x="1200150" y="0"/>
                </a:lnTo>
                <a:lnTo>
                  <a:pt x="1234440" y="0"/>
                </a:lnTo>
                <a:lnTo>
                  <a:pt x="1268730" y="0"/>
                </a:lnTo>
                <a:lnTo>
                  <a:pt x="1303020" y="0"/>
                </a:lnTo>
                <a:lnTo>
                  <a:pt x="1337310" y="0"/>
                </a:lnTo>
                <a:lnTo>
                  <a:pt x="1371600" y="0"/>
                </a:lnTo>
                <a:lnTo>
                  <a:pt x="1371600" y="28575"/>
                </a:lnTo>
                <a:lnTo>
                  <a:pt x="1337310" y="30817"/>
                </a:lnTo>
                <a:lnTo>
                  <a:pt x="1303020" y="33045"/>
                </a:lnTo>
                <a:lnTo>
                  <a:pt x="1268730" y="35246"/>
                </a:lnTo>
                <a:lnTo>
                  <a:pt x="1234440" y="37405"/>
                </a:lnTo>
                <a:lnTo>
                  <a:pt x="1200150" y="39510"/>
                </a:lnTo>
                <a:lnTo>
                  <a:pt x="1165860" y="41548"/>
                </a:lnTo>
                <a:lnTo>
                  <a:pt x="1131570" y="43505"/>
                </a:lnTo>
                <a:lnTo>
                  <a:pt x="1097280" y="45371"/>
                </a:lnTo>
                <a:lnTo>
                  <a:pt x="1062990" y="47133"/>
                </a:lnTo>
                <a:lnTo>
                  <a:pt x="1028700" y="48781"/>
                </a:lnTo>
                <a:lnTo>
                  <a:pt x="994410" y="50304"/>
                </a:lnTo>
                <a:lnTo>
                  <a:pt x="960120" y="51693"/>
                </a:lnTo>
                <a:lnTo>
                  <a:pt x="925830" y="52939"/>
                </a:lnTo>
                <a:lnTo>
                  <a:pt x="891540" y="54036"/>
                </a:lnTo>
                <a:lnTo>
                  <a:pt x="857250" y="54975"/>
                </a:lnTo>
                <a:lnTo>
                  <a:pt x="822960" y="55751"/>
                </a:lnTo>
                <a:lnTo>
                  <a:pt x="788670" y="56360"/>
                </a:lnTo>
                <a:lnTo>
                  <a:pt x="754380" y="56798"/>
                </a:lnTo>
                <a:lnTo>
                  <a:pt x="720090" y="57062"/>
                </a:lnTo>
                <a:lnTo>
                  <a:pt x="685800" y="57150"/>
                </a:lnTo>
                <a:lnTo>
                  <a:pt x="651510" y="72552"/>
                </a:lnTo>
                <a:lnTo>
                  <a:pt x="617220" y="103518"/>
                </a:lnTo>
                <a:lnTo>
                  <a:pt x="582930" y="135763"/>
                </a:lnTo>
                <a:lnTo>
                  <a:pt x="548640" y="169289"/>
                </a:lnTo>
                <a:lnTo>
                  <a:pt x="514350" y="204101"/>
                </a:lnTo>
                <a:lnTo>
                  <a:pt x="480060" y="240202"/>
                </a:lnTo>
                <a:lnTo>
                  <a:pt x="445770" y="277598"/>
                </a:lnTo>
                <a:lnTo>
                  <a:pt x="411480" y="316297"/>
                </a:lnTo>
                <a:lnTo>
                  <a:pt x="377190" y="356306"/>
                </a:lnTo>
                <a:lnTo>
                  <a:pt x="342900" y="397634"/>
                </a:lnTo>
                <a:lnTo>
                  <a:pt x="308610" y="440289"/>
                </a:lnTo>
                <a:lnTo>
                  <a:pt x="274320" y="484283"/>
                </a:lnTo>
                <a:lnTo>
                  <a:pt x="240030" y="529626"/>
                </a:lnTo>
                <a:lnTo>
                  <a:pt x="205740" y="576329"/>
                </a:lnTo>
                <a:lnTo>
                  <a:pt x="171450" y="624405"/>
                </a:lnTo>
                <a:lnTo>
                  <a:pt x="137160" y="673866"/>
                </a:lnTo>
                <a:lnTo>
                  <a:pt x="102870" y="724725"/>
                </a:lnTo>
                <a:lnTo>
                  <a:pt x="68580" y="776995"/>
                </a:lnTo>
                <a:lnTo>
                  <a:pt x="34290" y="830691"/>
                </a:lnTo>
                <a:lnTo>
                  <a:pt x="0" y="885825"/>
                </a:lnTo>
                <a:close/>
              </a:path>
            </a:pathLst>
          </a:custGeom>
          <a:solidFill xmlns:a="http://schemas.openxmlformats.org/drawingml/2006/main">
            <a:srgbClr val="BED5E8"/>
          </a:solidFill>
          <a:ln xmlns:a="http://schemas.openxmlformats.org/drawingml/2006/main" w="0">
            <a:noFill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62daf09c704d09"/>
          <a:stretch xmlns:a="http://schemas.openxmlformats.org/drawingml/2006/main"/>
        </p:blipFill>
        <p:spPr>
          <a:xfrm xmlns:a="http://schemas.openxmlformats.org/drawingml/2006/main">
            <a:off x="609600" y="276225"/>
            <a:ext cx="838200" cy="838200"/>
          </a:xfrm>
          <a:prstGeom xmlns:a="http://schemas.openxmlformats.org/drawingml/2006/main" prst="rect">
            <a:avLst/>
          </a:prstGeom>
        </p:spPr>
      </p:pic>
      <p:sp>
        <p:nvSpPr>
          <p:cNvPr id="5" name="profile-4">
            <a:extLst xmlns:a="http://schemas.openxmlformats.org/drawingml/2006/main">
              <a:ext uri="{FF2B5EF4-FFF2-40B4-BE49-F238E27FC236}">
                <a16:creationId xmlns:a16="http://schemas.microsoft.com/office/drawing/2014/main" id="{3E308B22-BB9D-49E2-A546-C33EB9B82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6343650" cy="22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Company profile</a:t>
            </a:r>
          </a:p>
        </p:txBody>
      </p:sp>
      <p:sp>
        <p:nvSpPr>
          <p:cNvPr id="6" name="profile-5">
            <a:extLst xmlns:a="http://schemas.openxmlformats.org/drawingml/2006/main">
              <a:ext uri="{FF2B5EF4-FFF2-40B4-BE49-F238E27FC236}">
                <a16:creationId xmlns:a16="http://schemas.microsoft.com/office/drawing/2014/main" id="{E964E9E3-FEAF-43D5-B19A-572957B65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6343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575" b="0">
                <a:solidFill>
                  <a:srgbClr val="1C63AD"/>
                </a:solidFill>
                <a:latin typeface="Segoe UI"/>
                <a:ea typeface="Segoe UI"/>
                <a:cs typeface="Segoe UI"/>
              </a:defRPr>
            </a:pPr>
            <a:r>
              <a:rPr sz="4575" b="0">
                <a:solidFill>
                  <a:srgbClr val="1C63AD"/>
                </a:solidFill>
                <a:latin typeface="Segoe UI"/>
                <a:ea typeface="Segoe UI"/>
                <a:cs typeface="Segoe UI"/>
              </a:rPr>
              <a:t>Property services</a:t>
            </a:r>
          </a:p>
        </p:txBody>
      </p:sp>
      <p:sp>
        <p:nvSpPr>
          <p:cNvPr id="7" name="profile-6">
            <a:extLst xmlns:a="http://schemas.openxmlformats.org/drawingml/2006/main">
              <a:ext uri="{FF2B5EF4-FFF2-40B4-BE49-F238E27FC236}">
                <a16:creationId xmlns:a16="http://schemas.microsoft.com/office/drawing/2014/main" id="{867511BB-9CD2-49B6-A92E-D4674CB59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6343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575" b="0">
                <a:solidFill>
                  <a:srgbClr val="1C63AD"/>
                </a:solidFill>
                <a:latin typeface="Segoe UI"/>
                <a:ea typeface="Segoe UI"/>
                <a:cs typeface="Segoe UI"/>
              </a:defRPr>
            </a:pPr>
            <a:r>
              <a:rPr sz="4575" b="0">
                <a:solidFill>
                  <a:srgbClr val="1C63AD"/>
                </a:solidFill>
                <a:latin typeface="Segoe UI"/>
                <a:ea typeface="Segoe UI"/>
                <a:cs typeface="Segoe UI"/>
              </a:rPr>
              <a:t>One point of contact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81f6d6ed2c4e2e"/>
          <a:stretch xmlns:a="http://schemas.openxmlformats.org/drawingml/2006/main"/>
        </p:blipFill>
        <p:spPr>
          <a:xfrm xmlns:a="http://schemas.openxmlformats.org/drawingml/2006/main">
            <a:off x="0" y="3638550"/>
            <a:ext cx="7562850" cy="5041900"/>
          </a:xfrm>
          <a:prstGeom xmlns:a="http://schemas.openxmlformats.org/drawingml/2006/main" prst="rect">
            <a:avLst/>
          </a:prstGeom>
        </p:spPr>
      </p:pic>
      <p:sp>
        <p:nvSpPr>
          <p:cNvPr id="9" name="profile-7">
            <a:extLst xmlns:a="http://schemas.openxmlformats.org/drawingml/2006/main">
              <a:ext uri="{FF2B5EF4-FFF2-40B4-BE49-F238E27FC236}">
                <a16:creationId xmlns:a16="http://schemas.microsoft.com/office/drawing/2014/main" id="{BEA75814-D601-40AE-9F61-6CA20F685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82050"/>
            <a:ext cx="63436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AI-generated property-services concept</a:t>
            </a:r>
          </a:p>
        </p:txBody>
      </p:sp>
      <p:sp>
        <p:nvSpPr>
          <p:cNvPr id="10" name="profile-8">
            <a:extLst xmlns:a="http://schemas.openxmlformats.org/drawingml/2006/main">
              <a:ext uri="{FF2B5EF4-FFF2-40B4-BE49-F238E27FC236}">
                <a16:creationId xmlns:a16="http://schemas.microsoft.com/office/drawing/2014/main" id="{A15911DC-1760-4B5D-9338-461F09879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72575"/>
            <a:ext cx="6343650" cy="22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Siphoning. Plumbing. Renovation &amp; restoration. Pest control. Septage treatment facility.</a:t>
            </a:r>
          </a:p>
        </p:txBody>
      </p:sp>
      <p:sp>
        <p:nvSpPr>
          <p:cNvPr id="11" name="profile-9">
            <a:extLst xmlns:a="http://schemas.openxmlformats.org/drawingml/2006/main">
              <a:ext uri="{FF2B5EF4-FFF2-40B4-BE49-F238E27FC236}">
                <a16:creationId xmlns:a16="http://schemas.microsoft.com/office/drawing/2014/main" id="{41CAF3E1-1990-4793-B621-5D37C47A4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44075"/>
            <a:ext cx="6343650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Oceanides Plumbing Siphoning &amp; Pest Management Services OPC</a:t>
            </a:r>
          </a:p>
        </p:txBody>
      </p:sp>
      <p:sp>
        <p:nvSpPr>
          <p:cNvPr id="12" name="profile-10">
            <a:extLst xmlns:a="http://schemas.openxmlformats.org/drawingml/2006/main">
              <a:ext uri="{FF2B5EF4-FFF2-40B4-BE49-F238E27FC236}">
                <a16:creationId xmlns:a16="http://schemas.microsoft.com/office/drawing/2014/main" id="{E08C169C-D0BE-4AD1-9794-5A13D0AA0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106025"/>
            <a:ext cx="63436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9"/>
          </a:solidFill>
          <a:ln xmlns:a="http://schemas.openxmlformats.org/drawingml/2006/main" w="0">
            <a:noFill/>
          </a:ln>
        </p:spPr>
      </p:sp>
      <p:sp>
        <p:nvSpPr>
          <p:cNvPr id="13" name="profile-11">
            <a:extLst xmlns:a="http://schemas.openxmlformats.org/drawingml/2006/main">
              <a:ext uri="{FF2B5EF4-FFF2-40B4-BE49-F238E27FC236}">
                <a16:creationId xmlns:a16="http://schemas.microsoft.com/office/drawing/2014/main" id="{C15FA426-4359-42CE-A683-93FD322D9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0"/>
            <a:ext cx="381000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Oceanides</a:t>
            </a:r>
          </a:p>
        </p:txBody>
      </p:sp>
      <p:sp>
        <p:nvSpPr>
          <p:cNvPr id="14" name="profile-12">
            <a:extLst xmlns:a="http://schemas.openxmlformats.org/drawingml/2006/main">
              <a:ext uri="{FF2B5EF4-FFF2-40B4-BE49-F238E27FC236}">
                <a16:creationId xmlns:a16="http://schemas.microsoft.com/office/drawing/2014/main" id="{3E063D18-9876-4C0E-A48F-9015E7DB4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10287000"/>
            <a:ext cx="276225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090406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profile-13">
            <a:extLst xmlns:a="http://schemas.openxmlformats.org/drawingml/2006/main">
              <a:ext uri="{FF2B5EF4-FFF2-40B4-BE49-F238E27FC236}">
                <a16:creationId xmlns:a16="http://schemas.microsoft.com/office/drawing/2014/main" id="{EB14D791-6610-4FCC-850B-26E0FE31F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0"/>
            <a:ext cx="1371600" cy="1257300"/>
          </a:xfrm>
          <a:custGeom xmlns:a="http://schemas.openxmlformats.org/drawingml/2006/main">
            <a:pathLst>
              <a:path w="1371600" h="1257300">
                <a:moveTo>
                  <a:pt x="0" y="1162050"/>
                </a:moveTo>
                <a:lnTo>
                  <a:pt x="34290" y="1104674"/>
                </a:lnTo>
                <a:lnTo>
                  <a:pt x="68580" y="1048750"/>
                </a:lnTo>
                <a:lnTo>
                  <a:pt x="102870" y="994279"/>
                </a:lnTo>
                <a:lnTo>
                  <a:pt x="137160" y="941261"/>
                </a:lnTo>
                <a:lnTo>
                  <a:pt x="171450" y="889695"/>
                </a:lnTo>
                <a:lnTo>
                  <a:pt x="205740" y="839581"/>
                </a:lnTo>
                <a:lnTo>
                  <a:pt x="240030" y="790920"/>
                </a:lnTo>
                <a:lnTo>
                  <a:pt x="274320" y="743712"/>
                </a:lnTo>
                <a:lnTo>
                  <a:pt x="308610" y="697956"/>
                </a:lnTo>
                <a:lnTo>
                  <a:pt x="342900" y="653653"/>
                </a:lnTo>
                <a:lnTo>
                  <a:pt x="377190" y="610803"/>
                </a:lnTo>
                <a:lnTo>
                  <a:pt x="411480" y="569405"/>
                </a:lnTo>
                <a:lnTo>
                  <a:pt x="445770" y="529459"/>
                </a:lnTo>
                <a:lnTo>
                  <a:pt x="480060" y="490966"/>
                </a:lnTo>
                <a:lnTo>
                  <a:pt x="514350" y="453926"/>
                </a:lnTo>
                <a:lnTo>
                  <a:pt x="548640" y="418338"/>
                </a:lnTo>
                <a:lnTo>
                  <a:pt x="582930" y="384203"/>
                </a:lnTo>
                <a:lnTo>
                  <a:pt x="617220" y="351520"/>
                </a:lnTo>
                <a:lnTo>
                  <a:pt x="651510" y="320290"/>
                </a:lnTo>
                <a:lnTo>
                  <a:pt x="685800" y="290513"/>
                </a:lnTo>
                <a:lnTo>
                  <a:pt x="720090" y="262188"/>
                </a:lnTo>
                <a:lnTo>
                  <a:pt x="754380" y="235315"/>
                </a:lnTo>
                <a:lnTo>
                  <a:pt x="788670" y="209895"/>
                </a:lnTo>
                <a:lnTo>
                  <a:pt x="822960" y="185928"/>
                </a:lnTo>
                <a:lnTo>
                  <a:pt x="857250" y="163413"/>
                </a:lnTo>
                <a:lnTo>
                  <a:pt x="891540" y="142351"/>
                </a:lnTo>
                <a:lnTo>
                  <a:pt x="925830" y="122742"/>
                </a:lnTo>
                <a:lnTo>
                  <a:pt x="960120" y="104585"/>
                </a:lnTo>
                <a:lnTo>
                  <a:pt x="994410" y="87880"/>
                </a:lnTo>
                <a:lnTo>
                  <a:pt x="1028700" y="72628"/>
                </a:lnTo>
                <a:lnTo>
                  <a:pt x="1062990" y="58829"/>
                </a:lnTo>
                <a:lnTo>
                  <a:pt x="1097280" y="46482"/>
                </a:lnTo>
                <a:lnTo>
                  <a:pt x="1131570" y="35588"/>
                </a:lnTo>
                <a:lnTo>
                  <a:pt x="1165860" y="26146"/>
                </a:lnTo>
                <a:lnTo>
                  <a:pt x="1200150" y="18157"/>
                </a:lnTo>
                <a:lnTo>
                  <a:pt x="1234440" y="11620"/>
                </a:lnTo>
                <a:lnTo>
                  <a:pt x="1268730" y="6537"/>
                </a:lnTo>
                <a:lnTo>
                  <a:pt x="1303020" y="2905"/>
                </a:lnTo>
                <a:lnTo>
                  <a:pt x="1337310" y="726"/>
                </a:lnTo>
                <a:lnTo>
                  <a:pt x="1371600" y="0"/>
                </a:lnTo>
                <a:lnTo>
                  <a:pt x="1371600" y="28575"/>
                </a:lnTo>
                <a:lnTo>
                  <a:pt x="1337310" y="31543"/>
                </a:lnTo>
                <a:lnTo>
                  <a:pt x="1303020" y="35950"/>
                </a:lnTo>
                <a:lnTo>
                  <a:pt x="1268730" y="41782"/>
                </a:lnTo>
                <a:lnTo>
                  <a:pt x="1234440" y="49026"/>
                </a:lnTo>
                <a:lnTo>
                  <a:pt x="1200150" y="57667"/>
                </a:lnTo>
                <a:lnTo>
                  <a:pt x="1165860" y="67694"/>
                </a:lnTo>
                <a:lnTo>
                  <a:pt x="1131570" y="79093"/>
                </a:lnTo>
                <a:lnTo>
                  <a:pt x="1097280" y="91853"/>
                </a:lnTo>
                <a:lnTo>
                  <a:pt x="1062990" y="105962"/>
                </a:lnTo>
                <a:lnTo>
                  <a:pt x="1028700" y="121409"/>
                </a:lnTo>
                <a:lnTo>
                  <a:pt x="994410" y="138184"/>
                </a:lnTo>
                <a:lnTo>
                  <a:pt x="960120" y="156277"/>
                </a:lnTo>
                <a:lnTo>
                  <a:pt x="925830" y="175681"/>
                </a:lnTo>
                <a:lnTo>
                  <a:pt x="891540" y="196387"/>
                </a:lnTo>
                <a:lnTo>
                  <a:pt x="857250" y="218388"/>
                </a:lnTo>
                <a:lnTo>
                  <a:pt x="822960" y="241679"/>
                </a:lnTo>
                <a:lnTo>
                  <a:pt x="788670" y="266256"/>
                </a:lnTo>
                <a:lnTo>
                  <a:pt x="754380" y="292113"/>
                </a:lnTo>
                <a:lnTo>
                  <a:pt x="720090" y="319249"/>
                </a:lnTo>
                <a:lnTo>
                  <a:pt x="685800" y="347663"/>
                </a:lnTo>
                <a:lnTo>
                  <a:pt x="651510" y="377352"/>
                </a:lnTo>
                <a:lnTo>
                  <a:pt x="617220" y="408318"/>
                </a:lnTo>
                <a:lnTo>
                  <a:pt x="582930" y="440563"/>
                </a:lnTo>
                <a:lnTo>
                  <a:pt x="548640" y="474089"/>
                </a:lnTo>
                <a:lnTo>
                  <a:pt x="514350" y="508901"/>
                </a:lnTo>
                <a:lnTo>
                  <a:pt x="480060" y="545002"/>
                </a:lnTo>
                <a:lnTo>
                  <a:pt x="445770" y="582398"/>
                </a:lnTo>
                <a:lnTo>
                  <a:pt x="411480" y="621097"/>
                </a:lnTo>
                <a:lnTo>
                  <a:pt x="377190" y="661106"/>
                </a:lnTo>
                <a:lnTo>
                  <a:pt x="342900" y="702434"/>
                </a:lnTo>
                <a:lnTo>
                  <a:pt x="308610" y="745089"/>
                </a:lnTo>
                <a:lnTo>
                  <a:pt x="274320" y="789083"/>
                </a:lnTo>
                <a:lnTo>
                  <a:pt x="240030" y="834426"/>
                </a:lnTo>
                <a:lnTo>
                  <a:pt x="205740" y="881129"/>
                </a:lnTo>
                <a:lnTo>
                  <a:pt x="171450" y="929205"/>
                </a:lnTo>
                <a:lnTo>
                  <a:pt x="137160" y="978666"/>
                </a:lnTo>
                <a:lnTo>
                  <a:pt x="102870" y="1029525"/>
                </a:lnTo>
                <a:lnTo>
                  <a:pt x="68580" y="1081795"/>
                </a:lnTo>
                <a:lnTo>
                  <a:pt x="34290" y="1135491"/>
                </a:lnTo>
                <a:lnTo>
                  <a:pt x="0" y="1190625"/>
                </a:lnTo>
                <a:close/>
              </a:path>
            </a:pathLst>
          </a:custGeom>
          <a:solidFill xmlns:a="http://schemas.openxmlformats.org/drawingml/2006/main">
            <a:srgbClr val="E5EEF6"/>
          </a:solidFill>
          <a:ln xmlns:a="http://schemas.openxmlformats.org/drawingml/2006/main" w="0">
            <a:noFill/>
          </a:ln>
        </p:spPr>
      </p:sp>
      <p:sp>
        <p:nvSpPr>
          <p:cNvPr id="2" name="profile-14">
            <a:extLst xmlns:a="http://schemas.openxmlformats.org/drawingml/2006/main">
              <a:ext uri="{FF2B5EF4-FFF2-40B4-BE49-F238E27FC236}">
                <a16:creationId xmlns:a16="http://schemas.microsoft.com/office/drawing/2014/main" id="{D8249FFB-16D8-4E6B-8118-8FA8D8635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0"/>
            <a:ext cx="1371600" cy="1257300"/>
          </a:xfrm>
          <a:custGeom xmlns:a="http://schemas.openxmlformats.org/drawingml/2006/main">
            <a:pathLst>
              <a:path w="1371600" h="1257300">
                <a:moveTo>
                  <a:pt x="0" y="1009650"/>
                </a:moveTo>
                <a:lnTo>
                  <a:pt x="34290" y="952274"/>
                </a:lnTo>
                <a:lnTo>
                  <a:pt x="68580" y="896350"/>
                </a:lnTo>
                <a:lnTo>
                  <a:pt x="102870" y="841879"/>
                </a:lnTo>
                <a:lnTo>
                  <a:pt x="137160" y="788861"/>
                </a:lnTo>
                <a:lnTo>
                  <a:pt x="171450" y="737295"/>
                </a:lnTo>
                <a:lnTo>
                  <a:pt x="205740" y="687181"/>
                </a:lnTo>
                <a:lnTo>
                  <a:pt x="240030" y="638520"/>
                </a:lnTo>
                <a:lnTo>
                  <a:pt x="274320" y="591312"/>
                </a:lnTo>
                <a:lnTo>
                  <a:pt x="308610" y="545556"/>
                </a:lnTo>
                <a:lnTo>
                  <a:pt x="342900" y="501253"/>
                </a:lnTo>
                <a:lnTo>
                  <a:pt x="377190" y="458403"/>
                </a:lnTo>
                <a:lnTo>
                  <a:pt x="411480" y="417004"/>
                </a:lnTo>
                <a:lnTo>
                  <a:pt x="445770" y="377059"/>
                </a:lnTo>
                <a:lnTo>
                  <a:pt x="480060" y="338566"/>
                </a:lnTo>
                <a:lnTo>
                  <a:pt x="514350" y="301526"/>
                </a:lnTo>
                <a:lnTo>
                  <a:pt x="548640" y="265938"/>
                </a:lnTo>
                <a:lnTo>
                  <a:pt x="582930" y="231803"/>
                </a:lnTo>
                <a:lnTo>
                  <a:pt x="617220" y="199120"/>
                </a:lnTo>
                <a:lnTo>
                  <a:pt x="651510" y="167890"/>
                </a:lnTo>
                <a:lnTo>
                  <a:pt x="685800" y="138113"/>
                </a:lnTo>
                <a:lnTo>
                  <a:pt x="720090" y="109788"/>
                </a:lnTo>
                <a:lnTo>
                  <a:pt x="754380" y="82915"/>
                </a:lnTo>
                <a:lnTo>
                  <a:pt x="788670" y="57495"/>
                </a:lnTo>
                <a:lnTo>
                  <a:pt x="822960" y="33528"/>
                </a:lnTo>
                <a:lnTo>
                  <a:pt x="857250" y="11013"/>
                </a:lnTo>
                <a:lnTo>
                  <a:pt x="891540" y="0"/>
                </a:lnTo>
                <a:lnTo>
                  <a:pt x="925830" y="0"/>
                </a:lnTo>
                <a:lnTo>
                  <a:pt x="960120" y="0"/>
                </a:lnTo>
                <a:lnTo>
                  <a:pt x="994410" y="0"/>
                </a:lnTo>
                <a:lnTo>
                  <a:pt x="1028700" y="0"/>
                </a:lnTo>
                <a:lnTo>
                  <a:pt x="1062990" y="0"/>
                </a:lnTo>
                <a:lnTo>
                  <a:pt x="1097280" y="0"/>
                </a:lnTo>
                <a:lnTo>
                  <a:pt x="1131570" y="0"/>
                </a:lnTo>
                <a:lnTo>
                  <a:pt x="1165860" y="0"/>
                </a:lnTo>
                <a:lnTo>
                  <a:pt x="1200150" y="0"/>
                </a:lnTo>
                <a:lnTo>
                  <a:pt x="1234440" y="0"/>
                </a:lnTo>
                <a:lnTo>
                  <a:pt x="1268730" y="0"/>
                </a:lnTo>
                <a:lnTo>
                  <a:pt x="1303020" y="0"/>
                </a:lnTo>
                <a:lnTo>
                  <a:pt x="1337310" y="0"/>
                </a:lnTo>
                <a:lnTo>
                  <a:pt x="1371600" y="0"/>
                </a:lnTo>
                <a:lnTo>
                  <a:pt x="1371600" y="28575"/>
                </a:lnTo>
                <a:lnTo>
                  <a:pt x="1337310" y="30817"/>
                </a:lnTo>
                <a:lnTo>
                  <a:pt x="1303020" y="33045"/>
                </a:lnTo>
                <a:lnTo>
                  <a:pt x="1268730" y="35246"/>
                </a:lnTo>
                <a:lnTo>
                  <a:pt x="1234440" y="37405"/>
                </a:lnTo>
                <a:lnTo>
                  <a:pt x="1200150" y="39510"/>
                </a:lnTo>
                <a:lnTo>
                  <a:pt x="1165860" y="41548"/>
                </a:lnTo>
                <a:lnTo>
                  <a:pt x="1131570" y="43505"/>
                </a:lnTo>
                <a:lnTo>
                  <a:pt x="1097280" y="45371"/>
                </a:lnTo>
                <a:lnTo>
                  <a:pt x="1062990" y="47133"/>
                </a:lnTo>
                <a:lnTo>
                  <a:pt x="1028700" y="48781"/>
                </a:lnTo>
                <a:lnTo>
                  <a:pt x="994410" y="50304"/>
                </a:lnTo>
                <a:lnTo>
                  <a:pt x="960120" y="51693"/>
                </a:lnTo>
                <a:lnTo>
                  <a:pt x="925830" y="52939"/>
                </a:lnTo>
                <a:lnTo>
                  <a:pt x="891540" y="54036"/>
                </a:lnTo>
                <a:lnTo>
                  <a:pt x="857250" y="65988"/>
                </a:lnTo>
                <a:lnTo>
                  <a:pt x="822960" y="89279"/>
                </a:lnTo>
                <a:lnTo>
                  <a:pt x="788670" y="113856"/>
                </a:lnTo>
                <a:lnTo>
                  <a:pt x="754380" y="139713"/>
                </a:lnTo>
                <a:lnTo>
                  <a:pt x="720090" y="166849"/>
                </a:lnTo>
                <a:lnTo>
                  <a:pt x="685800" y="195263"/>
                </a:lnTo>
                <a:lnTo>
                  <a:pt x="651510" y="224952"/>
                </a:lnTo>
                <a:lnTo>
                  <a:pt x="617220" y="255918"/>
                </a:lnTo>
                <a:lnTo>
                  <a:pt x="582930" y="288163"/>
                </a:lnTo>
                <a:lnTo>
                  <a:pt x="548640" y="321689"/>
                </a:lnTo>
                <a:lnTo>
                  <a:pt x="514350" y="356501"/>
                </a:lnTo>
                <a:lnTo>
                  <a:pt x="480060" y="392602"/>
                </a:lnTo>
                <a:lnTo>
                  <a:pt x="445770" y="429998"/>
                </a:lnTo>
                <a:lnTo>
                  <a:pt x="411480" y="468697"/>
                </a:lnTo>
                <a:lnTo>
                  <a:pt x="377190" y="508706"/>
                </a:lnTo>
                <a:lnTo>
                  <a:pt x="342900" y="550034"/>
                </a:lnTo>
                <a:lnTo>
                  <a:pt x="308610" y="592689"/>
                </a:lnTo>
                <a:lnTo>
                  <a:pt x="274320" y="636683"/>
                </a:lnTo>
                <a:lnTo>
                  <a:pt x="240030" y="682026"/>
                </a:lnTo>
                <a:lnTo>
                  <a:pt x="205740" y="728729"/>
                </a:lnTo>
                <a:lnTo>
                  <a:pt x="171450" y="776805"/>
                </a:lnTo>
                <a:lnTo>
                  <a:pt x="137160" y="826266"/>
                </a:lnTo>
                <a:lnTo>
                  <a:pt x="102870" y="877125"/>
                </a:lnTo>
                <a:lnTo>
                  <a:pt x="68580" y="929395"/>
                </a:lnTo>
                <a:lnTo>
                  <a:pt x="34290" y="983091"/>
                </a:lnTo>
                <a:lnTo>
                  <a:pt x="0" y="1038225"/>
                </a:lnTo>
                <a:close/>
              </a:path>
            </a:pathLst>
          </a:custGeom>
          <a:solidFill xmlns:a="http://schemas.openxmlformats.org/drawingml/2006/main">
            <a:srgbClr val="D7E6F2"/>
          </a:solidFill>
          <a:ln xmlns:a="http://schemas.openxmlformats.org/drawingml/2006/main" w="0">
            <a:noFill/>
          </a:ln>
        </p:spPr>
      </p:sp>
      <p:sp>
        <p:nvSpPr>
          <p:cNvPr id="3" name="profile-15">
            <a:extLst xmlns:a="http://schemas.openxmlformats.org/drawingml/2006/main">
              <a:ext uri="{FF2B5EF4-FFF2-40B4-BE49-F238E27FC236}">
                <a16:creationId xmlns:a16="http://schemas.microsoft.com/office/drawing/2014/main" id="{9141A16E-FD19-4E2C-90BC-4063EB147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0"/>
            <a:ext cx="1371600" cy="1257300"/>
          </a:xfrm>
          <a:custGeom xmlns:a="http://schemas.openxmlformats.org/drawingml/2006/main">
            <a:pathLst>
              <a:path w="1371600" h="1257300">
                <a:moveTo>
                  <a:pt x="0" y="857250"/>
                </a:moveTo>
                <a:lnTo>
                  <a:pt x="34290" y="799874"/>
                </a:lnTo>
                <a:lnTo>
                  <a:pt x="68580" y="743950"/>
                </a:lnTo>
                <a:lnTo>
                  <a:pt x="102870" y="689479"/>
                </a:lnTo>
                <a:lnTo>
                  <a:pt x="137160" y="636461"/>
                </a:lnTo>
                <a:lnTo>
                  <a:pt x="171450" y="584895"/>
                </a:lnTo>
                <a:lnTo>
                  <a:pt x="205740" y="534781"/>
                </a:lnTo>
                <a:lnTo>
                  <a:pt x="240030" y="486120"/>
                </a:lnTo>
                <a:lnTo>
                  <a:pt x="274320" y="438912"/>
                </a:lnTo>
                <a:lnTo>
                  <a:pt x="308610" y="393156"/>
                </a:lnTo>
                <a:lnTo>
                  <a:pt x="342900" y="348853"/>
                </a:lnTo>
                <a:lnTo>
                  <a:pt x="377190" y="306003"/>
                </a:lnTo>
                <a:lnTo>
                  <a:pt x="411480" y="264604"/>
                </a:lnTo>
                <a:lnTo>
                  <a:pt x="445770" y="224659"/>
                </a:lnTo>
                <a:lnTo>
                  <a:pt x="480060" y="186166"/>
                </a:lnTo>
                <a:lnTo>
                  <a:pt x="514350" y="149126"/>
                </a:lnTo>
                <a:lnTo>
                  <a:pt x="548640" y="113538"/>
                </a:lnTo>
                <a:lnTo>
                  <a:pt x="582930" y="79403"/>
                </a:lnTo>
                <a:lnTo>
                  <a:pt x="617220" y="46720"/>
                </a:lnTo>
                <a:lnTo>
                  <a:pt x="651510" y="15490"/>
                </a:lnTo>
                <a:lnTo>
                  <a:pt x="685800" y="0"/>
                </a:lnTo>
                <a:lnTo>
                  <a:pt x="720090" y="0"/>
                </a:lnTo>
                <a:lnTo>
                  <a:pt x="754380" y="0"/>
                </a:lnTo>
                <a:lnTo>
                  <a:pt x="788670" y="0"/>
                </a:lnTo>
                <a:lnTo>
                  <a:pt x="822960" y="0"/>
                </a:lnTo>
                <a:lnTo>
                  <a:pt x="857250" y="0"/>
                </a:lnTo>
                <a:lnTo>
                  <a:pt x="891540" y="0"/>
                </a:lnTo>
                <a:lnTo>
                  <a:pt x="925830" y="0"/>
                </a:lnTo>
                <a:lnTo>
                  <a:pt x="960120" y="0"/>
                </a:lnTo>
                <a:lnTo>
                  <a:pt x="994410" y="0"/>
                </a:lnTo>
                <a:lnTo>
                  <a:pt x="1028700" y="0"/>
                </a:lnTo>
                <a:lnTo>
                  <a:pt x="1062990" y="0"/>
                </a:lnTo>
                <a:lnTo>
                  <a:pt x="1097280" y="0"/>
                </a:lnTo>
                <a:lnTo>
                  <a:pt x="1131570" y="0"/>
                </a:lnTo>
                <a:lnTo>
                  <a:pt x="1165860" y="0"/>
                </a:lnTo>
                <a:lnTo>
                  <a:pt x="1200150" y="0"/>
                </a:lnTo>
                <a:lnTo>
                  <a:pt x="1234440" y="0"/>
                </a:lnTo>
                <a:lnTo>
                  <a:pt x="1268730" y="0"/>
                </a:lnTo>
                <a:lnTo>
                  <a:pt x="1303020" y="0"/>
                </a:lnTo>
                <a:lnTo>
                  <a:pt x="1337310" y="0"/>
                </a:lnTo>
                <a:lnTo>
                  <a:pt x="1371600" y="0"/>
                </a:lnTo>
                <a:lnTo>
                  <a:pt x="1371600" y="28575"/>
                </a:lnTo>
                <a:lnTo>
                  <a:pt x="1337310" y="30817"/>
                </a:lnTo>
                <a:lnTo>
                  <a:pt x="1303020" y="33045"/>
                </a:lnTo>
                <a:lnTo>
                  <a:pt x="1268730" y="35246"/>
                </a:lnTo>
                <a:lnTo>
                  <a:pt x="1234440" y="37405"/>
                </a:lnTo>
                <a:lnTo>
                  <a:pt x="1200150" y="39510"/>
                </a:lnTo>
                <a:lnTo>
                  <a:pt x="1165860" y="41548"/>
                </a:lnTo>
                <a:lnTo>
                  <a:pt x="1131570" y="43505"/>
                </a:lnTo>
                <a:lnTo>
                  <a:pt x="1097280" y="45371"/>
                </a:lnTo>
                <a:lnTo>
                  <a:pt x="1062990" y="47133"/>
                </a:lnTo>
                <a:lnTo>
                  <a:pt x="1028700" y="48781"/>
                </a:lnTo>
                <a:lnTo>
                  <a:pt x="994410" y="50304"/>
                </a:lnTo>
                <a:lnTo>
                  <a:pt x="960120" y="51693"/>
                </a:lnTo>
                <a:lnTo>
                  <a:pt x="925830" y="52939"/>
                </a:lnTo>
                <a:lnTo>
                  <a:pt x="891540" y="54036"/>
                </a:lnTo>
                <a:lnTo>
                  <a:pt x="857250" y="54975"/>
                </a:lnTo>
                <a:lnTo>
                  <a:pt x="822960" y="55751"/>
                </a:lnTo>
                <a:lnTo>
                  <a:pt x="788670" y="56360"/>
                </a:lnTo>
                <a:lnTo>
                  <a:pt x="754380" y="56798"/>
                </a:lnTo>
                <a:lnTo>
                  <a:pt x="720090" y="57062"/>
                </a:lnTo>
                <a:lnTo>
                  <a:pt x="685800" y="57150"/>
                </a:lnTo>
                <a:lnTo>
                  <a:pt x="651510" y="72552"/>
                </a:lnTo>
                <a:lnTo>
                  <a:pt x="617220" y="103518"/>
                </a:lnTo>
                <a:lnTo>
                  <a:pt x="582930" y="135763"/>
                </a:lnTo>
                <a:lnTo>
                  <a:pt x="548640" y="169289"/>
                </a:lnTo>
                <a:lnTo>
                  <a:pt x="514350" y="204101"/>
                </a:lnTo>
                <a:lnTo>
                  <a:pt x="480060" y="240202"/>
                </a:lnTo>
                <a:lnTo>
                  <a:pt x="445770" y="277598"/>
                </a:lnTo>
                <a:lnTo>
                  <a:pt x="411480" y="316297"/>
                </a:lnTo>
                <a:lnTo>
                  <a:pt x="377190" y="356306"/>
                </a:lnTo>
                <a:lnTo>
                  <a:pt x="342900" y="397634"/>
                </a:lnTo>
                <a:lnTo>
                  <a:pt x="308610" y="440289"/>
                </a:lnTo>
                <a:lnTo>
                  <a:pt x="274320" y="484283"/>
                </a:lnTo>
                <a:lnTo>
                  <a:pt x="240030" y="529626"/>
                </a:lnTo>
                <a:lnTo>
                  <a:pt x="205740" y="576329"/>
                </a:lnTo>
                <a:lnTo>
                  <a:pt x="171450" y="624405"/>
                </a:lnTo>
                <a:lnTo>
                  <a:pt x="137160" y="673866"/>
                </a:lnTo>
                <a:lnTo>
                  <a:pt x="102870" y="724725"/>
                </a:lnTo>
                <a:lnTo>
                  <a:pt x="68580" y="776995"/>
                </a:lnTo>
                <a:lnTo>
                  <a:pt x="34290" y="830691"/>
                </a:lnTo>
                <a:lnTo>
                  <a:pt x="0" y="885825"/>
                </a:lnTo>
                <a:close/>
              </a:path>
            </a:pathLst>
          </a:custGeom>
          <a:solidFill xmlns:a="http://schemas.openxmlformats.org/drawingml/2006/main">
            <a:srgbClr val="BED5E8"/>
          </a:solidFill>
          <a:ln xmlns:a="http://schemas.openxmlformats.org/drawingml/2006/main" w="0">
            <a:noFill/>
          </a:ln>
        </p:spPr>
      </p:sp>
      <p:sp>
        <p:nvSpPr>
          <p:cNvPr id="4" name="profile-16">
            <a:extLst xmlns:a="http://schemas.openxmlformats.org/drawingml/2006/main">
              <a:ext uri="{FF2B5EF4-FFF2-40B4-BE49-F238E27FC236}">
                <a16:creationId xmlns:a16="http://schemas.microsoft.com/office/drawing/2014/main" id="{7FDCAF2D-FC79-4132-A212-A9DD1FB6F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3429000" cy="2543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12B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17212B"/>
                </a:solidFill>
                <a:latin typeface="Segoe UI"/>
                <a:ea typeface="Segoe UI"/>
                <a:cs typeface="Segoe UI"/>
              </a:rPr>
              <a:t>Oceanides</a:t>
            </a:r>
          </a:p>
        </p:txBody>
      </p:sp>
      <p:sp>
        <p:nvSpPr>
          <p:cNvPr id="5" name="profile-17">
            <a:extLst xmlns:a="http://schemas.openxmlformats.org/drawingml/2006/main">
              <a:ext uri="{FF2B5EF4-FFF2-40B4-BE49-F238E27FC236}">
                <a16:creationId xmlns:a16="http://schemas.microsoft.com/office/drawing/2014/main" id="{E9ADE31C-0B3E-451A-B1A2-4C7C326D2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485775"/>
            <a:ext cx="1971675" cy="192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Company profile</a:t>
            </a:r>
          </a:p>
        </p:txBody>
      </p:sp>
      <p:sp>
        <p:nvSpPr>
          <p:cNvPr id="6" name="profile-18">
            <a:extLst xmlns:a="http://schemas.openxmlformats.org/drawingml/2006/main">
              <a:ext uri="{FF2B5EF4-FFF2-40B4-BE49-F238E27FC236}">
                <a16:creationId xmlns:a16="http://schemas.microsoft.com/office/drawing/2014/main" id="{828C76D4-5DA5-4B2B-95BF-6647E5474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6343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C63AD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1C63AD"/>
                </a:solidFill>
                <a:latin typeface="Segoe UI"/>
                <a:ea typeface="Segoe UI"/>
                <a:cs typeface="Segoe UI"/>
              </a:rPr>
              <a:t>Services for the places</a:t>
            </a:r>
          </a:p>
        </p:txBody>
      </p:sp>
      <p:sp>
        <p:nvSpPr>
          <p:cNvPr id="7" name="profile-19">
            <a:extLst xmlns:a="http://schemas.openxmlformats.org/drawingml/2006/main">
              <a:ext uri="{FF2B5EF4-FFF2-40B4-BE49-F238E27FC236}">
                <a16:creationId xmlns:a16="http://schemas.microsoft.com/office/drawing/2014/main" id="{DECEED0F-D7CB-4EA1-A612-626CD20AC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6343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C63AD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1C63AD"/>
                </a:solidFill>
                <a:latin typeface="Segoe UI"/>
                <a:ea typeface="Segoe UI"/>
                <a:cs typeface="Segoe UI"/>
              </a:rPr>
              <a:t>you live and work</a:t>
            </a:r>
          </a:p>
        </p:txBody>
      </p:sp>
      <p:sp>
        <p:nvSpPr>
          <p:cNvPr id="8" name="profile-20">
            <a:extLst xmlns:a="http://schemas.openxmlformats.org/drawingml/2006/main">
              <a:ext uri="{FF2B5EF4-FFF2-40B4-BE49-F238E27FC236}">
                <a16:creationId xmlns:a16="http://schemas.microsoft.com/office/drawing/2014/main" id="{360C3017-AB62-4E03-8270-F7C3D7706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63436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Oceanides coordinates property services for homes, condominiums</a:t>
            </a:r>
          </a:p>
        </p:txBody>
      </p:sp>
      <p:sp>
        <p:nvSpPr>
          <p:cNvPr id="9" name="profile-21">
            <a:extLst xmlns:a="http://schemas.openxmlformats.org/drawingml/2006/main">
              <a:ext uri="{FF2B5EF4-FFF2-40B4-BE49-F238E27FC236}">
                <a16:creationId xmlns:a16="http://schemas.microsoft.com/office/drawing/2014/main" id="{FFED06C7-A634-4C0C-B9FC-97C3BD4C5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43225"/>
            <a:ext cx="63436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and company facilities. Our offering covers siphoning, plumbing,</a:t>
            </a:r>
          </a:p>
        </p:txBody>
      </p:sp>
      <p:sp>
        <p:nvSpPr>
          <p:cNvPr id="10" name="profile-22">
            <a:extLst xmlns:a="http://schemas.openxmlformats.org/drawingml/2006/main">
              <a:ext uri="{FF2B5EF4-FFF2-40B4-BE49-F238E27FC236}">
                <a16:creationId xmlns:a16="http://schemas.microsoft.com/office/drawing/2014/main" id="{9537A9AC-6B3F-47BD-BCEF-FFA1F7EDC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63436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renovation and restoration, pest control</a:t>
            </a:r>
          </a:p>
        </p:txBody>
      </p:sp>
      <p:sp>
        <p:nvSpPr>
          <p:cNvPr id="11" name="profile-23">
            <a:extLst xmlns:a="http://schemas.openxmlformats.org/drawingml/2006/main">
              <a:ext uri="{FF2B5EF4-FFF2-40B4-BE49-F238E27FC236}">
                <a16:creationId xmlns:a16="http://schemas.microsoft.com/office/drawing/2014/main" id="{4B41FD96-88E8-4FB1-B5DC-EF99ED2FE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33775"/>
            <a:ext cx="63436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and septage treatment facility projects.</a:t>
            </a:r>
          </a:p>
        </p:txBody>
      </p:sp>
      <p:sp>
        <p:nvSpPr>
          <p:cNvPr id="12" name="profile-24">
            <a:extLst xmlns:a="http://schemas.openxmlformats.org/drawingml/2006/main">
              <a:ext uri="{FF2B5EF4-FFF2-40B4-BE49-F238E27FC236}">
                <a16:creationId xmlns:a16="http://schemas.microsoft.com/office/drawing/2014/main" id="{9D3E44BE-9205-4AF0-B9D6-77CCE3D2F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6725"/>
            <a:ext cx="63436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9"/>
          </a:solidFill>
          <a:ln xmlns:a="http://schemas.openxmlformats.org/drawingml/2006/main" w="0">
            <a:noFill/>
          </a:ln>
        </p:spPr>
      </p:sp>
      <p:sp>
        <p:nvSpPr>
          <p:cNvPr id="13" name="profile-25">
            <a:extLst xmlns:a="http://schemas.openxmlformats.org/drawingml/2006/main">
              <a:ext uri="{FF2B5EF4-FFF2-40B4-BE49-F238E27FC236}">
                <a16:creationId xmlns:a16="http://schemas.microsoft.com/office/drawing/2014/main" id="{1ACAC570-59DC-4073-9872-D783CD4E0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3425"/>
            <a:ext cx="2800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C63AD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1C63AD"/>
                </a:solidFill>
                <a:latin typeface="Segoe UI"/>
                <a:ea typeface="Segoe UI"/>
                <a:cs typeface="Segoe UI"/>
              </a:rPr>
              <a:t>Siphoning</a:t>
            </a:r>
          </a:p>
        </p:txBody>
      </p:sp>
      <p:sp>
        <p:nvSpPr>
          <p:cNvPr id="14" name="profile-26">
            <a:extLst xmlns:a="http://schemas.openxmlformats.org/drawingml/2006/main">
              <a:ext uri="{FF2B5EF4-FFF2-40B4-BE49-F238E27FC236}">
                <a16:creationId xmlns:a16="http://schemas.microsoft.com/office/drawing/2014/main" id="{7B906AF9-00F9-4C50-A597-26B06318A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4552950"/>
            <a:ext cx="32480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Septic tank siphoning and cleaning.</a:t>
            </a:r>
          </a:p>
        </p:txBody>
      </p:sp>
      <p:sp>
        <p:nvSpPr>
          <p:cNvPr id="15" name="profile-27">
            <a:extLst xmlns:a="http://schemas.openxmlformats.org/drawingml/2006/main">
              <a:ext uri="{FF2B5EF4-FFF2-40B4-BE49-F238E27FC236}">
                <a16:creationId xmlns:a16="http://schemas.microsoft.com/office/drawing/2014/main" id="{83F34E04-78FC-40B7-824B-D1CE33121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63436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9"/>
          </a:solidFill>
          <a:ln xmlns:a="http://schemas.openxmlformats.org/drawingml/2006/main" w="0">
            <a:noFill/>
          </a:ln>
        </p:spPr>
      </p:sp>
      <p:sp>
        <p:nvSpPr>
          <p:cNvPr id="16" name="profile-28">
            <a:extLst xmlns:a="http://schemas.openxmlformats.org/drawingml/2006/main">
              <a:ext uri="{FF2B5EF4-FFF2-40B4-BE49-F238E27FC236}">
                <a16:creationId xmlns:a16="http://schemas.microsoft.com/office/drawing/2014/main" id="{EE77BC12-FFDF-41F4-8988-A67969AD3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2800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C63AD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1C63AD"/>
                </a:solidFill>
                <a:latin typeface="Segoe UI"/>
                <a:ea typeface="Segoe UI"/>
                <a:cs typeface="Segoe UI"/>
              </a:rPr>
              <a:t>Plumbing</a:t>
            </a:r>
          </a:p>
        </p:txBody>
      </p:sp>
      <p:sp>
        <p:nvSpPr>
          <p:cNvPr id="17" name="profile-29">
            <a:extLst xmlns:a="http://schemas.openxmlformats.org/drawingml/2006/main">
              <a:ext uri="{FF2B5EF4-FFF2-40B4-BE49-F238E27FC236}">
                <a16:creationId xmlns:a16="http://schemas.microsoft.com/office/drawing/2014/main" id="{C3518619-97D1-4D92-9A63-698A64E0D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419725"/>
            <a:ext cx="32480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Drain declogging and pipe leak repairs.</a:t>
            </a:r>
          </a:p>
        </p:txBody>
      </p:sp>
      <p:sp>
        <p:nvSpPr>
          <p:cNvPr id="18" name="profile-30">
            <a:extLst xmlns:a="http://schemas.openxmlformats.org/drawingml/2006/main">
              <a:ext uri="{FF2B5EF4-FFF2-40B4-BE49-F238E27FC236}">
                <a16:creationId xmlns:a16="http://schemas.microsoft.com/office/drawing/2014/main" id="{C413E9DC-B59A-47CB-B986-93F51F1D4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0275"/>
            <a:ext cx="63436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9"/>
          </a:solidFill>
          <a:ln xmlns:a="http://schemas.openxmlformats.org/drawingml/2006/main" w="0">
            <a:noFill/>
          </a:ln>
        </p:spPr>
      </p:sp>
      <p:sp>
        <p:nvSpPr>
          <p:cNvPr id="19" name="profile-31">
            <a:extLst xmlns:a="http://schemas.openxmlformats.org/drawingml/2006/main">
              <a:ext uri="{FF2B5EF4-FFF2-40B4-BE49-F238E27FC236}">
                <a16:creationId xmlns:a16="http://schemas.microsoft.com/office/drawing/2014/main" id="{D6F75CD4-B377-4DDB-B420-D88E9366F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76975"/>
            <a:ext cx="2800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C63AD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1C63AD"/>
                </a:solidFill>
                <a:latin typeface="Segoe UI"/>
                <a:ea typeface="Segoe UI"/>
                <a:cs typeface="Segoe UI"/>
              </a:rPr>
              <a:t>Renovation &amp;</a:t>
            </a:r>
          </a:p>
        </p:txBody>
      </p:sp>
      <p:sp>
        <p:nvSpPr>
          <p:cNvPr id="20" name="profile-32">
            <a:extLst xmlns:a="http://schemas.openxmlformats.org/drawingml/2006/main">
              <a:ext uri="{FF2B5EF4-FFF2-40B4-BE49-F238E27FC236}">
                <a16:creationId xmlns:a16="http://schemas.microsoft.com/office/drawing/2014/main" id="{70034DB4-AC99-4C0B-AF58-905A3BDEA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2800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C63AD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1C63AD"/>
                </a:solidFill>
                <a:latin typeface="Segoe UI"/>
                <a:ea typeface="Segoe UI"/>
                <a:cs typeface="Segoe UI"/>
              </a:rPr>
              <a:t>restoration</a:t>
            </a:r>
          </a:p>
        </p:txBody>
      </p:sp>
      <p:sp>
        <p:nvSpPr>
          <p:cNvPr id="21" name="profile-33">
            <a:extLst xmlns:a="http://schemas.openxmlformats.org/drawingml/2006/main">
              <a:ext uri="{FF2B5EF4-FFF2-40B4-BE49-F238E27FC236}">
                <a16:creationId xmlns:a16="http://schemas.microsoft.com/office/drawing/2014/main" id="{3B983743-B51D-4537-83C6-79C35D8DD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6286500"/>
            <a:ext cx="32480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House and condominium repairs and</a:t>
            </a:r>
          </a:p>
        </p:txBody>
      </p:sp>
      <p:sp>
        <p:nvSpPr>
          <p:cNvPr id="22" name="profile-34">
            <a:extLst xmlns:a="http://schemas.openxmlformats.org/drawingml/2006/main">
              <a:ext uri="{FF2B5EF4-FFF2-40B4-BE49-F238E27FC236}">
                <a16:creationId xmlns:a16="http://schemas.microsoft.com/office/drawing/2014/main" id="{52D04240-4537-477A-8824-013BFA485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6543675"/>
            <a:ext cx="32480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improvements.</a:t>
            </a:r>
          </a:p>
        </p:txBody>
      </p:sp>
      <p:sp>
        <p:nvSpPr>
          <p:cNvPr id="23" name="profile-35">
            <a:extLst xmlns:a="http://schemas.openxmlformats.org/drawingml/2006/main">
              <a:ext uri="{FF2B5EF4-FFF2-40B4-BE49-F238E27FC236}">
                <a16:creationId xmlns:a16="http://schemas.microsoft.com/office/drawing/2014/main" id="{F8F7A4FB-8229-4423-95EA-118B7204E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77050"/>
            <a:ext cx="63436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9"/>
          </a:solidFill>
          <a:ln xmlns:a="http://schemas.openxmlformats.org/drawingml/2006/main" w="0">
            <a:noFill/>
          </a:ln>
        </p:spPr>
      </p:sp>
      <p:sp>
        <p:nvSpPr>
          <p:cNvPr id="24" name="profile-36">
            <a:extLst xmlns:a="http://schemas.openxmlformats.org/drawingml/2006/main">
              <a:ext uri="{FF2B5EF4-FFF2-40B4-BE49-F238E27FC236}">
                <a16:creationId xmlns:a16="http://schemas.microsoft.com/office/drawing/2014/main" id="{DC68A5C1-02EF-45B6-869B-E1E4DE451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0"/>
            <a:ext cx="2800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C63AD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1C63AD"/>
                </a:solidFill>
                <a:latin typeface="Segoe UI"/>
                <a:ea typeface="Segoe UI"/>
                <a:cs typeface="Segoe UI"/>
              </a:rPr>
              <a:t>Pest control</a:t>
            </a:r>
          </a:p>
        </p:txBody>
      </p:sp>
      <p:sp>
        <p:nvSpPr>
          <p:cNvPr id="25" name="profile-37">
            <a:extLst xmlns:a="http://schemas.openxmlformats.org/drawingml/2006/main">
              <a:ext uri="{FF2B5EF4-FFF2-40B4-BE49-F238E27FC236}">
                <a16:creationId xmlns:a16="http://schemas.microsoft.com/office/drawing/2014/main" id="{AB6C977C-345A-453C-BAB5-3695DA0A0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7153275"/>
            <a:ext cx="32480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Site assessment, treatment scope and</a:t>
            </a:r>
          </a:p>
        </p:txBody>
      </p:sp>
      <p:sp>
        <p:nvSpPr>
          <p:cNvPr id="26" name="profile-38">
            <a:extLst xmlns:a="http://schemas.openxmlformats.org/drawingml/2006/main">
              <a:ext uri="{FF2B5EF4-FFF2-40B4-BE49-F238E27FC236}">
                <a16:creationId xmlns:a16="http://schemas.microsoft.com/office/drawing/2014/main" id="{84883DF4-55BC-45A7-B7F3-6653F1223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7410450"/>
            <a:ext cx="32480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service coordination.</a:t>
            </a:r>
          </a:p>
        </p:txBody>
      </p:sp>
      <p:sp>
        <p:nvSpPr>
          <p:cNvPr id="27" name="profile-39">
            <a:extLst xmlns:a="http://schemas.openxmlformats.org/drawingml/2006/main">
              <a:ext uri="{FF2B5EF4-FFF2-40B4-BE49-F238E27FC236}">
                <a16:creationId xmlns:a16="http://schemas.microsoft.com/office/drawing/2014/main" id="{FA1ED770-9BD4-4ED5-A2A7-C2BFDBC03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43825"/>
            <a:ext cx="63436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9"/>
          </a:solidFill>
          <a:ln xmlns:a="http://schemas.openxmlformats.org/drawingml/2006/main" w="0">
            <a:noFill/>
          </a:ln>
        </p:spPr>
      </p:sp>
      <p:sp>
        <p:nvSpPr>
          <p:cNvPr id="28" name="profile-40">
            <a:extLst xmlns:a="http://schemas.openxmlformats.org/drawingml/2006/main">
              <a:ext uri="{FF2B5EF4-FFF2-40B4-BE49-F238E27FC236}">
                <a16:creationId xmlns:a16="http://schemas.microsoft.com/office/drawing/2014/main" id="{2A696CEF-468B-4568-908F-E9E014F92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10525"/>
            <a:ext cx="2800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C63AD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1C63AD"/>
                </a:solidFill>
                <a:latin typeface="Segoe UI"/>
                <a:ea typeface="Segoe UI"/>
                <a:cs typeface="Segoe UI"/>
              </a:rPr>
              <a:t>Septage treatment</a:t>
            </a:r>
          </a:p>
        </p:txBody>
      </p:sp>
      <p:sp>
        <p:nvSpPr>
          <p:cNvPr id="29" name="profile-41">
            <a:extLst xmlns:a="http://schemas.openxmlformats.org/drawingml/2006/main">
              <a:ext uri="{FF2B5EF4-FFF2-40B4-BE49-F238E27FC236}">
                <a16:creationId xmlns:a16="http://schemas.microsoft.com/office/drawing/2014/main" id="{C768A4C0-91B5-4902-BAA8-307C23E3C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0"/>
            <a:ext cx="2800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C63AD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1C63AD"/>
                </a:solidFill>
                <a:latin typeface="Segoe UI"/>
                <a:ea typeface="Segoe UI"/>
                <a:cs typeface="Segoe UI"/>
              </a:rPr>
              <a:t>facility</a:t>
            </a:r>
          </a:p>
        </p:txBody>
      </p:sp>
      <p:sp>
        <p:nvSpPr>
          <p:cNvPr id="30" name="profile-42">
            <a:extLst xmlns:a="http://schemas.openxmlformats.org/drawingml/2006/main">
              <a:ext uri="{FF2B5EF4-FFF2-40B4-BE49-F238E27FC236}">
                <a16:creationId xmlns:a16="http://schemas.microsoft.com/office/drawing/2014/main" id="{FCDF48FC-469A-4F96-82D6-B59F35F6D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8020050"/>
            <a:ext cx="32480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Facility project assessment and</a:t>
            </a:r>
          </a:p>
        </p:txBody>
      </p:sp>
      <p:sp>
        <p:nvSpPr>
          <p:cNvPr id="31" name="profile-43">
            <a:extLst xmlns:a="http://schemas.openxmlformats.org/drawingml/2006/main">
              <a:ext uri="{FF2B5EF4-FFF2-40B4-BE49-F238E27FC236}">
                <a16:creationId xmlns:a16="http://schemas.microsoft.com/office/drawing/2014/main" id="{F684A0A9-CDEB-4E57-A2A7-F0B3EAF4C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8277225"/>
            <a:ext cx="32480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coordination.</a:t>
            </a:r>
          </a:p>
        </p:txBody>
      </p:sp>
      <p:sp>
        <p:nvSpPr>
          <p:cNvPr id="32" name="profile-44">
            <a:extLst xmlns:a="http://schemas.openxmlformats.org/drawingml/2006/main">
              <a:ext uri="{FF2B5EF4-FFF2-40B4-BE49-F238E27FC236}">
                <a16:creationId xmlns:a16="http://schemas.microsoft.com/office/drawing/2014/main" id="{1541BE07-ECB2-4B47-AB0E-6B580F3E4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20125"/>
            <a:ext cx="63436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9"/>
          </a:solidFill>
          <a:ln xmlns:a="http://schemas.openxmlformats.org/drawingml/2006/main" w="0">
            <a:noFill/>
          </a:ln>
        </p:spPr>
      </p:sp>
      <p:sp>
        <p:nvSpPr>
          <p:cNvPr id="33" name="profile-45">
            <a:extLst xmlns:a="http://schemas.openxmlformats.org/drawingml/2006/main">
              <a:ext uri="{FF2B5EF4-FFF2-40B4-BE49-F238E27FC236}">
                <a16:creationId xmlns:a16="http://schemas.microsoft.com/office/drawing/2014/main" id="{8E23BAF1-989A-4E75-A261-05338B5AD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34450"/>
            <a:ext cx="6343650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C63AD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1C63AD"/>
                </a:solidFill>
                <a:latin typeface="Segoe UI"/>
                <a:ea typeface="Segoe UI"/>
                <a:cs typeface="Segoe UI"/>
              </a:rPr>
              <a:t>One contact through turnover</a:t>
            </a:r>
          </a:p>
        </p:txBody>
      </p:sp>
      <p:sp>
        <p:nvSpPr>
          <p:cNvPr id="34" name="profile-46">
            <a:extLst xmlns:a="http://schemas.openxmlformats.org/drawingml/2006/main">
              <a:ext uri="{FF2B5EF4-FFF2-40B4-BE49-F238E27FC236}">
                <a16:creationId xmlns:a16="http://schemas.microsoft.com/office/drawing/2014/main" id="{7BA168EE-2FAF-4F53-8B4C-DAAB4F1A5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0"/>
            <a:ext cx="6343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Oceanides coordinates assessment, quotation and delivery, including specialist</a:t>
            </a:r>
          </a:p>
        </p:txBody>
      </p:sp>
      <p:sp>
        <p:nvSpPr>
          <p:cNvPr id="35" name="profile-47">
            <a:extLst xmlns:a="http://schemas.openxmlformats.org/drawingml/2006/main">
              <a:ext uri="{FF2B5EF4-FFF2-40B4-BE49-F238E27FC236}">
                <a16:creationId xmlns:a16="http://schemas.microsoft.com/office/drawing/2014/main" id="{A3C320C2-8FC9-4AFD-8E7B-76E20480A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91675"/>
            <a:ext cx="6343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contractors where required.</a:t>
            </a:r>
          </a:p>
        </p:txBody>
      </p:sp>
      <p:sp>
        <p:nvSpPr>
          <p:cNvPr id="36" name="profile-48">
            <a:extLst xmlns:a="http://schemas.openxmlformats.org/drawingml/2006/main">
              <a:ext uri="{FF2B5EF4-FFF2-40B4-BE49-F238E27FC236}">
                <a16:creationId xmlns:a16="http://schemas.microsoft.com/office/drawing/2014/main" id="{D9A630C3-2E5A-4F9E-B8BD-2C0305EC2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106025"/>
            <a:ext cx="63436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9"/>
          </a:solidFill>
          <a:ln xmlns:a="http://schemas.openxmlformats.org/drawingml/2006/main" w="0">
            <a:noFill/>
          </a:ln>
        </p:spPr>
      </p:sp>
      <p:sp>
        <p:nvSpPr>
          <p:cNvPr id="37" name="profile-49">
            <a:extLst xmlns:a="http://schemas.openxmlformats.org/drawingml/2006/main">
              <a:ext uri="{FF2B5EF4-FFF2-40B4-BE49-F238E27FC236}">
                <a16:creationId xmlns:a16="http://schemas.microsoft.com/office/drawing/2014/main" id="{EB30062F-1BA2-48FA-87D9-38E696101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0"/>
            <a:ext cx="381000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Oceanides</a:t>
            </a:r>
          </a:p>
        </p:txBody>
      </p:sp>
      <p:sp>
        <p:nvSpPr>
          <p:cNvPr id="38" name="profile-50">
            <a:extLst xmlns:a="http://schemas.openxmlformats.org/drawingml/2006/main">
              <a:ext uri="{FF2B5EF4-FFF2-40B4-BE49-F238E27FC236}">
                <a16:creationId xmlns:a16="http://schemas.microsoft.com/office/drawing/2014/main" id="{381F059C-301F-4AE9-A170-05EE504B1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10287000"/>
            <a:ext cx="276225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036704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profile-51">
            <a:extLst xmlns:a="http://schemas.openxmlformats.org/drawingml/2006/main">
              <a:ext uri="{FF2B5EF4-FFF2-40B4-BE49-F238E27FC236}">
                <a16:creationId xmlns:a16="http://schemas.microsoft.com/office/drawing/2014/main" id="{15CD134A-BE23-45D3-9FA8-1034AD98A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0"/>
            <a:ext cx="1371600" cy="1257300"/>
          </a:xfrm>
          <a:custGeom xmlns:a="http://schemas.openxmlformats.org/drawingml/2006/main">
            <a:pathLst>
              <a:path w="1371600" h="1257300">
                <a:moveTo>
                  <a:pt x="0" y="1162050"/>
                </a:moveTo>
                <a:lnTo>
                  <a:pt x="34290" y="1104674"/>
                </a:lnTo>
                <a:lnTo>
                  <a:pt x="68580" y="1048750"/>
                </a:lnTo>
                <a:lnTo>
                  <a:pt x="102870" y="994279"/>
                </a:lnTo>
                <a:lnTo>
                  <a:pt x="137160" y="941261"/>
                </a:lnTo>
                <a:lnTo>
                  <a:pt x="171450" y="889695"/>
                </a:lnTo>
                <a:lnTo>
                  <a:pt x="205740" y="839581"/>
                </a:lnTo>
                <a:lnTo>
                  <a:pt x="240030" y="790920"/>
                </a:lnTo>
                <a:lnTo>
                  <a:pt x="274320" y="743712"/>
                </a:lnTo>
                <a:lnTo>
                  <a:pt x="308610" y="697956"/>
                </a:lnTo>
                <a:lnTo>
                  <a:pt x="342900" y="653653"/>
                </a:lnTo>
                <a:lnTo>
                  <a:pt x="377190" y="610803"/>
                </a:lnTo>
                <a:lnTo>
                  <a:pt x="411480" y="569405"/>
                </a:lnTo>
                <a:lnTo>
                  <a:pt x="445770" y="529459"/>
                </a:lnTo>
                <a:lnTo>
                  <a:pt x="480060" y="490966"/>
                </a:lnTo>
                <a:lnTo>
                  <a:pt x="514350" y="453926"/>
                </a:lnTo>
                <a:lnTo>
                  <a:pt x="548640" y="418338"/>
                </a:lnTo>
                <a:lnTo>
                  <a:pt x="582930" y="384203"/>
                </a:lnTo>
                <a:lnTo>
                  <a:pt x="617220" y="351520"/>
                </a:lnTo>
                <a:lnTo>
                  <a:pt x="651510" y="320290"/>
                </a:lnTo>
                <a:lnTo>
                  <a:pt x="685800" y="290513"/>
                </a:lnTo>
                <a:lnTo>
                  <a:pt x="720090" y="262188"/>
                </a:lnTo>
                <a:lnTo>
                  <a:pt x="754380" y="235315"/>
                </a:lnTo>
                <a:lnTo>
                  <a:pt x="788670" y="209895"/>
                </a:lnTo>
                <a:lnTo>
                  <a:pt x="822960" y="185928"/>
                </a:lnTo>
                <a:lnTo>
                  <a:pt x="857250" y="163413"/>
                </a:lnTo>
                <a:lnTo>
                  <a:pt x="891540" y="142351"/>
                </a:lnTo>
                <a:lnTo>
                  <a:pt x="925830" y="122742"/>
                </a:lnTo>
                <a:lnTo>
                  <a:pt x="960120" y="104585"/>
                </a:lnTo>
                <a:lnTo>
                  <a:pt x="994410" y="87880"/>
                </a:lnTo>
                <a:lnTo>
                  <a:pt x="1028700" y="72628"/>
                </a:lnTo>
                <a:lnTo>
                  <a:pt x="1062990" y="58829"/>
                </a:lnTo>
                <a:lnTo>
                  <a:pt x="1097280" y="46482"/>
                </a:lnTo>
                <a:lnTo>
                  <a:pt x="1131570" y="35588"/>
                </a:lnTo>
                <a:lnTo>
                  <a:pt x="1165860" y="26146"/>
                </a:lnTo>
                <a:lnTo>
                  <a:pt x="1200150" y="18157"/>
                </a:lnTo>
                <a:lnTo>
                  <a:pt x="1234440" y="11620"/>
                </a:lnTo>
                <a:lnTo>
                  <a:pt x="1268730" y="6537"/>
                </a:lnTo>
                <a:lnTo>
                  <a:pt x="1303020" y="2905"/>
                </a:lnTo>
                <a:lnTo>
                  <a:pt x="1337310" y="726"/>
                </a:lnTo>
                <a:lnTo>
                  <a:pt x="1371600" y="0"/>
                </a:lnTo>
                <a:lnTo>
                  <a:pt x="1371600" y="28575"/>
                </a:lnTo>
                <a:lnTo>
                  <a:pt x="1337310" y="31543"/>
                </a:lnTo>
                <a:lnTo>
                  <a:pt x="1303020" y="35950"/>
                </a:lnTo>
                <a:lnTo>
                  <a:pt x="1268730" y="41782"/>
                </a:lnTo>
                <a:lnTo>
                  <a:pt x="1234440" y="49026"/>
                </a:lnTo>
                <a:lnTo>
                  <a:pt x="1200150" y="57667"/>
                </a:lnTo>
                <a:lnTo>
                  <a:pt x="1165860" y="67694"/>
                </a:lnTo>
                <a:lnTo>
                  <a:pt x="1131570" y="79093"/>
                </a:lnTo>
                <a:lnTo>
                  <a:pt x="1097280" y="91853"/>
                </a:lnTo>
                <a:lnTo>
                  <a:pt x="1062990" y="105962"/>
                </a:lnTo>
                <a:lnTo>
                  <a:pt x="1028700" y="121409"/>
                </a:lnTo>
                <a:lnTo>
                  <a:pt x="994410" y="138184"/>
                </a:lnTo>
                <a:lnTo>
                  <a:pt x="960120" y="156277"/>
                </a:lnTo>
                <a:lnTo>
                  <a:pt x="925830" y="175681"/>
                </a:lnTo>
                <a:lnTo>
                  <a:pt x="891540" y="196387"/>
                </a:lnTo>
                <a:lnTo>
                  <a:pt x="857250" y="218388"/>
                </a:lnTo>
                <a:lnTo>
                  <a:pt x="822960" y="241679"/>
                </a:lnTo>
                <a:lnTo>
                  <a:pt x="788670" y="266256"/>
                </a:lnTo>
                <a:lnTo>
                  <a:pt x="754380" y="292113"/>
                </a:lnTo>
                <a:lnTo>
                  <a:pt x="720090" y="319249"/>
                </a:lnTo>
                <a:lnTo>
                  <a:pt x="685800" y="347663"/>
                </a:lnTo>
                <a:lnTo>
                  <a:pt x="651510" y="377352"/>
                </a:lnTo>
                <a:lnTo>
                  <a:pt x="617220" y="408318"/>
                </a:lnTo>
                <a:lnTo>
                  <a:pt x="582930" y="440563"/>
                </a:lnTo>
                <a:lnTo>
                  <a:pt x="548640" y="474089"/>
                </a:lnTo>
                <a:lnTo>
                  <a:pt x="514350" y="508901"/>
                </a:lnTo>
                <a:lnTo>
                  <a:pt x="480060" y="545002"/>
                </a:lnTo>
                <a:lnTo>
                  <a:pt x="445770" y="582398"/>
                </a:lnTo>
                <a:lnTo>
                  <a:pt x="411480" y="621097"/>
                </a:lnTo>
                <a:lnTo>
                  <a:pt x="377190" y="661106"/>
                </a:lnTo>
                <a:lnTo>
                  <a:pt x="342900" y="702434"/>
                </a:lnTo>
                <a:lnTo>
                  <a:pt x="308610" y="745089"/>
                </a:lnTo>
                <a:lnTo>
                  <a:pt x="274320" y="789083"/>
                </a:lnTo>
                <a:lnTo>
                  <a:pt x="240030" y="834426"/>
                </a:lnTo>
                <a:lnTo>
                  <a:pt x="205740" y="881129"/>
                </a:lnTo>
                <a:lnTo>
                  <a:pt x="171450" y="929205"/>
                </a:lnTo>
                <a:lnTo>
                  <a:pt x="137160" y="978666"/>
                </a:lnTo>
                <a:lnTo>
                  <a:pt x="102870" y="1029525"/>
                </a:lnTo>
                <a:lnTo>
                  <a:pt x="68580" y="1081795"/>
                </a:lnTo>
                <a:lnTo>
                  <a:pt x="34290" y="1135491"/>
                </a:lnTo>
                <a:lnTo>
                  <a:pt x="0" y="1190625"/>
                </a:lnTo>
                <a:close/>
              </a:path>
            </a:pathLst>
          </a:custGeom>
          <a:solidFill xmlns:a="http://schemas.openxmlformats.org/drawingml/2006/main">
            <a:srgbClr val="E5EEF6"/>
          </a:solidFill>
          <a:ln xmlns:a="http://schemas.openxmlformats.org/drawingml/2006/main" w="0">
            <a:noFill/>
          </a:ln>
        </p:spPr>
      </p:sp>
      <p:sp>
        <p:nvSpPr>
          <p:cNvPr id="2" name="profile-52">
            <a:extLst xmlns:a="http://schemas.openxmlformats.org/drawingml/2006/main">
              <a:ext uri="{FF2B5EF4-FFF2-40B4-BE49-F238E27FC236}">
                <a16:creationId xmlns:a16="http://schemas.microsoft.com/office/drawing/2014/main" id="{AF52BA21-B239-4A71-A055-9B84E670D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0"/>
            <a:ext cx="1371600" cy="1257300"/>
          </a:xfrm>
          <a:custGeom xmlns:a="http://schemas.openxmlformats.org/drawingml/2006/main">
            <a:pathLst>
              <a:path w="1371600" h="1257300">
                <a:moveTo>
                  <a:pt x="0" y="1009650"/>
                </a:moveTo>
                <a:lnTo>
                  <a:pt x="34290" y="952274"/>
                </a:lnTo>
                <a:lnTo>
                  <a:pt x="68580" y="896350"/>
                </a:lnTo>
                <a:lnTo>
                  <a:pt x="102870" y="841879"/>
                </a:lnTo>
                <a:lnTo>
                  <a:pt x="137160" y="788861"/>
                </a:lnTo>
                <a:lnTo>
                  <a:pt x="171450" y="737295"/>
                </a:lnTo>
                <a:lnTo>
                  <a:pt x="205740" y="687181"/>
                </a:lnTo>
                <a:lnTo>
                  <a:pt x="240030" y="638520"/>
                </a:lnTo>
                <a:lnTo>
                  <a:pt x="274320" y="591312"/>
                </a:lnTo>
                <a:lnTo>
                  <a:pt x="308610" y="545556"/>
                </a:lnTo>
                <a:lnTo>
                  <a:pt x="342900" y="501253"/>
                </a:lnTo>
                <a:lnTo>
                  <a:pt x="377190" y="458403"/>
                </a:lnTo>
                <a:lnTo>
                  <a:pt x="411480" y="417004"/>
                </a:lnTo>
                <a:lnTo>
                  <a:pt x="445770" y="377059"/>
                </a:lnTo>
                <a:lnTo>
                  <a:pt x="480060" y="338566"/>
                </a:lnTo>
                <a:lnTo>
                  <a:pt x="514350" y="301526"/>
                </a:lnTo>
                <a:lnTo>
                  <a:pt x="548640" y="265938"/>
                </a:lnTo>
                <a:lnTo>
                  <a:pt x="582930" y="231803"/>
                </a:lnTo>
                <a:lnTo>
                  <a:pt x="617220" y="199120"/>
                </a:lnTo>
                <a:lnTo>
                  <a:pt x="651510" y="167890"/>
                </a:lnTo>
                <a:lnTo>
                  <a:pt x="685800" y="138113"/>
                </a:lnTo>
                <a:lnTo>
                  <a:pt x="720090" y="109788"/>
                </a:lnTo>
                <a:lnTo>
                  <a:pt x="754380" y="82915"/>
                </a:lnTo>
                <a:lnTo>
                  <a:pt x="788670" y="57495"/>
                </a:lnTo>
                <a:lnTo>
                  <a:pt x="822960" y="33528"/>
                </a:lnTo>
                <a:lnTo>
                  <a:pt x="857250" y="11013"/>
                </a:lnTo>
                <a:lnTo>
                  <a:pt x="891540" y="0"/>
                </a:lnTo>
                <a:lnTo>
                  <a:pt x="925830" y="0"/>
                </a:lnTo>
                <a:lnTo>
                  <a:pt x="960120" y="0"/>
                </a:lnTo>
                <a:lnTo>
                  <a:pt x="994410" y="0"/>
                </a:lnTo>
                <a:lnTo>
                  <a:pt x="1028700" y="0"/>
                </a:lnTo>
                <a:lnTo>
                  <a:pt x="1062990" y="0"/>
                </a:lnTo>
                <a:lnTo>
                  <a:pt x="1097280" y="0"/>
                </a:lnTo>
                <a:lnTo>
                  <a:pt x="1131570" y="0"/>
                </a:lnTo>
                <a:lnTo>
                  <a:pt x="1165860" y="0"/>
                </a:lnTo>
                <a:lnTo>
                  <a:pt x="1200150" y="0"/>
                </a:lnTo>
                <a:lnTo>
                  <a:pt x="1234440" y="0"/>
                </a:lnTo>
                <a:lnTo>
                  <a:pt x="1268730" y="0"/>
                </a:lnTo>
                <a:lnTo>
                  <a:pt x="1303020" y="0"/>
                </a:lnTo>
                <a:lnTo>
                  <a:pt x="1337310" y="0"/>
                </a:lnTo>
                <a:lnTo>
                  <a:pt x="1371600" y="0"/>
                </a:lnTo>
                <a:lnTo>
                  <a:pt x="1371600" y="28575"/>
                </a:lnTo>
                <a:lnTo>
                  <a:pt x="1337310" y="30817"/>
                </a:lnTo>
                <a:lnTo>
                  <a:pt x="1303020" y="33045"/>
                </a:lnTo>
                <a:lnTo>
                  <a:pt x="1268730" y="35246"/>
                </a:lnTo>
                <a:lnTo>
                  <a:pt x="1234440" y="37405"/>
                </a:lnTo>
                <a:lnTo>
                  <a:pt x="1200150" y="39510"/>
                </a:lnTo>
                <a:lnTo>
                  <a:pt x="1165860" y="41548"/>
                </a:lnTo>
                <a:lnTo>
                  <a:pt x="1131570" y="43505"/>
                </a:lnTo>
                <a:lnTo>
                  <a:pt x="1097280" y="45371"/>
                </a:lnTo>
                <a:lnTo>
                  <a:pt x="1062990" y="47133"/>
                </a:lnTo>
                <a:lnTo>
                  <a:pt x="1028700" y="48781"/>
                </a:lnTo>
                <a:lnTo>
                  <a:pt x="994410" y="50304"/>
                </a:lnTo>
                <a:lnTo>
                  <a:pt x="960120" y="51693"/>
                </a:lnTo>
                <a:lnTo>
                  <a:pt x="925830" y="52939"/>
                </a:lnTo>
                <a:lnTo>
                  <a:pt x="891540" y="54036"/>
                </a:lnTo>
                <a:lnTo>
                  <a:pt x="857250" y="65988"/>
                </a:lnTo>
                <a:lnTo>
                  <a:pt x="822960" y="89279"/>
                </a:lnTo>
                <a:lnTo>
                  <a:pt x="788670" y="113856"/>
                </a:lnTo>
                <a:lnTo>
                  <a:pt x="754380" y="139713"/>
                </a:lnTo>
                <a:lnTo>
                  <a:pt x="720090" y="166849"/>
                </a:lnTo>
                <a:lnTo>
                  <a:pt x="685800" y="195263"/>
                </a:lnTo>
                <a:lnTo>
                  <a:pt x="651510" y="224952"/>
                </a:lnTo>
                <a:lnTo>
                  <a:pt x="617220" y="255918"/>
                </a:lnTo>
                <a:lnTo>
                  <a:pt x="582930" y="288163"/>
                </a:lnTo>
                <a:lnTo>
                  <a:pt x="548640" y="321689"/>
                </a:lnTo>
                <a:lnTo>
                  <a:pt x="514350" y="356501"/>
                </a:lnTo>
                <a:lnTo>
                  <a:pt x="480060" y="392602"/>
                </a:lnTo>
                <a:lnTo>
                  <a:pt x="445770" y="429998"/>
                </a:lnTo>
                <a:lnTo>
                  <a:pt x="411480" y="468697"/>
                </a:lnTo>
                <a:lnTo>
                  <a:pt x="377190" y="508706"/>
                </a:lnTo>
                <a:lnTo>
                  <a:pt x="342900" y="550034"/>
                </a:lnTo>
                <a:lnTo>
                  <a:pt x="308610" y="592689"/>
                </a:lnTo>
                <a:lnTo>
                  <a:pt x="274320" y="636683"/>
                </a:lnTo>
                <a:lnTo>
                  <a:pt x="240030" y="682026"/>
                </a:lnTo>
                <a:lnTo>
                  <a:pt x="205740" y="728729"/>
                </a:lnTo>
                <a:lnTo>
                  <a:pt x="171450" y="776805"/>
                </a:lnTo>
                <a:lnTo>
                  <a:pt x="137160" y="826266"/>
                </a:lnTo>
                <a:lnTo>
                  <a:pt x="102870" y="877125"/>
                </a:lnTo>
                <a:lnTo>
                  <a:pt x="68580" y="929395"/>
                </a:lnTo>
                <a:lnTo>
                  <a:pt x="34290" y="983091"/>
                </a:lnTo>
                <a:lnTo>
                  <a:pt x="0" y="1038225"/>
                </a:lnTo>
                <a:close/>
              </a:path>
            </a:pathLst>
          </a:custGeom>
          <a:solidFill xmlns:a="http://schemas.openxmlformats.org/drawingml/2006/main">
            <a:srgbClr val="D7E6F2"/>
          </a:solidFill>
          <a:ln xmlns:a="http://schemas.openxmlformats.org/drawingml/2006/main" w="0">
            <a:noFill/>
          </a:ln>
        </p:spPr>
      </p:sp>
      <p:sp>
        <p:nvSpPr>
          <p:cNvPr id="3" name="profile-53">
            <a:extLst xmlns:a="http://schemas.openxmlformats.org/drawingml/2006/main">
              <a:ext uri="{FF2B5EF4-FFF2-40B4-BE49-F238E27FC236}">
                <a16:creationId xmlns:a16="http://schemas.microsoft.com/office/drawing/2014/main" id="{9ECE468B-2D35-481C-AF2F-6139D6AF8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0"/>
            <a:ext cx="1371600" cy="1257300"/>
          </a:xfrm>
          <a:custGeom xmlns:a="http://schemas.openxmlformats.org/drawingml/2006/main">
            <a:pathLst>
              <a:path w="1371600" h="1257300">
                <a:moveTo>
                  <a:pt x="0" y="857250"/>
                </a:moveTo>
                <a:lnTo>
                  <a:pt x="34290" y="799874"/>
                </a:lnTo>
                <a:lnTo>
                  <a:pt x="68580" y="743950"/>
                </a:lnTo>
                <a:lnTo>
                  <a:pt x="102870" y="689479"/>
                </a:lnTo>
                <a:lnTo>
                  <a:pt x="137160" y="636461"/>
                </a:lnTo>
                <a:lnTo>
                  <a:pt x="171450" y="584895"/>
                </a:lnTo>
                <a:lnTo>
                  <a:pt x="205740" y="534781"/>
                </a:lnTo>
                <a:lnTo>
                  <a:pt x="240030" y="486120"/>
                </a:lnTo>
                <a:lnTo>
                  <a:pt x="274320" y="438912"/>
                </a:lnTo>
                <a:lnTo>
                  <a:pt x="308610" y="393156"/>
                </a:lnTo>
                <a:lnTo>
                  <a:pt x="342900" y="348853"/>
                </a:lnTo>
                <a:lnTo>
                  <a:pt x="377190" y="306003"/>
                </a:lnTo>
                <a:lnTo>
                  <a:pt x="411480" y="264604"/>
                </a:lnTo>
                <a:lnTo>
                  <a:pt x="445770" y="224659"/>
                </a:lnTo>
                <a:lnTo>
                  <a:pt x="480060" y="186166"/>
                </a:lnTo>
                <a:lnTo>
                  <a:pt x="514350" y="149126"/>
                </a:lnTo>
                <a:lnTo>
                  <a:pt x="548640" y="113538"/>
                </a:lnTo>
                <a:lnTo>
                  <a:pt x="582930" y="79403"/>
                </a:lnTo>
                <a:lnTo>
                  <a:pt x="617220" y="46720"/>
                </a:lnTo>
                <a:lnTo>
                  <a:pt x="651510" y="15490"/>
                </a:lnTo>
                <a:lnTo>
                  <a:pt x="685800" y="0"/>
                </a:lnTo>
                <a:lnTo>
                  <a:pt x="720090" y="0"/>
                </a:lnTo>
                <a:lnTo>
                  <a:pt x="754380" y="0"/>
                </a:lnTo>
                <a:lnTo>
                  <a:pt x="788670" y="0"/>
                </a:lnTo>
                <a:lnTo>
                  <a:pt x="822960" y="0"/>
                </a:lnTo>
                <a:lnTo>
                  <a:pt x="857250" y="0"/>
                </a:lnTo>
                <a:lnTo>
                  <a:pt x="891540" y="0"/>
                </a:lnTo>
                <a:lnTo>
                  <a:pt x="925830" y="0"/>
                </a:lnTo>
                <a:lnTo>
                  <a:pt x="960120" y="0"/>
                </a:lnTo>
                <a:lnTo>
                  <a:pt x="994410" y="0"/>
                </a:lnTo>
                <a:lnTo>
                  <a:pt x="1028700" y="0"/>
                </a:lnTo>
                <a:lnTo>
                  <a:pt x="1062990" y="0"/>
                </a:lnTo>
                <a:lnTo>
                  <a:pt x="1097280" y="0"/>
                </a:lnTo>
                <a:lnTo>
                  <a:pt x="1131570" y="0"/>
                </a:lnTo>
                <a:lnTo>
                  <a:pt x="1165860" y="0"/>
                </a:lnTo>
                <a:lnTo>
                  <a:pt x="1200150" y="0"/>
                </a:lnTo>
                <a:lnTo>
                  <a:pt x="1234440" y="0"/>
                </a:lnTo>
                <a:lnTo>
                  <a:pt x="1268730" y="0"/>
                </a:lnTo>
                <a:lnTo>
                  <a:pt x="1303020" y="0"/>
                </a:lnTo>
                <a:lnTo>
                  <a:pt x="1337310" y="0"/>
                </a:lnTo>
                <a:lnTo>
                  <a:pt x="1371600" y="0"/>
                </a:lnTo>
                <a:lnTo>
                  <a:pt x="1371600" y="28575"/>
                </a:lnTo>
                <a:lnTo>
                  <a:pt x="1337310" y="30817"/>
                </a:lnTo>
                <a:lnTo>
                  <a:pt x="1303020" y="33045"/>
                </a:lnTo>
                <a:lnTo>
                  <a:pt x="1268730" y="35246"/>
                </a:lnTo>
                <a:lnTo>
                  <a:pt x="1234440" y="37405"/>
                </a:lnTo>
                <a:lnTo>
                  <a:pt x="1200150" y="39510"/>
                </a:lnTo>
                <a:lnTo>
                  <a:pt x="1165860" y="41548"/>
                </a:lnTo>
                <a:lnTo>
                  <a:pt x="1131570" y="43505"/>
                </a:lnTo>
                <a:lnTo>
                  <a:pt x="1097280" y="45371"/>
                </a:lnTo>
                <a:lnTo>
                  <a:pt x="1062990" y="47133"/>
                </a:lnTo>
                <a:lnTo>
                  <a:pt x="1028700" y="48781"/>
                </a:lnTo>
                <a:lnTo>
                  <a:pt x="994410" y="50304"/>
                </a:lnTo>
                <a:lnTo>
                  <a:pt x="960120" y="51693"/>
                </a:lnTo>
                <a:lnTo>
                  <a:pt x="925830" y="52939"/>
                </a:lnTo>
                <a:lnTo>
                  <a:pt x="891540" y="54036"/>
                </a:lnTo>
                <a:lnTo>
                  <a:pt x="857250" y="54975"/>
                </a:lnTo>
                <a:lnTo>
                  <a:pt x="822960" y="55751"/>
                </a:lnTo>
                <a:lnTo>
                  <a:pt x="788670" y="56360"/>
                </a:lnTo>
                <a:lnTo>
                  <a:pt x="754380" y="56798"/>
                </a:lnTo>
                <a:lnTo>
                  <a:pt x="720090" y="57062"/>
                </a:lnTo>
                <a:lnTo>
                  <a:pt x="685800" y="57150"/>
                </a:lnTo>
                <a:lnTo>
                  <a:pt x="651510" y="72552"/>
                </a:lnTo>
                <a:lnTo>
                  <a:pt x="617220" y="103518"/>
                </a:lnTo>
                <a:lnTo>
                  <a:pt x="582930" y="135763"/>
                </a:lnTo>
                <a:lnTo>
                  <a:pt x="548640" y="169289"/>
                </a:lnTo>
                <a:lnTo>
                  <a:pt x="514350" y="204101"/>
                </a:lnTo>
                <a:lnTo>
                  <a:pt x="480060" y="240202"/>
                </a:lnTo>
                <a:lnTo>
                  <a:pt x="445770" y="277598"/>
                </a:lnTo>
                <a:lnTo>
                  <a:pt x="411480" y="316297"/>
                </a:lnTo>
                <a:lnTo>
                  <a:pt x="377190" y="356306"/>
                </a:lnTo>
                <a:lnTo>
                  <a:pt x="342900" y="397634"/>
                </a:lnTo>
                <a:lnTo>
                  <a:pt x="308610" y="440289"/>
                </a:lnTo>
                <a:lnTo>
                  <a:pt x="274320" y="484283"/>
                </a:lnTo>
                <a:lnTo>
                  <a:pt x="240030" y="529626"/>
                </a:lnTo>
                <a:lnTo>
                  <a:pt x="205740" y="576329"/>
                </a:lnTo>
                <a:lnTo>
                  <a:pt x="171450" y="624405"/>
                </a:lnTo>
                <a:lnTo>
                  <a:pt x="137160" y="673866"/>
                </a:lnTo>
                <a:lnTo>
                  <a:pt x="102870" y="724725"/>
                </a:lnTo>
                <a:lnTo>
                  <a:pt x="68580" y="776995"/>
                </a:lnTo>
                <a:lnTo>
                  <a:pt x="34290" y="830691"/>
                </a:lnTo>
                <a:lnTo>
                  <a:pt x="0" y="885825"/>
                </a:lnTo>
                <a:close/>
              </a:path>
            </a:pathLst>
          </a:custGeom>
          <a:solidFill xmlns:a="http://schemas.openxmlformats.org/drawingml/2006/main">
            <a:srgbClr val="BED5E8"/>
          </a:solidFill>
          <a:ln xmlns:a="http://schemas.openxmlformats.org/drawingml/2006/main" w="0">
            <a:noFill/>
          </a:ln>
        </p:spPr>
      </p:sp>
      <p:sp>
        <p:nvSpPr>
          <p:cNvPr id="4" name="profile-54">
            <a:extLst xmlns:a="http://schemas.openxmlformats.org/drawingml/2006/main">
              <a:ext uri="{FF2B5EF4-FFF2-40B4-BE49-F238E27FC236}">
                <a16:creationId xmlns:a16="http://schemas.microsoft.com/office/drawing/2014/main" id="{089DCDBC-A07F-46E2-9A82-4DC7ED013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3429000" cy="2543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12B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17212B"/>
                </a:solidFill>
                <a:latin typeface="Segoe UI"/>
                <a:ea typeface="Segoe UI"/>
                <a:cs typeface="Segoe UI"/>
              </a:rPr>
              <a:t>Oceanides</a:t>
            </a:r>
          </a:p>
        </p:txBody>
      </p:sp>
      <p:sp>
        <p:nvSpPr>
          <p:cNvPr id="5" name="profile-55">
            <a:extLst xmlns:a="http://schemas.openxmlformats.org/drawingml/2006/main">
              <a:ext uri="{FF2B5EF4-FFF2-40B4-BE49-F238E27FC236}">
                <a16:creationId xmlns:a16="http://schemas.microsoft.com/office/drawing/2014/main" id="{A584A652-960B-45CD-A2E1-5E09DA9E2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485775"/>
            <a:ext cx="1971675" cy="192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Company profile</a:t>
            </a:r>
          </a:p>
        </p:txBody>
      </p:sp>
      <p:sp>
        <p:nvSpPr>
          <p:cNvPr id="6" name="profile-56">
            <a:extLst xmlns:a="http://schemas.openxmlformats.org/drawingml/2006/main">
              <a:ext uri="{FF2B5EF4-FFF2-40B4-BE49-F238E27FC236}">
                <a16:creationId xmlns:a16="http://schemas.microsoft.com/office/drawing/2014/main" id="{3243367C-0B33-45AE-90F4-31BC783EC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63436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75" b="1">
                <a:solidFill>
                  <a:srgbClr val="1C63AD"/>
                </a:solidFill>
                <a:latin typeface="Segoe UI"/>
                <a:ea typeface="Segoe UI"/>
                <a:cs typeface="Segoe UI"/>
              </a:defRPr>
            </a:pPr>
            <a:r>
              <a:rPr sz="3975" b="1">
                <a:solidFill>
                  <a:srgbClr val="1C63AD"/>
                </a:solidFill>
                <a:latin typeface="Segoe UI"/>
                <a:ea typeface="Segoe UI"/>
                <a:cs typeface="Segoe UI"/>
              </a:rPr>
              <a:t>Siphoning &amp;</a:t>
            </a:r>
          </a:p>
        </p:txBody>
      </p:sp>
      <p:sp>
        <p:nvSpPr>
          <p:cNvPr id="7" name="profile-57">
            <a:extLst xmlns:a="http://schemas.openxmlformats.org/drawingml/2006/main">
              <a:ext uri="{FF2B5EF4-FFF2-40B4-BE49-F238E27FC236}">
                <a16:creationId xmlns:a16="http://schemas.microsoft.com/office/drawing/2014/main" id="{70C76B7C-3E51-46F5-8102-FC201C861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0225"/>
            <a:ext cx="63436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75" b="1">
                <a:solidFill>
                  <a:srgbClr val="1C63AD"/>
                </a:solidFill>
                <a:latin typeface="Segoe UI"/>
                <a:ea typeface="Segoe UI"/>
                <a:cs typeface="Segoe UI"/>
              </a:defRPr>
            </a:pPr>
            <a:r>
              <a:rPr sz="3975" b="1">
                <a:solidFill>
                  <a:srgbClr val="1C63AD"/>
                </a:solidFill>
                <a:latin typeface="Segoe UI"/>
                <a:ea typeface="Segoe UI"/>
                <a:cs typeface="Segoe UI"/>
              </a:rPr>
              <a:t>plumbing</a:t>
            </a:r>
          </a:p>
        </p:txBody>
      </p:sp>
      <p:sp>
        <p:nvSpPr>
          <p:cNvPr id="8" name="profile-58">
            <a:extLst xmlns:a="http://schemas.openxmlformats.org/drawingml/2006/main">
              <a:ext uri="{FF2B5EF4-FFF2-40B4-BE49-F238E27FC236}">
                <a16:creationId xmlns:a16="http://schemas.microsoft.com/office/drawing/2014/main" id="{3775AACE-8324-4120-94F6-F706431BF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57475"/>
            <a:ext cx="63436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Septic tank services, drain declogging and plumbing repairs.</a:t>
            </a:r>
          </a:p>
        </p:txBody>
      </p:sp>
      <p:sp>
        <p:nvSpPr>
          <p:cNvPr id="9" name="profile-59">
            <a:extLst xmlns:a="http://schemas.openxmlformats.org/drawingml/2006/main">
              <a:ext uri="{FF2B5EF4-FFF2-40B4-BE49-F238E27FC236}">
                <a16:creationId xmlns:a16="http://schemas.microsoft.com/office/drawing/2014/main" id="{EBC7B514-C617-46FA-BF1A-4D2A504C5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24275"/>
            <a:ext cx="2647950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C63AD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1C63AD"/>
                </a:solidFill>
                <a:latin typeface="Segoe UI"/>
                <a:ea typeface="Segoe UI"/>
                <a:cs typeface="Segoe UI"/>
              </a:rPr>
              <a:t>Service scope</a:t>
            </a:r>
          </a:p>
        </p:txBody>
      </p:sp>
      <p:sp>
        <p:nvSpPr>
          <p:cNvPr id="10" name="profile-60">
            <a:extLst xmlns:a="http://schemas.openxmlformats.org/drawingml/2006/main">
              <a:ext uri="{FF2B5EF4-FFF2-40B4-BE49-F238E27FC236}">
                <a16:creationId xmlns:a16="http://schemas.microsoft.com/office/drawing/2014/main" id="{FF385061-BE06-4A5F-8044-68ED15EA7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26479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Septic tank siphoning</a:t>
            </a:r>
          </a:p>
        </p:txBody>
      </p:sp>
      <p:sp>
        <p:nvSpPr>
          <p:cNvPr id="11" name="profile-61">
            <a:extLst xmlns:a="http://schemas.openxmlformats.org/drawingml/2006/main">
              <a:ext uri="{FF2B5EF4-FFF2-40B4-BE49-F238E27FC236}">
                <a16:creationId xmlns:a16="http://schemas.microsoft.com/office/drawing/2014/main" id="{07FDBE34-7062-4E29-A426-3DE69309A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81525"/>
            <a:ext cx="26479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Septic tank cleaning</a:t>
            </a:r>
          </a:p>
        </p:txBody>
      </p:sp>
      <p:sp>
        <p:nvSpPr>
          <p:cNvPr id="12" name="profile-62">
            <a:extLst xmlns:a="http://schemas.openxmlformats.org/drawingml/2006/main">
              <a:ext uri="{FF2B5EF4-FFF2-40B4-BE49-F238E27FC236}">
                <a16:creationId xmlns:a16="http://schemas.microsoft.com/office/drawing/2014/main" id="{88EF721D-970C-46A4-AA00-D29917B3D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26479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Drain declogging</a:t>
            </a:r>
          </a:p>
        </p:txBody>
      </p:sp>
      <p:sp>
        <p:nvSpPr>
          <p:cNvPr id="13" name="profile-63">
            <a:extLst xmlns:a="http://schemas.openxmlformats.org/drawingml/2006/main">
              <a:ext uri="{FF2B5EF4-FFF2-40B4-BE49-F238E27FC236}">
                <a16:creationId xmlns:a16="http://schemas.microsoft.com/office/drawing/2014/main" id="{E164244D-5C8A-40C4-A502-3A5E8FCBA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24475"/>
            <a:ext cx="26479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Pipe leak repairs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609da956334d08"/>
          <a:stretch xmlns:a="http://schemas.openxmlformats.org/drawingml/2006/main"/>
        </p:blipFill>
        <p:spPr>
          <a:xfrm xmlns:a="http://schemas.openxmlformats.org/drawingml/2006/main">
            <a:off x="3543300" y="3648075"/>
            <a:ext cx="3409950" cy="2273300"/>
          </a:xfrm>
          <a:prstGeom xmlns:a="http://schemas.openxmlformats.org/drawingml/2006/main" prst="rect">
            <a:avLst/>
          </a:prstGeom>
        </p:spPr>
      </p:pic>
      <p:sp>
        <p:nvSpPr>
          <p:cNvPr id="15" name="profile-64">
            <a:extLst xmlns:a="http://schemas.openxmlformats.org/drawingml/2006/main">
              <a:ext uri="{FF2B5EF4-FFF2-40B4-BE49-F238E27FC236}">
                <a16:creationId xmlns:a16="http://schemas.microsoft.com/office/drawing/2014/main" id="{C49B51E6-6648-4984-B381-6CA6F979D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6076950"/>
            <a:ext cx="3409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AI-generated service illustration</a:t>
            </a:r>
          </a:p>
        </p:txBody>
      </p:sp>
      <p:sp>
        <p:nvSpPr>
          <p:cNvPr id="16" name="profile-65">
            <a:extLst xmlns:a="http://schemas.openxmlformats.org/drawingml/2006/main">
              <a:ext uri="{FF2B5EF4-FFF2-40B4-BE49-F238E27FC236}">
                <a16:creationId xmlns:a16="http://schemas.microsoft.com/office/drawing/2014/main" id="{82BCBD57-09F8-48FC-A1F1-0753CB2F3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63436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9"/>
          </a:solidFill>
          <a:ln xmlns:a="http://schemas.openxmlformats.org/drawingml/2006/main" w="0">
            <a:noFill/>
          </a:ln>
        </p:spPr>
      </p:sp>
      <p:sp>
        <p:nvSpPr>
          <p:cNvPr id="17" name="profile-66">
            <a:extLst xmlns:a="http://schemas.openxmlformats.org/drawingml/2006/main">
              <a:ext uri="{FF2B5EF4-FFF2-40B4-BE49-F238E27FC236}">
                <a16:creationId xmlns:a16="http://schemas.microsoft.com/office/drawing/2014/main" id="{DBA7E865-BE03-4875-8B88-4FBB1C6F7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67525"/>
            <a:ext cx="6343650" cy="3162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C63AD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1C63AD"/>
                </a:solidFill>
                <a:latin typeface="Segoe UI"/>
                <a:ea typeface="Segoe UI"/>
                <a:cs typeface="Segoe UI"/>
              </a:rPr>
              <a:t>Actual siphoning work</a:t>
            </a:r>
          </a:p>
        </p:txBody>
      </p:sp>
      <p:sp>
        <p:nvSpPr>
          <p:cNvPr id="18" name="profile-67">
            <a:extLst xmlns:a="http://schemas.openxmlformats.org/drawingml/2006/main">
              <a:ext uri="{FF2B5EF4-FFF2-40B4-BE49-F238E27FC236}">
                <a16:creationId xmlns:a16="http://schemas.microsoft.com/office/drawing/2014/main" id="{590EB39F-BE99-4ED1-83E3-DFA5C1700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58050"/>
            <a:ext cx="6343650" cy="2171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Same site before and after service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f6d43ae8664ef5"/>
          <a:srcRect xmlns:a="http://schemas.openxmlformats.org/drawingml/2006/main" l="0" t="31186" r="0" b="311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7629525"/>
            <a:ext cx="3105150" cy="1752600"/>
          </a:xfrm>
          <a:prstGeom xmlns:a="http://schemas.openxmlformats.org/drawingml/2006/main" prst="rect">
            <a:avLst/>
          </a:prstGeom>
        </p:spPr>
      </p:pic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58a8e047b3487a"/>
          <a:srcRect xmlns:a="http://schemas.openxmlformats.org/drawingml/2006/main" l="0" t="31186" r="0" b="311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8100" y="7629525"/>
            <a:ext cx="3105150" cy="1752600"/>
          </a:xfrm>
          <a:prstGeom xmlns:a="http://schemas.openxmlformats.org/drawingml/2006/main" prst="rect">
            <a:avLst/>
          </a:prstGeom>
        </p:spPr>
      </p:pic>
      <p:sp>
        <p:nvSpPr>
          <p:cNvPr id="21" name="profile-68">
            <a:extLst xmlns:a="http://schemas.openxmlformats.org/drawingml/2006/main">
              <a:ext uri="{FF2B5EF4-FFF2-40B4-BE49-F238E27FC236}">
                <a16:creationId xmlns:a16="http://schemas.microsoft.com/office/drawing/2014/main" id="{CC137C81-EAE1-436E-8943-2024D82DE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15475"/>
            <a:ext cx="31051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Before service</a:t>
            </a:r>
          </a:p>
        </p:txBody>
      </p:sp>
      <p:sp>
        <p:nvSpPr>
          <p:cNvPr id="22" name="profile-69">
            <a:extLst xmlns:a="http://schemas.openxmlformats.org/drawingml/2006/main">
              <a:ext uri="{FF2B5EF4-FFF2-40B4-BE49-F238E27FC236}">
                <a16:creationId xmlns:a16="http://schemas.microsoft.com/office/drawing/2014/main" id="{E2F9D4E3-E046-4879-ACDC-13F29C304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9515475"/>
            <a:ext cx="31051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After service</a:t>
            </a:r>
          </a:p>
        </p:txBody>
      </p:sp>
      <p:sp>
        <p:nvSpPr>
          <p:cNvPr id="23" name="profile-70">
            <a:extLst xmlns:a="http://schemas.openxmlformats.org/drawingml/2006/main">
              <a:ext uri="{FF2B5EF4-FFF2-40B4-BE49-F238E27FC236}">
                <a16:creationId xmlns:a16="http://schemas.microsoft.com/office/drawing/2014/main" id="{B625864E-C505-491E-8340-3239973EF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10750"/>
            <a:ext cx="63436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Scope follows site access and tank or pipe conditions.</a:t>
            </a:r>
          </a:p>
        </p:txBody>
      </p:sp>
      <p:sp>
        <p:nvSpPr>
          <p:cNvPr id="24" name="profile-71">
            <a:extLst xmlns:a="http://schemas.openxmlformats.org/drawingml/2006/main">
              <a:ext uri="{FF2B5EF4-FFF2-40B4-BE49-F238E27FC236}">
                <a16:creationId xmlns:a16="http://schemas.microsoft.com/office/drawing/2014/main" id="{406D04BA-101A-488F-9A9D-F866E9827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106025"/>
            <a:ext cx="63436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9"/>
          </a:solidFill>
          <a:ln xmlns:a="http://schemas.openxmlformats.org/drawingml/2006/main" w="0">
            <a:noFill/>
          </a:ln>
        </p:spPr>
      </p:sp>
      <p:sp>
        <p:nvSpPr>
          <p:cNvPr id="25" name="profile-72">
            <a:extLst xmlns:a="http://schemas.openxmlformats.org/drawingml/2006/main">
              <a:ext uri="{FF2B5EF4-FFF2-40B4-BE49-F238E27FC236}">
                <a16:creationId xmlns:a16="http://schemas.microsoft.com/office/drawing/2014/main" id="{9304C833-2F84-4C34-95A9-102287720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0"/>
            <a:ext cx="381000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Oceanides</a:t>
            </a:r>
          </a:p>
        </p:txBody>
      </p:sp>
      <p:sp>
        <p:nvSpPr>
          <p:cNvPr id="26" name="profile-73">
            <a:extLst xmlns:a="http://schemas.openxmlformats.org/drawingml/2006/main">
              <a:ext uri="{FF2B5EF4-FFF2-40B4-BE49-F238E27FC236}">
                <a16:creationId xmlns:a16="http://schemas.microsoft.com/office/drawing/2014/main" id="{581EF22E-1833-4761-B1DC-A0060787F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10287000"/>
            <a:ext cx="276225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03726608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profile-74">
            <a:extLst xmlns:a="http://schemas.openxmlformats.org/drawingml/2006/main">
              <a:ext uri="{FF2B5EF4-FFF2-40B4-BE49-F238E27FC236}">
                <a16:creationId xmlns:a16="http://schemas.microsoft.com/office/drawing/2014/main" id="{10944008-BA00-44C7-B684-B85D80382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0"/>
            <a:ext cx="1371600" cy="1257300"/>
          </a:xfrm>
          <a:custGeom xmlns:a="http://schemas.openxmlformats.org/drawingml/2006/main">
            <a:pathLst>
              <a:path w="1371600" h="1257300">
                <a:moveTo>
                  <a:pt x="0" y="1162050"/>
                </a:moveTo>
                <a:lnTo>
                  <a:pt x="34290" y="1104674"/>
                </a:lnTo>
                <a:lnTo>
                  <a:pt x="68580" y="1048750"/>
                </a:lnTo>
                <a:lnTo>
                  <a:pt x="102870" y="994279"/>
                </a:lnTo>
                <a:lnTo>
                  <a:pt x="137160" y="941261"/>
                </a:lnTo>
                <a:lnTo>
                  <a:pt x="171450" y="889695"/>
                </a:lnTo>
                <a:lnTo>
                  <a:pt x="205740" y="839581"/>
                </a:lnTo>
                <a:lnTo>
                  <a:pt x="240030" y="790920"/>
                </a:lnTo>
                <a:lnTo>
                  <a:pt x="274320" y="743712"/>
                </a:lnTo>
                <a:lnTo>
                  <a:pt x="308610" y="697956"/>
                </a:lnTo>
                <a:lnTo>
                  <a:pt x="342900" y="653653"/>
                </a:lnTo>
                <a:lnTo>
                  <a:pt x="377190" y="610803"/>
                </a:lnTo>
                <a:lnTo>
                  <a:pt x="411480" y="569405"/>
                </a:lnTo>
                <a:lnTo>
                  <a:pt x="445770" y="529459"/>
                </a:lnTo>
                <a:lnTo>
                  <a:pt x="480060" y="490966"/>
                </a:lnTo>
                <a:lnTo>
                  <a:pt x="514350" y="453926"/>
                </a:lnTo>
                <a:lnTo>
                  <a:pt x="548640" y="418338"/>
                </a:lnTo>
                <a:lnTo>
                  <a:pt x="582930" y="384203"/>
                </a:lnTo>
                <a:lnTo>
                  <a:pt x="617220" y="351520"/>
                </a:lnTo>
                <a:lnTo>
                  <a:pt x="651510" y="320290"/>
                </a:lnTo>
                <a:lnTo>
                  <a:pt x="685800" y="290513"/>
                </a:lnTo>
                <a:lnTo>
                  <a:pt x="720090" y="262188"/>
                </a:lnTo>
                <a:lnTo>
                  <a:pt x="754380" y="235315"/>
                </a:lnTo>
                <a:lnTo>
                  <a:pt x="788670" y="209895"/>
                </a:lnTo>
                <a:lnTo>
                  <a:pt x="822960" y="185928"/>
                </a:lnTo>
                <a:lnTo>
                  <a:pt x="857250" y="163413"/>
                </a:lnTo>
                <a:lnTo>
                  <a:pt x="891540" y="142351"/>
                </a:lnTo>
                <a:lnTo>
                  <a:pt x="925830" y="122742"/>
                </a:lnTo>
                <a:lnTo>
                  <a:pt x="960120" y="104585"/>
                </a:lnTo>
                <a:lnTo>
                  <a:pt x="994410" y="87880"/>
                </a:lnTo>
                <a:lnTo>
                  <a:pt x="1028700" y="72628"/>
                </a:lnTo>
                <a:lnTo>
                  <a:pt x="1062990" y="58829"/>
                </a:lnTo>
                <a:lnTo>
                  <a:pt x="1097280" y="46482"/>
                </a:lnTo>
                <a:lnTo>
                  <a:pt x="1131570" y="35588"/>
                </a:lnTo>
                <a:lnTo>
                  <a:pt x="1165860" y="26146"/>
                </a:lnTo>
                <a:lnTo>
                  <a:pt x="1200150" y="18157"/>
                </a:lnTo>
                <a:lnTo>
                  <a:pt x="1234440" y="11620"/>
                </a:lnTo>
                <a:lnTo>
                  <a:pt x="1268730" y="6537"/>
                </a:lnTo>
                <a:lnTo>
                  <a:pt x="1303020" y="2905"/>
                </a:lnTo>
                <a:lnTo>
                  <a:pt x="1337310" y="726"/>
                </a:lnTo>
                <a:lnTo>
                  <a:pt x="1371600" y="0"/>
                </a:lnTo>
                <a:lnTo>
                  <a:pt x="1371600" y="28575"/>
                </a:lnTo>
                <a:lnTo>
                  <a:pt x="1337310" y="31543"/>
                </a:lnTo>
                <a:lnTo>
                  <a:pt x="1303020" y="35950"/>
                </a:lnTo>
                <a:lnTo>
                  <a:pt x="1268730" y="41782"/>
                </a:lnTo>
                <a:lnTo>
                  <a:pt x="1234440" y="49026"/>
                </a:lnTo>
                <a:lnTo>
                  <a:pt x="1200150" y="57667"/>
                </a:lnTo>
                <a:lnTo>
                  <a:pt x="1165860" y="67694"/>
                </a:lnTo>
                <a:lnTo>
                  <a:pt x="1131570" y="79093"/>
                </a:lnTo>
                <a:lnTo>
                  <a:pt x="1097280" y="91853"/>
                </a:lnTo>
                <a:lnTo>
                  <a:pt x="1062990" y="105962"/>
                </a:lnTo>
                <a:lnTo>
                  <a:pt x="1028700" y="121409"/>
                </a:lnTo>
                <a:lnTo>
                  <a:pt x="994410" y="138184"/>
                </a:lnTo>
                <a:lnTo>
                  <a:pt x="960120" y="156277"/>
                </a:lnTo>
                <a:lnTo>
                  <a:pt x="925830" y="175681"/>
                </a:lnTo>
                <a:lnTo>
                  <a:pt x="891540" y="196387"/>
                </a:lnTo>
                <a:lnTo>
                  <a:pt x="857250" y="218388"/>
                </a:lnTo>
                <a:lnTo>
                  <a:pt x="822960" y="241679"/>
                </a:lnTo>
                <a:lnTo>
                  <a:pt x="788670" y="266256"/>
                </a:lnTo>
                <a:lnTo>
                  <a:pt x="754380" y="292113"/>
                </a:lnTo>
                <a:lnTo>
                  <a:pt x="720090" y="319249"/>
                </a:lnTo>
                <a:lnTo>
                  <a:pt x="685800" y="347663"/>
                </a:lnTo>
                <a:lnTo>
                  <a:pt x="651510" y="377352"/>
                </a:lnTo>
                <a:lnTo>
                  <a:pt x="617220" y="408318"/>
                </a:lnTo>
                <a:lnTo>
                  <a:pt x="582930" y="440563"/>
                </a:lnTo>
                <a:lnTo>
                  <a:pt x="548640" y="474089"/>
                </a:lnTo>
                <a:lnTo>
                  <a:pt x="514350" y="508901"/>
                </a:lnTo>
                <a:lnTo>
                  <a:pt x="480060" y="545002"/>
                </a:lnTo>
                <a:lnTo>
                  <a:pt x="445770" y="582398"/>
                </a:lnTo>
                <a:lnTo>
                  <a:pt x="411480" y="621097"/>
                </a:lnTo>
                <a:lnTo>
                  <a:pt x="377190" y="661106"/>
                </a:lnTo>
                <a:lnTo>
                  <a:pt x="342900" y="702434"/>
                </a:lnTo>
                <a:lnTo>
                  <a:pt x="308610" y="745089"/>
                </a:lnTo>
                <a:lnTo>
                  <a:pt x="274320" y="789083"/>
                </a:lnTo>
                <a:lnTo>
                  <a:pt x="240030" y="834426"/>
                </a:lnTo>
                <a:lnTo>
                  <a:pt x="205740" y="881129"/>
                </a:lnTo>
                <a:lnTo>
                  <a:pt x="171450" y="929205"/>
                </a:lnTo>
                <a:lnTo>
                  <a:pt x="137160" y="978666"/>
                </a:lnTo>
                <a:lnTo>
                  <a:pt x="102870" y="1029525"/>
                </a:lnTo>
                <a:lnTo>
                  <a:pt x="68580" y="1081795"/>
                </a:lnTo>
                <a:lnTo>
                  <a:pt x="34290" y="1135491"/>
                </a:lnTo>
                <a:lnTo>
                  <a:pt x="0" y="1190625"/>
                </a:lnTo>
                <a:close/>
              </a:path>
            </a:pathLst>
          </a:custGeom>
          <a:solidFill xmlns:a="http://schemas.openxmlformats.org/drawingml/2006/main">
            <a:srgbClr val="E5EEF6"/>
          </a:solidFill>
          <a:ln xmlns:a="http://schemas.openxmlformats.org/drawingml/2006/main" w="0">
            <a:noFill/>
          </a:ln>
        </p:spPr>
      </p:sp>
      <p:sp>
        <p:nvSpPr>
          <p:cNvPr id="2" name="profile-75">
            <a:extLst xmlns:a="http://schemas.openxmlformats.org/drawingml/2006/main">
              <a:ext uri="{FF2B5EF4-FFF2-40B4-BE49-F238E27FC236}">
                <a16:creationId xmlns:a16="http://schemas.microsoft.com/office/drawing/2014/main" id="{78092B07-6791-40ED-8697-A27C4E116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0"/>
            <a:ext cx="1371600" cy="1257300"/>
          </a:xfrm>
          <a:custGeom xmlns:a="http://schemas.openxmlformats.org/drawingml/2006/main">
            <a:pathLst>
              <a:path w="1371600" h="1257300">
                <a:moveTo>
                  <a:pt x="0" y="1009650"/>
                </a:moveTo>
                <a:lnTo>
                  <a:pt x="34290" y="952274"/>
                </a:lnTo>
                <a:lnTo>
                  <a:pt x="68580" y="896350"/>
                </a:lnTo>
                <a:lnTo>
                  <a:pt x="102870" y="841879"/>
                </a:lnTo>
                <a:lnTo>
                  <a:pt x="137160" y="788861"/>
                </a:lnTo>
                <a:lnTo>
                  <a:pt x="171450" y="737295"/>
                </a:lnTo>
                <a:lnTo>
                  <a:pt x="205740" y="687181"/>
                </a:lnTo>
                <a:lnTo>
                  <a:pt x="240030" y="638520"/>
                </a:lnTo>
                <a:lnTo>
                  <a:pt x="274320" y="591312"/>
                </a:lnTo>
                <a:lnTo>
                  <a:pt x="308610" y="545556"/>
                </a:lnTo>
                <a:lnTo>
                  <a:pt x="342900" y="501253"/>
                </a:lnTo>
                <a:lnTo>
                  <a:pt x="377190" y="458403"/>
                </a:lnTo>
                <a:lnTo>
                  <a:pt x="411480" y="417004"/>
                </a:lnTo>
                <a:lnTo>
                  <a:pt x="445770" y="377059"/>
                </a:lnTo>
                <a:lnTo>
                  <a:pt x="480060" y="338566"/>
                </a:lnTo>
                <a:lnTo>
                  <a:pt x="514350" y="301526"/>
                </a:lnTo>
                <a:lnTo>
                  <a:pt x="548640" y="265938"/>
                </a:lnTo>
                <a:lnTo>
                  <a:pt x="582930" y="231803"/>
                </a:lnTo>
                <a:lnTo>
                  <a:pt x="617220" y="199120"/>
                </a:lnTo>
                <a:lnTo>
                  <a:pt x="651510" y="167890"/>
                </a:lnTo>
                <a:lnTo>
                  <a:pt x="685800" y="138113"/>
                </a:lnTo>
                <a:lnTo>
                  <a:pt x="720090" y="109788"/>
                </a:lnTo>
                <a:lnTo>
                  <a:pt x="754380" y="82915"/>
                </a:lnTo>
                <a:lnTo>
                  <a:pt x="788670" y="57495"/>
                </a:lnTo>
                <a:lnTo>
                  <a:pt x="822960" y="33528"/>
                </a:lnTo>
                <a:lnTo>
                  <a:pt x="857250" y="11013"/>
                </a:lnTo>
                <a:lnTo>
                  <a:pt x="891540" y="0"/>
                </a:lnTo>
                <a:lnTo>
                  <a:pt x="925830" y="0"/>
                </a:lnTo>
                <a:lnTo>
                  <a:pt x="960120" y="0"/>
                </a:lnTo>
                <a:lnTo>
                  <a:pt x="994410" y="0"/>
                </a:lnTo>
                <a:lnTo>
                  <a:pt x="1028700" y="0"/>
                </a:lnTo>
                <a:lnTo>
                  <a:pt x="1062990" y="0"/>
                </a:lnTo>
                <a:lnTo>
                  <a:pt x="1097280" y="0"/>
                </a:lnTo>
                <a:lnTo>
                  <a:pt x="1131570" y="0"/>
                </a:lnTo>
                <a:lnTo>
                  <a:pt x="1165860" y="0"/>
                </a:lnTo>
                <a:lnTo>
                  <a:pt x="1200150" y="0"/>
                </a:lnTo>
                <a:lnTo>
                  <a:pt x="1234440" y="0"/>
                </a:lnTo>
                <a:lnTo>
                  <a:pt x="1268730" y="0"/>
                </a:lnTo>
                <a:lnTo>
                  <a:pt x="1303020" y="0"/>
                </a:lnTo>
                <a:lnTo>
                  <a:pt x="1337310" y="0"/>
                </a:lnTo>
                <a:lnTo>
                  <a:pt x="1371600" y="0"/>
                </a:lnTo>
                <a:lnTo>
                  <a:pt x="1371600" y="28575"/>
                </a:lnTo>
                <a:lnTo>
                  <a:pt x="1337310" y="30817"/>
                </a:lnTo>
                <a:lnTo>
                  <a:pt x="1303020" y="33045"/>
                </a:lnTo>
                <a:lnTo>
                  <a:pt x="1268730" y="35246"/>
                </a:lnTo>
                <a:lnTo>
                  <a:pt x="1234440" y="37405"/>
                </a:lnTo>
                <a:lnTo>
                  <a:pt x="1200150" y="39510"/>
                </a:lnTo>
                <a:lnTo>
                  <a:pt x="1165860" y="41548"/>
                </a:lnTo>
                <a:lnTo>
                  <a:pt x="1131570" y="43505"/>
                </a:lnTo>
                <a:lnTo>
                  <a:pt x="1097280" y="45371"/>
                </a:lnTo>
                <a:lnTo>
                  <a:pt x="1062990" y="47133"/>
                </a:lnTo>
                <a:lnTo>
                  <a:pt x="1028700" y="48781"/>
                </a:lnTo>
                <a:lnTo>
                  <a:pt x="994410" y="50304"/>
                </a:lnTo>
                <a:lnTo>
                  <a:pt x="960120" y="51693"/>
                </a:lnTo>
                <a:lnTo>
                  <a:pt x="925830" y="52939"/>
                </a:lnTo>
                <a:lnTo>
                  <a:pt x="891540" y="54036"/>
                </a:lnTo>
                <a:lnTo>
                  <a:pt x="857250" y="65988"/>
                </a:lnTo>
                <a:lnTo>
                  <a:pt x="822960" y="89279"/>
                </a:lnTo>
                <a:lnTo>
                  <a:pt x="788670" y="113856"/>
                </a:lnTo>
                <a:lnTo>
                  <a:pt x="754380" y="139713"/>
                </a:lnTo>
                <a:lnTo>
                  <a:pt x="720090" y="166849"/>
                </a:lnTo>
                <a:lnTo>
                  <a:pt x="685800" y="195263"/>
                </a:lnTo>
                <a:lnTo>
                  <a:pt x="651510" y="224952"/>
                </a:lnTo>
                <a:lnTo>
                  <a:pt x="617220" y="255918"/>
                </a:lnTo>
                <a:lnTo>
                  <a:pt x="582930" y="288163"/>
                </a:lnTo>
                <a:lnTo>
                  <a:pt x="548640" y="321689"/>
                </a:lnTo>
                <a:lnTo>
                  <a:pt x="514350" y="356501"/>
                </a:lnTo>
                <a:lnTo>
                  <a:pt x="480060" y="392602"/>
                </a:lnTo>
                <a:lnTo>
                  <a:pt x="445770" y="429998"/>
                </a:lnTo>
                <a:lnTo>
                  <a:pt x="411480" y="468697"/>
                </a:lnTo>
                <a:lnTo>
                  <a:pt x="377190" y="508706"/>
                </a:lnTo>
                <a:lnTo>
                  <a:pt x="342900" y="550034"/>
                </a:lnTo>
                <a:lnTo>
                  <a:pt x="308610" y="592689"/>
                </a:lnTo>
                <a:lnTo>
                  <a:pt x="274320" y="636683"/>
                </a:lnTo>
                <a:lnTo>
                  <a:pt x="240030" y="682026"/>
                </a:lnTo>
                <a:lnTo>
                  <a:pt x="205740" y="728729"/>
                </a:lnTo>
                <a:lnTo>
                  <a:pt x="171450" y="776805"/>
                </a:lnTo>
                <a:lnTo>
                  <a:pt x="137160" y="826266"/>
                </a:lnTo>
                <a:lnTo>
                  <a:pt x="102870" y="877125"/>
                </a:lnTo>
                <a:lnTo>
                  <a:pt x="68580" y="929395"/>
                </a:lnTo>
                <a:lnTo>
                  <a:pt x="34290" y="983091"/>
                </a:lnTo>
                <a:lnTo>
                  <a:pt x="0" y="1038225"/>
                </a:lnTo>
                <a:close/>
              </a:path>
            </a:pathLst>
          </a:custGeom>
          <a:solidFill xmlns:a="http://schemas.openxmlformats.org/drawingml/2006/main">
            <a:srgbClr val="D7E6F2"/>
          </a:solidFill>
          <a:ln xmlns:a="http://schemas.openxmlformats.org/drawingml/2006/main" w="0">
            <a:noFill/>
          </a:ln>
        </p:spPr>
      </p:sp>
      <p:sp>
        <p:nvSpPr>
          <p:cNvPr id="3" name="profile-76">
            <a:extLst xmlns:a="http://schemas.openxmlformats.org/drawingml/2006/main">
              <a:ext uri="{FF2B5EF4-FFF2-40B4-BE49-F238E27FC236}">
                <a16:creationId xmlns:a16="http://schemas.microsoft.com/office/drawing/2014/main" id="{1CDCCCD2-7D14-488F-98CE-7FC4DE42F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0"/>
            <a:ext cx="1371600" cy="1257300"/>
          </a:xfrm>
          <a:custGeom xmlns:a="http://schemas.openxmlformats.org/drawingml/2006/main">
            <a:pathLst>
              <a:path w="1371600" h="1257300">
                <a:moveTo>
                  <a:pt x="0" y="857250"/>
                </a:moveTo>
                <a:lnTo>
                  <a:pt x="34290" y="799874"/>
                </a:lnTo>
                <a:lnTo>
                  <a:pt x="68580" y="743950"/>
                </a:lnTo>
                <a:lnTo>
                  <a:pt x="102870" y="689479"/>
                </a:lnTo>
                <a:lnTo>
                  <a:pt x="137160" y="636461"/>
                </a:lnTo>
                <a:lnTo>
                  <a:pt x="171450" y="584895"/>
                </a:lnTo>
                <a:lnTo>
                  <a:pt x="205740" y="534781"/>
                </a:lnTo>
                <a:lnTo>
                  <a:pt x="240030" y="486120"/>
                </a:lnTo>
                <a:lnTo>
                  <a:pt x="274320" y="438912"/>
                </a:lnTo>
                <a:lnTo>
                  <a:pt x="308610" y="393156"/>
                </a:lnTo>
                <a:lnTo>
                  <a:pt x="342900" y="348853"/>
                </a:lnTo>
                <a:lnTo>
                  <a:pt x="377190" y="306003"/>
                </a:lnTo>
                <a:lnTo>
                  <a:pt x="411480" y="264604"/>
                </a:lnTo>
                <a:lnTo>
                  <a:pt x="445770" y="224659"/>
                </a:lnTo>
                <a:lnTo>
                  <a:pt x="480060" y="186166"/>
                </a:lnTo>
                <a:lnTo>
                  <a:pt x="514350" y="149126"/>
                </a:lnTo>
                <a:lnTo>
                  <a:pt x="548640" y="113538"/>
                </a:lnTo>
                <a:lnTo>
                  <a:pt x="582930" y="79403"/>
                </a:lnTo>
                <a:lnTo>
                  <a:pt x="617220" y="46720"/>
                </a:lnTo>
                <a:lnTo>
                  <a:pt x="651510" y="15490"/>
                </a:lnTo>
                <a:lnTo>
                  <a:pt x="685800" y="0"/>
                </a:lnTo>
                <a:lnTo>
                  <a:pt x="720090" y="0"/>
                </a:lnTo>
                <a:lnTo>
                  <a:pt x="754380" y="0"/>
                </a:lnTo>
                <a:lnTo>
                  <a:pt x="788670" y="0"/>
                </a:lnTo>
                <a:lnTo>
                  <a:pt x="822960" y="0"/>
                </a:lnTo>
                <a:lnTo>
                  <a:pt x="857250" y="0"/>
                </a:lnTo>
                <a:lnTo>
                  <a:pt x="891540" y="0"/>
                </a:lnTo>
                <a:lnTo>
                  <a:pt x="925830" y="0"/>
                </a:lnTo>
                <a:lnTo>
                  <a:pt x="960120" y="0"/>
                </a:lnTo>
                <a:lnTo>
                  <a:pt x="994410" y="0"/>
                </a:lnTo>
                <a:lnTo>
                  <a:pt x="1028700" y="0"/>
                </a:lnTo>
                <a:lnTo>
                  <a:pt x="1062990" y="0"/>
                </a:lnTo>
                <a:lnTo>
                  <a:pt x="1097280" y="0"/>
                </a:lnTo>
                <a:lnTo>
                  <a:pt x="1131570" y="0"/>
                </a:lnTo>
                <a:lnTo>
                  <a:pt x="1165860" y="0"/>
                </a:lnTo>
                <a:lnTo>
                  <a:pt x="1200150" y="0"/>
                </a:lnTo>
                <a:lnTo>
                  <a:pt x="1234440" y="0"/>
                </a:lnTo>
                <a:lnTo>
                  <a:pt x="1268730" y="0"/>
                </a:lnTo>
                <a:lnTo>
                  <a:pt x="1303020" y="0"/>
                </a:lnTo>
                <a:lnTo>
                  <a:pt x="1337310" y="0"/>
                </a:lnTo>
                <a:lnTo>
                  <a:pt x="1371600" y="0"/>
                </a:lnTo>
                <a:lnTo>
                  <a:pt x="1371600" y="28575"/>
                </a:lnTo>
                <a:lnTo>
                  <a:pt x="1337310" y="30817"/>
                </a:lnTo>
                <a:lnTo>
                  <a:pt x="1303020" y="33045"/>
                </a:lnTo>
                <a:lnTo>
                  <a:pt x="1268730" y="35246"/>
                </a:lnTo>
                <a:lnTo>
                  <a:pt x="1234440" y="37405"/>
                </a:lnTo>
                <a:lnTo>
                  <a:pt x="1200150" y="39510"/>
                </a:lnTo>
                <a:lnTo>
                  <a:pt x="1165860" y="41548"/>
                </a:lnTo>
                <a:lnTo>
                  <a:pt x="1131570" y="43505"/>
                </a:lnTo>
                <a:lnTo>
                  <a:pt x="1097280" y="45371"/>
                </a:lnTo>
                <a:lnTo>
                  <a:pt x="1062990" y="47133"/>
                </a:lnTo>
                <a:lnTo>
                  <a:pt x="1028700" y="48781"/>
                </a:lnTo>
                <a:lnTo>
                  <a:pt x="994410" y="50304"/>
                </a:lnTo>
                <a:lnTo>
                  <a:pt x="960120" y="51693"/>
                </a:lnTo>
                <a:lnTo>
                  <a:pt x="925830" y="52939"/>
                </a:lnTo>
                <a:lnTo>
                  <a:pt x="891540" y="54036"/>
                </a:lnTo>
                <a:lnTo>
                  <a:pt x="857250" y="54975"/>
                </a:lnTo>
                <a:lnTo>
                  <a:pt x="822960" y="55751"/>
                </a:lnTo>
                <a:lnTo>
                  <a:pt x="788670" y="56360"/>
                </a:lnTo>
                <a:lnTo>
                  <a:pt x="754380" y="56798"/>
                </a:lnTo>
                <a:lnTo>
                  <a:pt x="720090" y="57062"/>
                </a:lnTo>
                <a:lnTo>
                  <a:pt x="685800" y="57150"/>
                </a:lnTo>
                <a:lnTo>
                  <a:pt x="651510" y="72552"/>
                </a:lnTo>
                <a:lnTo>
                  <a:pt x="617220" y="103518"/>
                </a:lnTo>
                <a:lnTo>
                  <a:pt x="582930" y="135763"/>
                </a:lnTo>
                <a:lnTo>
                  <a:pt x="548640" y="169289"/>
                </a:lnTo>
                <a:lnTo>
                  <a:pt x="514350" y="204101"/>
                </a:lnTo>
                <a:lnTo>
                  <a:pt x="480060" y="240202"/>
                </a:lnTo>
                <a:lnTo>
                  <a:pt x="445770" y="277598"/>
                </a:lnTo>
                <a:lnTo>
                  <a:pt x="411480" y="316297"/>
                </a:lnTo>
                <a:lnTo>
                  <a:pt x="377190" y="356306"/>
                </a:lnTo>
                <a:lnTo>
                  <a:pt x="342900" y="397634"/>
                </a:lnTo>
                <a:lnTo>
                  <a:pt x="308610" y="440289"/>
                </a:lnTo>
                <a:lnTo>
                  <a:pt x="274320" y="484283"/>
                </a:lnTo>
                <a:lnTo>
                  <a:pt x="240030" y="529626"/>
                </a:lnTo>
                <a:lnTo>
                  <a:pt x="205740" y="576329"/>
                </a:lnTo>
                <a:lnTo>
                  <a:pt x="171450" y="624405"/>
                </a:lnTo>
                <a:lnTo>
                  <a:pt x="137160" y="673866"/>
                </a:lnTo>
                <a:lnTo>
                  <a:pt x="102870" y="724725"/>
                </a:lnTo>
                <a:lnTo>
                  <a:pt x="68580" y="776995"/>
                </a:lnTo>
                <a:lnTo>
                  <a:pt x="34290" y="830691"/>
                </a:lnTo>
                <a:lnTo>
                  <a:pt x="0" y="885825"/>
                </a:lnTo>
                <a:close/>
              </a:path>
            </a:pathLst>
          </a:custGeom>
          <a:solidFill xmlns:a="http://schemas.openxmlformats.org/drawingml/2006/main">
            <a:srgbClr val="BED5E8"/>
          </a:solidFill>
          <a:ln xmlns:a="http://schemas.openxmlformats.org/drawingml/2006/main" w="0">
            <a:noFill/>
          </a:ln>
        </p:spPr>
      </p:sp>
      <p:sp>
        <p:nvSpPr>
          <p:cNvPr id="4" name="profile-77">
            <a:extLst xmlns:a="http://schemas.openxmlformats.org/drawingml/2006/main">
              <a:ext uri="{FF2B5EF4-FFF2-40B4-BE49-F238E27FC236}">
                <a16:creationId xmlns:a16="http://schemas.microsoft.com/office/drawing/2014/main" id="{97511ECA-2FBD-4A1E-B41D-331891886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3429000" cy="2543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12B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17212B"/>
                </a:solidFill>
                <a:latin typeface="Segoe UI"/>
                <a:ea typeface="Segoe UI"/>
                <a:cs typeface="Segoe UI"/>
              </a:rPr>
              <a:t>Oceanides</a:t>
            </a:r>
          </a:p>
        </p:txBody>
      </p:sp>
      <p:sp>
        <p:nvSpPr>
          <p:cNvPr id="5" name="profile-78">
            <a:extLst xmlns:a="http://schemas.openxmlformats.org/drawingml/2006/main">
              <a:ext uri="{FF2B5EF4-FFF2-40B4-BE49-F238E27FC236}">
                <a16:creationId xmlns:a16="http://schemas.microsoft.com/office/drawing/2014/main" id="{5A3209C2-903E-4F06-8D10-DA0545DB0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485775"/>
            <a:ext cx="1971675" cy="192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Company profile</a:t>
            </a:r>
          </a:p>
        </p:txBody>
      </p:sp>
      <p:sp>
        <p:nvSpPr>
          <p:cNvPr id="6" name="profile-79">
            <a:extLst xmlns:a="http://schemas.openxmlformats.org/drawingml/2006/main">
              <a:ext uri="{FF2B5EF4-FFF2-40B4-BE49-F238E27FC236}">
                <a16:creationId xmlns:a16="http://schemas.microsoft.com/office/drawing/2014/main" id="{08A7534B-A256-4E6D-B4BC-C19D97067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6343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75" b="0">
                <a:solidFill>
                  <a:srgbClr val="1C63AD"/>
                </a:solidFill>
                <a:latin typeface="Segoe UI"/>
                <a:ea typeface="Segoe UI"/>
                <a:cs typeface="Segoe UI"/>
              </a:defRPr>
            </a:pPr>
            <a:r>
              <a:rPr sz="3975" b="0">
                <a:solidFill>
                  <a:srgbClr val="1C63AD"/>
                </a:solidFill>
                <a:latin typeface="Segoe UI"/>
                <a:ea typeface="Segoe UI"/>
                <a:cs typeface="Segoe UI"/>
              </a:rPr>
              <a:t>Septage treatment</a:t>
            </a:r>
          </a:p>
        </p:txBody>
      </p:sp>
      <p:sp>
        <p:nvSpPr>
          <p:cNvPr id="7" name="profile-80">
            <a:extLst xmlns:a="http://schemas.openxmlformats.org/drawingml/2006/main">
              <a:ext uri="{FF2B5EF4-FFF2-40B4-BE49-F238E27FC236}">
                <a16:creationId xmlns:a16="http://schemas.microsoft.com/office/drawing/2014/main" id="{B6EC5BEB-BB85-4949-AD21-BB4FE3BF9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6343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75" b="0">
                <a:solidFill>
                  <a:srgbClr val="1C63AD"/>
                </a:solidFill>
                <a:latin typeface="Segoe UI"/>
                <a:ea typeface="Segoe UI"/>
                <a:cs typeface="Segoe UI"/>
              </a:defRPr>
            </a:pPr>
            <a:r>
              <a:rPr sz="3975" b="0">
                <a:solidFill>
                  <a:srgbClr val="1C63AD"/>
                </a:solidFill>
                <a:latin typeface="Segoe UI"/>
                <a:ea typeface="Segoe UI"/>
                <a:cs typeface="Segoe UI"/>
              </a:rPr>
              <a:t>facility</a:t>
            </a:r>
          </a:p>
        </p:txBody>
      </p:sp>
      <p:sp>
        <p:nvSpPr>
          <p:cNvPr id="8" name="profile-81">
            <a:extLst xmlns:a="http://schemas.openxmlformats.org/drawingml/2006/main">
              <a:ext uri="{FF2B5EF4-FFF2-40B4-BE49-F238E27FC236}">
                <a16:creationId xmlns:a16="http://schemas.microsoft.com/office/drawing/2014/main" id="{6A627BB5-CBDA-45FE-9CAD-E38D4DDF3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63436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Oceanides offers septage treatment facility projects, coordinating site</a:t>
            </a:r>
          </a:p>
        </p:txBody>
      </p:sp>
      <p:sp>
        <p:nvSpPr>
          <p:cNvPr id="9" name="profile-82">
            <a:extLst xmlns:a="http://schemas.openxmlformats.org/drawingml/2006/main">
              <a:ext uri="{FF2B5EF4-FFF2-40B4-BE49-F238E27FC236}">
                <a16:creationId xmlns:a16="http://schemas.microsoft.com/office/drawing/2014/main" id="{AA22332A-3975-4BD1-BF72-82B0359E4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90875"/>
            <a:ext cx="63436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assessment, the proposed scope and specialist delivery.</a:t>
            </a:r>
          </a:p>
        </p:txBody>
      </p:sp>
      <p:sp>
        <p:nvSpPr>
          <p:cNvPr id="10" name="profile-83">
            <a:extLst xmlns:a="http://schemas.openxmlformats.org/drawingml/2006/main">
              <a:ext uri="{FF2B5EF4-FFF2-40B4-BE49-F238E27FC236}">
                <a16:creationId xmlns:a16="http://schemas.microsoft.com/office/drawing/2014/main" id="{B14A036A-031C-48A3-9B9A-5C35E1277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63436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9"/>
          </a:solidFill>
          <a:ln xmlns:a="http://schemas.openxmlformats.org/drawingml/2006/main" w="0">
            <a:noFill/>
          </a:ln>
        </p:spPr>
      </p:sp>
      <p:sp>
        <p:nvSpPr>
          <p:cNvPr id="11" name="profile-84">
            <a:extLst xmlns:a="http://schemas.openxmlformats.org/drawingml/2006/main">
              <a:ext uri="{FF2B5EF4-FFF2-40B4-BE49-F238E27FC236}">
                <a16:creationId xmlns:a16="http://schemas.microsoft.com/office/drawing/2014/main" id="{AB17AA56-36E2-474D-99FE-786FE37D6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6343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C63AD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1C63AD"/>
                </a:solidFill>
                <a:latin typeface="Segoe UI"/>
                <a:ea typeface="Segoe UI"/>
                <a:cs typeface="Segoe UI"/>
              </a:rPr>
              <a:t>Site assessment</a:t>
            </a:r>
          </a:p>
        </p:txBody>
      </p:sp>
      <p:sp>
        <p:nvSpPr>
          <p:cNvPr id="12" name="profile-85">
            <a:extLst xmlns:a="http://schemas.openxmlformats.org/drawingml/2006/main">
              <a:ext uri="{FF2B5EF4-FFF2-40B4-BE49-F238E27FC236}">
                <a16:creationId xmlns:a16="http://schemas.microsoft.com/office/drawing/2014/main" id="{C6D224E1-2094-44D5-B259-AEC03D238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0625"/>
            <a:ext cx="6343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Review the site requirements and project scope.</a:t>
            </a:r>
          </a:p>
        </p:txBody>
      </p:sp>
      <p:sp>
        <p:nvSpPr>
          <p:cNvPr id="13" name="profile-86">
            <a:extLst xmlns:a="http://schemas.openxmlformats.org/drawingml/2006/main">
              <a:ext uri="{FF2B5EF4-FFF2-40B4-BE49-F238E27FC236}">
                <a16:creationId xmlns:a16="http://schemas.microsoft.com/office/drawing/2014/main" id="{EC5B4D75-F998-4966-9DF9-81220F346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63436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9"/>
          </a:solidFill>
          <a:ln xmlns:a="http://schemas.openxmlformats.org/drawingml/2006/main" w="0">
            <a:noFill/>
          </a:ln>
        </p:spPr>
      </p:sp>
      <p:sp>
        <p:nvSpPr>
          <p:cNvPr id="14" name="profile-87">
            <a:extLst xmlns:a="http://schemas.openxmlformats.org/drawingml/2006/main">
              <a:ext uri="{FF2B5EF4-FFF2-40B4-BE49-F238E27FC236}">
                <a16:creationId xmlns:a16="http://schemas.microsoft.com/office/drawing/2014/main" id="{FA10AD69-78C6-4910-A6F9-932A9545A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6343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C63AD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1C63AD"/>
                </a:solidFill>
                <a:latin typeface="Segoe UI"/>
                <a:ea typeface="Segoe UI"/>
                <a:cs typeface="Segoe UI"/>
              </a:rPr>
              <a:t>Scope &amp; quotation</a:t>
            </a:r>
          </a:p>
        </p:txBody>
      </p:sp>
      <p:sp>
        <p:nvSpPr>
          <p:cNvPr id="15" name="profile-88">
            <a:extLst xmlns:a="http://schemas.openxmlformats.org/drawingml/2006/main">
              <a:ext uri="{FF2B5EF4-FFF2-40B4-BE49-F238E27FC236}">
                <a16:creationId xmlns:a16="http://schemas.microsoft.com/office/drawing/2014/main" id="{BC4D9BA6-D629-44D4-B893-B2FA488FB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343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Define the proposed facility and installation needs with the specialist provider.</a:t>
            </a:r>
          </a:p>
        </p:txBody>
      </p:sp>
      <p:sp>
        <p:nvSpPr>
          <p:cNvPr id="16" name="profile-89">
            <a:extLst xmlns:a="http://schemas.openxmlformats.org/drawingml/2006/main">
              <a:ext uri="{FF2B5EF4-FFF2-40B4-BE49-F238E27FC236}">
                <a16:creationId xmlns:a16="http://schemas.microsoft.com/office/drawing/2014/main" id="{EDA6B9DC-E617-4D5E-9649-BC360C34C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53300"/>
            <a:ext cx="63436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9"/>
          </a:solidFill>
          <a:ln xmlns:a="http://schemas.openxmlformats.org/drawingml/2006/main" w="0">
            <a:noFill/>
          </a:ln>
        </p:spPr>
      </p:sp>
      <p:sp>
        <p:nvSpPr>
          <p:cNvPr id="17" name="profile-90">
            <a:extLst xmlns:a="http://schemas.openxmlformats.org/drawingml/2006/main">
              <a:ext uri="{FF2B5EF4-FFF2-40B4-BE49-F238E27FC236}">
                <a16:creationId xmlns:a16="http://schemas.microsoft.com/office/drawing/2014/main" id="{0F19BE9C-96A2-49C6-BFDA-C1B789D6F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43800"/>
            <a:ext cx="6343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C63AD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1C63AD"/>
                </a:solidFill>
                <a:latin typeface="Segoe UI"/>
                <a:ea typeface="Segoe UI"/>
                <a:cs typeface="Segoe UI"/>
              </a:rPr>
              <a:t>Specialist coordination</a:t>
            </a:r>
          </a:p>
        </p:txBody>
      </p:sp>
      <p:sp>
        <p:nvSpPr>
          <p:cNvPr id="18" name="profile-91">
            <a:extLst xmlns:a="http://schemas.openxmlformats.org/drawingml/2006/main">
              <a:ext uri="{FF2B5EF4-FFF2-40B4-BE49-F238E27FC236}">
                <a16:creationId xmlns:a16="http://schemas.microsoft.com/office/drawing/2014/main" id="{A1BE3630-D3C6-4749-8D8F-7E731BB38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91475"/>
            <a:ext cx="6343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Oceanides coordinates client communication and</a:t>
            </a:r>
          </a:p>
        </p:txBody>
      </p:sp>
      <p:sp>
        <p:nvSpPr>
          <p:cNvPr id="19" name="profile-92">
            <a:extLst xmlns:a="http://schemas.openxmlformats.org/drawingml/2006/main">
              <a:ext uri="{FF2B5EF4-FFF2-40B4-BE49-F238E27FC236}">
                <a16:creationId xmlns:a16="http://schemas.microsoft.com/office/drawing/2014/main" id="{75A14F21-2C2E-4D92-8C1A-E1A8DD0F5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67700"/>
            <a:ext cx="6343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specialist delivery through turnover.</a:t>
            </a:r>
          </a:p>
        </p:txBody>
      </p:sp>
      <p:sp>
        <p:nvSpPr>
          <p:cNvPr id="20" name="profile-93">
            <a:extLst xmlns:a="http://schemas.openxmlformats.org/drawingml/2006/main">
              <a:ext uri="{FF2B5EF4-FFF2-40B4-BE49-F238E27FC236}">
                <a16:creationId xmlns:a16="http://schemas.microsoft.com/office/drawing/2014/main" id="{64CC89CD-5DD5-44E8-9040-A5A6B8C8F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86850"/>
            <a:ext cx="63436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9"/>
          </a:solidFill>
          <a:ln xmlns:a="http://schemas.openxmlformats.org/drawingml/2006/main" w="0">
            <a:noFill/>
          </a:ln>
        </p:spPr>
      </p:sp>
      <p:sp>
        <p:nvSpPr>
          <p:cNvPr id="21" name="profile-94">
            <a:extLst xmlns:a="http://schemas.openxmlformats.org/drawingml/2006/main">
              <a:ext uri="{FF2B5EF4-FFF2-40B4-BE49-F238E27FC236}">
                <a16:creationId xmlns:a16="http://schemas.microsoft.com/office/drawing/2014/main" id="{799D2FB8-EA37-4BD3-95AF-C554C7395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15450"/>
            <a:ext cx="6343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System details, capacity and</a:t>
            </a:r>
          </a:p>
        </p:txBody>
      </p:sp>
      <p:sp>
        <p:nvSpPr>
          <p:cNvPr id="22" name="profile-95">
            <a:extLst xmlns:a="http://schemas.openxmlformats.org/drawingml/2006/main">
              <a:ext uri="{FF2B5EF4-FFF2-40B4-BE49-F238E27FC236}">
                <a16:creationId xmlns:a16="http://schemas.microsoft.com/office/drawing/2014/main" id="{C64B16B7-DC03-4336-92F2-575E62262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53575"/>
            <a:ext cx="6343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maintenance requirements follow the agreed technical proposal.</a:t>
            </a:r>
          </a:p>
        </p:txBody>
      </p:sp>
      <p:sp>
        <p:nvSpPr>
          <p:cNvPr id="23" name="profile-96">
            <a:extLst xmlns:a="http://schemas.openxmlformats.org/drawingml/2006/main">
              <a:ext uri="{FF2B5EF4-FFF2-40B4-BE49-F238E27FC236}">
                <a16:creationId xmlns:a16="http://schemas.microsoft.com/office/drawing/2014/main" id="{958E7D7C-019F-47E2-9D8C-4922AAEE0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106025"/>
            <a:ext cx="63436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9"/>
          </a:solidFill>
          <a:ln xmlns:a="http://schemas.openxmlformats.org/drawingml/2006/main" w="0">
            <a:noFill/>
          </a:ln>
        </p:spPr>
      </p:sp>
      <p:sp>
        <p:nvSpPr>
          <p:cNvPr id="24" name="profile-97">
            <a:extLst xmlns:a="http://schemas.openxmlformats.org/drawingml/2006/main">
              <a:ext uri="{FF2B5EF4-FFF2-40B4-BE49-F238E27FC236}">
                <a16:creationId xmlns:a16="http://schemas.microsoft.com/office/drawing/2014/main" id="{5B6C8B35-27C1-4544-9B07-3C3129A04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0"/>
            <a:ext cx="381000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Oceanides</a:t>
            </a:r>
          </a:p>
        </p:txBody>
      </p:sp>
      <p:sp>
        <p:nvSpPr>
          <p:cNvPr id="25" name="profile-98">
            <a:extLst xmlns:a="http://schemas.openxmlformats.org/drawingml/2006/main">
              <a:ext uri="{FF2B5EF4-FFF2-40B4-BE49-F238E27FC236}">
                <a16:creationId xmlns:a16="http://schemas.microsoft.com/office/drawing/2014/main" id="{B57E24DB-16E7-46BC-B181-74EE09407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10287000"/>
            <a:ext cx="276225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4170661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profile-99">
            <a:extLst xmlns:a="http://schemas.openxmlformats.org/drawingml/2006/main">
              <a:ext uri="{FF2B5EF4-FFF2-40B4-BE49-F238E27FC236}">
                <a16:creationId xmlns:a16="http://schemas.microsoft.com/office/drawing/2014/main" id="{024FE6BF-A90B-41AC-8905-FD28CBE13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0"/>
            <a:ext cx="1371600" cy="1257300"/>
          </a:xfrm>
          <a:custGeom xmlns:a="http://schemas.openxmlformats.org/drawingml/2006/main">
            <a:pathLst>
              <a:path w="1371600" h="1257300">
                <a:moveTo>
                  <a:pt x="0" y="1162050"/>
                </a:moveTo>
                <a:lnTo>
                  <a:pt x="34290" y="1104674"/>
                </a:lnTo>
                <a:lnTo>
                  <a:pt x="68580" y="1048750"/>
                </a:lnTo>
                <a:lnTo>
                  <a:pt x="102870" y="994279"/>
                </a:lnTo>
                <a:lnTo>
                  <a:pt x="137160" y="941261"/>
                </a:lnTo>
                <a:lnTo>
                  <a:pt x="171450" y="889695"/>
                </a:lnTo>
                <a:lnTo>
                  <a:pt x="205740" y="839581"/>
                </a:lnTo>
                <a:lnTo>
                  <a:pt x="240030" y="790920"/>
                </a:lnTo>
                <a:lnTo>
                  <a:pt x="274320" y="743712"/>
                </a:lnTo>
                <a:lnTo>
                  <a:pt x="308610" y="697956"/>
                </a:lnTo>
                <a:lnTo>
                  <a:pt x="342900" y="653653"/>
                </a:lnTo>
                <a:lnTo>
                  <a:pt x="377190" y="610803"/>
                </a:lnTo>
                <a:lnTo>
                  <a:pt x="411480" y="569405"/>
                </a:lnTo>
                <a:lnTo>
                  <a:pt x="445770" y="529459"/>
                </a:lnTo>
                <a:lnTo>
                  <a:pt x="480060" y="490966"/>
                </a:lnTo>
                <a:lnTo>
                  <a:pt x="514350" y="453926"/>
                </a:lnTo>
                <a:lnTo>
                  <a:pt x="548640" y="418338"/>
                </a:lnTo>
                <a:lnTo>
                  <a:pt x="582930" y="384203"/>
                </a:lnTo>
                <a:lnTo>
                  <a:pt x="617220" y="351520"/>
                </a:lnTo>
                <a:lnTo>
                  <a:pt x="651510" y="320290"/>
                </a:lnTo>
                <a:lnTo>
                  <a:pt x="685800" y="290513"/>
                </a:lnTo>
                <a:lnTo>
                  <a:pt x="720090" y="262188"/>
                </a:lnTo>
                <a:lnTo>
                  <a:pt x="754380" y="235315"/>
                </a:lnTo>
                <a:lnTo>
                  <a:pt x="788670" y="209895"/>
                </a:lnTo>
                <a:lnTo>
                  <a:pt x="822960" y="185928"/>
                </a:lnTo>
                <a:lnTo>
                  <a:pt x="857250" y="163413"/>
                </a:lnTo>
                <a:lnTo>
                  <a:pt x="891540" y="142351"/>
                </a:lnTo>
                <a:lnTo>
                  <a:pt x="925830" y="122742"/>
                </a:lnTo>
                <a:lnTo>
                  <a:pt x="960120" y="104585"/>
                </a:lnTo>
                <a:lnTo>
                  <a:pt x="994410" y="87880"/>
                </a:lnTo>
                <a:lnTo>
                  <a:pt x="1028700" y="72628"/>
                </a:lnTo>
                <a:lnTo>
                  <a:pt x="1062990" y="58829"/>
                </a:lnTo>
                <a:lnTo>
                  <a:pt x="1097280" y="46482"/>
                </a:lnTo>
                <a:lnTo>
                  <a:pt x="1131570" y="35588"/>
                </a:lnTo>
                <a:lnTo>
                  <a:pt x="1165860" y="26146"/>
                </a:lnTo>
                <a:lnTo>
                  <a:pt x="1200150" y="18157"/>
                </a:lnTo>
                <a:lnTo>
                  <a:pt x="1234440" y="11620"/>
                </a:lnTo>
                <a:lnTo>
                  <a:pt x="1268730" y="6537"/>
                </a:lnTo>
                <a:lnTo>
                  <a:pt x="1303020" y="2905"/>
                </a:lnTo>
                <a:lnTo>
                  <a:pt x="1337310" y="726"/>
                </a:lnTo>
                <a:lnTo>
                  <a:pt x="1371600" y="0"/>
                </a:lnTo>
                <a:lnTo>
                  <a:pt x="1371600" y="28575"/>
                </a:lnTo>
                <a:lnTo>
                  <a:pt x="1337310" y="31543"/>
                </a:lnTo>
                <a:lnTo>
                  <a:pt x="1303020" y="35950"/>
                </a:lnTo>
                <a:lnTo>
                  <a:pt x="1268730" y="41782"/>
                </a:lnTo>
                <a:lnTo>
                  <a:pt x="1234440" y="49026"/>
                </a:lnTo>
                <a:lnTo>
                  <a:pt x="1200150" y="57667"/>
                </a:lnTo>
                <a:lnTo>
                  <a:pt x="1165860" y="67694"/>
                </a:lnTo>
                <a:lnTo>
                  <a:pt x="1131570" y="79093"/>
                </a:lnTo>
                <a:lnTo>
                  <a:pt x="1097280" y="91853"/>
                </a:lnTo>
                <a:lnTo>
                  <a:pt x="1062990" y="105962"/>
                </a:lnTo>
                <a:lnTo>
                  <a:pt x="1028700" y="121409"/>
                </a:lnTo>
                <a:lnTo>
                  <a:pt x="994410" y="138184"/>
                </a:lnTo>
                <a:lnTo>
                  <a:pt x="960120" y="156277"/>
                </a:lnTo>
                <a:lnTo>
                  <a:pt x="925830" y="175681"/>
                </a:lnTo>
                <a:lnTo>
                  <a:pt x="891540" y="196387"/>
                </a:lnTo>
                <a:lnTo>
                  <a:pt x="857250" y="218388"/>
                </a:lnTo>
                <a:lnTo>
                  <a:pt x="822960" y="241679"/>
                </a:lnTo>
                <a:lnTo>
                  <a:pt x="788670" y="266256"/>
                </a:lnTo>
                <a:lnTo>
                  <a:pt x="754380" y="292113"/>
                </a:lnTo>
                <a:lnTo>
                  <a:pt x="720090" y="319249"/>
                </a:lnTo>
                <a:lnTo>
                  <a:pt x="685800" y="347663"/>
                </a:lnTo>
                <a:lnTo>
                  <a:pt x="651510" y="377352"/>
                </a:lnTo>
                <a:lnTo>
                  <a:pt x="617220" y="408318"/>
                </a:lnTo>
                <a:lnTo>
                  <a:pt x="582930" y="440563"/>
                </a:lnTo>
                <a:lnTo>
                  <a:pt x="548640" y="474089"/>
                </a:lnTo>
                <a:lnTo>
                  <a:pt x="514350" y="508901"/>
                </a:lnTo>
                <a:lnTo>
                  <a:pt x="480060" y="545002"/>
                </a:lnTo>
                <a:lnTo>
                  <a:pt x="445770" y="582398"/>
                </a:lnTo>
                <a:lnTo>
                  <a:pt x="411480" y="621097"/>
                </a:lnTo>
                <a:lnTo>
                  <a:pt x="377190" y="661106"/>
                </a:lnTo>
                <a:lnTo>
                  <a:pt x="342900" y="702434"/>
                </a:lnTo>
                <a:lnTo>
                  <a:pt x="308610" y="745089"/>
                </a:lnTo>
                <a:lnTo>
                  <a:pt x="274320" y="789083"/>
                </a:lnTo>
                <a:lnTo>
                  <a:pt x="240030" y="834426"/>
                </a:lnTo>
                <a:lnTo>
                  <a:pt x="205740" y="881129"/>
                </a:lnTo>
                <a:lnTo>
                  <a:pt x="171450" y="929205"/>
                </a:lnTo>
                <a:lnTo>
                  <a:pt x="137160" y="978666"/>
                </a:lnTo>
                <a:lnTo>
                  <a:pt x="102870" y="1029525"/>
                </a:lnTo>
                <a:lnTo>
                  <a:pt x="68580" y="1081795"/>
                </a:lnTo>
                <a:lnTo>
                  <a:pt x="34290" y="1135491"/>
                </a:lnTo>
                <a:lnTo>
                  <a:pt x="0" y="1190625"/>
                </a:lnTo>
                <a:close/>
              </a:path>
            </a:pathLst>
          </a:custGeom>
          <a:solidFill xmlns:a="http://schemas.openxmlformats.org/drawingml/2006/main">
            <a:srgbClr val="E5EEF6"/>
          </a:solidFill>
          <a:ln xmlns:a="http://schemas.openxmlformats.org/drawingml/2006/main" w="0">
            <a:noFill/>
          </a:ln>
        </p:spPr>
      </p:sp>
      <p:sp>
        <p:nvSpPr>
          <p:cNvPr id="2" name="profile-100">
            <a:extLst xmlns:a="http://schemas.openxmlformats.org/drawingml/2006/main">
              <a:ext uri="{FF2B5EF4-FFF2-40B4-BE49-F238E27FC236}">
                <a16:creationId xmlns:a16="http://schemas.microsoft.com/office/drawing/2014/main" id="{B09CFA84-9313-4E83-BBEE-6E1DBF7F1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0"/>
            <a:ext cx="1371600" cy="1257300"/>
          </a:xfrm>
          <a:custGeom xmlns:a="http://schemas.openxmlformats.org/drawingml/2006/main">
            <a:pathLst>
              <a:path w="1371600" h="1257300">
                <a:moveTo>
                  <a:pt x="0" y="1009650"/>
                </a:moveTo>
                <a:lnTo>
                  <a:pt x="34290" y="952274"/>
                </a:lnTo>
                <a:lnTo>
                  <a:pt x="68580" y="896350"/>
                </a:lnTo>
                <a:lnTo>
                  <a:pt x="102870" y="841879"/>
                </a:lnTo>
                <a:lnTo>
                  <a:pt x="137160" y="788861"/>
                </a:lnTo>
                <a:lnTo>
                  <a:pt x="171450" y="737295"/>
                </a:lnTo>
                <a:lnTo>
                  <a:pt x="205740" y="687181"/>
                </a:lnTo>
                <a:lnTo>
                  <a:pt x="240030" y="638520"/>
                </a:lnTo>
                <a:lnTo>
                  <a:pt x="274320" y="591312"/>
                </a:lnTo>
                <a:lnTo>
                  <a:pt x="308610" y="545556"/>
                </a:lnTo>
                <a:lnTo>
                  <a:pt x="342900" y="501253"/>
                </a:lnTo>
                <a:lnTo>
                  <a:pt x="377190" y="458403"/>
                </a:lnTo>
                <a:lnTo>
                  <a:pt x="411480" y="417004"/>
                </a:lnTo>
                <a:lnTo>
                  <a:pt x="445770" y="377059"/>
                </a:lnTo>
                <a:lnTo>
                  <a:pt x="480060" y="338566"/>
                </a:lnTo>
                <a:lnTo>
                  <a:pt x="514350" y="301526"/>
                </a:lnTo>
                <a:lnTo>
                  <a:pt x="548640" y="265938"/>
                </a:lnTo>
                <a:lnTo>
                  <a:pt x="582930" y="231803"/>
                </a:lnTo>
                <a:lnTo>
                  <a:pt x="617220" y="199120"/>
                </a:lnTo>
                <a:lnTo>
                  <a:pt x="651510" y="167890"/>
                </a:lnTo>
                <a:lnTo>
                  <a:pt x="685800" y="138113"/>
                </a:lnTo>
                <a:lnTo>
                  <a:pt x="720090" y="109788"/>
                </a:lnTo>
                <a:lnTo>
                  <a:pt x="754380" y="82915"/>
                </a:lnTo>
                <a:lnTo>
                  <a:pt x="788670" y="57495"/>
                </a:lnTo>
                <a:lnTo>
                  <a:pt x="822960" y="33528"/>
                </a:lnTo>
                <a:lnTo>
                  <a:pt x="857250" y="11013"/>
                </a:lnTo>
                <a:lnTo>
                  <a:pt x="891540" y="0"/>
                </a:lnTo>
                <a:lnTo>
                  <a:pt x="925830" y="0"/>
                </a:lnTo>
                <a:lnTo>
                  <a:pt x="960120" y="0"/>
                </a:lnTo>
                <a:lnTo>
                  <a:pt x="994410" y="0"/>
                </a:lnTo>
                <a:lnTo>
                  <a:pt x="1028700" y="0"/>
                </a:lnTo>
                <a:lnTo>
                  <a:pt x="1062990" y="0"/>
                </a:lnTo>
                <a:lnTo>
                  <a:pt x="1097280" y="0"/>
                </a:lnTo>
                <a:lnTo>
                  <a:pt x="1131570" y="0"/>
                </a:lnTo>
                <a:lnTo>
                  <a:pt x="1165860" y="0"/>
                </a:lnTo>
                <a:lnTo>
                  <a:pt x="1200150" y="0"/>
                </a:lnTo>
                <a:lnTo>
                  <a:pt x="1234440" y="0"/>
                </a:lnTo>
                <a:lnTo>
                  <a:pt x="1268730" y="0"/>
                </a:lnTo>
                <a:lnTo>
                  <a:pt x="1303020" y="0"/>
                </a:lnTo>
                <a:lnTo>
                  <a:pt x="1337310" y="0"/>
                </a:lnTo>
                <a:lnTo>
                  <a:pt x="1371600" y="0"/>
                </a:lnTo>
                <a:lnTo>
                  <a:pt x="1371600" y="28575"/>
                </a:lnTo>
                <a:lnTo>
                  <a:pt x="1337310" y="30817"/>
                </a:lnTo>
                <a:lnTo>
                  <a:pt x="1303020" y="33045"/>
                </a:lnTo>
                <a:lnTo>
                  <a:pt x="1268730" y="35246"/>
                </a:lnTo>
                <a:lnTo>
                  <a:pt x="1234440" y="37405"/>
                </a:lnTo>
                <a:lnTo>
                  <a:pt x="1200150" y="39510"/>
                </a:lnTo>
                <a:lnTo>
                  <a:pt x="1165860" y="41548"/>
                </a:lnTo>
                <a:lnTo>
                  <a:pt x="1131570" y="43505"/>
                </a:lnTo>
                <a:lnTo>
                  <a:pt x="1097280" y="45371"/>
                </a:lnTo>
                <a:lnTo>
                  <a:pt x="1062990" y="47133"/>
                </a:lnTo>
                <a:lnTo>
                  <a:pt x="1028700" y="48781"/>
                </a:lnTo>
                <a:lnTo>
                  <a:pt x="994410" y="50304"/>
                </a:lnTo>
                <a:lnTo>
                  <a:pt x="960120" y="51693"/>
                </a:lnTo>
                <a:lnTo>
                  <a:pt x="925830" y="52939"/>
                </a:lnTo>
                <a:lnTo>
                  <a:pt x="891540" y="54036"/>
                </a:lnTo>
                <a:lnTo>
                  <a:pt x="857250" y="65988"/>
                </a:lnTo>
                <a:lnTo>
                  <a:pt x="822960" y="89279"/>
                </a:lnTo>
                <a:lnTo>
                  <a:pt x="788670" y="113856"/>
                </a:lnTo>
                <a:lnTo>
                  <a:pt x="754380" y="139713"/>
                </a:lnTo>
                <a:lnTo>
                  <a:pt x="720090" y="166849"/>
                </a:lnTo>
                <a:lnTo>
                  <a:pt x="685800" y="195263"/>
                </a:lnTo>
                <a:lnTo>
                  <a:pt x="651510" y="224952"/>
                </a:lnTo>
                <a:lnTo>
                  <a:pt x="617220" y="255918"/>
                </a:lnTo>
                <a:lnTo>
                  <a:pt x="582930" y="288163"/>
                </a:lnTo>
                <a:lnTo>
                  <a:pt x="548640" y="321689"/>
                </a:lnTo>
                <a:lnTo>
                  <a:pt x="514350" y="356501"/>
                </a:lnTo>
                <a:lnTo>
                  <a:pt x="480060" y="392602"/>
                </a:lnTo>
                <a:lnTo>
                  <a:pt x="445770" y="429998"/>
                </a:lnTo>
                <a:lnTo>
                  <a:pt x="411480" y="468697"/>
                </a:lnTo>
                <a:lnTo>
                  <a:pt x="377190" y="508706"/>
                </a:lnTo>
                <a:lnTo>
                  <a:pt x="342900" y="550034"/>
                </a:lnTo>
                <a:lnTo>
                  <a:pt x="308610" y="592689"/>
                </a:lnTo>
                <a:lnTo>
                  <a:pt x="274320" y="636683"/>
                </a:lnTo>
                <a:lnTo>
                  <a:pt x="240030" y="682026"/>
                </a:lnTo>
                <a:lnTo>
                  <a:pt x="205740" y="728729"/>
                </a:lnTo>
                <a:lnTo>
                  <a:pt x="171450" y="776805"/>
                </a:lnTo>
                <a:lnTo>
                  <a:pt x="137160" y="826266"/>
                </a:lnTo>
                <a:lnTo>
                  <a:pt x="102870" y="877125"/>
                </a:lnTo>
                <a:lnTo>
                  <a:pt x="68580" y="929395"/>
                </a:lnTo>
                <a:lnTo>
                  <a:pt x="34290" y="983091"/>
                </a:lnTo>
                <a:lnTo>
                  <a:pt x="0" y="1038225"/>
                </a:lnTo>
                <a:close/>
              </a:path>
            </a:pathLst>
          </a:custGeom>
          <a:solidFill xmlns:a="http://schemas.openxmlformats.org/drawingml/2006/main">
            <a:srgbClr val="D7E6F2"/>
          </a:solidFill>
          <a:ln xmlns:a="http://schemas.openxmlformats.org/drawingml/2006/main" w="0">
            <a:noFill/>
          </a:ln>
        </p:spPr>
      </p:sp>
      <p:sp>
        <p:nvSpPr>
          <p:cNvPr id="3" name="profile-101">
            <a:extLst xmlns:a="http://schemas.openxmlformats.org/drawingml/2006/main">
              <a:ext uri="{FF2B5EF4-FFF2-40B4-BE49-F238E27FC236}">
                <a16:creationId xmlns:a16="http://schemas.microsoft.com/office/drawing/2014/main" id="{A7EC67AD-E8B8-48FE-8D6A-9F26F2AEC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0"/>
            <a:ext cx="1371600" cy="1257300"/>
          </a:xfrm>
          <a:custGeom xmlns:a="http://schemas.openxmlformats.org/drawingml/2006/main">
            <a:pathLst>
              <a:path w="1371600" h="1257300">
                <a:moveTo>
                  <a:pt x="0" y="857250"/>
                </a:moveTo>
                <a:lnTo>
                  <a:pt x="34290" y="799874"/>
                </a:lnTo>
                <a:lnTo>
                  <a:pt x="68580" y="743950"/>
                </a:lnTo>
                <a:lnTo>
                  <a:pt x="102870" y="689479"/>
                </a:lnTo>
                <a:lnTo>
                  <a:pt x="137160" y="636461"/>
                </a:lnTo>
                <a:lnTo>
                  <a:pt x="171450" y="584895"/>
                </a:lnTo>
                <a:lnTo>
                  <a:pt x="205740" y="534781"/>
                </a:lnTo>
                <a:lnTo>
                  <a:pt x="240030" y="486120"/>
                </a:lnTo>
                <a:lnTo>
                  <a:pt x="274320" y="438912"/>
                </a:lnTo>
                <a:lnTo>
                  <a:pt x="308610" y="393156"/>
                </a:lnTo>
                <a:lnTo>
                  <a:pt x="342900" y="348853"/>
                </a:lnTo>
                <a:lnTo>
                  <a:pt x="377190" y="306003"/>
                </a:lnTo>
                <a:lnTo>
                  <a:pt x="411480" y="264604"/>
                </a:lnTo>
                <a:lnTo>
                  <a:pt x="445770" y="224659"/>
                </a:lnTo>
                <a:lnTo>
                  <a:pt x="480060" y="186166"/>
                </a:lnTo>
                <a:lnTo>
                  <a:pt x="514350" y="149126"/>
                </a:lnTo>
                <a:lnTo>
                  <a:pt x="548640" y="113538"/>
                </a:lnTo>
                <a:lnTo>
                  <a:pt x="582930" y="79403"/>
                </a:lnTo>
                <a:lnTo>
                  <a:pt x="617220" y="46720"/>
                </a:lnTo>
                <a:lnTo>
                  <a:pt x="651510" y="15490"/>
                </a:lnTo>
                <a:lnTo>
                  <a:pt x="685800" y="0"/>
                </a:lnTo>
                <a:lnTo>
                  <a:pt x="720090" y="0"/>
                </a:lnTo>
                <a:lnTo>
                  <a:pt x="754380" y="0"/>
                </a:lnTo>
                <a:lnTo>
                  <a:pt x="788670" y="0"/>
                </a:lnTo>
                <a:lnTo>
                  <a:pt x="822960" y="0"/>
                </a:lnTo>
                <a:lnTo>
                  <a:pt x="857250" y="0"/>
                </a:lnTo>
                <a:lnTo>
                  <a:pt x="891540" y="0"/>
                </a:lnTo>
                <a:lnTo>
                  <a:pt x="925830" y="0"/>
                </a:lnTo>
                <a:lnTo>
                  <a:pt x="960120" y="0"/>
                </a:lnTo>
                <a:lnTo>
                  <a:pt x="994410" y="0"/>
                </a:lnTo>
                <a:lnTo>
                  <a:pt x="1028700" y="0"/>
                </a:lnTo>
                <a:lnTo>
                  <a:pt x="1062990" y="0"/>
                </a:lnTo>
                <a:lnTo>
                  <a:pt x="1097280" y="0"/>
                </a:lnTo>
                <a:lnTo>
                  <a:pt x="1131570" y="0"/>
                </a:lnTo>
                <a:lnTo>
                  <a:pt x="1165860" y="0"/>
                </a:lnTo>
                <a:lnTo>
                  <a:pt x="1200150" y="0"/>
                </a:lnTo>
                <a:lnTo>
                  <a:pt x="1234440" y="0"/>
                </a:lnTo>
                <a:lnTo>
                  <a:pt x="1268730" y="0"/>
                </a:lnTo>
                <a:lnTo>
                  <a:pt x="1303020" y="0"/>
                </a:lnTo>
                <a:lnTo>
                  <a:pt x="1337310" y="0"/>
                </a:lnTo>
                <a:lnTo>
                  <a:pt x="1371600" y="0"/>
                </a:lnTo>
                <a:lnTo>
                  <a:pt x="1371600" y="28575"/>
                </a:lnTo>
                <a:lnTo>
                  <a:pt x="1337310" y="30817"/>
                </a:lnTo>
                <a:lnTo>
                  <a:pt x="1303020" y="33045"/>
                </a:lnTo>
                <a:lnTo>
                  <a:pt x="1268730" y="35246"/>
                </a:lnTo>
                <a:lnTo>
                  <a:pt x="1234440" y="37405"/>
                </a:lnTo>
                <a:lnTo>
                  <a:pt x="1200150" y="39510"/>
                </a:lnTo>
                <a:lnTo>
                  <a:pt x="1165860" y="41548"/>
                </a:lnTo>
                <a:lnTo>
                  <a:pt x="1131570" y="43505"/>
                </a:lnTo>
                <a:lnTo>
                  <a:pt x="1097280" y="45371"/>
                </a:lnTo>
                <a:lnTo>
                  <a:pt x="1062990" y="47133"/>
                </a:lnTo>
                <a:lnTo>
                  <a:pt x="1028700" y="48781"/>
                </a:lnTo>
                <a:lnTo>
                  <a:pt x="994410" y="50304"/>
                </a:lnTo>
                <a:lnTo>
                  <a:pt x="960120" y="51693"/>
                </a:lnTo>
                <a:lnTo>
                  <a:pt x="925830" y="52939"/>
                </a:lnTo>
                <a:lnTo>
                  <a:pt x="891540" y="54036"/>
                </a:lnTo>
                <a:lnTo>
                  <a:pt x="857250" y="54975"/>
                </a:lnTo>
                <a:lnTo>
                  <a:pt x="822960" y="55751"/>
                </a:lnTo>
                <a:lnTo>
                  <a:pt x="788670" y="56360"/>
                </a:lnTo>
                <a:lnTo>
                  <a:pt x="754380" y="56798"/>
                </a:lnTo>
                <a:lnTo>
                  <a:pt x="720090" y="57062"/>
                </a:lnTo>
                <a:lnTo>
                  <a:pt x="685800" y="57150"/>
                </a:lnTo>
                <a:lnTo>
                  <a:pt x="651510" y="72552"/>
                </a:lnTo>
                <a:lnTo>
                  <a:pt x="617220" y="103518"/>
                </a:lnTo>
                <a:lnTo>
                  <a:pt x="582930" y="135763"/>
                </a:lnTo>
                <a:lnTo>
                  <a:pt x="548640" y="169289"/>
                </a:lnTo>
                <a:lnTo>
                  <a:pt x="514350" y="204101"/>
                </a:lnTo>
                <a:lnTo>
                  <a:pt x="480060" y="240202"/>
                </a:lnTo>
                <a:lnTo>
                  <a:pt x="445770" y="277598"/>
                </a:lnTo>
                <a:lnTo>
                  <a:pt x="411480" y="316297"/>
                </a:lnTo>
                <a:lnTo>
                  <a:pt x="377190" y="356306"/>
                </a:lnTo>
                <a:lnTo>
                  <a:pt x="342900" y="397634"/>
                </a:lnTo>
                <a:lnTo>
                  <a:pt x="308610" y="440289"/>
                </a:lnTo>
                <a:lnTo>
                  <a:pt x="274320" y="484283"/>
                </a:lnTo>
                <a:lnTo>
                  <a:pt x="240030" y="529626"/>
                </a:lnTo>
                <a:lnTo>
                  <a:pt x="205740" y="576329"/>
                </a:lnTo>
                <a:lnTo>
                  <a:pt x="171450" y="624405"/>
                </a:lnTo>
                <a:lnTo>
                  <a:pt x="137160" y="673866"/>
                </a:lnTo>
                <a:lnTo>
                  <a:pt x="102870" y="724725"/>
                </a:lnTo>
                <a:lnTo>
                  <a:pt x="68580" y="776995"/>
                </a:lnTo>
                <a:lnTo>
                  <a:pt x="34290" y="830691"/>
                </a:lnTo>
                <a:lnTo>
                  <a:pt x="0" y="885825"/>
                </a:lnTo>
                <a:close/>
              </a:path>
            </a:pathLst>
          </a:custGeom>
          <a:solidFill xmlns:a="http://schemas.openxmlformats.org/drawingml/2006/main">
            <a:srgbClr val="BED5E8"/>
          </a:solidFill>
          <a:ln xmlns:a="http://schemas.openxmlformats.org/drawingml/2006/main" w="0">
            <a:noFill/>
          </a:ln>
        </p:spPr>
      </p:sp>
      <p:sp>
        <p:nvSpPr>
          <p:cNvPr id="4" name="profile-102">
            <a:extLst xmlns:a="http://schemas.openxmlformats.org/drawingml/2006/main">
              <a:ext uri="{FF2B5EF4-FFF2-40B4-BE49-F238E27FC236}">
                <a16:creationId xmlns:a16="http://schemas.microsoft.com/office/drawing/2014/main" id="{C5A8A448-340D-42D5-B561-C154A24E3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3429000" cy="2543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12B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17212B"/>
                </a:solidFill>
                <a:latin typeface="Segoe UI"/>
                <a:ea typeface="Segoe UI"/>
                <a:cs typeface="Segoe UI"/>
              </a:rPr>
              <a:t>Oceanides</a:t>
            </a:r>
          </a:p>
        </p:txBody>
      </p:sp>
      <p:sp>
        <p:nvSpPr>
          <p:cNvPr id="5" name="profile-103">
            <a:extLst xmlns:a="http://schemas.openxmlformats.org/drawingml/2006/main">
              <a:ext uri="{FF2B5EF4-FFF2-40B4-BE49-F238E27FC236}">
                <a16:creationId xmlns:a16="http://schemas.microsoft.com/office/drawing/2014/main" id="{D686B72E-D5EF-441A-B702-2E40B6461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485775"/>
            <a:ext cx="1971675" cy="192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Company profile</a:t>
            </a:r>
          </a:p>
        </p:txBody>
      </p:sp>
      <p:sp>
        <p:nvSpPr>
          <p:cNvPr id="6" name="profile-104">
            <a:extLst xmlns:a="http://schemas.openxmlformats.org/drawingml/2006/main">
              <a:ext uri="{FF2B5EF4-FFF2-40B4-BE49-F238E27FC236}">
                <a16:creationId xmlns:a16="http://schemas.microsoft.com/office/drawing/2014/main" id="{8E822A05-0B31-4E35-B73F-672B77E53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63436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75" b="1">
                <a:solidFill>
                  <a:srgbClr val="1C63AD"/>
                </a:solidFill>
                <a:latin typeface="Segoe UI"/>
                <a:ea typeface="Segoe UI"/>
                <a:cs typeface="Segoe UI"/>
              </a:defRPr>
            </a:pPr>
            <a:r>
              <a:rPr sz="3975" b="1">
                <a:solidFill>
                  <a:srgbClr val="1C63AD"/>
                </a:solidFill>
                <a:latin typeface="Segoe UI"/>
                <a:ea typeface="Segoe UI"/>
                <a:cs typeface="Segoe UI"/>
              </a:rPr>
              <a:t>Renovation &amp;</a:t>
            </a:r>
          </a:p>
        </p:txBody>
      </p:sp>
      <p:sp>
        <p:nvSpPr>
          <p:cNvPr id="7" name="profile-105">
            <a:extLst xmlns:a="http://schemas.openxmlformats.org/drawingml/2006/main">
              <a:ext uri="{FF2B5EF4-FFF2-40B4-BE49-F238E27FC236}">
                <a16:creationId xmlns:a16="http://schemas.microsoft.com/office/drawing/2014/main" id="{D956DDDF-6827-4F38-9E1D-6C76AD7C8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0225"/>
            <a:ext cx="63436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75" b="1">
                <a:solidFill>
                  <a:srgbClr val="1C63AD"/>
                </a:solidFill>
                <a:latin typeface="Segoe UI"/>
                <a:ea typeface="Segoe UI"/>
                <a:cs typeface="Segoe UI"/>
              </a:defRPr>
            </a:pPr>
            <a:r>
              <a:rPr sz="3975" b="1">
                <a:solidFill>
                  <a:srgbClr val="1C63AD"/>
                </a:solidFill>
                <a:latin typeface="Segoe UI"/>
                <a:ea typeface="Segoe UI"/>
                <a:cs typeface="Segoe UI"/>
              </a:rPr>
              <a:t>restoration</a:t>
            </a:r>
          </a:p>
        </p:txBody>
      </p:sp>
      <p:sp>
        <p:nvSpPr>
          <p:cNvPr id="8" name="profile-106">
            <a:extLst xmlns:a="http://schemas.openxmlformats.org/drawingml/2006/main">
              <a:ext uri="{FF2B5EF4-FFF2-40B4-BE49-F238E27FC236}">
                <a16:creationId xmlns:a16="http://schemas.microsoft.com/office/drawing/2014/main" id="{78AAEE43-6B47-4950-9FFA-1A69AB96D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57475"/>
            <a:ext cx="63436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Repair and improvement work for houses and condominiums.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89765e12be4247"/>
          <a:stretch xmlns:a="http://schemas.openxmlformats.org/drawingml/2006/main"/>
        </p:blipFill>
        <p:spPr>
          <a:xfrm xmlns:a="http://schemas.openxmlformats.org/drawingml/2006/main">
            <a:off x="609600" y="3419475"/>
            <a:ext cx="6343650" cy="4229100"/>
          </a:xfrm>
          <a:prstGeom xmlns:a="http://schemas.openxmlformats.org/drawingml/2006/main" prst="rect">
            <a:avLst/>
          </a:prstGeom>
        </p:spPr>
      </p:pic>
      <p:sp>
        <p:nvSpPr>
          <p:cNvPr id="10" name="profile-107">
            <a:extLst xmlns:a="http://schemas.openxmlformats.org/drawingml/2006/main">
              <a:ext uri="{FF2B5EF4-FFF2-40B4-BE49-F238E27FC236}">
                <a16:creationId xmlns:a16="http://schemas.microsoft.com/office/drawing/2014/main" id="{52DEA779-33FC-4A9D-92DC-DBD6CBCF1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72400"/>
            <a:ext cx="63436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AI-generated service illustration</a:t>
            </a:r>
          </a:p>
        </p:txBody>
      </p:sp>
      <p:sp>
        <p:nvSpPr>
          <p:cNvPr id="11" name="profile-108">
            <a:extLst xmlns:a="http://schemas.openxmlformats.org/drawingml/2006/main">
              <a:ext uri="{FF2B5EF4-FFF2-40B4-BE49-F238E27FC236}">
                <a16:creationId xmlns:a16="http://schemas.microsoft.com/office/drawing/2014/main" id="{B87C09D1-AAB3-480E-B663-5E9C935D8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01025"/>
            <a:ext cx="300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C63AD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1C63AD"/>
                </a:solidFill>
                <a:latin typeface="Segoe UI"/>
                <a:ea typeface="Segoe UI"/>
                <a:cs typeface="Segoe UI"/>
              </a:rPr>
              <a:t>Ceilings</a:t>
            </a:r>
          </a:p>
        </p:txBody>
      </p:sp>
      <p:sp>
        <p:nvSpPr>
          <p:cNvPr id="12" name="profile-109">
            <a:extLst xmlns:a="http://schemas.openxmlformats.org/drawingml/2006/main">
              <a:ext uri="{FF2B5EF4-FFF2-40B4-BE49-F238E27FC236}">
                <a16:creationId xmlns:a16="http://schemas.microsoft.com/office/drawing/2014/main" id="{97C1DEA6-841B-4039-8EDE-6BAFDED63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53450"/>
            <a:ext cx="3009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Repair and replacement</a:t>
            </a:r>
          </a:p>
        </p:txBody>
      </p:sp>
      <p:sp>
        <p:nvSpPr>
          <p:cNvPr id="13" name="profile-110">
            <a:extLst xmlns:a="http://schemas.openxmlformats.org/drawingml/2006/main">
              <a:ext uri="{FF2B5EF4-FFF2-40B4-BE49-F238E27FC236}">
                <a16:creationId xmlns:a16="http://schemas.microsoft.com/office/drawing/2014/main" id="{6D79B627-C3E7-4D19-8271-0323ADBFD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8201025"/>
            <a:ext cx="300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C63AD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1C63AD"/>
                </a:solidFill>
                <a:latin typeface="Segoe UI"/>
                <a:ea typeface="Segoe UI"/>
                <a:cs typeface="Segoe UI"/>
              </a:rPr>
              <a:t>Water protection</a:t>
            </a:r>
          </a:p>
        </p:txBody>
      </p:sp>
      <p:sp>
        <p:nvSpPr>
          <p:cNvPr id="14" name="profile-111">
            <a:extLst xmlns:a="http://schemas.openxmlformats.org/drawingml/2006/main">
              <a:ext uri="{FF2B5EF4-FFF2-40B4-BE49-F238E27FC236}">
                <a16:creationId xmlns:a16="http://schemas.microsoft.com/office/drawing/2014/main" id="{2323AE90-D30C-4600-9D82-830C720CD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8553450"/>
            <a:ext cx="3009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Roof leak repair and waterproofing</a:t>
            </a:r>
          </a:p>
        </p:txBody>
      </p:sp>
      <p:sp>
        <p:nvSpPr>
          <p:cNvPr id="15" name="profile-112">
            <a:extLst xmlns:a="http://schemas.openxmlformats.org/drawingml/2006/main">
              <a:ext uri="{FF2B5EF4-FFF2-40B4-BE49-F238E27FC236}">
                <a16:creationId xmlns:a16="http://schemas.microsoft.com/office/drawing/2014/main" id="{C3AF5124-C2E5-436B-B622-758893429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29700"/>
            <a:ext cx="300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C63AD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1C63AD"/>
                </a:solidFill>
                <a:latin typeface="Segoe UI"/>
                <a:ea typeface="Segoe UI"/>
                <a:cs typeface="Segoe UI"/>
              </a:rPr>
              <a:t>Renovation &amp; restoration</a:t>
            </a:r>
          </a:p>
        </p:txBody>
      </p:sp>
      <p:sp>
        <p:nvSpPr>
          <p:cNvPr id="16" name="profile-113">
            <a:extLst xmlns:a="http://schemas.openxmlformats.org/drawingml/2006/main">
              <a:ext uri="{FF2B5EF4-FFF2-40B4-BE49-F238E27FC236}">
                <a16:creationId xmlns:a16="http://schemas.microsoft.com/office/drawing/2014/main" id="{45330254-9331-447E-90E0-9B48FC3F9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82125"/>
            <a:ext cx="3009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Houses and condominiums</a:t>
            </a:r>
          </a:p>
        </p:txBody>
      </p:sp>
      <p:sp>
        <p:nvSpPr>
          <p:cNvPr id="17" name="profile-114">
            <a:extLst xmlns:a="http://schemas.openxmlformats.org/drawingml/2006/main">
              <a:ext uri="{FF2B5EF4-FFF2-40B4-BE49-F238E27FC236}">
                <a16:creationId xmlns:a16="http://schemas.microsoft.com/office/drawing/2014/main" id="{2327828F-60ED-42D9-8AC7-959B88D00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9029700"/>
            <a:ext cx="300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C63AD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1C63AD"/>
                </a:solidFill>
                <a:latin typeface="Segoe UI"/>
                <a:ea typeface="Segoe UI"/>
                <a:cs typeface="Segoe UI"/>
              </a:rPr>
              <a:t>Cleaning</a:t>
            </a:r>
          </a:p>
        </p:txBody>
      </p:sp>
      <p:sp>
        <p:nvSpPr>
          <p:cNvPr id="18" name="profile-115">
            <a:extLst xmlns:a="http://schemas.openxmlformats.org/drawingml/2006/main">
              <a:ext uri="{FF2B5EF4-FFF2-40B4-BE49-F238E27FC236}">
                <a16:creationId xmlns:a16="http://schemas.microsoft.com/office/drawing/2014/main" id="{3A04B5F1-5B11-4558-9BCD-E23A9002C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9382125"/>
            <a:ext cx="3009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House cleaning to agreed scope</a:t>
            </a:r>
          </a:p>
        </p:txBody>
      </p:sp>
      <p:sp>
        <p:nvSpPr>
          <p:cNvPr id="19" name="profile-116">
            <a:extLst xmlns:a="http://schemas.openxmlformats.org/drawingml/2006/main">
              <a:ext uri="{FF2B5EF4-FFF2-40B4-BE49-F238E27FC236}">
                <a16:creationId xmlns:a16="http://schemas.microsoft.com/office/drawing/2014/main" id="{4A5C127F-B971-4C35-8D16-AFCF50169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106025"/>
            <a:ext cx="63436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9"/>
          </a:solidFill>
          <a:ln xmlns:a="http://schemas.openxmlformats.org/drawingml/2006/main" w="0">
            <a:noFill/>
          </a:ln>
        </p:spPr>
      </p:sp>
      <p:sp>
        <p:nvSpPr>
          <p:cNvPr id="20" name="profile-117">
            <a:extLst xmlns:a="http://schemas.openxmlformats.org/drawingml/2006/main">
              <a:ext uri="{FF2B5EF4-FFF2-40B4-BE49-F238E27FC236}">
                <a16:creationId xmlns:a16="http://schemas.microsoft.com/office/drawing/2014/main" id="{34A0C604-8148-45C5-AA53-8960CF7A8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0"/>
            <a:ext cx="381000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Oceanides</a:t>
            </a:r>
          </a:p>
        </p:txBody>
      </p:sp>
      <p:sp>
        <p:nvSpPr>
          <p:cNvPr id="21" name="profile-118">
            <a:extLst xmlns:a="http://schemas.openxmlformats.org/drawingml/2006/main">
              <a:ext uri="{FF2B5EF4-FFF2-40B4-BE49-F238E27FC236}">
                <a16:creationId xmlns:a16="http://schemas.microsoft.com/office/drawing/2014/main" id="{65463E4D-D855-40E2-9BB6-F2A026987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10287000"/>
            <a:ext cx="276225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3623248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profile-119">
            <a:extLst xmlns:a="http://schemas.openxmlformats.org/drawingml/2006/main">
              <a:ext uri="{FF2B5EF4-FFF2-40B4-BE49-F238E27FC236}">
                <a16:creationId xmlns:a16="http://schemas.microsoft.com/office/drawing/2014/main" id="{08128023-2286-4E15-A0EF-3466F36CE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0"/>
            <a:ext cx="1371600" cy="1257300"/>
          </a:xfrm>
          <a:custGeom xmlns:a="http://schemas.openxmlformats.org/drawingml/2006/main">
            <a:pathLst>
              <a:path w="1371600" h="1257300">
                <a:moveTo>
                  <a:pt x="0" y="1162050"/>
                </a:moveTo>
                <a:lnTo>
                  <a:pt x="34290" y="1104674"/>
                </a:lnTo>
                <a:lnTo>
                  <a:pt x="68580" y="1048750"/>
                </a:lnTo>
                <a:lnTo>
                  <a:pt x="102870" y="994279"/>
                </a:lnTo>
                <a:lnTo>
                  <a:pt x="137160" y="941261"/>
                </a:lnTo>
                <a:lnTo>
                  <a:pt x="171450" y="889695"/>
                </a:lnTo>
                <a:lnTo>
                  <a:pt x="205740" y="839581"/>
                </a:lnTo>
                <a:lnTo>
                  <a:pt x="240030" y="790920"/>
                </a:lnTo>
                <a:lnTo>
                  <a:pt x="274320" y="743712"/>
                </a:lnTo>
                <a:lnTo>
                  <a:pt x="308610" y="697956"/>
                </a:lnTo>
                <a:lnTo>
                  <a:pt x="342900" y="653653"/>
                </a:lnTo>
                <a:lnTo>
                  <a:pt x="377190" y="610803"/>
                </a:lnTo>
                <a:lnTo>
                  <a:pt x="411480" y="569405"/>
                </a:lnTo>
                <a:lnTo>
                  <a:pt x="445770" y="529459"/>
                </a:lnTo>
                <a:lnTo>
                  <a:pt x="480060" y="490966"/>
                </a:lnTo>
                <a:lnTo>
                  <a:pt x="514350" y="453926"/>
                </a:lnTo>
                <a:lnTo>
                  <a:pt x="548640" y="418338"/>
                </a:lnTo>
                <a:lnTo>
                  <a:pt x="582930" y="384203"/>
                </a:lnTo>
                <a:lnTo>
                  <a:pt x="617220" y="351520"/>
                </a:lnTo>
                <a:lnTo>
                  <a:pt x="651510" y="320290"/>
                </a:lnTo>
                <a:lnTo>
                  <a:pt x="685800" y="290513"/>
                </a:lnTo>
                <a:lnTo>
                  <a:pt x="720090" y="262188"/>
                </a:lnTo>
                <a:lnTo>
                  <a:pt x="754380" y="235315"/>
                </a:lnTo>
                <a:lnTo>
                  <a:pt x="788670" y="209895"/>
                </a:lnTo>
                <a:lnTo>
                  <a:pt x="822960" y="185928"/>
                </a:lnTo>
                <a:lnTo>
                  <a:pt x="857250" y="163413"/>
                </a:lnTo>
                <a:lnTo>
                  <a:pt x="891540" y="142351"/>
                </a:lnTo>
                <a:lnTo>
                  <a:pt x="925830" y="122742"/>
                </a:lnTo>
                <a:lnTo>
                  <a:pt x="960120" y="104585"/>
                </a:lnTo>
                <a:lnTo>
                  <a:pt x="994410" y="87880"/>
                </a:lnTo>
                <a:lnTo>
                  <a:pt x="1028700" y="72628"/>
                </a:lnTo>
                <a:lnTo>
                  <a:pt x="1062990" y="58829"/>
                </a:lnTo>
                <a:lnTo>
                  <a:pt x="1097280" y="46482"/>
                </a:lnTo>
                <a:lnTo>
                  <a:pt x="1131570" y="35588"/>
                </a:lnTo>
                <a:lnTo>
                  <a:pt x="1165860" y="26146"/>
                </a:lnTo>
                <a:lnTo>
                  <a:pt x="1200150" y="18157"/>
                </a:lnTo>
                <a:lnTo>
                  <a:pt x="1234440" y="11620"/>
                </a:lnTo>
                <a:lnTo>
                  <a:pt x="1268730" y="6537"/>
                </a:lnTo>
                <a:lnTo>
                  <a:pt x="1303020" y="2905"/>
                </a:lnTo>
                <a:lnTo>
                  <a:pt x="1337310" y="726"/>
                </a:lnTo>
                <a:lnTo>
                  <a:pt x="1371600" y="0"/>
                </a:lnTo>
                <a:lnTo>
                  <a:pt x="1371600" y="28575"/>
                </a:lnTo>
                <a:lnTo>
                  <a:pt x="1337310" y="31543"/>
                </a:lnTo>
                <a:lnTo>
                  <a:pt x="1303020" y="35950"/>
                </a:lnTo>
                <a:lnTo>
                  <a:pt x="1268730" y="41782"/>
                </a:lnTo>
                <a:lnTo>
                  <a:pt x="1234440" y="49026"/>
                </a:lnTo>
                <a:lnTo>
                  <a:pt x="1200150" y="57667"/>
                </a:lnTo>
                <a:lnTo>
                  <a:pt x="1165860" y="67694"/>
                </a:lnTo>
                <a:lnTo>
                  <a:pt x="1131570" y="79093"/>
                </a:lnTo>
                <a:lnTo>
                  <a:pt x="1097280" y="91853"/>
                </a:lnTo>
                <a:lnTo>
                  <a:pt x="1062990" y="105962"/>
                </a:lnTo>
                <a:lnTo>
                  <a:pt x="1028700" y="121409"/>
                </a:lnTo>
                <a:lnTo>
                  <a:pt x="994410" y="138184"/>
                </a:lnTo>
                <a:lnTo>
                  <a:pt x="960120" y="156277"/>
                </a:lnTo>
                <a:lnTo>
                  <a:pt x="925830" y="175681"/>
                </a:lnTo>
                <a:lnTo>
                  <a:pt x="891540" y="196387"/>
                </a:lnTo>
                <a:lnTo>
                  <a:pt x="857250" y="218388"/>
                </a:lnTo>
                <a:lnTo>
                  <a:pt x="822960" y="241679"/>
                </a:lnTo>
                <a:lnTo>
                  <a:pt x="788670" y="266256"/>
                </a:lnTo>
                <a:lnTo>
                  <a:pt x="754380" y="292113"/>
                </a:lnTo>
                <a:lnTo>
                  <a:pt x="720090" y="319249"/>
                </a:lnTo>
                <a:lnTo>
                  <a:pt x="685800" y="347663"/>
                </a:lnTo>
                <a:lnTo>
                  <a:pt x="651510" y="377352"/>
                </a:lnTo>
                <a:lnTo>
                  <a:pt x="617220" y="408318"/>
                </a:lnTo>
                <a:lnTo>
                  <a:pt x="582930" y="440563"/>
                </a:lnTo>
                <a:lnTo>
                  <a:pt x="548640" y="474089"/>
                </a:lnTo>
                <a:lnTo>
                  <a:pt x="514350" y="508901"/>
                </a:lnTo>
                <a:lnTo>
                  <a:pt x="480060" y="545002"/>
                </a:lnTo>
                <a:lnTo>
                  <a:pt x="445770" y="582398"/>
                </a:lnTo>
                <a:lnTo>
                  <a:pt x="411480" y="621097"/>
                </a:lnTo>
                <a:lnTo>
                  <a:pt x="377190" y="661106"/>
                </a:lnTo>
                <a:lnTo>
                  <a:pt x="342900" y="702434"/>
                </a:lnTo>
                <a:lnTo>
                  <a:pt x="308610" y="745089"/>
                </a:lnTo>
                <a:lnTo>
                  <a:pt x="274320" y="789083"/>
                </a:lnTo>
                <a:lnTo>
                  <a:pt x="240030" y="834426"/>
                </a:lnTo>
                <a:lnTo>
                  <a:pt x="205740" y="881129"/>
                </a:lnTo>
                <a:lnTo>
                  <a:pt x="171450" y="929205"/>
                </a:lnTo>
                <a:lnTo>
                  <a:pt x="137160" y="978666"/>
                </a:lnTo>
                <a:lnTo>
                  <a:pt x="102870" y="1029525"/>
                </a:lnTo>
                <a:lnTo>
                  <a:pt x="68580" y="1081795"/>
                </a:lnTo>
                <a:lnTo>
                  <a:pt x="34290" y="1135491"/>
                </a:lnTo>
                <a:lnTo>
                  <a:pt x="0" y="1190625"/>
                </a:lnTo>
                <a:close/>
              </a:path>
            </a:pathLst>
          </a:custGeom>
          <a:solidFill xmlns:a="http://schemas.openxmlformats.org/drawingml/2006/main">
            <a:srgbClr val="E5EEF6"/>
          </a:solidFill>
          <a:ln xmlns:a="http://schemas.openxmlformats.org/drawingml/2006/main" w="0">
            <a:noFill/>
          </a:ln>
        </p:spPr>
      </p:sp>
      <p:sp>
        <p:nvSpPr>
          <p:cNvPr id="2" name="profile-120">
            <a:extLst xmlns:a="http://schemas.openxmlformats.org/drawingml/2006/main">
              <a:ext uri="{FF2B5EF4-FFF2-40B4-BE49-F238E27FC236}">
                <a16:creationId xmlns:a16="http://schemas.microsoft.com/office/drawing/2014/main" id="{8EAE25F9-AF4F-4AC7-8BA6-1EDF52E0D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0"/>
            <a:ext cx="1371600" cy="1257300"/>
          </a:xfrm>
          <a:custGeom xmlns:a="http://schemas.openxmlformats.org/drawingml/2006/main">
            <a:pathLst>
              <a:path w="1371600" h="1257300">
                <a:moveTo>
                  <a:pt x="0" y="1009650"/>
                </a:moveTo>
                <a:lnTo>
                  <a:pt x="34290" y="952274"/>
                </a:lnTo>
                <a:lnTo>
                  <a:pt x="68580" y="896350"/>
                </a:lnTo>
                <a:lnTo>
                  <a:pt x="102870" y="841879"/>
                </a:lnTo>
                <a:lnTo>
                  <a:pt x="137160" y="788861"/>
                </a:lnTo>
                <a:lnTo>
                  <a:pt x="171450" y="737295"/>
                </a:lnTo>
                <a:lnTo>
                  <a:pt x="205740" y="687181"/>
                </a:lnTo>
                <a:lnTo>
                  <a:pt x="240030" y="638520"/>
                </a:lnTo>
                <a:lnTo>
                  <a:pt x="274320" y="591312"/>
                </a:lnTo>
                <a:lnTo>
                  <a:pt x="308610" y="545556"/>
                </a:lnTo>
                <a:lnTo>
                  <a:pt x="342900" y="501253"/>
                </a:lnTo>
                <a:lnTo>
                  <a:pt x="377190" y="458403"/>
                </a:lnTo>
                <a:lnTo>
                  <a:pt x="411480" y="417004"/>
                </a:lnTo>
                <a:lnTo>
                  <a:pt x="445770" y="377059"/>
                </a:lnTo>
                <a:lnTo>
                  <a:pt x="480060" y="338566"/>
                </a:lnTo>
                <a:lnTo>
                  <a:pt x="514350" y="301526"/>
                </a:lnTo>
                <a:lnTo>
                  <a:pt x="548640" y="265938"/>
                </a:lnTo>
                <a:lnTo>
                  <a:pt x="582930" y="231803"/>
                </a:lnTo>
                <a:lnTo>
                  <a:pt x="617220" y="199120"/>
                </a:lnTo>
                <a:lnTo>
                  <a:pt x="651510" y="167890"/>
                </a:lnTo>
                <a:lnTo>
                  <a:pt x="685800" y="138113"/>
                </a:lnTo>
                <a:lnTo>
                  <a:pt x="720090" y="109788"/>
                </a:lnTo>
                <a:lnTo>
                  <a:pt x="754380" y="82915"/>
                </a:lnTo>
                <a:lnTo>
                  <a:pt x="788670" y="57495"/>
                </a:lnTo>
                <a:lnTo>
                  <a:pt x="822960" y="33528"/>
                </a:lnTo>
                <a:lnTo>
                  <a:pt x="857250" y="11013"/>
                </a:lnTo>
                <a:lnTo>
                  <a:pt x="891540" y="0"/>
                </a:lnTo>
                <a:lnTo>
                  <a:pt x="925830" y="0"/>
                </a:lnTo>
                <a:lnTo>
                  <a:pt x="960120" y="0"/>
                </a:lnTo>
                <a:lnTo>
                  <a:pt x="994410" y="0"/>
                </a:lnTo>
                <a:lnTo>
                  <a:pt x="1028700" y="0"/>
                </a:lnTo>
                <a:lnTo>
                  <a:pt x="1062990" y="0"/>
                </a:lnTo>
                <a:lnTo>
                  <a:pt x="1097280" y="0"/>
                </a:lnTo>
                <a:lnTo>
                  <a:pt x="1131570" y="0"/>
                </a:lnTo>
                <a:lnTo>
                  <a:pt x="1165860" y="0"/>
                </a:lnTo>
                <a:lnTo>
                  <a:pt x="1200150" y="0"/>
                </a:lnTo>
                <a:lnTo>
                  <a:pt x="1234440" y="0"/>
                </a:lnTo>
                <a:lnTo>
                  <a:pt x="1268730" y="0"/>
                </a:lnTo>
                <a:lnTo>
                  <a:pt x="1303020" y="0"/>
                </a:lnTo>
                <a:lnTo>
                  <a:pt x="1337310" y="0"/>
                </a:lnTo>
                <a:lnTo>
                  <a:pt x="1371600" y="0"/>
                </a:lnTo>
                <a:lnTo>
                  <a:pt x="1371600" y="28575"/>
                </a:lnTo>
                <a:lnTo>
                  <a:pt x="1337310" y="30817"/>
                </a:lnTo>
                <a:lnTo>
                  <a:pt x="1303020" y="33045"/>
                </a:lnTo>
                <a:lnTo>
                  <a:pt x="1268730" y="35246"/>
                </a:lnTo>
                <a:lnTo>
                  <a:pt x="1234440" y="37405"/>
                </a:lnTo>
                <a:lnTo>
                  <a:pt x="1200150" y="39510"/>
                </a:lnTo>
                <a:lnTo>
                  <a:pt x="1165860" y="41548"/>
                </a:lnTo>
                <a:lnTo>
                  <a:pt x="1131570" y="43505"/>
                </a:lnTo>
                <a:lnTo>
                  <a:pt x="1097280" y="45371"/>
                </a:lnTo>
                <a:lnTo>
                  <a:pt x="1062990" y="47133"/>
                </a:lnTo>
                <a:lnTo>
                  <a:pt x="1028700" y="48781"/>
                </a:lnTo>
                <a:lnTo>
                  <a:pt x="994410" y="50304"/>
                </a:lnTo>
                <a:lnTo>
                  <a:pt x="960120" y="51693"/>
                </a:lnTo>
                <a:lnTo>
                  <a:pt x="925830" y="52939"/>
                </a:lnTo>
                <a:lnTo>
                  <a:pt x="891540" y="54036"/>
                </a:lnTo>
                <a:lnTo>
                  <a:pt x="857250" y="65988"/>
                </a:lnTo>
                <a:lnTo>
                  <a:pt x="822960" y="89279"/>
                </a:lnTo>
                <a:lnTo>
                  <a:pt x="788670" y="113856"/>
                </a:lnTo>
                <a:lnTo>
                  <a:pt x="754380" y="139713"/>
                </a:lnTo>
                <a:lnTo>
                  <a:pt x="720090" y="166849"/>
                </a:lnTo>
                <a:lnTo>
                  <a:pt x="685800" y="195263"/>
                </a:lnTo>
                <a:lnTo>
                  <a:pt x="651510" y="224952"/>
                </a:lnTo>
                <a:lnTo>
                  <a:pt x="617220" y="255918"/>
                </a:lnTo>
                <a:lnTo>
                  <a:pt x="582930" y="288163"/>
                </a:lnTo>
                <a:lnTo>
                  <a:pt x="548640" y="321689"/>
                </a:lnTo>
                <a:lnTo>
                  <a:pt x="514350" y="356501"/>
                </a:lnTo>
                <a:lnTo>
                  <a:pt x="480060" y="392602"/>
                </a:lnTo>
                <a:lnTo>
                  <a:pt x="445770" y="429998"/>
                </a:lnTo>
                <a:lnTo>
                  <a:pt x="411480" y="468697"/>
                </a:lnTo>
                <a:lnTo>
                  <a:pt x="377190" y="508706"/>
                </a:lnTo>
                <a:lnTo>
                  <a:pt x="342900" y="550034"/>
                </a:lnTo>
                <a:lnTo>
                  <a:pt x="308610" y="592689"/>
                </a:lnTo>
                <a:lnTo>
                  <a:pt x="274320" y="636683"/>
                </a:lnTo>
                <a:lnTo>
                  <a:pt x="240030" y="682026"/>
                </a:lnTo>
                <a:lnTo>
                  <a:pt x="205740" y="728729"/>
                </a:lnTo>
                <a:lnTo>
                  <a:pt x="171450" y="776805"/>
                </a:lnTo>
                <a:lnTo>
                  <a:pt x="137160" y="826266"/>
                </a:lnTo>
                <a:lnTo>
                  <a:pt x="102870" y="877125"/>
                </a:lnTo>
                <a:lnTo>
                  <a:pt x="68580" y="929395"/>
                </a:lnTo>
                <a:lnTo>
                  <a:pt x="34290" y="983091"/>
                </a:lnTo>
                <a:lnTo>
                  <a:pt x="0" y="1038225"/>
                </a:lnTo>
                <a:close/>
              </a:path>
            </a:pathLst>
          </a:custGeom>
          <a:solidFill xmlns:a="http://schemas.openxmlformats.org/drawingml/2006/main">
            <a:srgbClr val="D7E6F2"/>
          </a:solidFill>
          <a:ln xmlns:a="http://schemas.openxmlformats.org/drawingml/2006/main" w="0">
            <a:noFill/>
          </a:ln>
        </p:spPr>
      </p:sp>
      <p:sp>
        <p:nvSpPr>
          <p:cNvPr id="3" name="profile-121">
            <a:extLst xmlns:a="http://schemas.openxmlformats.org/drawingml/2006/main">
              <a:ext uri="{FF2B5EF4-FFF2-40B4-BE49-F238E27FC236}">
                <a16:creationId xmlns:a16="http://schemas.microsoft.com/office/drawing/2014/main" id="{B160C5E2-DAE3-494C-B9CE-7128E6E9E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0"/>
            <a:ext cx="1371600" cy="1257300"/>
          </a:xfrm>
          <a:custGeom xmlns:a="http://schemas.openxmlformats.org/drawingml/2006/main">
            <a:pathLst>
              <a:path w="1371600" h="1257300">
                <a:moveTo>
                  <a:pt x="0" y="857250"/>
                </a:moveTo>
                <a:lnTo>
                  <a:pt x="34290" y="799874"/>
                </a:lnTo>
                <a:lnTo>
                  <a:pt x="68580" y="743950"/>
                </a:lnTo>
                <a:lnTo>
                  <a:pt x="102870" y="689479"/>
                </a:lnTo>
                <a:lnTo>
                  <a:pt x="137160" y="636461"/>
                </a:lnTo>
                <a:lnTo>
                  <a:pt x="171450" y="584895"/>
                </a:lnTo>
                <a:lnTo>
                  <a:pt x="205740" y="534781"/>
                </a:lnTo>
                <a:lnTo>
                  <a:pt x="240030" y="486120"/>
                </a:lnTo>
                <a:lnTo>
                  <a:pt x="274320" y="438912"/>
                </a:lnTo>
                <a:lnTo>
                  <a:pt x="308610" y="393156"/>
                </a:lnTo>
                <a:lnTo>
                  <a:pt x="342900" y="348853"/>
                </a:lnTo>
                <a:lnTo>
                  <a:pt x="377190" y="306003"/>
                </a:lnTo>
                <a:lnTo>
                  <a:pt x="411480" y="264604"/>
                </a:lnTo>
                <a:lnTo>
                  <a:pt x="445770" y="224659"/>
                </a:lnTo>
                <a:lnTo>
                  <a:pt x="480060" y="186166"/>
                </a:lnTo>
                <a:lnTo>
                  <a:pt x="514350" y="149126"/>
                </a:lnTo>
                <a:lnTo>
                  <a:pt x="548640" y="113538"/>
                </a:lnTo>
                <a:lnTo>
                  <a:pt x="582930" y="79403"/>
                </a:lnTo>
                <a:lnTo>
                  <a:pt x="617220" y="46720"/>
                </a:lnTo>
                <a:lnTo>
                  <a:pt x="651510" y="15490"/>
                </a:lnTo>
                <a:lnTo>
                  <a:pt x="685800" y="0"/>
                </a:lnTo>
                <a:lnTo>
                  <a:pt x="720090" y="0"/>
                </a:lnTo>
                <a:lnTo>
                  <a:pt x="754380" y="0"/>
                </a:lnTo>
                <a:lnTo>
                  <a:pt x="788670" y="0"/>
                </a:lnTo>
                <a:lnTo>
                  <a:pt x="822960" y="0"/>
                </a:lnTo>
                <a:lnTo>
                  <a:pt x="857250" y="0"/>
                </a:lnTo>
                <a:lnTo>
                  <a:pt x="891540" y="0"/>
                </a:lnTo>
                <a:lnTo>
                  <a:pt x="925830" y="0"/>
                </a:lnTo>
                <a:lnTo>
                  <a:pt x="960120" y="0"/>
                </a:lnTo>
                <a:lnTo>
                  <a:pt x="994410" y="0"/>
                </a:lnTo>
                <a:lnTo>
                  <a:pt x="1028700" y="0"/>
                </a:lnTo>
                <a:lnTo>
                  <a:pt x="1062990" y="0"/>
                </a:lnTo>
                <a:lnTo>
                  <a:pt x="1097280" y="0"/>
                </a:lnTo>
                <a:lnTo>
                  <a:pt x="1131570" y="0"/>
                </a:lnTo>
                <a:lnTo>
                  <a:pt x="1165860" y="0"/>
                </a:lnTo>
                <a:lnTo>
                  <a:pt x="1200150" y="0"/>
                </a:lnTo>
                <a:lnTo>
                  <a:pt x="1234440" y="0"/>
                </a:lnTo>
                <a:lnTo>
                  <a:pt x="1268730" y="0"/>
                </a:lnTo>
                <a:lnTo>
                  <a:pt x="1303020" y="0"/>
                </a:lnTo>
                <a:lnTo>
                  <a:pt x="1337310" y="0"/>
                </a:lnTo>
                <a:lnTo>
                  <a:pt x="1371600" y="0"/>
                </a:lnTo>
                <a:lnTo>
                  <a:pt x="1371600" y="28575"/>
                </a:lnTo>
                <a:lnTo>
                  <a:pt x="1337310" y="30817"/>
                </a:lnTo>
                <a:lnTo>
                  <a:pt x="1303020" y="33045"/>
                </a:lnTo>
                <a:lnTo>
                  <a:pt x="1268730" y="35246"/>
                </a:lnTo>
                <a:lnTo>
                  <a:pt x="1234440" y="37405"/>
                </a:lnTo>
                <a:lnTo>
                  <a:pt x="1200150" y="39510"/>
                </a:lnTo>
                <a:lnTo>
                  <a:pt x="1165860" y="41548"/>
                </a:lnTo>
                <a:lnTo>
                  <a:pt x="1131570" y="43505"/>
                </a:lnTo>
                <a:lnTo>
                  <a:pt x="1097280" y="45371"/>
                </a:lnTo>
                <a:lnTo>
                  <a:pt x="1062990" y="47133"/>
                </a:lnTo>
                <a:lnTo>
                  <a:pt x="1028700" y="48781"/>
                </a:lnTo>
                <a:lnTo>
                  <a:pt x="994410" y="50304"/>
                </a:lnTo>
                <a:lnTo>
                  <a:pt x="960120" y="51693"/>
                </a:lnTo>
                <a:lnTo>
                  <a:pt x="925830" y="52939"/>
                </a:lnTo>
                <a:lnTo>
                  <a:pt x="891540" y="54036"/>
                </a:lnTo>
                <a:lnTo>
                  <a:pt x="857250" y="54975"/>
                </a:lnTo>
                <a:lnTo>
                  <a:pt x="822960" y="55751"/>
                </a:lnTo>
                <a:lnTo>
                  <a:pt x="788670" y="56360"/>
                </a:lnTo>
                <a:lnTo>
                  <a:pt x="754380" y="56798"/>
                </a:lnTo>
                <a:lnTo>
                  <a:pt x="720090" y="57062"/>
                </a:lnTo>
                <a:lnTo>
                  <a:pt x="685800" y="57150"/>
                </a:lnTo>
                <a:lnTo>
                  <a:pt x="651510" y="72552"/>
                </a:lnTo>
                <a:lnTo>
                  <a:pt x="617220" y="103518"/>
                </a:lnTo>
                <a:lnTo>
                  <a:pt x="582930" y="135763"/>
                </a:lnTo>
                <a:lnTo>
                  <a:pt x="548640" y="169289"/>
                </a:lnTo>
                <a:lnTo>
                  <a:pt x="514350" y="204101"/>
                </a:lnTo>
                <a:lnTo>
                  <a:pt x="480060" y="240202"/>
                </a:lnTo>
                <a:lnTo>
                  <a:pt x="445770" y="277598"/>
                </a:lnTo>
                <a:lnTo>
                  <a:pt x="411480" y="316297"/>
                </a:lnTo>
                <a:lnTo>
                  <a:pt x="377190" y="356306"/>
                </a:lnTo>
                <a:lnTo>
                  <a:pt x="342900" y="397634"/>
                </a:lnTo>
                <a:lnTo>
                  <a:pt x="308610" y="440289"/>
                </a:lnTo>
                <a:lnTo>
                  <a:pt x="274320" y="484283"/>
                </a:lnTo>
                <a:lnTo>
                  <a:pt x="240030" y="529626"/>
                </a:lnTo>
                <a:lnTo>
                  <a:pt x="205740" y="576329"/>
                </a:lnTo>
                <a:lnTo>
                  <a:pt x="171450" y="624405"/>
                </a:lnTo>
                <a:lnTo>
                  <a:pt x="137160" y="673866"/>
                </a:lnTo>
                <a:lnTo>
                  <a:pt x="102870" y="724725"/>
                </a:lnTo>
                <a:lnTo>
                  <a:pt x="68580" y="776995"/>
                </a:lnTo>
                <a:lnTo>
                  <a:pt x="34290" y="830691"/>
                </a:lnTo>
                <a:lnTo>
                  <a:pt x="0" y="885825"/>
                </a:lnTo>
                <a:close/>
              </a:path>
            </a:pathLst>
          </a:custGeom>
          <a:solidFill xmlns:a="http://schemas.openxmlformats.org/drawingml/2006/main">
            <a:srgbClr val="BED5E8"/>
          </a:solidFill>
          <a:ln xmlns:a="http://schemas.openxmlformats.org/drawingml/2006/main" w="0">
            <a:noFill/>
          </a:ln>
        </p:spPr>
      </p:sp>
      <p:sp>
        <p:nvSpPr>
          <p:cNvPr id="4" name="profile-122">
            <a:extLst xmlns:a="http://schemas.openxmlformats.org/drawingml/2006/main">
              <a:ext uri="{FF2B5EF4-FFF2-40B4-BE49-F238E27FC236}">
                <a16:creationId xmlns:a16="http://schemas.microsoft.com/office/drawing/2014/main" id="{0E87E085-7F32-4DEF-9B48-D953396AC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3429000" cy="2543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12B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17212B"/>
                </a:solidFill>
                <a:latin typeface="Segoe UI"/>
                <a:ea typeface="Segoe UI"/>
                <a:cs typeface="Segoe UI"/>
              </a:rPr>
              <a:t>Oceanides</a:t>
            </a:r>
          </a:p>
        </p:txBody>
      </p:sp>
      <p:sp>
        <p:nvSpPr>
          <p:cNvPr id="5" name="profile-123">
            <a:extLst xmlns:a="http://schemas.openxmlformats.org/drawingml/2006/main">
              <a:ext uri="{FF2B5EF4-FFF2-40B4-BE49-F238E27FC236}">
                <a16:creationId xmlns:a16="http://schemas.microsoft.com/office/drawing/2014/main" id="{21DB3CCE-B07B-4BB0-A756-C1F59EF89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485775"/>
            <a:ext cx="1971675" cy="192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Company profile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4009339d6a45ce"/>
          <a:stretch xmlns:a="http://schemas.openxmlformats.org/drawingml/2006/main"/>
        </p:blipFill>
        <p:spPr>
          <a:xfrm xmlns:a="http://schemas.openxmlformats.org/drawingml/2006/main">
            <a:off x="609600" y="1257300"/>
            <a:ext cx="6343650" cy="4229100"/>
          </a:xfrm>
          <a:prstGeom xmlns:a="http://schemas.openxmlformats.org/drawingml/2006/main" prst="rect">
            <a:avLst/>
          </a:prstGeom>
        </p:spPr>
      </p:pic>
      <p:sp>
        <p:nvSpPr>
          <p:cNvPr id="7" name="profile-124">
            <a:extLst xmlns:a="http://schemas.openxmlformats.org/drawingml/2006/main">
              <a:ext uri="{FF2B5EF4-FFF2-40B4-BE49-F238E27FC236}">
                <a16:creationId xmlns:a16="http://schemas.microsoft.com/office/drawing/2014/main" id="{AD6ADFA4-3B5C-4256-8A1A-A146EF6CA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0225"/>
            <a:ext cx="63436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AI-generated service illustration</a:t>
            </a:r>
          </a:p>
        </p:txBody>
      </p:sp>
      <p:sp>
        <p:nvSpPr>
          <p:cNvPr id="8" name="profile-125">
            <a:extLst xmlns:a="http://schemas.openxmlformats.org/drawingml/2006/main">
              <a:ext uri="{FF2B5EF4-FFF2-40B4-BE49-F238E27FC236}">
                <a16:creationId xmlns:a16="http://schemas.microsoft.com/office/drawing/2014/main" id="{39EC8126-B3C3-45FF-96E9-61C4F75B2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6343650" cy="6629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C63AD"/>
                </a:solidFill>
                <a:latin typeface="Segoe UI"/>
                <a:ea typeface="Segoe UI"/>
                <a:cs typeface="Segoe UI"/>
              </a:defRPr>
            </a:pPr>
            <a:r>
              <a:rPr sz="3900" b="1">
                <a:solidFill>
                  <a:srgbClr val="1C63AD"/>
                </a:solidFill>
                <a:latin typeface="Segoe UI"/>
                <a:ea typeface="Segoe UI"/>
                <a:cs typeface="Segoe UI"/>
              </a:rPr>
              <a:t>Pest control</a:t>
            </a:r>
          </a:p>
        </p:txBody>
      </p:sp>
      <p:sp>
        <p:nvSpPr>
          <p:cNvPr id="9" name="profile-126">
            <a:extLst xmlns:a="http://schemas.openxmlformats.org/drawingml/2006/main">
              <a:ext uri="{FF2B5EF4-FFF2-40B4-BE49-F238E27FC236}">
                <a16:creationId xmlns:a16="http://schemas.microsoft.com/office/drawing/2014/main" id="{5927B9F8-E9C0-44D7-93B9-D0DAD32E0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05625"/>
            <a:ext cx="63436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Pest control services based on an assessment of the property and the</a:t>
            </a:r>
          </a:p>
        </p:txBody>
      </p:sp>
      <p:sp>
        <p:nvSpPr>
          <p:cNvPr id="10" name="profile-127">
            <a:extLst xmlns:a="http://schemas.openxmlformats.org/drawingml/2006/main">
              <a:ext uri="{FF2B5EF4-FFF2-40B4-BE49-F238E27FC236}">
                <a16:creationId xmlns:a16="http://schemas.microsoft.com/office/drawing/2014/main" id="{79453879-685E-4D20-B25B-62B7AA765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00900"/>
            <a:ext cx="63436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pest concerns reported by the client.</a:t>
            </a:r>
          </a:p>
        </p:txBody>
      </p:sp>
      <p:sp>
        <p:nvSpPr>
          <p:cNvPr id="11" name="profile-128">
            <a:extLst xmlns:a="http://schemas.openxmlformats.org/drawingml/2006/main">
              <a:ext uri="{FF2B5EF4-FFF2-40B4-BE49-F238E27FC236}">
                <a16:creationId xmlns:a16="http://schemas.microsoft.com/office/drawing/2014/main" id="{6278CA46-A028-44E7-9DE0-92487B387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0"/>
            <a:ext cx="63436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9"/>
          </a:solidFill>
          <a:ln xmlns:a="http://schemas.openxmlformats.org/drawingml/2006/main" w="0">
            <a:noFill/>
          </a:ln>
        </p:spPr>
      </p:sp>
      <p:sp>
        <p:nvSpPr>
          <p:cNvPr id="12" name="profile-129">
            <a:extLst xmlns:a="http://schemas.openxmlformats.org/drawingml/2006/main">
              <a:ext uri="{FF2B5EF4-FFF2-40B4-BE49-F238E27FC236}">
                <a16:creationId xmlns:a16="http://schemas.microsoft.com/office/drawing/2014/main" id="{2E506D89-93F2-4763-980A-5E579CDA4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72425"/>
            <a:ext cx="6343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Assessment of pest activity</a:t>
            </a:r>
          </a:p>
        </p:txBody>
      </p:sp>
      <p:sp>
        <p:nvSpPr>
          <p:cNvPr id="13" name="profile-130">
            <a:extLst xmlns:a="http://schemas.openxmlformats.org/drawingml/2006/main">
              <a:ext uri="{FF2B5EF4-FFF2-40B4-BE49-F238E27FC236}">
                <a16:creationId xmlns:a16="http://schemas.microsoft.com/office/drawing/2014/main" id="{4FDDA52C-022A-4155-AA40-6AED77713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62950"/>
            <a:ext cx="63436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9"/>
          </a:solidFill>
          <a:ln xmlns:a="http://schemas.openxmlformats.org/drawingml/2006/main" w="0">
            <a:noFill/>
          </a:ln>
        </p:spPr>
      </p:sp>
      <p:sp>
        <p:nvSpPr>
          <p:cNvPr id="14" name="profile-131">
            <a:extLst xmlns:a="http://schemas.openxmlformats.org/drawingml/2006/main">
              <a:ext uri="{FF2B5EF4-FFF2-40B4-BE49-F238E27FC236}">
                <a16:creationId xmlns:a16="http://schemas.microsoft.com/office/drawing/2014/main" id="{161035CA-3B4F-4946-82C9-CB4CA3EB4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24875"/>
            <a:ext cx="6343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Treatment scope based on site findings</a:t>
            </a:r>
          </a:p>
        </p:txBody>
      </p:sp>
      <p:sp>
        <p:nvSpPr>
          <p:cNvPr id="15" name="profile-132">
            <a:extLst xmlns:a="http://schemas.openxmlformats.org/drawingml/2006/main">
              <a:ext uri="{FF2B5EF4-FFF2-40B4-BE49-F238E27FC236}">
                <a16:creationId xmlns:a16="http://schemas.microsoft.com/office/drawing/2014/main" id="{1F58871C-30D8-430B-A0F2-2556A25A1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15400"/>
            <a:ext cx="63436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9"/>
          </a:solidFill>
          <a:ln xmlns:a="http://schemas.openxmlformats.org/drawingml/2006/main" w="0">
            <a:noFill/>
          </a:ln>
        </p:spPr>
      </p:sp>
      <p:sp>
        <p:nvSpPr>
          <p:cNvPr id="16" name="profile-133">
            <a:extLst xmlns:a="http://schemas.openxmlformats.org/drawingml/2006/main">
              <a:ext uri="{FF2B5EF4-FFF2-40B4-BE49-F238E27FC236}">
                <a16:creationId xmlns:a16="http://schemas.microsoft.com/office/drawing/2014/main" id="{AE51EE08-6E0C-4A3F-9B9A-BA29EBEF4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77325"/>
            <a:ext cx="6343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Service scheduling and contractor coordination</a:t>
            </a:r>
          </a:p>
        </p:txBody>
      </p:sp>
      <p:sp>
        <p:nvSpPr>
          <p:cNvPr id="17" name="profile-134">
            <a:extLst xmlns:a="http://schemas.openxmlformats.org/drawingml/2006/main">
              <a:ext uri="{FF2B5EF4-FFF2-40B4-BE49-F238E27FC236}">
                <a16:creationId xmlns:a16="http://schemas.microsoft.com/office/drawing/2014/main" id="{AAE69FCD-DA5B-46F6-9539-6AB41D380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63125"/>
            <a:ext cx="63436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Treatment and specialist requirements follow the site assessment.</a:t>
            </a:r>
          </a:p>
        </p:txBody>
      </p:sp>
      <p:sp>
        <p:nvSpPr>
          <p:cNvPr id="18" name="profile-135">
            <a:extLst xmlns:a="http://schemas.openxmlformats.org/drawingml/2006/main">
              <a:ext uri="{FF2B5EF4-FFF2-40B4-BE49-F238E27FC236}">
                <a16:creationId xmlns:a16="http://schemas.microsoft.com/office/drawing/2014/main" id="{DCCCD98E-DD7D-4484-A7D3-D9F30F87E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106025"/>
            <a:ext cx="63436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9"/>
          </a:solidFill>
          <a:ln xmlns:a="http://schemas.openxmlformats.org/drawingml/2006/main" w="0">
            <a:noFill/>
          </a:ln>
        </p:spPr>
      </p:sp>
      <p:sp>
        <p:nvSpPr>
          <p:cNvPr id="19" name="profile-136">
            <a:extLst xmlns:a="http://schemas.openxmlformats.org/drawingml/2006/main">
              <a:ext uri="{FF2B5EF4-FFF2-40B4-BE49-F238E27FC236}">
                <a16:creationId xmlns:a16="http://schemas.microsoft.com/office/drawing/2014/main" id="{7A8EF2C3-5139-43DA-880C-5FC53BC7A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0"/>
            <a:ext cx="381000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Oceanides</a:t>
            </a:r>
          </a:p>
        </p:txBody>
      </p:sp>
      <p:sp>
        <p:nvSpPr>
          <p:cNvPr id="20" name="profile-137">
            <a:extLst xmlns:a="http://schemas.openxmlformats.org/drawingml/2006/main">
              <a:ext uri="{FF2B5EF4-FFF2-40B4-BE49-F238E27FC236}">
                <a16:creationId xmlns:a16="http://schemas.microsoft.com/office/drawing/2014/main" id="{3AE9D010-4603-46FC-8463-34890DB75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10287000"/>
            <a:ext cx="276225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6645082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A1F4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profile-138">
            <a:extLst xmlns:a="http://schemas.openxmlformats.org/drawingml/2006/main">
              <a:ext uri="{FF2B5EF4-FFF2-40B4-BE49-F238E27FC236}">
                <a16:creationId xmlns:a16="http://schemas.microsoft.com/office/drawing/2014/main" id="{AB47ACC5-CBC8-48DD-9700-61F425D71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0"/>
            <a:ext cx="1371600" cy="1257300"/>
          </a:xfrm>
          <a:custGeom xmlns:a="http://schemas.openxmlformats.org/drawingml/2006/main">
            <a:pathLst>
              <a:path w="1371600" h="1257300">
                <a:moveTo>
                  <a:pt x="0" y="1162050"/>
                </a:moveTo>
                <a:lnTo>
                  <a:pt x="34290" y="1104674"/>
                </a:lnTo>
                <a:lnTo>
                  <a:pt x="68580" y="1048750"/>
                </a:lnTo>
                <a:lnTo>
                  <a:pt x="102870" y="994279"/>
                </a:lnTo>
                <a:lnTo>
                  <a:pt x="137160" y="941261"/>
                </a:lnTo>
                <a:lnTo>
                  <a:pt x="171450" y="889695"/>
                </a:lnTo>
                <a:lnTo>
                  <a:pt x="205740" y="839581"/>
                </a:lnTo>
                <a:lnTo>
                  <a:pt x="240030" y="790920"/>
                </a:lnTo>
                <a:lnTo>
                  <a:pt x="274320" y="743712"/>
                </a:lnTo>
                <a:lnTo>
                  <a:pt x="308610" y="697956"/>
                </a:lnTo>
                <a:lnTo>
                  <a:pt x="342900" y="653653"/>
                </a:lnTo>
                <a:lnTo>
                  <a:pt x="377190" y="610803"/>
                </a:lnTo>
                <a:lnTo>
                  <a:pt x="411480" y="569405"/>
                </a:lnTo>
                <a:lnTo>
                  <a:pt x="445770" y="529459"/>
                </a:lnTo>
                <a:lnTo>
                  <a:pt x="480060" y="490966"/>
                </a:lnTo>
                <a:lnTo>
                  <a:pt x="514350" y="453926"/>
                </a:lnTo>
                <a:lnTo>
                  <a:pt x="548640" y="418338"/>
                </a:lnTo>
                <a:lnTo>
                  <a:pt x="582930" y="384203"/>
                </a:lnTo>
                <a:lnTo>
                  <a:pt x="617220" y="351520"/>
                </a:lnTo>
                <a:lnTo>
                  <a:pt x="651510" y="320290"/>
                </a:lnTo>
                <a:lnTo>
                  <a:pt x="685800" y="290513"/>
                </a:lnTo>
                <a:lnTo>
                  <a:pt x="720090" y="262188"/>
                </a:lnTo>
                <a:lnTo>
                  <a:pt x="754380" y="235315"/>
                </a:lnTo>
                <a:lnTo>
                  <a:pt x="788670" y="209895"/>
                </a:lnTo>
                <a:lnTo>
                  <a:pt x="822960" y="185928"/>
                </a:lnTo>
                <a:lnTo>
                  <a:pt x="857250" y="163413"/>
                </a:lnTo>
                <a:lnTo>
                  <a:pt x="891540" y="142351"/>
                </a:lnTo>
                <a:lnTo>
                  <a:pt x="925830" y="122742"/>
                </a:lnTo>
                <a:lnTo>
                  <a:pt x="960120" y="104585"/>
                </a:lnTo>
                <a:lnTo>
                  <a:pt x="994410" y="87880"/>
                </a:lnTo>
                <a:lnTo>
                  <a:pt x="1028700" y="72628"/>
                </a:lnTo>
                <a:lnTo>
                  <a:pt x="1062990" y="58829"/>
                </a:lnTo>
                <a:lnTo>
                  <a:pt x="1097280" y="46482"/>
                </a:lnTo>
                <a:lnTo>
                  <a:pt x="1131570" y="35588"/>
                </a:lnTo>
                <a:lnTo>
                  <a:pt x="1165860" y="26146"/>
                </a:lnTo>
                <a:lnTo>
                  <a:pt x="1200150" y="18157"/>
                </a:lnTo>
                <a:lnTo>
                  <a:pt x="1234440" y="11620"/>
                </a:lnTo>
                <a:lnTo>
                  <a:pt x="1268730" y="6537"/>
                </a:lnTo>
                <a:lnTo>
                  <a:pt x="1303020" y="2905"/>
                </a:lnTo>
                <a:lnTo>
                  <a:pt x="1337310" y="726"/>
                </a:lnTo>
                <a:lnTo>
                  <a:pt x="1371600" y="0"/>
                </a:lnTo>
                <a:lnTo>
                  <a:pt x="1371600" y="28575"/>
                </a:lnTo>
                <a:lnTo>
                  <a:pt x="1337310" y="31543"/>
                </a:lnTo>
                <a:lnTo>
                  <a:pt x="1303020" y="35950"/>
                </a:lnTo>
                <a:lnTo>
                  <a:pt x="1268730" y="41782"/>
                </a:lnTo>
                <a:lnTo>
                  <a:pt x="1234440" y="49026"/>
                </a:lnTo>
                <a:lnTo>
                  <a:pt x="1200150" y="57667"/>
                </a:lnTo>
                <a:lnTo>
                  <a:pt x="1165860" y="67694"/>
                </a:lnTo>
                <a:lnTo>
                  <a:pt x="1131570" y="79093"/>
                </a:lnTo>
                <a:lnTo>
                  <a:pt x="1097280" y="91853"/>
                </a:lnTo>
                <a:lnTo>
                  <a:pt x="1062990" y="105962"/>
                </a:lnTo>
                <a:lnTo>
                  <a:pt x="1028700" y="121409"/>
                </a:lnTo>
                <a:lnTo>
                  <a:pt x="994410" y="138184"/>
                </a:lnTo>
                <a:lnTo>
                  <a:pt x="960120" y="156277"/>
                </a:lnTo>
                <a:lnTo>
                  <a:pt x="925830" y="175681"/>
                </a:lnTo>
                <a:lnTo>
                  <a:pt x="891540" y="196387"/>
                </a:lnTo>
                <a:lnTo>
                  <a:pt x="857250" y="218388"/>
                </a:lnTo>
                <a:lnTo>
                  <a:pt x="822960" y="241679"/>
                </a:lnTo>
                <a:lnTo>
                  <a:pt x="788670" y="266256"/>
                </a:lnTo>
                <a:lnTo>
                  <a:pt x="754380" y="292113"/>
                </a:lnTo>
                <a:lnTo>
                  <a:pt x="720090" y="319249"/>
                </a:lnTo>
                <a:lnTo>
                  <a:pt x="685800" y="347663"/>
                </a:lnTo>
                <a:lnTo>
                  <a:pt x="651510" y="377352"/>
                </a:lnTo>
                <a:lnTo>
                  <a:pt x="617220" y="408318"/>
                </a:lnTo>
                <a:lnTo>
                  <a:pt x="582930" y="440563"/>
                </a:lnTo>
                <a:lnTo>
                  <a:pt x="548640" y="474089"/>
                </a:lnTo>
                <a:lnTo>
                  <a:pt x="514350" y="508901"/>
                </a:lnTo>
                <a:lnTo>
                  <a:pt x="480060" y="545002"/>
                </a:lnTo>
                <a:lnTo>
                  <a:pt x="445770" y="582398"/>
                </a:lnTo>
                <a:lnTo>
                  <a:pt x="411480" y="621097"/>
                </a:lnTo>
                <a:lnTo>
                  <a:pt x="377190" y="661106"/>
                </a:lnTo>
                <a:lnTo>
                  <a:pt x="342900" y="702434"/>
                </a:lnTo>
                <a:lnTo>
                  <a:pt x="308610" y="745089"/>
                </a:lnTo>
                <a:lnTo>
                  <a:pt x="274320" y="789083"/>
                </a:lnTo>
                <a:lnTo>
                  <a:pt x="240030" y="834426"/>
                </a:lnTo>
                <a:lnTo>
                  <a:pt x="205740" y="881129"/>
                </a:lnTo>
                <a:lnTo>
                  <a:pt x="171450" y="929205"/>
                </a:lnTo>
                <a:lnTo>
                  <a:pt x="137160" y="978666"/>
                </a:lnTo>
                <a:lnTo>
                  <a:pt x="102870" y="1029525"/>
                </a:lnTo>
                <a:lnTo>
                  <a:pt x="68580" y="1081795"/>
                </a:lnTo>
                <a:lnTo>
                  <a:pt x="34290" y="1135491"/>
                </a:lnTo>
                <a:lnTo>
                  <a:pt x="0" y="1190625"/>
                </a:lnTo>
                <a:close/>
              </a:path>
            </a:pathLst>
          </a:custGeom>
          <a:solidFill xmlns:a="http://schemas.openxmlformats.org/drawingml/2006/main">
            <a:srgbClr val="10294D"/>
          </a:solidFill>
          <a:ln xmlns:a="http://schemas.openxmlformats.org/drawingml/2006/main" w="0">
            <a:noFill/>
          </a:ln>
        </p:spPr>
      </p:sp>
      <p:sp>
        <p:nvSpPr>
          <p:cNvPr id="2" name="profile-139">
            <a:extLst xmlns:a="http://schemas.openxmlformats.org/drawingml/2006/main">
              <a:ext uri="{FF2B5EF4-FFF2-40B4-BE49-F238E27FC236}">
                <a16:creationId xmlns:a16="http://schemas.microsoft.com/office/drawing/2014/main" id="{CABC44A0-27D0-42BC-844E-D00A0F4E6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0"/>
            <a:ext cx="1371600" cy="1257300"/>
          </a:xfrm>
          <a:custGeom xmlns:a="http://schemas.openxmlformats.org/drawingml/2006/main">
            <a:pathLst>
              <a:path w="1371600" h="1257300">
                <a:moveTo>
                  <a:pt x="0" y="1009650"/>
                </a:moveTo>
                <a:lnTo>
                  <a:pt x="34290" y="952274"/>
                </a:lnTo>
                <a:lnTo>
                  <a:pt x="68580" y="896350"/>
                </a:lnTo>
                <a:lnTo>
                  <a:pt x="102870" y="841879"/>
                </a:lnTo>
                <a:lnTo>
                  <a:pt x="137160" y="788861"/>
                </a:lnTo>
                <a:lnTo>
                  <a:pt x="171450" y="737295"/>
                </a:lnTo>
                <a:lnTo>
                  <a:pt x="205740" y="687181"/>
                </a:lnTo>
                <a:lnTo>
                  <a:pt x="240030" y="638520"/>
                </a:lnTo>
                <a:lnTo>
                  <a:pt x="274320" y="591312"/>
                </a:lnTo>
                <a:lnTo>
                  <a:pt x="308610" y="545556"/>
                </a:lnTo>
                <a:lnTo>
                  <a:pt x="342900" y="501253"/>
                </a:lnTo>
                <a:lnTo>
                  <a:pt x="377190" y="458403"/>
                </a:lnTo>
                <a:lnTo>
                  <a:pt x="411480" y="417004"/>
                </a:lnTo>
                <a:lnTo>
                  <a:pt x="445770" y="377059"/>
                </a:lnTo>
                <a:lnTo>
                  <a:pt x="480060" y="338566"/>
                </a:lnTo>
                <a:lnTo>
                  <a:pt x="514350" y="301526"/>
                </a:lnTo>
                <a:lnTo>
                  <a:pt x="548640" y="265938"/>
                </a:lnTo>
                <a:lnTo>
                  <a:pt x="582930" y="231803"/>
                </a:lnTo>
                <a:lnTo>
                  <a:pt x="617220" y="199120"/>
                </a:lnTo>
                <a:lnTo>
                  <a:pt x="651510" y="167890"/>
                </a:lnTo>
                <a:lnTo>
                  <a:pt x="685800" y="138113"/>
                </a:lnTo>
                <a:lnTo>
                  <a:pt x="720090" y="109788"/>
                </a:lnTo>
                <a:lnTo>
                  <a:pt x="754380" y="82915"/>
                </a:lnTo>
                <a:lnTo>
                  <a:pt x="788670" y="57495"/>
                </a:lnTo>
                <a:lnTo>
                  <a:pt x="822960" y="33528"/>
                </a:lnTo>
                <a:lnTo>
                  <a:pt x="857250" y="11013"/>
                </a:lnTo>
                <a:lnTo>
                  <a:pt x="891540" y="0"/>
                </a:lnTo>
                <a:lnTo>
                  <a:pt x="925830" y="0"/>
                </a:lnTo>
                <a:lnTo>
                  <a:pt x="960120" y="0"/>
                </a:lnTo>
                <a:lnTo>
                  <a:pt x="994410" y="0"/>
                </a:lnTo>
                <a:lnTo>
                  <a:pt x="1028700" y="0"/>
                </a:lnTo>
                <a:lnTo>
                  <a:pt x="1062990" y="0"/>
                </a:lnTo>
                <a:lnTo>
                  <a:pt x="1097280" y="0"/>
                </a:lnTo>
                <a:lnTo>
                  <a:pt x="1131570" y="0"/>
                </a:lnTo>
                <a:lnTo>
                  <a:pt x="1165860" y="0"/>
                </a:lnTo>
                <a:lnTo>
                  <a:pt x="1200150" y="0"/>
                </a:lnTo>
                <a:lnTo>
                  <a:pt x="1234440" y="0"/>
                </a:lnTo>
                <a:lnTo>
                  <a:pt x="1268730" y="0"/>
                </a:lnTo>
                <a:lnTo>
                  <a:pt x="1303020" y="0"/>
                </a:lnTo>
                <a:lnTo>
                  <a:pt x="1337310" y="0"/>
                </a:lnTo>
                <a:lnTo>
                  <a:pt x="1371600" y="0"/>
                </a:lnTo>
                <a:lnTo>
                  <a:pt x="1371600" y="28575"/>
                </a:lnTo>
                <a:lnTo>
                  <a:pt x="1337310" y="30817"/>
                </a:lnTo>
                <a:lnTo>
                  <a:pt x="1303020" y="33045"/>
                </a:lnTo>
                <a:lnTo>
                  <a:pt x="1268730" y="35246"/>
                </a:lnTo>
                <a:lnTo>
                  <a:pt x="1234440" y="37405"/>
                </a:lnTo>
                <a:lnTo>
                  <a:pt x="1200150" y="39510"/>
                </a:lnTo>
                <a:lnTo>
                  <a:pt x="1165860" y="41548"/>
                </a:lnTo>
                <a:lnTo>
                  <a:pt x="1131570" y="43505"/>
                </a:lnTo>
                <a:lnTo>
                  <a:pt x="1097280" y="45371"/>
                </a:lnTo>
                <a:lnTo>
                  <a:pt x="1062990" y="47133"/>
                </a:lnTo>
                <a:lnTo>
                  <a:pt x="1028700" y="48781"/>
                </a:lnTo>
                <a:lnTo>
                  <a:pt x="994410" y="50304"/>
                </a:lnTo>
                <a:lnTo>
                  <a:pt x="960120" y="51693"/>
                </a:lnTo>
                <a:lnTo>
                  <a:pt x="925830" y="52939"/>
                </a:lnTo>
                <a:lnTo>
                  <a:pt x="891540" y="54036"/>
                </a:lnTo>
                <a:lnTo>
                  <a:pt x="857250" y="65988"/>
                </a:lnTo>
                <a:lnTo>
                  <a:pt x="822960" y="89279"/>
                </a:lnTo>
                <a:lnTo>
                  <a:pt x="788670" y="113856"/>
                </a:lnTo>
                <a:lnTo>
                  <a:pt x="754380" y="139713"/>
                </a:lnTo>
                <a:lnTo>
                  <a:pt x="720090" y="166849"/>
                </a:lnTo>
                <a:lnTo>
                  <a:pt x="685800" y="195263"/>
                </a:lnTo>
                <a:lnTo>
                  <a:pt x="651510" y="224952"/>
                </a:lnTo>
                <a:lnTo>
                  <a:pt x="617220" y="255918"/>
                </a:lnTo>
                <a:lnTo>
                  <a:pt x="582930" y="288163"/>
                </a:lnTo>
                <a:lnTo>
                  <a:pt x="548640" y="321689"/>
                </a:lnTo>
                <a:lnTo>
                  <a:pt x="514350" y="356501"/>
                </a:lnTo>
                <a:lnTo>
                  <a:pt x="480060" y="392602"/>
                </a:lnTo>
                <a:lnTo>
                  <a:pt x="445770" y="429998"/>
                </a:lnTo>
                <a:lnTo>
                  <a:pt x="411480" y="468697"/>
                </a:lnTo>
                <a:lnTo>
                  <a:pt x="377190" y="508706"/>
                </a:lnTo>
                <a:lnTo>
                  <a:pt x="342900" y="550034"/>
                </a:lnTo>
                <a:lnTo>
                  <a:pt x="308610" y="592689"/>
                </a:lnTo>
                <a:lnTo>
                  <a:pt x="274320" y="636683"/>
                </a:lnTo>
                <a:lnTo>
                  <a:pt x="240030" y="682026"/>
                </a:lnTo>
                <a:lnTo>
                  <a:pt x="205740" y="728729"/>
                </a:lnTo>
                <a:lnTo>
                  <a:pt x="171450" y="776805"/>
                </a:lnTo>
                <a:lnTo>
                  <a:pt x="137160" y="826266"/>
                </a:lnTo>
                <a:lnTo>
                  <a:pt x="102870" y="877125"/>
                </a:lnTo>
                <a:lnTo>
                  <a:pt x="68580" y="929395"/>
                </a:lnTo>
                <a:lnTo>
                  <a:pt x="34290" y="983091"/>
                </a:lnTo>
                <a:lnTo>
                  <a:pt x="0" y="1038225"/>
                </a:lnTo>
                <a:close/>
              </a:path>
            </a:pathLst>
          </a:custGeom>
          <a:solidFill xmlns:a="http://schemas.openxmlformats.org/drawingml/2006/main">
            <a:srgbClr val="173759"/>
          </a:solidFill>
          <a:ln xmlns:a="http://schemas.openxmlformats.org/drawingml/2006/main" w="0">
            <a:noFill/>
          </a:ln>
        </p:spPr>
      </p:sp>
      <p:sp>
        <p:nvSpPr>
          <p:cNvPr id="3" name="profile-140">
            <a:extLst xmlns:a="http://schemas.openxmlformats.org/drawingml/2006/main">
              <a:ext uri="{FF2B5EF4-FFF2-40B4-BE49-F238E27FC236}">
                <a16:creationId xmlns:a16="http://schemas.microsoft.com/office/drawing/2014/main" id="{9009A166-E221-4685-AF29-5E2596152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0"/>
            <a:ext cx="1371600" cy="1257300"/>
          </a:xfrm>
          <a:custGeom xmlns:a="http://schemas.openxmlformats.org/drawingml/2006/main">
            <a:pathLst>
              <a:path w="1371600" h="1257300">
                <a:moveTo>
                  <a:pt x="0" y="857250"/>
                </a:moveTo>
                <a:lnTo>
                  <a:pt x="34290" y="799874"/>
                </a:lnTo>
                <a:lnTo>
                  <a:pt x="68580" y="743950"/>
                </a:lnTo>
                <a:lnTo>
                  <a:pt x="102870" y="689479"/>
                </a:lnTo>
                <a:lnTo>
                  <a:pt x="137160" y="636461"/>
                </a:lnTo>
                <a:lnTo>
                  <a:pt x="171450" y="584895"/>
                </a:lnTo>
                <a:lnTo>
                  <a:pt x="205740" y="534781"/>
                </a:lnTo>
                <a:lnTo>
                  <a:pt x="240030" y="486120"/>
                </a:lnTo>
                <a:lnTo>
                  <a:pt x="274320" y="438912"/>
                </a:lnTo>
                <a:lnTo>
                  <a:pt x="308610" y="393156"/>
                </a:lnTo>
                <a:lnTo>
                  <a:pt x="342900" y="348853"/>
                </a:lnTo>
                <a:lnTo>
                  <a:pt x="377190" y="306003"/>
                </a:lnTo>
                <a:lnTo>
                  <a:pt x="411480" y="264604"/>
                </a:lnTo>
                <a:lnTo>
                  <a:pt x="445770" y="224659"/>
                </a:lnTo>
                <a:lnTo>
                  <a:pt x="480060" y="186166"/>
                </a:lnTo>
                <a:lnTo>
                  <a:pt x="514350" y="149126"/>
                </a:lnTo>
                <a:lnTo>
                  <a:pt x="548640" y="113538"/>
                </a:lnTo>
                <a:lnTo>
                  <a:pt x="582930" y="79403"/>
                </a:lnTo>
                <a:lnTo>
                  <a:pt x="617220" y="46720"/>
                </a:lnTo>
                <a:lnTo>
                  <a:pt x="651510" y="15490"/>
                </a:lnTo>
                <a:lnTo>
                  <a:pt x="685800" y="0"/>
                </a:lnTo>
                <a:lnTo>
                  <a:pt x="720090" y="0"/>
                </a:lnTo>
                <a:lnTo>
                  <a:pt x="754380" y="0"/>
                </a:lnTo>
                <a:lnTo>
                  <a:pt x="788670" y="0"/>
                </a:lnTo>
                <a:lnTo>
                  <a:pt x="822960" y="0"/>
                </a:lnTo>
                <a:lnTo>
                  <a:pt x="857250" y="0"/>
                </a:lnTo>
                <a:lnTo>
                  <a:pt x="891540" y="0"/>
                </a:lnTo>
                <a:lnTo>
                  <a:pt x="925830" y="0"/>
                </a:lnTo>
                <a:lnTo>
                  <a:pt x="960120" y="0"/>
                </a:lnTo>
                <a:lnTo>
                  <a:pt x="994410" y="0"/>
                </a:lnTo>
                <a:lnTo>
                  <a:pt x="1028700" y="0"/>
                </a:lnTo>
                <a:lnTo>
                  <a:pt x="1062990" y="0"/>
                </a:lnTo>
                <a:lnTo>
                  <a:pt x="1097280" y="0"/>
                </a:lnTo>
                <a:lnTo>
                  <a:pt x="1131570" y="0"/>
                </a:lnTo>
                <a:lnTo>
                  <a:pt x="1165860" y="0"/>
                </a:lnTo>
                <a:lnTo>
                  <a:pt x="1200150" y="0"/>
                </a:lnTo>
                <a:lnTo>
                  <a:pt x="1234440" y="0"/>
                </a:lnTo>
                <a:lnTo>
                  <a:pt x="1268730" y="0"/>
                </a:lnTo>
                <a:lnTo>
                  <a:pt x="1303020" y="0"/>
                </a:lnTo>
                <a:lnTo>
                  <a:pt x="1337310" y="0"/>
                </a:lnTo>
                <a:lnTo>
                  <a:pt x="1371600" y="0"/>
                </a:lnTo>
                <a:lnTo>
                  <a:pt x="1371600" y="28575"/>
                </a:lnTo>
                <a:lnTo>
                  <a:pt x="1337310" y="30817"/>
                </a:lnTo>
                <a:lnTo>
                  <a:pt x="1303020" y="33045"/>
                </a:lnTo>
                <a:lnTo>
                  <a:pt x="1268730" y="35246"/>
                </a:lnTo>
                <a:lnTo>
                  <a:pt x="1234440" y="37405"/>
                </a:lnTo>
                <a:lnTo>
                  <a:pt x="1200150" y="39510"/>
                </a:lnTo>
                <a:lnTo>
                  <a:pt x="1165860" y="41548"/>
                </a:lnTo>
                <a:lnTo>
                  <a:pt x="1131570" y="43505"/>
                </a:lnTo>
                <a:lnTo>
                  <a:pt x="1097280" y="45371"/>
                </a:lnTo>
                <a:lnTo>
                  <a:pt x="1062990" y="47133"/>
                </a:lnTo>
                <a:lnTo>
                  <a:pt x="1028700" y="48781"/>
                </a:lnTo>
                <a:lnTo>
                  <a:pt x="994410" y="50304"/>
                </a:lnTo>
                <a:lnTo>
                  <a:pt x="960120" y="51693"/>
                </a:lnTo>
                <a:lnTo>
                  <a:pt x="925830" y="52939"/>
                </a:lnTo>
                <a:lnTo>
                  <a:pt x="891540" y="54036"/>
                </a:lnTo>
                <a:lnTo>
                  <a:pt x="857250" y="54975"/>
                </a:lnTo>
                <a:lnTo>
                  <a:pt x="822960" y="55751"/>
                </a:lnTo>
                <a:lnTo>
                  <a:pt x="788670" y="56360"/>
                </a:lnTo>
                <a:lnTo>
                  <a:pt x="754380" y="56798"/>
                </a:lnTo>
                <a:lnTo>
                  <a:pt x="720090" y="57062"/>
                </a:lnTo>
                <a:lnTo>
                  <a:pt x="685800" y="57150"/>
                </a:lnTo>
                <a:lnTo>
                  <a:pt x="651510" y="72552"/>
                </a:lnTo>
                <a:lnTo>
                  <a:pt x="617220" y="103518"/>
                </a:lnTo>
                <a:lnTo>
                  <a:pt x="582930" y="135763"/>
                </a:lnTo>
                <a:lnTo>
                  <a:pt x="548640" y="169289"/>
                </a:lnTo>
                <a:lnTo>
                  <a:pt x="514350" y="204101"/>
                </a:lnTo>
                <a:lnTo>
                  <a:pt x="480060" y="240202"/>
                </a:lnTo>
                <a:lnTo>
                  <a:pt x="445770" y="277598"/>
                </a:lnTo>
                <a:lnTo>
                  <a:pt x="411480" y="316297"/>
                </a:lnTo>
                <a:lnTo>
                  <a:pt x="377190" y="356306"/>
                </a:lnTo>
                <a:lnTo>
                  <a:pt x="342900" y="397634"/>
                </a:lnTo>
                <a:lnTo>
                  <a:pt x="308610" y="440289"/>
                </a:lnTo>
                <a:lnTo>
                  <a:pt x="274320" y="484283"/>
                </a:lnTo>
                <a:lnTo>
                  <a:pt x="240030" y="529626"/>
                </a:lnTo>
                <a:lnTo>
                  <a:pt x="205740" y="576329"/>
                </a:lnTo>
                <a:lnTo>
                  <a:pt x="171450" y="624405"/>
                </a:lnTo>
                <a:lnTo>
                  <a:pt x="137160" y="673866"/>
                </a:lnTo>
                <a:lnTo>
                  <a:pt x="102870" y="724725"/>
                </a:lnTo>
                <a:lnTo>
                  <a:pt x="68580" y="776995"/>
                </a:lnTo>
                <a:lnTo>
                  <a:pt x="34290" y="830691"/>
                </a:lnTo>
                <a:lnTo>
                  <a:pt x="0" y="885825"/>
                </a:lnTo>
                <a:close/>
              </a:path>
            </a:pathLst>
          </a:custGeom>
          <a:solidFill xmlns:a="http://schemas.openxmlformats.org/drawingml/2006/main">
            <a:srgbClr val="21486B"/>
          </a:solidFill>
          <a:ln xmlns:a="http://schemas.openxmlformats.org/drawingml/2006/main" w="0">
            <a:noFill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40fb88c30449ae"/>
          <a:stretch xmlns:a="http://schemas.openxmlformats.org/drawingml/2006/main"/>
        </p:blipFill>
        <p:spPr>
          <a:xfrm xmlns:a="http://schemas.openxmlformats.org/drawingml/2006/main">
            <a:off x="609600" y="276225"/>
            <a:ext cx="838200" cy="838200"/>
          </a:xfrm>
          <a:prstGeom xmlns:a="http://schemas.openxmlformats.org/drawingml/2006/main" prst="rect">
            <a:avLst/>
          </a:prstGeom>
        </p:spPr>
      </p:pic>
      <p:sp>
        <p:nvSpPr>
          <p:cNvPr id="5" name="profile-141">
            <a:extLst xmlns:a="http://schemas.openxmlformats.org/drawingml/2006/main">
              <a:ext uri="{FF2B5EF4-FFF2-40B4-BE49-F238E27FC236}">
                <a16:creationId xmlns:a16="http://schemas.microsoft.com/office/drawing/2014/main" id="{D40ABFCA-9FAA-428E-9927-47D170937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6343650" cy="22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8DFE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8DFE9"/>
                </a:solidFill>
                <a:latin typeface="Arial"/>
                <a:ea typeface="Arial"/>
                <a:cs typeface="Arial"/>
              </a:rPr>
              <a:t>Your next step</a:t>
            </a:r>
          </a:p>
        </p:txBody>
      </p:sp>
      <p:sp>
        <p:nvSpPr>
          <p:cNvPr id="6" name="profile-142">
            <a:extLst xmlns:a="http://schemas.openxmlformats.org/drawingml/2006/main">
              <a:ext uri="{FF2B5EF4-FFF2-40B4-BE49-F238E27FC236}">
                <a16:creationId xmlns:a16="http://schemas.microsoft.com/office/drawing/2014/main" id="{93BBAB32-F8C8-4817-A4E1-3B642F4D6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6343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0">
                <a:solidFill>
                  <a:srgbClr val="F7F7F2"/>
                </a:solidFill>
                <a:latin typeface="Segoe UI"/>
                <a:ea typeface="Segoe UI"/>
                <a:cs typeface="Segoe UI"/>
              </a:defRPr>
            </a:pPr>
            <a:r>
              <a:rPr sz="4050" b="0">
                <a:solidFill>
                  <a:srgbClr val="F7F7F2"/>
                </a:solidFill>
                <a:latin typeface="Segoe UI"/>
                <a:ea typeface="Segoe UI"/>
                <a:cs typeface="Segoe UI"/>
              </a:rPr>
              <a:t>Site assessment</a:t>
            </a:r>
          </a:p>
        </p:txBody>
      </p:sp>
      <p:sp>
        <p:nvSpPr>
          <p:cNvPr id="7" name="profile-143">
            <a:extLst xmlns:a="http://schemas.openxmlformats.org/drawingml/2006/main">
              <a:ext uri="{FF2B5EF4-FFF2-40B4-BE49-F238E27FC236}">
                <a16:creationId xmlns:a16="http://schemas.microsoft.com/office/drawing/2014/main" id="{B02A82E7-FF90-4C68-B54B-1D6D7910F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6343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0">
                <a:solidFill>
                  <a:srgbClr val="F7F7F2"/>
                </a:solidFill>
                <a:latin typeface="Segoe UI"/>
                <a:ea typeface="Segoe UI"/>
                <a:cs typeface="Segoe UI"/>
              </a:defRPr>
            </a:pPr>
            <a:r>
              <a:rPr sz="4050" b="0">
                <a:solidFill>
                  <a:srgbClr val="F7F7F2"/>
                </a:solidFill>
                <a:latin typeface="Segoe UI"/>
                <a:ea typeface="Segoe UI"/>
                <a:cs typeface="Segoe UI"/>
              </a:rPr>
              <a:t>Written quotation</a:t>
            </a:r>
          </a:p>
        </p:txBody>
      </p:sp>
      <p:sp>
        <p:nvSpPr>
          <p:cNvPr id="8" name="profile-144">
            <a:extLst xmlns:a="http://schemas.openxmlformats.org/drawingml/2006/main">
              <a:ext uri="{FF2B5EF4-FFF2-40B4-BE49-F238E27FC236}">
                <a16:creationId xmlns:a16="http://schemas.microsoft.com/office/drawing/2014/main" id="{8FF12282-C7B9-408C-A19C-8A8E71E84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63436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8DFE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8DFE9"/>
                </a:solidFill>
                <a:latin typeface="Arial"/>
                <a:ea typeface="Arial"/>
                <a:cs typeface="Arial"/>
              </a:rPr>
              <a:t>Tell us the service, site location and preferred inspection schedule.</a:t>
            </a:r>
          </a:p>
        </p:txBody>
      </p:sp>
      <p:sp>
        <p:nvSpPr>
          <p:cNvPr id="9" name="profile-145">
            <a:extLst xmlns:a="http://schemas.openxmlformats.org/drawingml/2006/main">
              <a:ext uri="{FF2B5EF4-FFF2-40B4-BE49-F238E27FC236}">
                <a16:creationId xmlns:a16="http://schemas.microsoft.com/office/drawing/2014/main" id="{18530173-D56D-4641-A02E-B5948CB66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6343650" cy="601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352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0917 671 6383</a:t>
            </a:r>
          </a:p>
        </p:txBody>
      </p:sp>
      <p:sp>
        <p:nvSpPr>
          <p:cNvPr id="10" name="profile-146">
            <a:extLst xmlns:a="http://schemas.openxmlformats.org/drawingml/2006/main">
              <a:ext uri="{FF2B5EF4-FFF2-40B4-BE49-F238E27FC236}">
                <a16:creationId xmlns:a16="http://schemas.microsoft.com/office/drawing/2014/main" id="{BC8DBA9B-471D-48E7-8088-36BF79330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6343650" cy="291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8DFE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8DFE9"/>
                </a:solidFill>
                <a:latin typeface="Arial"/>
                <a:ea typeface="Arial"/>
                <a:cs typeface="Arial"/>
              </a:rPr>
              <a:t>marketing@oceanidessepticandpest.com</a:t>
            </a:r>
          </a:p>
        </p:txBody>
      </p:sp>
      <p:sp>
        <p:nvSpPr>
          <p:cNvPr id="11" name="profile-147">
            <a:extLst xmlns:a="http://schemas.openxmlformats.org/drawingml/2006/main">
              <a:ext uri="{FF2B5EF4-FFF2-40B4-BE49-F238E27FC236}">
                <a16:creationId xmlns:a16="http://schemas.microsoft.com/office/drawing/2014/main" id="{05183891-4B8E-4E69-97A3-CB12D201D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0225"/>
            <a:ext cx="6343650" cy="192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ABCD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ABCD3"/>
                </a:solidFill>
                <a:latin typeface="Arial"/>
                <a:ea typeface="Arial"/>
                <a:cs typeface="Arial"/>
              </a:rPr>
              <a:t>Globe</a:t>
            </a:r>
          </a:p>
        </p:txBody>
      </p:sp>
      <p:sp>
        <p:nvSpPr>
          <p:cNvPr id="12" name="profile-148">
            <a:extLst xmlns:a="http://schemas.openxmlformats.org/drawingml/2006/main">
              <a:ext uri="{FF2B5EF4-FFF2-40B4-BE49-F238E27FC236}">
                <a16:creationId xmlns:a16="http://schemas.microsoft.com/office/drawing/2014/main" id="{E53E38E8-3178-4A48-96DE-6817036CA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6343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8DFE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8DFE9"/>
                </a:solidFill>
                <a:latin typeface="Arial"/>
                <a:ea typeface="Arial"/>
                <a:cs typeface="Arial"/>
              </a:rPr>
              <a:t>Tramo Street Corner Dandan, Pasay City, Philippines 1300</a:t>
            </a:r>
          </a:p>
        </p:txBody>
      </p:sp>
      <p:sp>
        <p:nvSpPr>
          <p:cNvPr id="13" name="profile-149">
            <a:extLst xmlns:a="http://schemas.openxmlformats.org/drawingml/2006/main">
              <a:ext uri="{FF2B5EF4-FFF2-40B4-BE49-F238E27FC236}">
                <a16:creationId xmlns:a16="http://schemas.microsoft.com/office/drawing/2014/main" id="{9AB16A12-F009-4F08-BD9A-06D0D08A3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63436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D5F"/>
          </a:solidFill>
          <a:ln xmlns:a="http://schemas.openxmlformats.org/drawingml/2006/main" w="0">
            <a:noFill/>
          </a:ln>
        </p:spPr>
      </p:sp>
      <p:sp>
        <p:nvSpPr>
          <p:cNvPr id="14" name="profile-150">
            <a:extLst xmlns:a="http://schemas.openxmlformats.org/drawingml/2006/main">
              <a:ext uri="{FF2B5EF4-FFF2-40B4-BE49-F238E27FC236}">
                <a16:creationId xmlns:a16="http://schemas.microsoft.com/office/drawing/2014/main" id="{576EE1DE-4466-4B13-BDD3-3ABD294F1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24675"/>
            <a:ext cx="6343650" cy="291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7F2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F7F7F2"/>
                </a:solidFill>
                <a:latin typeface="Segoe UI"/>
                <a:ea typeface="Segoe UI"/>
                <a:cs typeface="Segoe UI"/>
              </a:rPr>
              <a:t>Supplier accreditation</a:t>
            </a:r>
          </a:p>
        </p:txBody>
      </p:sp>
      <p:sp>
        <p:nvSpPr>
          <p:cNvPr id="15" name="profile-151">
            <a:extLst xmlns:a="http://schemas.openxmlformats.org/drawingml/2006/main">
              <a:ext uri="{FF2B5EF4-FFF2-40B4-BE49-F238E27FC236}">
                <a16:creationId xmlns:a16="http://schemas.microsoft.com/office/drawing/2014/main" id="{8124C2CB-6917-4CA7-BB99-B23F45AFA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15200"/>
            <a:ext cx="6343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DFE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8DFE9"/>
                </a:solidFill>
                <a:latin typeface="Arial"/>
                <a:ea typeface="Arial"/>
                <a:cs typeface="Arial"/>
              </a:rPr>
              <a:t>Share your procurement requirements. Oceanides can coordinate the company</a:t>
            </a:r>
          </a:p>
        </p:txBody>
      </p:sp>
      <p:sp>
        <p:nvSpPr>
          <p:cNvPr id="16" name="profile-152">
            <a:extLst xmlns:a="http://schemas.openxmlformats.org/drawingml/2006/main">
              <a:ext uri="{FF2B5EF4-FFF2-40B4-BE49-F238E27FC236}">
                <a16:creationId xmlns:a16="http://schemas.microsoft.com/office/drawing/2014/main" id="{0701C0F3-533F-4990-A6C6-3C48B7427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72375"/>
            <a:ext cx="6343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DFE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8DFE9"/>
                </a:solidFill>
                <a:latin typeface="Arial"/>
                <a:ea typeface="Arial"/>
                <a:cs typeface="Arial"/>
              </a:rPr>
              <a:t>documents and project information for your review.</a:t>
            </a:r>
          </a:p>
        </p:txBody>
      </p:sp>
      <p:sp>
        <p:nvSpPr>
          <p:cNvPr id="17" name="profile-153">
            <a:extLst xmlns:a="http://schemas.openxmlformats.org/drawingml/2006/main">
              <a:ext uri="{FF2B5EF4-FFF2-40B4-BE49-F238E27FC236}">
                <a16:creationId xmlns:a16="http://schemas.microsoft.com/office/drawing/2014/main" id="{6B8157E8-B973-4A45-B8F4-1B7CD052E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96275"/>
            <a:ext cx="3009900" cy="2543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7F7F2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7F7F2"/>
                </a:solidFill>
                <a:latin typeface="Segoe UI"/>
                <a:ea typeface="Segoe UI"/>
                <a:cs typeface="Segoe UI"/>
              </a:rPr>
              <a:t>Site assessment</a:t>
            </a:r>
          </a:p>
        </p:txBody>
      </p:sp>
      <p:sp>
        <p:nvSpPr>
          <p:cNvPr id="18" name="profile-154">
            <a:extLst xmlns:a="http://schemas.openxmlformats.org/drawingml/2006/main">
              <a:ext uri="{FF2B5EF4-FFF2-40B4-BE49-F238E27FC236}">
                <a16:creationId xmlns:a16="http://schemas.microsoft.com/office/drawing/2014/main" id="{E3AFDD6B-32EC-44F9-A626-956E27762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10600"/>
            <a:ext cx="3009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8DFE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8DFE9"/>
                </a:solidFill>
                <a:latin typeface="Arial"/>
                <a:ea typeface="Arial"/>
                <a:cs typeface="Arial"/>
              </a:rPr>
              <a:t>Review the site and requirements.</a:t>
            </a:r>
          </a:p>
        </p:txBody>
      </p:sp>
      <p:sp>
        <p:nvSpPr>
          <p:cNvPr id="19" name="profile-155">
            <a:extLst xmlns:a="http://schemas.openxmlformats.org/drawingml/2006/main">
              <a:ext uri="{FF2B5EF4-FFF2-40B4-BE49-F238E27FC236}">
                <a16:creationId xmlns:a16="http://schemas.microsoft.com/office/drawing/2014/main" id="{FB587511-8ACB-4B3A-8990-E22D93744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8296275"/>
            <a:ext cx="3009900" cy="2543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7F7F2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7F7F2"/>
                </a:solidFill>
                <a:latin typeface="Segoe UI"/>
                <a:ea typeface="Segoe UI"/>
                <a:cs typeface="Segoe UI"/>
              </a:rPr>
              <a:t>Written quotation</a:t>
            </a:r>
          </a:p>
        </p:txBody>
      </p:sp>
      <p:sp>
        <p:nvSpPr>
          <p:cNvPr id="20" name="profile-156">
            <a:extLst xmlns:a="http://schemas.openxmlformats.org/drawingml/2006/main">
              <a:ext uri="{FF2B5EF4-FFF2-40B4-BE49-F238E27FC236}">
                <a16:creationId xmlns:a16="http://schemas.microsoft.com/office/drawing/2014/main" id="{5FD45DFA-13EB-4EF3-A3A0-E8144E598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8610600"/>
            <a:ext cx="3009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8DFE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8DFE9"/>
                </a:solidFill>
                <a:latin typeface="Arial"/>
                <a:ea typeface="Arial"/>
                <a:cs typeface="Arial"/>
              </a:rPr>
              <a:t>Confirm the proposed scope and price.</a:t>
            </a:r>
          </a:p>
        </p:txBody>
      </p:sp>
      <p:sp>
        <p:nvSpPr>
          <p:cNvPr id="21" name="profile-157">
            <a:extLst xmlns:a="http://schemas.openxmlformats.org/drawingml/2006/main">
              <a:ext uri="{FF2B5EF4-FFF2-40B4-BE49-F238E27FC236}">
                <a16:creationId xmlns:a16="http://schemas.microsoft.com/office/drawing/2014/main" id="{CAD7B483-5F39-47E3-A285-10D306D09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58275"/>
            <a:ext cx="3009900" cy="2543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7F7F2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7F7F2"/>
                </a:solidFill>
                <a:latin typeface="Segoe UI"/>
                <a:ea typeface="Segoe UI"/>
                <a:cs typeface="Segoe UI"/>
              </a:rPr>
              <a:t>Service coordination</a:t>
            </a:r>
          </a:p>
        </p:txBody>
      </p:sp>
      <p:sp>
        <p:nvSpPr>
          <p:cNvPr id="22" name="profile-158">
            <a:extLst xmlns:a="http://schemas.openxmlformats.org/drawingml/2006/main">
              <a:ext uri="{FF2B5EF4-FFF2-40B4-BE49-F238E27FC236}">
                <a16:creationId xmlns:a16="http://schemas.microsoft.com/office/drawing/2014/main" id="{5C588F8E-2902-434B-A9B1-A3F9051CD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72600"/>
            <a:ext cx="3009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8DFE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8DFE9"/>
                </a:solidFill>
                <a:latin typeface="Arial"/>
                <a:ea typeface="Arial"/>
                <a:cs typeface="Arial"/>
              </a:rPr>
              <a:t>Arrange the field team or specialist.</a:t>
            </a:r>
          </a:p>
        </p:txBody>
      </p:sp>
      <p:sp>
        <p:nvSpPr>
          <p:cNvPr id="23" name="profile-159">
            <a:extLst xmlns:a="http://schemas.openxmlformats.org/drawingml/2006/main">
              <a:ext uri="{FF2B5EF4-FFF2-40B4-BE49-F238E27FC236}">
                <a16:creationId xmlns:a16="http://schemas.microsoft.com/office/drawing/2014/main" id="{5CFCEACB-C6CF-4FC8-BBD0-5DE6F5411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9058275"/>
            <a:ext cx="3009900" cy="2543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7F7F2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7F7F2"/>
                </a:solidFill>
                <a:latin typeface="Segoe UI"/>
                <a:ea typeface="Segoe UI"/>
                <a:cs typeface="Segoe UI"/>
              </a:rPr>
              <a:t>Turnover</a:t>
            </a:r>
          </a:p>
        </p:txBody>
      </p:sp>
      <p:sp>
        <p:nvSpPr>
          <p:cNvPr id="24" name="profile-160">
            <a:extLst xmlns:a="http://schemas.openxmlformats.org/drawingml/2006/main">
              <a:ext uri="{FF2B5EF4-FFF2-40B4-BE49-F238E27FC236}">
                <a16:creationId xmlns:a16="http://schemas.microsoft.com/office/drawing/2014/main" id="{C5723B91-4B3B-4674-A619-09B82C15D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9372600"/>
            <a:ext cx="3009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8DFE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8DFE9"/>
                </a:solidFill>
                <a:latin typeface="Arial"/>
                <a:ea typeface="Arial"/>
                <a:cs typeface="Arial"/>
              </a:rPr>
              <a:t>Review the agreed work with the client.</a:t>
            </a:r>
          </a:p>
        </p:txBody>
      </p:sp>
      <p:sp>
        <p:nvSpPr>
          <p:cNvPr id="25" name="profile-161">
            <a:extLst xmlns:a="http://schemas.openxmlformats.org/drawingml/2006/main">
              <a:ext uri="{FF2B5EF4-FFF2-40B4-BE49-F238E27FC236}">
                <a16:creationId xmlns:a16="http://schemas.microsoft.com/office/drawing/2014/main" id="{40EE74B2-0D59-4C51-BF3D-F0C6160EA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34575"/>
            <a:ext cx="63436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D5F"/>
          </a:solidFill>
          <a:ln xmlns:a="http://schemas.openxmlformats.org/drawingml/2006/main" w="0">
            <a:noFill/>
          </a:ln>
        </p:spPr>
      </p:sp>
      <p:sp>
        <p:nvSpPr>
          <p:cNvPr id="26" name="profile-162">
            <a:extLst xmlns:a="http://schemas.openxmlformats.org/drawingml/2006/main">
              <a:ext uri="{FF2B5EF4-FFF2-40B4-BE49-F238E27FC236}">
                <a16:creationId xmlns:a16="http://schemas.microsoft.com/office/drawing/2014/main" id="{04EDDA30-E809-466F-9FEA-38589654A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125075"/>
            <a:ext cx="6343650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8DFE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D8DFE9"/>
                </a:solidFill>
                <a:latin typeface="Arial"/>
                <a:ea typeface="Arial"/>
                <a:cs typeface="Arial"/>
              </a:rPr>
              <a:t>Oceanides Plumbing Siphoning &amp; Pest Management Services OPC</a:t>
            </a:r>
          </a:p>
        </p:txBody>
      </p:sp>
      <p:sp>
        <p:nvSpPr>
          <p:cNvPr id="27" name="profile-163">
            <a:extLst xmlns:a="http://schemas.openxmlformats.org/drawingml/2006/main">
              <a:ext uri="{FF2B5EF4-FFF2-40B4-BE49-F238E27FC236}">
                <a16:creationId xmlns:a16="http://schemas.microsoft.com/office/drawing/2014/main" id="{83608F32-E54F-4C3C-9AE5-F57C737E4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382250"/>
            <a:ext cx="63436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ABCD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AABCD3"/>
                </a:solidFill>
                <a:latin typeface="Arial"/>
                <a:ea typeface="Arial"/>
                <a:cs typeface="Arial"/>
              </a:rPr>
              <a:t>Final scope, pricing and scheduling depend on the site assessment and the agreed quotation.</a:t>
            </a:r>
          </a:p>
        </p:txBody>
      </p:sp>
    </p:spTree>
    <p:extLst>
      <p:ext uri="{BB962C8B-B14F-4D97-AF65-F5344CB8AC3E}">
        <p14:creationId xmlns:p14="http://schemas.microsoft.com/office/powerpoint/2010/main" val="19868631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2026-10-01T15:00:02.2820000Z</dcterms:created>
  <dcterms:modified xsi:type="dcterms:W3CDTF">2026-10-01T15:00:02.2830000Z</dcterms:modified>
</coreProperties>
</file>