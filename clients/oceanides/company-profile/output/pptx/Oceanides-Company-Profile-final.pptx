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51e31bdc1433b" /><Relationship Type="http://schemas.openxmlformats.org/officeDocument/2006/relationships/extended-properties" Target="/docProps/app.xml" Id="Rfd4ee12834794a3b" /><Relationship Type="http://schemas.openxmlformats.org/officeDocument/2006/relationships/officeDocument" Target="/ppt/presentation.xml" Id="R1ad1d7a1e5e840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643957f4044335"/>
  </p:sldMasterIdLst>
  <p:notesMasterIdLst>
    <p:notesMasterId xmlns:r="http://schemas.openxmlformats.org/officeDocument/2006/relationships" r:id="R76e7274c13384688"/>
  </p:notesMasterIdLst>
  <p:sldIdLst>
    <p:sldId xmlns:r="http://schemas.openxmlformats.org/officeDocument/2006/relationships" id="256" r:id="R427a74fde29b4376"/>
    <p:sldId xmlns:r="http://schemas.openxmlformats.org/officeDocument/2006/relationships" id="257" r:id="R7bbb23f8bf214d52"/>
    <p:sldId xmlns:r="http://schemas.openxmlformats.org/officeDocument/2006/relationships" id="258" r:id="Rea940cd738234aa8"/>
    <p:sldId xmlns:r="http://schemas.openxmlformats.org/officeDocument/2006/relationships" id="259" r:id="Re01baca6068143ca"/>
    <p:sldId xmlns:r="http://schemas.openxmlformats.org/officeDocument/2006/relationships" id="260" r:id="R81a032bae2ba48c7"/>
    <p:sldId xmlns:r="http://schemas.openxmlformats.org/officeDocument/2006/relationships" id="261" r:id="R5fb2fc1e3f46453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6c5575afe4047" /><Relationship Type="http://schemas.openxmlformats.org/officeDocument/2006/relationships/slideMaster" Target="/ppt/slideMasters/slideMaster1.xml" Id="Ra8643957f4044335" /><Relationship Type="http://schemas.openxmlformats.org/officeDocument/2006/relationships/notesMaster" Target="/ppt/notesMasters/notesMaster1.xml" Id="R76e7274c13384688" /><Relationship Type="http://schemas.openxmlformats.org/officeDocument/2006/relationships/presProps" Target="/ppt/presProps.xml" Id="R0ffffe4855ab491a" /><Relationship Type="http://schemas.openxmlformats.org/officeDocument/2006/relationships/tableStyles" Target="/ppt/tableStyles.xml" Id="R79e03c0a63a34a27" /><Relationship Type="http://schemas.openxmlformats.org/officeDocument/2006/relationships/slide" Target="/ppt/slides/slide1.xml" Id="R427a74fde29b4376" /><Relationship Type="http://schemas.openxmlformats.org/officeDocument/2006/relationships/slide" Target="/ppt/slides/slide2.xml" Id="R7bbb23f8bf214d52" /><Relationship Type="http://schemas.openxmlformats.org/officeDocument/2006/relationships/slide" Target="/ppt/slides/slide3.xml" Id="Rea940cd738234aa8" /><Relationship Type="http://schemas.openxmlformats.org/officeDocument/2006/relationships/slide" Target="/ppt/slides/slide4.xml" Id="Re01baca6068143ca" /><Relationship Type="http://schemas.openxmlformats.org/officeDocument/2006/relationships/slide" Target="/ppt/slides/slide5.xml" Id="R81a032bae2ba48c7" /><Relationship Type="http://schemas.openxmlformats.org/officeDocument/2006/relationships/slide" Target="/ppt/slides/slide6.xml" Id="R5fb2fc1e3f4645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006fb1718043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7bb6dff484795" /><Relationship Type="http://schemas.openxmlformats.org/officeDocument/2006/relationships/notesMaster" Target="/ppt/notesMasters/notesMaster1.xml" Id="R1445a0a4633c47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5fccc1ea2346dd" /><Relationship Type="http://schemas.openxmlformats.org/officeDocument/2006/relationships/notesMaster" Target="/ppt/notesMasters/notesMaster1.xml" Id="R7f6d4021df534f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c893793c304fda" /><Relationship Type="http://schemas.openxmlformats.org/officeDocument/2006/relationships/notesMaster" Target="/ppt/notesMasters/notesMaster1.xml" Id="R69e275b3d797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d520a58b94bc2" /><Relationship Type="http://schemas.openxmlformats.org/officeDocument/2006/relationships/notesMaster" Target="/ppt/notesMasters/notesMaster1.xml" Id="R18020d415d88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4fddd67a745c0" /><Relationship Type="http://schemas.openxmlformats.org/officeDocument/2006/relationships/notesMaster" Target="/ppt/notesMasters/notesMaster1.xml" Id="R9736be40223b48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e6cd04d3ec43f7" /><Relationship Type="http://schemas.openxmlformats.org/officeDocument/2006/relationships/notesMaster" Target="/ppt/notesMasters/notesMaster1.xml" Id="R36ae754e0e9043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reference: Metro Rod Services Explained brochure https://www.metrorod.co.uk/app/themes/metrorod-v2.0.1/assets/flipbook/newcastle/common/data/catalogue.pdf ; Oceanides colors from clients/oceanides/DESIGN.md.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 vehicle: clients/oceanides/assets/tb2-truck-street.png, approved real vehicle source in client design/asset records.Matched cover pair: clients/oceanides/assets/tb2-ba3-before.png and tb2-ba3-after.png, confirmed real job photos in the same asset-builder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reference: Metro Rod Services Explained brochure https://www.metrorod.co.uk/app/themes/metrorod-v2.0.1/assets/flipbook/newcastle/common/data/catalogue.pdf ; Oceanides colors from clients/oceanides/DESIGN.md.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reference: Metro Rod Services Explained brochure https://www.metrorod.co.uk/app/themes/metrorod-v2.0.1/assets/flipbook/newcastle/common/data/catalogue.pdf ; Oceanides colors from clients/oceanides/DESIGN.md.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reference: Metro Rod Services Explained brochure https://www.metrorod.co.uk/app/themes/metrorod-v2.0.1/assets/flipbook/newcastle/common/data/catalogue.pdf ; Oceanides colors from clients/oceanides/DESIGN.md.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Illustrative interior: Max Vakhtbovych, Pexels https://www.pexels.com/photo/an-interior-of-a-living-room-8089170/ . Not a completed Oceanides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reference: Metro Rod Services Explained brochure https://www.metrorod.co.uk/app/themes/metrorod-v2.0.1/assets/flipbook/newcastle/common/data/catalogue.pdf ; Oceanides colors from clients/oceanides/DESIGN.md.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Illustrative pest: Jari Lobo, Pexels https://www.pexels.com/photo/close-up-of-cockroach-19294665/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reference: Metro Rod Services Explained brochure https://www.metrorod.co.uk/app/themes/metrorod-v2.0.1/assets/flipbook/newcastle/common/data/catalogue.pdf ; Oceanides colors from clients/oceanides/DESIGN.md.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22227e58842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e44b0ffc6145cb" /><Relationship Type="http://schemas.openxmlformats.org/officeDocument/2006/relationships/slideLayout" Target="/ppt/slideLayouts/slideLayout1.xml" Id="R1804631751f6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4631751f6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49a34f7d44139" /><Relationship Type="http://schemas.openxmlformats.org/officeDocument/2006/relationships/image" Target="/ppt/media/image.jpeg" Id="R11211e8eeff4491a" /><Relationship Type="http://schemas.openxmlformats.org/officeDocument/2006/relationships/image" Target="/ppt/media/image2.jpeg" Id="R26b8a3f52f5b439d" /><Relationship Type="http://schemas.openxmlformats.org/officeDocument/2006/relationships/image" Target="/ppt/media/image3.jpeg" Id="Rcfbf2a151e474673" /><Relationship Type="http://schemas.openxmlformats.org/officeDocument/2006/relationships/image" Target="/ppt/media/image4.jpeg" Id="R360657aeb8874bbf" /><Relationship Type="http://schemas.openxmlformats.org/officeDocument/2006/relationships/notesSlide" Target="/ppt/notesSlides/notesSlide1.xml" Id="R01a785ed7439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14a4d7d2e4b09" /><Relationship Type="http://schemas.openxmlformats.org/officeDocument/2006/relationships/image" Target="/ppt/media/image5.jpeg" Id="Re14cafc6ed4746ed" /><Relationship Type="http://schemas.openxmlformats.org/officeDocument/2006/relationships/notesSlide" Target="/ppt/notesSlides/notesSlide2.xml" Id="Rb6590fb23a524b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21bce0c904675" /><Relationship Type="http://schemas.openxmlformats.org/officeDocument/2006/relationships/image" Target="/ppt/media/image6.jpeg" Id="R7616935f7a8f4ab7" /><Relationship Type="http://schemas.openxmlformats.org/officeDocument/2006/relationships/image" Target="/ppt/media/image7.jpeg" Id="R9a2927edefb343cc" /><Relationship Type="http://schemas.openxmlformats.org/officeDocument/2006/relationships/notesSlide" Target="/ppt/notesSlides/notesSlide3.xml" Id="R62308d6af273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4a6406f68420d" /><Relationship Type="http://schemas.openxmlformats.org/officeDocument/2006/relationships/image" Target="/ppt/media/image8.jpeg" Id="R6dbe4942db9b4c05" /><Relationship Type="http://schemas.openxmlformats.org/officeDocument/2006/relationships/notesSlide" Target="/ppt/notesSlides/notesSlide4.xml" Id="Ra46ac90f574247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ce1efb614a8a" /><Relationship Type="http://schemas.openxmlformats.org/officeDocument/2006/relationships/image" Target="/ppt/media/image9.jpeg" Id="R2b28ecf11da34a47" /><Relationship Type="http://schemas.openxmlformats.org/officeDocument/2006/relationships/notesSlide" Target="/ppt/notesSlides/notesSlide5.xml" Id="Rd566cbdb104247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f6aa89ba443e6" /><Relationship Type="http://schemas.openxmlformats.org/officeDocument/2006/relationships/image" Target="/ppt/media/image10.jpeg" Id="R439711306e1a459c" /><Relationship Type="http://schemas.openxmlformats.org/officeDocument/2006/relationships/notesSlide" Target="/ppt/notesSlides/notesSlide6.xml" Id="R554a4018822744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11e8eeff4491a"/>
          <a:stretch xmlns:a="http://schemas.openxmlformats.org/drawingml/2006/main"/>
        </p:blipFill>
        <p:spPr>
          <a:xfrm xmlns:a="http://schemas.openxmlformats.org/drawingml/2006/main">
            <a:off x="295275" y="247650"/>
            <a:ext cx="1476375" cy="1476375"/>
          </a:xfrm>
          <a:prstGeom xmlns:a="http://schemas.openxmlformats.org/drawingml/2006/main" prst="rect">
            <a:avLst/>
          </a:prstGeom>
        </p:spPr>
      </p:pic>
      <p:sp>
        <p:nvSpPr>
          <p:cNvPr id="2" name="profile-1">
            <a:extLst xmlns:a="http://schemas.openxmlformats.org/drawingml/2006/main">
              <a:ext uri="{FF2B5EF4-FFF2-40B4-BE49-F238E27FC236}">
                <a16:creationId xmlns:a16="http://schemas.microsoft.com/office/drawing/2014/main" id="{DF346A69-3FCE-4435-AA9A-B06098A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2425"/>
            <a:ext cx="514350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50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3" name="profile-2">
            <a:extLst xmlns:a="http://schemas.openxmlformats.org/drawingml/2006/main">
              <a:ext uri="{FF2B5EF4-FFF2-40B4-BE49-F238E27FC236}">
                <a16:creationId xmlns:a16="http://schemas.microsoft.com/office/drawing/2014/main" id="{DD6F6BD5-EF93-4736-9E06-40EEF0F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143000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Plumbing Siphoning &amp;</a:t>
            </a:r>
          </a:p>
        </p:txBody>
      </p:sp>
      <p:sp>
        <p:nvSpPr>
          <p:cNvPr id="4" name="profile-3">
            <a:extLst xmlns:a="http://schemas.openxmlformats.org/drawingml/2006/main">
              <a:ext uri="{FF2B5EF4-FFF2-40B4-BE49-F238E27FC236}">
                <a16:creationId xmlns:a16="http://schemas.microsoft.com/office/drawing/2014/main" id="{1DB9E9D7-9ED2-4607-8578-2C88A59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Pest Management Services OPC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8a3f52f5b439d"/>
          <a:srcRect xmlns:a="http://schemas.openxmlformats.org/drawingml/2006/main" l="0" t="9194" r="0" b="9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895475"/>
            <a:ext cx="7562850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profile-4">
            <a:extLst xmlns:a="http://schemas.openxmlformats.org/drawingml/2006/main">
              <a:ext uri="{FF2B5EF4-FFF2-40B4-BE49-F238E27FC236}">
                <a16:creationId xmlns:a16="http://schemas.microsoft.com/office/drawing/2014/main" id="{A86ACCB9-89AB-49F5-91F4-DAB113B4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6825"/>
            <a:ext cx="7562850" cy="1543050"/>
          </a:xfrm>
          <a:custGeom xmlns:a="http://schemas.openxmlformats.org/drawingml/2006/main">
            <a:pathLst>
              <a:path w="7562850" h="1543050">
                <a:moveTo>
                  <a:pt x="0" y="0"/>
                </a:moveTo>
                <a:lnTo>
                  <a:pt x="7562850" y="0"/>
                </a:lnTo>
                <a:lnTo>
                  <a:pt x="7562850" y="952500"/>
                </a:lnTo>
                <a:lnTo>
                  <a:pt x="0" y="1543050"/>
                </a:lnTo>
                <a:close/>
              </a:path>
            </a:pathLst>
          </a:cu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7" name="profile-5">
            <a:extLst xmlns:a="http://schemas.openxmlformats.org/drawingml/2006/main">
              <a:ext uri="{FF2B5EF4-FFF2-40B4-BE49-F238E27FC236}">
                <a16:creationId xmlns:a16="http://schemas.microsoft.com/office/drawing/2014/main" id="{C4A1B6AB-48D1-4D3B-ADFC-0FECD663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6825"/>
            <a:ext cx="371475" cy="1543050"/>
          </a:xfrm>
          <a:custGeom xmlns:a="http://schemas.openxmlformats.org/drawingml/2006/main">
            <a:pathLst>
              <a:path w="371475" h="1543050">
                <a:moveTo>
                  <a:pt x="0" y="0"/>
                </a:moveTo>
                <a:lnTo>
                  <a:pt x="371475" y="0"/>
                </a:lnTo>
                <a:lnTo>
                  <a:pt x="371475" y="1485900"/>
                </a:lnTo>
                <a:lnTo>
                  <a:pt x="0" y="15430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8" name="profile-6">
            <a:extLst xmlns:a="http://schemas.openxmlformats.org/drawingml/2006/main">
              <a:ext uri="{FF2B5EF4-FFF2-40B4-BE49-F238E27FC236}">
                <a16:creationId xmlns:a16="http://schemas.microsoft.com/office/drawing/2014/main" id="{90EBCA04-E167-4A43-BF7E-2C0BBAE5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6591300" cy="799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47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COMPANY PROFILE</a:t>
            </a:r>
          </a:p>
        </p:txBody>
      </p:sp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8A6ACD9D-1DD4-4326-A11C-7C453B22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Property services. One coordinated point of contact.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f2a151e474673"/>
          <a:srcRect xmlns:a="http://schemas.openxmlformats.org/drawingml/2006/main" l="0" t="33756" r="0" b="33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48475"/>
            <a:ext cx="3752850" cy="18288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657aeb8874bbf"/>
          <a:srcRect xmlns:a="http://schemas.openxmlformats.org/drawingml/2006/main" l="0" t="33756" r="0" b="33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6848475"/>
            <a:ext cx="375285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profile-8">
            <a:extLst xmlns:a="http://schemas.openxmlformats.org/drawingml/2006/main">
              <a:ext uri="{FF2B5EF4-FFF2-40B4-BE49-F238E27FC236}">
                <a16:creationId xmlns:a16="http://schemas.microsoft.com/office/drawing/2014/main" id="{9434606B-D0CB-4FF2-B8F9-F3D7728E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801100"/>
            <a:ext cx="16192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13" name="profile-9">
            <a:extLst xmlns:a="http://schemas.openxmlformats.org/drawingml/2006/main">
              <a:ext uri="{FF2B5EF4-FFF2-40B4-BE49-F238E27FC236}">
                <a16:creationId xmlns:a16="http://schemas.microsoft.com/office/drawing/2014/main" id="{DC2C223D-6465-4612-9561-BBFC9B9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801100"/>
            <a:ext cx="16192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4" name="profile-10">
            <a:extLst xmlns:a="http://schemas.openxmlformats.org/drawingml/2006/main">
              <a:ext uri="{FF2B5EF4-FFF2-40B4-BE49-F238E27FC236}">
                <a16:creationId xmlns:a16="http://schemas.microsoft.com/office/drawing/2014/main" id="{1A93A266-7DF1-44FB-8302-64CEE47C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9305925"/>
            <a:ext cx="6981825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Siphoning / Plumbing / Renovation &amp; restoration / Pest control</a:t>
            </a:r>
          </a:p>
        </p:txBody>
      </p:sp>
      <p:sp>
        <p:nvSpPr>
          <p:cNvPr id="15" name="profile-11">
            <a:extLst xmlns:a="http://schemas.openxmlformats.org/drawingml/2006/main">
              <a:ext uri="{FF2B5EF4-FFF2-40B4-BE49-F238E27FC236}">
                <a16:creationId xmlns:a16="http://schemas.microsoft.com/office/drawing/2014/main" id="{43E345A4-5C11-4D4C-9C92-34C08F0C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16" name="profile-12">
            <a:extLst xmlns:a="http://schemas.openxmlformats.org/drawingml/2006/main">
              <a:ext uri="{FF2B5EF4-FFF2-40B4-BE49-F238E27FC236}">
                <a16:creationId xmlns:a16="http://schemas.microsoft.com/office/drawing/2014/main" id="{4C91D98D-A31A-4DEA-AAED-19E55A2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2743200" cy="819150"/>
          </a:xfrm>
          <a:custGeom xmlns:a="http://schemas.openxmlformats.org/drawingml/2006/main">
            <a:pathLst>
              <a:path w="2743200" h="819150">
                <a:moveTo>
                  <a:pt x="0" y="0"/>
                </a:moveTo>
                <a:lnTo>
                  <a:pt x="2743200" y="0"/>
                </a:lnTo>
                <a:lnTo>
                  <a:pt x="23907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7" name="profile-13">
            <a:extLst xmlns:a="http://schemas.openxmlformats.org/drawingml/2006/main">
              <a:ext uri="{FF2B5EF4-FFF2-40B4-BE49-F238E27FC236}">
                <a16:creationId xmlns:a16="http://schemas.microsoft.com/office/drawing/2014/main" id="{AB021289-C1A7-48F9-A95C-B87C632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115550"/>
            <a:ext cx="19621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18" name="profile-14">
            <a:extLst xmlns:a="http://schemas.openxmlformats.org/drawingml/2006/main">
              <a:ext uri="{FF2B5EF4-FFF2-40B4-BE49-F238E27FC236}">
                <a16:creationId xmlns:a16="http://schemas.microsoft.com/office/drawing/2014/main" id="{1DD4C47D-045B-4E7A-A882-91C471A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020300"/>
            <a:ext cx="38385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19" name="profile-15">
            <a:extLst xmlns:a="http://schemas.openxmlformats.org/drawingml/2006/main">
              <a:ext uri="{FF2B5EF4-FFF2-40B4-BE49-F238E27FC236}">
                <a16:creationId xmlns:a16="http://schemas.microsoft.com/office/drawing/2014/main" id="{959EAF2B-4132-4B68-A085-D631507B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382250"/>
            <a:ext cx="4000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20" name="profile-16">
            <a:extLst xmlns:a="http://schemas.openxmlformats.org/drawingml/2006/main">
              <a:ext uri="{FF2B5EF4-FFF2-40B4-BE49-F238E27FC236}">
                <a16:creationId xmlns:a16="http://schemas.microsoft.com/office/drawing/2014/main" id="{A7B3C01D-A3FD-4C11-B0EF-6C964A8B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0163175"/>
            <a:ext cx="25717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934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rofile-17">
            <a:extLst xmlns:a="http://schemas.openxmlformats.org/drawingml/2006/main">
              <a:ext uri="{FF2B5EF4-FFF2-40B4-BE49-F238E27FC236}">
                <a16:creationId xmlns:a16="http://schemas.microsoft.com/office/drawing/2014/main" id="{BE9F3189-3BFD-415D-B7CC-FE4FD37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cafc6ed4746ed"/>
          <a:stretch xmlns:a="http://schemas.openxmlformats.org/drawingml/2006/main"/>
        </p:blipFill>
        <p:spPr>
          <a:xfrm xmlns:a="http://schemas.openxmlformats.org/drawingml/2006/main">
            <a:off x="295275" y="180975"/>
            <a:ext cx="1390650" cy="1390650"/>
          </a:xfrm>
          <a:prstGeom xmlns:a="http://schemas.openxmlformats.org/drawingml/2006/main" prst="rect">
            <a:avLst/>
          </a:prstGeom>
        </p:spPr>
      </p:pic>
      <p:sp>
        <p:nvSpPr>
          <p:cNvPr id="3" name="profile-18">
            <a:extLst xmlns:a="http://schemas.openxmlformats.org/drawingml/2006/main">
              <a:ext uri="{FF2B5EF4-FFF2-40B4-BE49-F238E27FC236}">
                <a16:creationId xmlns:a16="http://schemas.microsoft.com/office/drawing/2014/main" id="{803B2ECF-2AF3-44E0-9F27-DAFCEB6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"/>
            <a:ext cx="5286375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42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4" name="profile-19">
            <a:extLst xmlns:a="http://schemas.openxmlformats.org/drawingml/2006/main">
              <a:ext uri="{FF2B5EF4-FFF2-40B4-BE49-F238E27FC236}">
                <a16:creationId xmlns:a16="http://schemas.microsoft.com/office/drawing/2014/main" id="{6B5ABD19-4B18-4F58-ACF0-43D92A40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52387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Homes / Condominiums / Company facilities</a:t>
            </a:r>
          </a:p>
        </p:txBody>
      </p:sp>
      <p:sp>
        <p:nvSpPr>
          <p:cNvPr id="5" name="profile-20">
            <a:extLst xmlns:a="http://schemas.openxmlformats.org/drawingml/2006/main">
              <a:ext uri="{FF2B5EF4-FFF2-40B4-BE49-F238E27FC236}">
                <a16:creationId xmlns:a16="http://schemas.microsoft.com/office/drawing/2014/main" id="{DC9FBEC7-A236-4A52-BF01-3226DDF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52575"/>
            <a:ext cx="7000875" cy="1323975"/>
          </a:xfrm>
          <a:custGeom xmlns:a="http://schemas.openxmlformats.org/drawingml/2006/main">
            <a:pathLst>
              <a:path w="7000875" h="1323975">
                <a:moveTo>
                  <a:pt x="514350" y="0"/>
                </a:moveTo>
                <a:lnTo>
                  <a:pt x="7000875" y="0"/>
                </a:lnTo>
                <a:lnTo>
                  <a:pt x="62674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6" name="profile-21">
            <a:extLst xmlns:a="http://schemas.openxmlformats.org/drawingml/2006/main">
              <a:ext uri="{FF2B5EF4-FFF2-40B4-BE49-F238E27FC236}">
                <a16:creationId xmlns:a16="http://schemas.microsoft.com/office/drawing/2014/main" id="{FA12A8CD-EB51-45EA-840B-A4613FE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52575"/>
            <a:ext cx="6896100" cy="1238250"/>
          </a:xfrm>
          <a:custGeom xmlns:a="http://schemas.openxmlformats.org/drawingml/2006/main">
            <a:pathLst>
              <a:path w="6896100" h="1238250">
                <a:moveTo>
                  <a:pt x="514350" y="0"/>
                </a:moveTo>
                <a:lnTo>
                  <a:pt x="6896100" y="0"/>
                </a:lnTo>
                <a:lnTo>
                  <a:pt x="62103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</p:sp>
      <p:sp>
        <p:nvSpPr>
          <p:cNvPr id="7" name="profile-22">
            <a:extLst xmlns:a="http://schemas.openxmlformats.org/drawingml/2006/main">
              <a:ext uri="{FF2B5EF4-FFF2-40B4-BE49-F238E27FC236}">
                <a16:creationId xmlns:a16="http://schemas.microsoft.com/office/drawing/2014/main" id="{BA4AEAFD-EF4A-41EE-9CB9-D9A04D1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24025"/>
            <a:ext cx="5800725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33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COMPANY OVERVIEW</a:t>
            </a:r>
          </a:p>
        </p:txBody>
      </p:sp>
      <p:sp>
        <p:nvSpPr>
          <p:cNvPr id="8" name="profile-23">
            <a:extLst xmlns:a="http://schemas.openxmlformats.org/drawingml/2006/main">
              <a:ext uri="{FF2B5EF4-FFF2-40B4-BE49-F238E27FC236}">
                <a16:creationId xmlns:a16="http://schemas.microsoft.com/office/drawing/2014/main" id="{C356F8A7-65AC-4809-A9CE-0E75AC5D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71825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Oceanides coordinates property services for homes, condominiums and company</a:t>
            </a:r>
          </a:p>
        </p:txBody>
      </p:sp>
      <p:sp>
        <p:nvSpPr>
          <p:cNvPr id="9" name="profile-24">
            <a:extLst xmlns:a="http://schemas.openxmlformats.org/drawingml/2006/main">
              <a:ext uri="{FF2B5EF4-FFF2-40B4-BE49-F238E27FC236}">
                <a16:creationId xmlns:a16="http://schemas.microsoft.com/office/drawing/2014/main" id="{F2BD2DB5-6255-432B-86CE-EB55CA9C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38525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facilities. Our service offering covers siphoning, plumbing, renovation and</a:t>
            </a:r>
          </a:p>
        </p:txBody>
      </p:sp>
      <p:sp>
        <p:nvSpPr>
          <p:cNvPr id="10" name="profile-25">
            <a:extLst xmlns:a="http://schemas.openxmlformats.org/drawingml/2006/main">
              <a:ext uri="{FF2B5EF4-FFF2-40B4-BE49-F238E27FC236}">
                <a16:creationId xmlns:a16="http://schemas.microsoft.com/office/drawing/2014/main" id="{E73025D9-E8A5-4CF3-A093-9F2A552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05225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restoration, and pest control.</a:t>
            </a:r>
          </a:p>
        </p:txBody>
      </p:sp>
      <p:sp>
        <p:nvSpPr>
          <p:cNvPr id="11" name="profile-26">
            <a:extLst xmlns:a="http://schemas.openxmlformats.org/drawingml/2006/main">
              <a:ext uri="{FF2B5EF4-FFF2-40B4-BE49-F238E27FC236}">
                <a16:creationId xmlns:a16="http://schemas.microsoft.com/office/drawing/2014/main" id="{C6925470-09CE-4445-B54B-239E2AA7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71975"/>
            <a:ext cx="7562850" cy="2219325"/>
          </a:xfrm>
          <a:custGeom xmlns:a="http://schemas.openxmlformats.org/drawingml/2006/main">
            <a:pathLst>
              <a:path w="7562850" h="2219325">
                <a:moveTo>
                  <a:pt x="0" y="0"/>
                </a:moveTo>
                <a:lnTo>
                  <a:pt x="7562850" y="0"/>
                </a:lnTo>
                <a:lnTo>
                  <a:pt x="6715125" y="2219325"/>
                </a:lnTo>
                <a:lnTo>
                  <a:pt x="0" y="2219325"/>
                </a:lnTo>
                <a:close/>
              </a:path>
            </a:pathLst>
          </a:cu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12" name="profile-27">
            <a:extLst xmlns:a="http://schemas.openxmlformats.org/drawingml/2006/main">
              <a:ext uri="{FF2B5EF4-FFF2-40B4-BE49-F238E27FC236}">
                <a16:creationId xmlns:a16="http://schemas.microsoft.com/office/drawing/2014/main" id="{131FF502-D5F7-45F1-8E42-A868E983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6334125" cy="37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ONE CONTACT THROUGH TURNOVER</a:t>
            </a:r>
          </a:p>
        </p:txBody>
      </p:sp>
      <p:sp>
        <p:nvSpPr>
          <p:cNvPr id="13" name="profile-28">
            <a:extLst xmlns:a="http://schemas.openxmlformats.org/drawingml/2006/main">
              <a:ext uri="{FF2B5EF4-FFF2-40B4-BE49-F238E27FC236}">
                <a16:creationId xmlns:a16="http://schemas.microsoft.com/office/drawing/2014/main" id="{2A18E430-0D4B-4AA7-AEDB-6FEE36FB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Oceanides remains your main contact from the initial inquiry to turnover. We</a:t>
            </a:r>
          </a:p>
        </p:txBody>
      </p:sp>
      <p:sp>
        <p:nvSpPr>
          <p:cNvPr id="14" name="profile-29">
            <a:extLst xmlns:a="http://schemas.openxmlformats.org/drawingml/2006/main">
              <a:ext uri="{FF2B5EF4-FFF2-40B4-BE49-F238E27FC236}">
                <a16:creationId xmlns:a16="http://schemas.microsoft.com/office/drawing/2014/main" id="{8B460EC9-1918-4D33-9B45-24B09D0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97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coordinate the site assessment, quotation and service delivery, including</a:t>
            </a:r>
          </a:p>
        </p:txBody>
      </p:sp>
      <p:sp>
        <p:nvSpPr>
          <p:cNvPr id="15" name="profile-30">
            <a:extLst xmlns:a="http://schemas.openxmlformats.org/drawingml/2006/main">
              <a:ext uri="{FF2B5EF4-FFF2-40B4-BE49-F238E27FC236}">
                <a16:creationId xmlns:a16="http://schemas.microsoft.com/office/drawing/2014/main" id="{6241135E-EA48-456C-8A06-CE1C49DF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7690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specialist contractors where the work requires them.</a:t>
            </a:r>
          </a:p>
        </p:txBody>
      </p:sp>
      <p:sp>
        <p:nvSpPr>
          <p:cNvPr id="16" name="profile-31">
            <a:extLst xmlns:a="http://schemas.openxmlformats.org/drawingml/2006/main">
              <a:ext uri="{FF2B5EF4-FFF2-40B4-BE49-F238E27FC236}">
                <a16:creationId xmlns:a16="http://schemas.microsoft.com/office/drawing/2014/main" id="{4360E7D1-3B4D-46AC-9CCA-C76BA0A8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953250"/>
            <a:ext cx="6724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SERVICE PORTFOLIO</a:t>
            </a:r>
          </a:p>
        </p:txBody>
      </p:sp>
      <p:sp>
        <p:nvSpPr>
          <p:cNvPr id="17" name="profile-32">
            <a:extLst xmlns:a="http://schemas.openxmlformats.org/drawingml/2006/main">
              <a:ext uri="{FF2B5EF4-FFF2-40B4-BE49-F238E27FC236}">
                <a16:creationId xmlns:a16="http://schemas.microsoft.com/office/drawing/2014/main" id="{C2780862-D80F-426F-B802-1DD90838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390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SIPHONING</a:t>
            </a:r>
          </a:p>
        </p:txBody>
      </p:sp>
      <p:sp>
        <p:nvSpPr>
          <p:cNvPr id="18" name="profile-33">
            <a:extLst xmlns:a="http://schemas.openxmlformats.org/drawingml/2006/main">
              <a:ext uri="{FF2B5EF4-FFF2-40B4-BE49-F238E27FC236}">
                <a16:creationId xmlns:a16="http://schemas.microsoft.com/office/drawing/2014/main" id="{CD6BD492-B9A7-4131-8918-26778B63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9" name="profile-34">
            <a:extLst xmlns:a="http://schemas.openxmlformats.org/drawingml/2006/main">
              <a:ext uri="{FF2B5EF4-FFF2-40B4-BE49-F238E27FC236}">
                <a16:creationId xmlns:a16="http://schemas.microsoft.com/office/drawing/2014/main" id="{990CA4C0-510E-4C6A-AB28-51C06A1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4390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PLUMBING</a:t>
            </a:r>
          </a:p>
        </p:txBody>
      </p:sp>
      <p:sp>
        <p:nvSpPr>
          <p:cNvPr id="20" name="profile-35">
            <a:extLst xmlns:a="http://schemas.openxmlformats.org/drawingml/2006/main">
              <a:ext uri="{FF2B5EF4-FFF2-40B4-BE49-F238E27FC236}">
                <a16:creationId xmlns:a16="http://schemas.microsoft.com/office/drawing/2014/main" id="{65BBFA28-5FDD-4F5C-BC1D-65D8233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84860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Declogging and pipe leak repairs.</a:t>
            </a:r>
          </a:p>
        </p:txBody>
      </p:sp>
      <p:sp>
        <p:nvSpPr>
          <p:cNvPr id="21" name="profile-36">
            <a:extLst xmlns:a="http://schemas.openxmlformats.org/drawingml/2006/main">
              <a:ext uri="{FF2B5EF4-FFF2-40B4-BE49-F238E27FC236}">
                <a16:creationId xmlns:a16="http://schemas.microsoft.com/office/drawing/2014/main" id="{FF554122-A172-4A6E-9D90-A5A4A962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43915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RENOVATION &amp;</a:t>
            </a:r>
          </a:p>
        </p:txBody>
      </p:sp>
      <p:sp>
        <p:nvSpPr>
          <p:cNvPr id="22" name="profile-37">
            <a:extLst xmlns:a="http://schemas.openxmlformats.org/drawingml/2006/main">
              <a:ext uri="{FF2B5EF4-FFF2-40B4-BE49-F238E27FC236}">
                <a16:creationId xmlns:a16="http://schemas.microsoft.com/office/drawing/2014/main" id="{2749C0A0-14C5-495F-BC6E-C8D8F5D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2490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RESTORATION</a:t>
            </a:r>
          </a:p>
        </p:txBody>
      </p:sp>
      <p:sp>
        <p:nvSpPr>
          <p:cNvPr id="23" name="profile-38">
            <a:extLst xmlns:a="http://schemas.openxmlformats.org/drawingml/2006/main">
              <a:ext uri="{FF2B5EF4-FFF2-40B4-BE49-F238E27FC236}">
                <a16:creationId xmlns:a16="http://schemas.microsoft.com/office/drawing/2014/main" id="{A5D72ABB-F29C-4DFD-AEBC-BAF68B03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077325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House and condominium improvements.</a:t>
            </a:r>
          </a:p>
        </p:txBody>
      </p:sp>
      <p:sp>
        <p:nvSpPr>
          <p:cNvPr id="24" name="profile-39">
            <a:extLst xmlns:a="http://schemas.openxmlformats.org/drawingml/2006/main">
              <a:ext uri="{FF2B5EF4-FFF2-40B4-BE49-F238E27FC236}">
                <a16:creationId xmlns:a16="http://schemas.microsoft.com/office/drawing/2014/main" id="{5E33A7B5-E766-4B15-9C00-761C872D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43915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PEST CONTROL</a:t>
            </a:r>
          </a:p>
        </p:txBody>
      </p:sp>
      <p:sp>
        <p:nvSpPr>
          <p:cNvPr id="25" name="profile-40">
            <a:extLst xmlns:a="http://schemas.openxmlformats.org/drawingml/2006/main">
              <a:ext uri="{FF2B5EF4-FFF2-40B4-BE49-F238E27FC236}">
                <a16:creationId xmlns:a16="http://schemas.microsoft.com/office/drawing/2014/main" id="{85DCD665-6C1A-4FA1-98B6-CAB8E58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848725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Assessment-based service coordination.</a:t>
            </a:r>
          </a:p>
        </p:txBody>
      </p:sp>
      <p:sp>
        <p:nvSpPr>
          <p:cNvPr id="26" name="profile-41">
            <a:extLst xmlns:a="http://schemas.openxmlformats.org/drawingml/2006/main">
              <a:ext uri="{FF2B5EF4-FFF2-40B4-BE49-F238E27FC236}">
                <a16:creationId xmlns:a16="http://schemas.microsoft.com/office/drawing/2014/main" id="{B7F546EF-ECCA-4532-9FD9-F353AEF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27" name="profile-42">
            <a:extLst xmlns:a="http://schemas.openxmlformats.org/drawingml/2006/main">
              <a:ext uri="{FF2B5EF4-FFF2-40B4-BE49-F238E27FC236}">
                <a16:creationId xmlns:a16="http://schemas.microsoft.com/office/drawing/2014/main" id="{4507AFC2-E9E6-411C-B2CD-88CCF96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2743200" cy="819150"/>
          </a:xfrm>
          <a:custGeom xmlns:a="http://schemas.openxmlformats.org/drawingml/2006/main">
            <a:pathLst>
              <a:path w="2743200" h="819150">
                <a:moveTo>
                  <a:pt x="0" y="0"/>
                </a:moveTo>
                <a:lnTo>
                  <a:pt x="2743200" y="0"/>
                </a:lnTo>
                <a:lnTo>
                  <a:pt x="23907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28" name="profile-43">
            <a:extLst xmlns:a="http://schemas.openxmlformats.org/drawingml/2006/main">
              <a:ext uri="{FF2B5EF4-FFF2-40B4-BE49-F238E27FC236}">
                <a16:creationId xmlns:a16="http://schemas.microsoft.com/office/drawing/2014/main" id="{10D3C3FA-5B9E-40AE-82D4-745BA849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115550"/>
            <a:ext cx="19621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29" name="profile-44">
            <a:extLst xmlns:a="http://schemas.openxmlformats.org/drawingml/2006/main">
              <a:ext uri="{FF2B5EF4-FFF2-40B4-BE49-F238E27FC236}">
                <a16:creationId xmlns:a16="http://schemas.microsoft.com/office/drawing/2014/main" id="{1C583073-A86A-43F5-8603-E033833F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020300"/>
            <a:ext cx="38385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30" name="profile-45">
            <a:extLst xmlns:a="http://schemas.openxmlformats.org/drawingml/2006/main">
              <a:ext uri="{FF2B5EF4-FFF2-40B4-BE49-F238E27FC236}">
                <a16:creationId xmlns:a16="http://schemas.microsoft.com/office/drawing/2014/main" id="{E5B893F4-184A-4F83-BD6F-82601597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382250"/>
            <a:ext cx="4000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31" name="profile-46">
            <a:extLst xmlns:a="http://schemas.openxmlformats.org/drawingml/2006/main">
              <a:ext uri="{FF2B5EF4-FFF2-40B4-BE49-F238E27FC236}">
                <a16:creationId xmlns:a16="http://schemas.microsoft.com/office/drawing/2014/main" id="{FA009375-CD61-44FF-98BC-0D6693DF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0163175"/>
            <a:ext cx="25717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1293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6935f7a8f4ab7"/>
          <a:srcRect xmlns:a="http://schemas.openxmlformats.org/drawingml/2006/main" l="0" t="36566" r="0" b="36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3048000"/>
          </a:xfrm>
          <a:prstGeom xmlns:a="http://schemas.openxmlformats.org/drawingml/2006/main" prst="rect">
            <a:avLst/>
          </a:prstGeom>
        </p:spPr>
      </p:pic>
      <p:sp>
        <p:nvSpPr>
          <p:cNvPr id="2" name="profile-47">
            <a:extLst xmlns:a="http://schemas.openxmlformats.org/drawingml/2006/main">
              <a:ext uri="{FF2B5EF4-FFF2-40B4-BE49-F238E27FC236}">
                <a16:creationId xmlns:a16="http://schemas.microsoft.com/office/drawing/2014/main" id="{38AF6E53-B324-4698-B9AF-7D8B353C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24100"/>
            <a:ext cx="7000875" cy="1323975"/>
          </a:xfrm>
          <a:custGeom xmlns:a="http://schemas.openxmlformats.org/drawingml/2006/main">
            <a:pathLst>
              <a:path w="7000875" h="1323975">
                <a:moveTo>
                  <a:pt x="514350" y="0"/>
                </a:moveTo>
                <a:lnTo>
                  <a:pt x="7000875" y="0"/>
                </a:lnTo>
                <a:lnTo>
                  <a:pt x="62674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3" name="profile-48">
            <a:extLst xmlns:a="http://schemas.openxmlformats.org/drawingml/2006/main">
              <a:ext uri="{FF2B5EF4-FFF2-40B4-BE49-F238E27FC236}">
                <a16:creationId xmlns:a16="http://schemas.microsoft.com/office/drawing/2014/main" id="{88E13AA5-A4B8-4983-A18D-67C941B2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24100"/>
            <a:ext cx="6896100" cy="1238250"/>
          </a:xfrm>
          <a:custGeom xmlns:a="http://schemas.openxmlformats.org/drawingml/2006/main">
            <a:pathLst>
              <a:path w="6896100" h="1238250">
                <a:moveTo>
                  <a:pt x="514350" y="0"/>
                </a:moveTo>
                <a:lnTo>
                  <a:pt x="6896100" y="0"/>
                </a:lnTo>
                <a:lnTo>
                  <a:pt x="62103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</p:sp>
      <p:sp>
        <p:nvSpPr>
          <p:cNvPr id="4" name="profile-49">
            <a:extLst xmlns:a="http://schemas.openxmlformats.org/drawingml/2006/main">
              <a:ext uri="{FF2B5EF4-FFF2-40B4-BE49-F238E27FC236}">
                <a16:creationId xmlns:a16="http://schemas.microsoft.com/office/drawing/2014/main" id="{51442250-6687-4BEA-8285-EF07BEE9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5800725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SIPHONING</a:t>
            </a:r>
          </a:p>
        </p:txBody>
      </p:sp>
      <p:sp>
        <p:nvSpPr>
          <p:cNvPr id="5" name="profile-50">
            <a:extLst xmlns:a="http://schemas.openxmlformats.org/drawingml/2006/main">
              <a:ext uri="{FF2B5EF4-FFF2-40B4-BE49-F238E27FC236}">
                <a16:creationId xmlns:a16="http://schemas.microsoft.com/office/drawing/2014/main" id="{5E9F668C-F024-4119-94F6-A8450D17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21508"/>
            <a:ext cx="5800725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&amp; PLUMBING</a:t>
            </a:r>
          </a:p>
        </p:txBody>
      </p:sp>
      <p:sp>
        <p:nvSpPr>
          <p:cNvPr id="6" name="profile-51">
            <a:extLst xmlns:a="http://schemas.openxmlformats.org/drawingml/2006/main">
              <a:ext uri="{FF2B5EF4-FFF2-40B4-BE49-F238E27FC236}">
                <a16:creationId xmlns:a16="http://schemas.microsoft.com/office/drawing/2014/main" id="{55EA9590-741E-4A9A-B4A7-B2298EC8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6724650" cy="155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BEFORE SERVICE / SAME SITE</a:t>
            </a:r>
          </a:p>
        </p:txBody>
      </p:sp>
      <p:sp>
        <p:nvSpPr>
          <p:cNvPr id="7" name="profile-52">
            <a:extLst xmlns:a="http://schemas.openxmlformats.org/drawingml/2006/main">
              <a:ext uri="{FF2B5EF4-FFF2-40B4-BE49-F238E27FC236}">
                <a16:creationId xmlns:a16="http://schemas.microsoft.com/office/drawing/2014/main" id="{F0C4E20E-71E5-4BF5-A55E-DC5154E0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33825"/>
            <a:ext cx="75628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8" name="profile-53">
            <a:extLst xmlns:a="http://schemas.openxmlformats.org/drawingml/2006/main">
              <a:ext uri="{FF2B5EF4-FFF2-40B4-BE49-F238E27FC236}">
                <a16:creationId xmlns:a16="http://schemas.microsoft.com/office/drawing/2014/main" id="{095CC7C7-B7B3-439D-A932-F61AC444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3171825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SEPTIC TANK SERVICES</a:t>
            </a:r>
          </a:p>
        </p:txBody>
      </p:sp>
      <p:sp>
        <p:nvSpPr>
          <p:cNvPr id="9" name="profile-54">
            <a:extLst xmlns:a="http://schemas.openxmlformats.org/drawingml/2006/main">
              <a:ext uri="{FF2B5EF4-FFF2-40B4-BE49-F238E27FC236}">
                <a16:creationId xmlns:a16="http://schemas.microsoft.com/office/drawing/2014/main" id="{13A25ECC-B841-4219-A315-6137B5BC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29100"/>
            <a:ext cx="316230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PLUMBING SERVICES</a:t>
            </a:r>
          </a:p>
        </p:txBody>
      </p:sp>
      <p:sp>
        <p:nvSpPr>
          <p:cNvPr id="10" name="profile-55">
            <a:extLst xmlns:a="http://schemas.openxmlformats.org/drawingml/2006/main">
              <a:ext uri="{FF2B5EF4-FFF2-40B4-BE49-F238E27FC236}">
                <a16:creationId xmlns:a16="http://schemas.microsoft.com/office/drawing/2014/main" id="{354A69CD-0C11-4C34-B769-0E523D6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815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1" name="profile-56">
            <a:extLst xmlns:a="http://schemas.openxmlformats.org/drawingml/2006/main">
              <a:ext uri="{FF2B5EF4-FFF2-40B4-BE49-F238E27FC236}">
                <a16:creationId xmlns:a16="http://schemas.microsoft.com/office/drawing/2014/main" id="{47408EA3-B87B-4C78-BE8B-C9A4500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05350"/>
            <a:ext cx="2838450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2" name="profile-57">
            <a:extLst xmlns:a="http://schemas.openxmlformats.org/drawingml/2006/main">
              <a:ext uri="{FF2B5EF4-FFF2-40B4-BE49-F238E27FC236}">
                <a16:creationId xmlns:a16="http://schemas.microsoft.com/office/drawing/2014/main" id="{6C1FEF1E-BE88-4BF0-9F6E-F256DE6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788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3" name="profile-58">
            <a:extLst xmlns:a="http://schemas.openxmlformats.org/drawingml/2006/main">
              <a:ext uri="{FF2B5EF4-FFF2-40B4-BE49-F238E27FC236}">
                <a16:creationId xmlns:a16="http://schemas.microsoft.com/office/drawing/2014/main" id="{04D0DBE5-AB11-44B6-BE14-A43F417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71682"/>
            <a:ext cx="2838450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4" name="profile-59">
            <a:extLst xmlns:a="http://schemas.openxmlformats.org/drawingml/2006/main">
              <a:ext uri="{FF2B5EF4-FFF2-40B4-BE49-F238E27FC236}">
                <a16:creationId xmlns:a16="http://schemas.microsoft.com/office/drawing/2014/main" id="{A9B989D5-57A6-41DA-A39B-D26B14C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1421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5" name="profile-60">
            <a:extLst xmlns:a="http://schemas.openxmlformats.org/drawingml/2006/main">
              <a:ext uri="{FF2B5EF4-FFF2-40B4-BE49-F238E27FC236}">
                <a16:creationId xmlns:a16="http://schemas.microsoft.com/office/drawing/2014/main" id="{8E10F15F-01B8-4777-B7A5-BB9E439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38013"/>
            <a:ext cx="2838450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coordination and site</a:t>
            </a:r>
          </a:p>
        </p:txBody>
      </p:sp>
      <p:sp>
        <p:nvSpPr>
          <p:cNvPr id="16" name="profile-61">
            <a:extLst xmlns:a="http://schemas.openxmlformats.org/drawingml/2006/main">
              <a:ext uri="{FF2B5EF4-FFF2-40B4-BE49-F238E27FC236}">
                <a16:creationId xmlns:a16="http://schemas.microsoft.com/office/drawing/2014/main" id="{C51C73A9-F29F-4DC9-899C-58B2FC0D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61470"/>
            <a:ext cx="2838450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7" name="profile-62">
            <a:extLst xmlns:a="http://schemas.openxmlformats.org/drawingml/2006/main">
              <a:ext uri="{FF2B5EF4-FFF2-40B4-BE49-F238E27FC236}">
                <a16:creationId xmlns:a16="http://schemas.microsoft.com/office/drawing/2014/main" id="{3E7D188A-48CA-4420-9957-CC1BCE27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815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8" name="profile-63">
            <a:extLst xmlns:a="http://schemas.openxmlformats.org/drawingml/2006/main">
              <a:ext uri="{FF2B5EF4-FFF2-40B4-BE49-F238E27FC236}">
                <a16:creationId xmlns:a16="http://schemas.microsoft.com/office/drawing/2014/main" id="{24932383-2FEF-4DB5-B6FF-2F43D208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705350"/>
            <a:ext cx="2924175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9" name="profile-64">
            <a:extLst xmlns:a="http://schemas.openxmlformats.org/drawingml/2006/main">
              <a:ext uri="{FF2B5EF4-FFF2-40B4-BE49-F238E27FC236}">
                <a16:creationId xmlns:a16="http://schemas.microsoft.com/office/drawing/2014/main" id="{6BE2D7AA-7F97-46EE-965C-D3921F8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4788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20" name="profile-65">
            <a:extLst xmlns:a="http://schemas.openxmlformats.org/drawingml/2006/main">
              <a:ext uri="{FF2B5EF4-FFF2-40B4-BE49-F238E27FC236}">
                <a16:creationId xmlns:a16="http://schemas.microsoft.com/office/drawing/2014/main" id="{0F385AC9-B4AE-476C-B494-575A2E77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71682"/>
            <a:ext cx="2924175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Plumbing and pipe leak repairs</a:t>
            </a:r>
          </a:p>
        </p:txBody>
      </p:sp>
      <p:sp>
        <p:nvSpPr>
          <p:cNvPr id="21" name="profile-66">
            <a:extLst xmlns:a="http://schemas.openxmlformats.org/drawingml/2006/main">
              <a:ext uri="{FF2B5EF4-FFF2-40B4-BE49-F238E27FC236}">
                <a16:creationId xmlns:a16="http://schemas.microsoft.com/office/drawing/2014/main" id="{FC012F15-4493-45D0-81F6-B0611AC0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1421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22" name="profile-67">
            <a:extLst xmlns:a="http://schemas.openxmlformats.org/drawingml/2006/main">
              <a:ext uri="{FF2B5EF4-FFF2-40B4-BE49-F238E27FC236}">
                <a16:creationId xmlns:a16="http://schemas.microsoft.com/office/drawing/2014/main" id="{0535F654-8822-44E3-A7E5-21B55CC2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38013"/>
            <a:ext cx="2924175" cy="24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 based on site findings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927edefb343cc"/>
          <a:srcRect xmlns:a="http://schemas.openxmlformats.org/drawingml/2006/main" l="0" t="27184" r="0" b="271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9525" y="7038975"/>
            <a:ext cx="3743325" cy="2562225"/>
          </a:xfrm>
          <a:prstGeom xmlns:a="http://schemas.openxmlformats.org/drawingml/2006/main" prst="rect">
            <a:avLst/>
          </a:prstGeom>
        </p:spPr>
      </p:pic>
      <p:sp>
        <p:nvSpPr>
          <p:cNvPr id="24" name="profile-68">
            <a:extLst xmlns:a="http://schemas.openxmlformats.org/drawingml/2006/main">
              <a:ext uri="{FF2B5EF4-FFF2-40B4-BE49-F238E27FC236}">
                <a16:creationId xmlns:a16="http://schemas.microsoft.com/office/drawing/2014/main" id="{FDC357D6-CAEF-47B7-B330-8105650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9667875"/>
            <a:ext cx="3400425" cy="155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AFTER SERVICE / SAME SITE</a:t>
            </a:r>
          </a:p>
        </p:txBody>
      </p:sp>
      <p:sp>
        <p:nvSpPr>
          <p:cNvPr id="25" name="profile-69">
            <a:extLst xmlns:a="http://schemas.openxmlformats.org/drawingml/2006/main">
              <a:ext uri="{FF2B5EF4-FFF2-40B4-BE49-F238E27FC236}">
                <a16:creationId xmlns:a16="http://schemas.microsoft.com/office/drawing/2014/main" id="{F9D07E09-8C00-4A54-89F3-2EB7E60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58050"/>
            <a:ext cx="313372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ACTUAL SITE WORK</a:t>
            </a:r>
          </a:p>
        </p:txBody>
      </p:sp>
      <p:sp>
        <p:nvSpPr>
          <p:cNvPr id="26" name="profile-70">
            <a:extLst xmlns:a="http://schemas.openxmlformats.org/drawingml/2006/main">
              <a:ext uri="{FF2B5EF4-FFF2-40B4-BE49-F238E27FC236}">
                <a16:creationId xmlns:a16="http://schemas.microsoft.com/office/drawing/2014/main" id="{AEEB2C10-4423-46F8-A4D4-1215E40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9525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BEFORE</a:t>
            </a:r>
          </a:p>
        </p:txBody>
      </p:sp>
      <p:sp>
        <p:nvSpPr>
          <p:cNvPr id="27" name="profile-71">
            <a:extLst xmlns:a="http://schemas.openxmlformats.org/drawingml/2006/main">
              <a:ext uri="{FF2B5EF4-FFF2-40B4-BE49-F238E27FC236}">
                <a16:creationId xmlns:a16="http://schemas.microsoft.com/office/drawing/2014/main" id="{F437392F-E429-49C9-A4CA-EF8B8F8C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010525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&amp; AFTER</a:t>
            </a:r>
          </a:p>
        </p:txBody>
      </p:sp>
      <p:sp>
        <p:nvSpPr>
          <p:cNvPr id="28" name="profile-72">
            <a:extLst xmlns:a="http://schemas.openxmlformats.org/drawingml/2006/main">
              <a:ext uri="{FF2B5EF4-FFF2-40B4-BE49-F238E27FC236}">
                <a16:creationId xmlns:a16="http://schemas.microsoft.com/office/drawing/2014/main" id="{22460EA4-2ECA-433C-8D2D-ABE9AF5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3917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The photographs show the same site</a:t>
            </a:r>
          </a:p>
        </p:txBody>
      </p:sp>
      <p:sp>
        <p:nvSpPr>
          <p:cNvPr id="29" name="profile-73">
            <a:extLst xmlns:a="http://schemas.openxmlformats.org/drawingml/2006/main">
              <a:ext uri="{FF2B5EF4-FFF2-40B4-BE49-F238E27FC236}">
                <a16:creationId xmlns:a16="http://schemas.microsoft.com/office/drawing/2014/main" id="{9BAB3489-C492-437D-AF17-2161080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877300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before and after service.</a:t>
            </a:r>
          </a:p>
        </p:txBody>
      </p:sp>
      <p:sp>
        <p:nvSpPr>
          <p:cNvPr id="30" name="profile-74">
            <a:extLst xmlns:a="http://schemas.openxmlformats.org/drawingml/2006/main">
              <a:ext uri="{FF2B5EF4-FFF2-40B4-BE49-F238E27FC236}">
                <a16:creationId xmlns:a16="http://schemas.microsoft.com/office/drawing/2014/main" id="{88760E0D-D47D-41FB-8222-D6ADCC4A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154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Final scope follows site access and tank or pipe</a:t>
            </a:r>
          </a:p>
        </p:txBody>
      </p:sp>
      <p:sp>
        <p:nvSpPr>
          <p:cNvPr id="31" name="profile-75">
            <a:extLst xmlns:a="http://schemas.openxmlformats.org/drawingml/2006/main">
              <a:ext uri="{FF2B5EF4-FFF2-40B4-BE49-F238E27FC236}">
                <a16:creationId xmlns:a16="http://schemas.microsoft.com/office/drawing/2014/main" id="{4F0C40DB-5F69-4AD5-BCC3-C06C1A96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869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conditions.</a:t>
            </a:r>
          </a:p>
        </p:txBody>
      </p:sp>
      <p:sp>
        <p:nvSpPr>
          <p:cNvPr id="32" name="profile-76">
            <a:extLst xmlns:a="http://schemas.openxmlformats.org/drawingml/2006/main">
              <a:ext uri="{FF2B5EF4-FFF2-40B4-BE49-F238E27FC236}">
                <a16:creationId xmlns:a16="http://schemas.microsoft.com/office/drawing/2014/main" id="{F473F7B6-A16A-4A8C-A75F-8DCA09F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33" name="profile-77">
            <a:extLst xmlns:a="http://schemas.openxmlformats.org/drawingml/2006/main">
              <a:ext uri="{FF2B5EF4-FFF2-40B4-BE49-F238E27FC236}">
                <a16:creationId xmlns:a16="http://schemas.microsoft.com/office/drawing/2014/main" id="{505EF952-92FC-497D-A007-942D32F3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2743200" cy="819150"/>
          </a:xfrm>
          <a:custGeom xmlns:a="http://schemas.openxmlformats.org/drawingml/2006/main">
            <a:pathLst>
              <a:path w="2743200" h="819150">
                <a:moveTo>
                  <a:pt x="0" y="0"/>
                </a:moveTo>
                <a:lnTo>
                  <a:pt x="2743200" y="0"/>
                </a:lnTo>
                <a:lnTo>
                  <a:pt x="23907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34" name="profile-78">
            <a:extLst xmlns:a="http://schemas.openxmlformats.org/drawingml/2006/main">
              <a:ext uri="{FF2B5EF4-FFF2-40B4-BE49-F238E27FC236}">
                <a16:creationId xmlns:a16="http://schemas.microsoft.com/office/drawing/2014/main" id="{6B618D14-4FEF-411A-97AB-E93CE577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115550"/>
            <a:ext cx="19621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35" name="profile-79">
            <a:extLst xmlns:a="http://schemas.openxmlformats.org/drawingml/2006/main">
              <a:ext uri="{FF2B5EF4-FFF2-40B4-BE49-F238E27FC236}">
                <a16:creationId xmlns:a16="http://schemas.microsoft.com/office/drawing/2014/main" id="{B8D36C87-17FD-4334-830A-4D1ABA1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020300"/>
            <a:ext cx="38385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36" name="profile-80">
            <a:extLst xmlns:a="http://schemas.openxmlformats.org/drawingml/2006/main">
              <a:ext uri="{FF2B5EF4-FFF2-40B4-BE49-F238E27FC236}">
                <a16:creationId xmlns:a16="http://schemas.microsoft.com/office/drawing/2014/main" id="{76086125-4036-42A7-8530-21944755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382250"/>
            <a:ext cx="4000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37" name="profile-81">
            <a:extLst xmlns:a="http://schemas.openxmlformats.org/drawingml/2006/main">
              <a:ext uri="{FF2B5EF4-FFF2-40B4-BE49-F238E27FC236}">
                <a16:creationId xmlns:a16="http://schemas.microsoft.com/office/drawing/2014/main" id="{DD2C7F45-FE71-4D5E-B232-8B8EEBC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0163175"/>
            <a:ext cx="25717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2431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4942db9b4c05"/>
          <a:srcRect xmlns:a="http://schemas.openxmlformats.org/drawingml/2006/main" l="0" t="17439" r="0" b="17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3286125"/>
          </a:xfrm>
          <a:prstGeom xmlns:a="http://schemas.openxmlformats.org/drawingml/2006/main" prst="rect">
            <a:avLst/>
          </a:prstGeom>
        </p:spPr>
      </p:pic>
      <p:sp>
        <p:nvSpPr>
          <p:cNvPr id="2" name="profile-82">
            <a:extLst xmlns:a="http://schemas.openxmlformats.org/drawingml/2006/main">
              <a:ext uri="{FF2B5EF4-FFF2-40B4-BE49-F238E27FC236}">
                <a16:creationId xmlns:a16="http://schemas.microsoft.com/office/drawing/2014/main" id="{A26DF3A3-D889-4DCB-9F57-F5BDC2E3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552700"/>
            <a:ext cx="7000875" cy="1323975"/>
          </a:xfrm>
          <a:custGeom xmlns:a="http://schemas.openxmlformats.org/drawingml/2006/main">
            <a:pathLst>
              <a:path w="7000875" h="1323975">
                <a:moveTo>
                  <a:pt x="514350" y="0"/>
                </a:moveTo>
                <a:lnTo>
                  <a:pt x="7000875" y="0"/>
                </a:lnTo>
                <a:lnTo>
                  <a:pt x="62674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3" name="profile-83">
            <a:extLst xmlns:a="http://schemas.openxmlformats.org/drawingml/2006/main">
              <a:ext uri="{FF2B5EF4-FFF2-40B4-BE49-F238E27FC236}">
                <a16:creationId xmlns:a16="http://schemas.microsoft.com/office/drawing/2014/main" id="{5227BFE6-6304-4F29-9997-FAE82C5D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552700"/>
            <a:ext cx="6896100" cy="1238250"/>
          </a:xfrm>
          <a:custGeom xmlns:a="http://schemas.openxmlformats.org/drawingml/2006/main">
            <a:pathLst>
              <a:path w="6896100" h="1238250">
                <a:moveTo>
                  <a:pt x="514350" y="0"/>
                </a:moveTo>
                <a:lnTo>
                  <a:pt x="6896100" y="0"/>
                </a:lnTo>
                <a:lnTo>
                  <a:pt x="62103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</p:sp>
      <p:sp>
        <p:nvSpPr>
          <p:cNvPr id="4" name="profile-84">
            <a:extLst xmlns:a="http://schemas.openxmlformats.org/drawingml/2006/main">
              <a:ext uri="{FF2B5EF4-FFF2-40B4-BE49-F238E27FC236}">
                <a16:creationId xmlns:a16="http://schemas.microsoft.com/office/drawing/2014/main" id="{20477DC3-B396-4888-9A59-FA4E294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24150"/>
            <a:ext cx="5800725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RENOVATION</a:t>
            </a:r>
          </a:p>
        </p:txBody>
      </p:sp>
      <p:sp>
        <p:nvSpPr>
          <p:cNvPr id="5" name="profile-85">
            <a:extLst xmlns:a="http://schemas.openxmlformats.org/drawingml/2006/main">
              <a:ext uri="{FF2B5EF4-FFF2-40B4-BE49-F238E27FC236}">
                <a16:creationId xmlns:a16="http://schemas.microsoft.com/office/drawing/2014/main" id="{7AF22ED0-5295-41D1-8112-889C46A3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50108"/>
            <a:ext cx="5800725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&amp; RESTORATION</a:t>
            </a:r>
          </a:p>
        </p:txBody>
      </p:sp>
      <p:sp>
        <p:nvSpPr>
          <p:cNvPr id="6" name="profile-86">
            <a:extLst xmlns:a="http://schemas.openxmlformats.org/drawingml/2006/main">
              <a:ext uri="{FF2B5EF4-FFF2-40B4-BE49-F238E27FC236}">
                <a16:creationId xmlns:a16="http://schemas.microsoft.com/office/drawing/2014/main" id="{2C88F35E-9163-4F9A-B211-EBB27BC9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0025"/>
            <a:ext cx="6724650" cy="155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Illustrative interior photograph / Max Vakhtbovych, Pexels</a:t>
            </a:r>
          </a:p>
        </p:txBody>
      </p:sp>
      <p:sp>
        <p:nvSpPr>
          <p:cNvPr id="7" name="profile-87">
            <a:extLst xmlns:a="http://schemas.openxmlformats.org/drawingml/2006/main">
              <a:ext uri="{FF2B5EF4-FFF2-40B4-BE49-F238E27FC236}">
                <a16:creationId xmlns:a16="http://schemas.microsoft.com/office/drawing/2014/main" id="{07A656D3-EF93-43CB-9F61-19FB3348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67225"/>
            <a:ext cx="67246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HOUSES &amp; CONDOMINIUMS</a:t>
            </a:r>
          </a:p>
        </p:txBody>
      </p:sp>
      <p:sp>
        <p:nvSpPr>
          <p:cNvPr id="8" name="profile-88">
            <a:extLst xmlns:a="http://schemas.openxmlformats.org/drawingml/2006/main">
              <a:ext uri="{FF2B5EF4-FFF2-40B4-BE49-F238E27FC236}">
                <a16:creationId xmlns:a16="http://schemas.microsoft.com/office/drawing/2014/main" id="{251A57C1-631A-4F92-A88B-80940057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7205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Repair and improvement work for houses and condominiums, with a quotation</a:t>
            </a:r>
          </a:p>
        </p:txBody>
      </p:sp>
      <p:sp>
        <p:nvSpPr>
          <p:cNvPr id="9" name="profile-89">
            <a:extLst xmlns:a="http://schemas.openxmlformats.org/drawingml/2006/main">
              <a:ext uri="{FF2B5EF4-FFF2-40B4-BE49-F238E27FC236}">
                <a16:creationId xmlns:a16="http://schemas.microsoft.com/office/drawing/2014/main" id="{3A4417E3-622E-464E-9DBA-E465C71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tailored to the site and the agreed scope.</a:t>
            </a:r>
          </a:p>
        </p:txBody>
      </p:sp>
      <p:sp>
        <p:nvSpPr>
          <p:cNvPr id="10" name="profile-90">
            <a:extLst xmlns:a="http://schemas.openxmlformats.org/drawingml/2006/main">
              <a:ext uri="{FF2B5EF4-FFF2-40B4-BE49-F238E27FC236}">
                <a16:creationId xmlns:a16="http://schemas.microsoft.com/office/drawing/2014/main" id="{8086686B-C529-4B50-BC90-49F43B3F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7562850" cy="2638425"/>
          </a:xfrm>
          <a:custGeom xmlns:a="http://schemas.openxmlformats.org/drawingml/2006/main">
            <a:pathLst>
              <a:path w="7562850" h="2638425">
                <a:moveTo>
                  <a:pt x="0" y="0"/>
                </a:moveTo>
                <a:lnTo>
                  <a:pt x="7562850" y="0"/>
                </a:lnTo>
                <a:lnTo>
                  <a:pt x="6772275" y="2638425"/>
                </a:lnTo>
                <a:lnTo>
                  <a:pt x="0" y="2638425"/>
                </a:lnTo>
                <a:close/>
              </a:path>
            </a:pathLst>
          </a:cu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11" name="profile-91">
            <a:extLst xmlns:a="http://schemas.openxmlformats.org/drawingml/2006/main">
              <a:ext uri="{FF2B5EF4-FFF2-40B4-BE49-F238E27FC236}">
                <a16:creationId xmlns:a16="http://schemas.microsoft.com/office/drawing/2014/main" id="{001C4924-7819-437B-B2CA-914F08C4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2" name="profile-92">
            <a:extLst xmlns:a="http://schemas.openxmlformats.org/drawingml/2006/main">
              <a:ext uri="{FF2B5EF4-FFF2-40B4-BE49-F238E27FC236}">
                <a16:creationId xmlns:a16="http://schemas.microsoft.com/office/drawing/2014/main" id="{001ED787-BDF4-4A27-924C-26A0CD43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524625"/>
            <a:ext cx="6210300" cy="295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House and condominium renovation</a:t>
            </a:r>
          </a:p>
        </p:txBody>
      </p:sp>
      <p:sp>
        <p:nvSpPr>
          <p:cNvPr id="13" name="profile-93">
            <a:extLst xmlns:a="http://schemas.openxmlformats.org/drawingml/2006/main">
              <a:ext uri="{FF2B5EF4-FFF2-40B4-BE49-F238E27FC236}">
                <a16:creationId xmlns:a16="http://schemas.microsoft.com/office/drawing/2014/main" id="{4D7F7F6A-C9B4-499B-BE15-3465DA47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7688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4" name="profile-94">
            <a:extLst xmlns:a="http://schemas.openxmlformats.org/drawingml/2006/main">
              <a:ext uri="{FF2B5EF4-FFF2-40B4-BE49-F238E27FC236}">
                <a16:creationId xmlns:a16="http://schemas.microsoft.com/office/drawing/2014/main" id="{A1208B64-0015-493F-8F93-A43787F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000685"/>
            <a:ext cx="6210300" cy="295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Restoration and ceiling repair or replacement</a:t>
            </a:r>
          </a:p>
        </p:txBody>
      </p:sp>
      <p:sp>
        <p:nvSpPr>
          <p:cNvPr id="15" name="profile-95">
            <a:extLst xmlns:a="http://schemas.openxmlformats.org/drawingml/2006/main">
              <a:ext uri="{FF2B5EF4-FFF2-40B4-BE49-F238E27FC236}">
                <a16:creationId xmlns:a16="http://schemas.microsoft.com/office/drawing/2014/main" id="{F8A2BE0D-8358-45D3-8BA2-41D50CDE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5294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6" name="profile-96">
            <a:extLst xmlns:a="http://schemas.openxmlformats.org/drawingml/2006/main">
              <a:ext uri="{FF2B5EF4-FFF2-40B4-BE49-F238E27FC236}">
                <a16:creationId xmlns:a16="http://schemas.microsoft.com/office/drawing/2014/main" id="{849695B6-DFC8-438E-89CC-F83B83A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76744"/>
            <a:ext cx="6210300" cy="295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7" name="profile-97">
            <a:extLst xmlns:a="http://schemas.openxmlformats.org/drawingml/2006/main">
              <a:ext uri="{FF2B5EF4-FFF2-40B4-BE49-F238E27FC236}">
                <a16:creationId xmlns:a16="http://schemas.microsoft.com/office/drawing/2014/main" id="{071180EB-B69A-48A7-B993-F7EBB73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02900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8" name="profile-98">
            <a:extLst xmlns:a="http://schemas.openxmlformats.org/drawingml/2006/main">
              <a:ext uri="{FF2B5EF4-FFF2-40B4-BE49-F238E27FC236}">
                <a16:creationId xmlns:a16="http://schemas.microsoft.com/office/drawing/2014/main" id="{3AC581C3-7D7A-4990-9615-BAD052B8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952804"/>
            <a:ext cx="6210300" cy="295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House cleaning within the agreed scope</a:t>
            </a:r>
          </a:p>
        </p:txBody>
      </p:sp>
      <p:sp>
        <p:nvSpPr>
          <p:cNvPr id="19" name="profile-99">
            <a:extLst xmlns:a="http://schemas.openxmlformats.org/drawingml/2006/main">
              <a:ext uri="{FF2B5EF4-FFF2-40B4-BE49-F238E27FC236}">
                <a16:creationId xmlns:a16="http://schemas.microsoft.com/office/drawing/2014/main" id="{C289B082-0B64-409C-BAD4-FA9D6E8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086850"/>
            <a:ext cx="6315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Oceanides coordinates the field team or specialist contractor for the agreed work.</a:t>
            </a:r>
          </a:p>
        </p:txBody>
      </p:sp>
      <p:sp>
        <p:nvSpPr>
          <p:cNvPr id="20" name="profile-100">
            <a:extLst xmlns:a="http://schemas.openxmlformats.org/drawingml/2006/main">
              <a:ext uri="{FF2B5EF4-FFF2-40B4-BE49-F238E27FC236}">
                <a16:creationId xmlns:a16="http://schemas.microsoft.com/office/drawing/2014/main" id="{29C43007-C53A-48CB-A385-640A03C0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21" name="profile-101">
            <a:extLst xmlns:a="http://schemas.openxmlformats.org/drawingml/2006/main">
              <a:ext uri="{FF2B5EF4-FFF2-40B4-BE49-F238E27FC236}">
                <a16:creationId xmlns:a16="http://schemas.microsoft.com/office/drawing/2014/main" id="{53C25BC5-CD97-4420-8D2E-247D1C9A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2743200" cy="819150"/>
          </a:xfrm>
          <a:custGeom xmlns:a="http://schemas.openxmlformats.org/drawingml/2006/main">
            <a:pathLst>
              <a:path w="2743200" h="819150">
                <a:moveTo>
                  <a:pt x="0" y="0"/>
                </a:moveTo>
                <a:lnTo>
                  <a:pt x="2743200" y="0"/>
                </a:lnTo>
                <a:lnTo>
                  <a:pt x="23907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22" name="profile-102">
            <a:extLst xmlns:a="http://schemas.openxmlformats.org/drawingml/2006/main">
              <a:ext uri="{FF2B5EF4-FFF2-40B4-BE49-F238E27FC236}">
                <a16:creationId xmlns:a16="http://schemas.microsoft.com/office/drawing/2014/main" id="{2555E066-4D8D-4175-AB1F-CA4D5B7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115550"/>
            <a:ext cx="19621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23" name="profile-103">
            <a:extLst xmlns:a="http://schemas.openxmlformats.org/drawingml/2006/main">
              <a:ext uri="{FF2B5EF4-FFF2-40B4-BE49-F238E27FC236}">
                <a16:creationId xmlns:a16="http://schemas.microsoft.com/office/drawing/2014/main" id="{9A0B6DB8-269D-4C12-8397-4F0980E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020300"/>
            <a:ext cx="38385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24" name="profile-104">
            <a:extLst xmlns:a="http://schemas.openxmlformats.org/drawingml/2006/main">
              <a:ext uri="{FF2B5EF4-FFF2-40B4-BE49-F238E27FC236}">
                <a16:creationId xmlns:a16="http://schemas.microsoft.com/office/drawing/2014/main" id="{4963A683-4F0E-42D9-B6A0-E1C3D0D7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382250"/>
            <a:ext cx="4000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25" name="profile-105">
            <a:extLst xmlns:a="http://schemas.openxmlformats.org/drawingml/2006/main">
              <a:ext uri="{FF2B5EF4-FFF2-40B4-BE49-F238E27FC236}">
                <a16:creationId xmlns:a16="http://schemas.microsoft.com/office/drawing/2014/main" id="{598132C0-8C9F-4487-89CE-BB42431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0163175"/>
            <a:ext cx="25717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6589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8ecf11da34a47"/>
          <a:srcRect xmlns:a="http://schemas.openxmlformats.org/drawingml/2006/main" l="0" t="9938" r="0" b="9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3181350"/>
          </a:xfrm>
          <a:prstGeom xmlns:a="http://schemas.openxmlformats.org/drawingml/2006/main" prst="rect">
            <a:avLst/>
          </a:prstGeom>
        </p:spPr>
      </p:pic>
      <p:sp>
        <p:nvSpPr>
          <p:cNvPr id="2" name="profile-106">
            <a:extLst xmlns:a="http://schemas.openxmlformats.org/drawingml/2006/main">
              <a:ext uri="{FF2B5EF4-FFF2-40B4-BE49-F238E27FC236}">
                <a16:creationId xmlns:a16="http://schemas.microsoft.com/office/drawing/2014/main" id="{EEC36B12-1541-463D-9763-92B67E6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76500"/>
            <a:ext cx="7000875" cy="1323975"/>
          </a:xfrm>
          <a:custGeom xmlns:a="http://schemas.openxmlformats.org/drawingml/2006/main">
            <a:pathLst>
              <a:path w="7000875" h="1323975">
                <a:moveTo>
                  <a:pt x="514350" y="0"/>
                </a:moveTo>
                <a:lnTo>
                  <a:pt x="7000875" y="0"/>
                </a:lnTo>
                <a:lnTo>
                  <a:pt x="62674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3" name="profile-107">
            <a:extLst xmlns:a="http://schemas.openxmlformats.org/drawingml/2006/main">
              <a:ext uri="{FF2B5EF4-FFF2-40B4-BE49-F238E27FC236}">
                <a16:creationId xmlns:a16="http://schemas.microsoft.com/office/drawing/2014/main" id="{6031006B-9A7E-4577-A8A9-46DB0B86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76500"/>
            <a:ext cx="6896100" cy="1238250"/>
          </a:xfrm>
          <a:custGeom xmlns:a="http://schemas.openxmlformats.org/drawingml/2006/main">
            <a:pathLst>
              <a:path w="6896100" h="1238250">
                <a:moveTo>
                  <a:pt x="514350" y="0"/>
                </a:moveTo>
                <a:lnTo>
                  <a:pt x="6896100" y="0"/>
                </a:lnTo>
                <a:lnTo>
                  <a:pt x="62103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</p:sp>
      <p:sp>
        <p:nvSpPr>
          <p:cNvPr id="4" name="profile-108">
            <a:extLst xmlns:a="http://schemas.openxmlformats.org/drawingml/2006/main">
              <a:ext uri="{FF2B5EF4-FFF2-40B4-BE49-F238E27FC236}">
                <a16:creationId xmlns:a16="http://schemas.microsoft.com/office/drawing/2014/main" id="{3531F667-43BF-4930-956D-B9FA3FF1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5800725" cy="504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PEST CONTROL</a:t>
            </a:r>
          </a:p>
        </p:txBody>
      </p:sp>
      <p:sp>
        <p:nvSpPr>
          <p:cNvPr id="5" name="profile-109">
            <a:extLst xmlns:a="http://schemas.openxmlformats.org/drawingml/2006/main">
              <a:ext uri="{FF2B5EF4-FFF2-40B4-BE49-F238E27FC236}">
                <a16:creationId xmlns:a16="http://schemas.microsoft.com/office/drawing/2014/main" id="{4722C838-7DFF-43D1-9DC4-95B5603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6724650" cy="155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Illustrative pest photograph / Jari Lobo, Pexels</a:t>
            </a:r>
          </a:p>
        </p:txBody>
      </p:sp>
      <p:sp>
        <p:nvSpPr>
          <p:cNvPr id="6" name="profile-110">
            <a:extLst xmlns:a="http://schemas.openxmlformats.org/drawingml/2006/main">
              <a:ext uri="{FF2B5EF4-FFF2-40B4-BE49-F238E27FC236}">
                <a16:creationId xmlns:a16="http://schemas.microsoft.com/office/drawing/2014/main" id="{86DB815A-298F-4AD3-BDF7-9E552A3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6724650" cy="37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SITE FINDINGS FIRST</a:t>
            </a:r>
          </a:p>
        </p:txBody>
      </p:sp>
      <p:sp>
        <p:nvSpPr>
          <p:cNvPr id="7" name="profile-111">
            <a:extLst xmlns:a="http://schemas.openxmlformats.org/drawingml/2006/main">
              <a:ext uri="{FF2B5EF4-FFF2-40B4-BE49-F238E27FC236}">
                <a16:creationId xmlns:a16="http://schemas.microsoft.com/office/drawing/2014/main" id="{F7A22ED1-D52C-4494-A837-4ECE625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72050"/>
            <a:ext cx="672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Pest control services based on an assessment of the property and the pest</a:t>
            </a:r>
          </a:p>
        </p:txBody>
      </p:sp>
      <p:sp>
        <p:nvSpPr>
          <p:cNvPr id="8" name="profile-112">
            <a:extLst xmlns:a="http://schemas.openxmlformats.org/drawingml/2006/main">
              <a:ext uri="{FF2B5EF4-FFF2-40B4-BE49-F238E27FC236}">
                <a16:creationId xmlns:a16="http://schemas.microsoft.com/office/drawing/2014/main" id="{0C807381-24CF-4D92-9AA5-9ADF9651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48275"/>
            <a:ext cx="672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concerns reported by the client.</a:t>
            </a:r>
          </a:p>
        </p:txBody>
      </p:sp>
      <p:sp>
        <p:nvSpPr>
          <p:cNvPr id="9" name="profile-113">
            <a:extLst xmlns:a="http://schemas.openxmlformats.org/drawingml/2006/main">
              <a:ext uri="{FF2B5EF4-FFF2-40B4-BE49-F238E27FC236}">
                <a16:creationId xmlns:a16="http://schemas.microsoft.com/office/drawing/2014/main" id="{6CC4EE0A-89C2-4479-A077-24CD6C2B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756285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10" name="profile-114">
            <a:extLst xmlns:a="http://schemas.openxmlformats.org/drawingml/2006/main">
              <a:ext uri="{FF2B5EF4-FFF2-40B4-BE49-F238E27FC236}">
                <a16:creationId xmlns:a16="http://schemas.microsoft.com/office/drawing/2014/main" id="{D1A85116-47C3-4482-9022-09784579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865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1" name="profile-115">
            <a:extLst xmlns:a="http://schemas.openxmlformats.org/drawingml/2006/main">
              <a:ext uri="{FF2B5EF4-FFF2-40B4-BE49-F238E27FC236}">
                <a16:creationId xmlns:a16="http://schemas.microsoft.com/office/drawing/2014/main" id="{60A8EE8B-F957-467E-866B-B7E1B0F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610350"/>
            <a:ext cx="6343650" cy="30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2" name="profile-116">
            <a:extLst xmlns:a="http://schemas.openxmlformats.org/drawingml/2006/main">
              <a:ext uri="{FF2B5EF4-FFF2-40B4-BE49-F238E27FC236}">
                <a16:creationId xmlns:a16="http://schemas.microsoft.com/office/drawing/2014/main" id="{84DDD6CC-7669-41A7-A7D8-2E241528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2337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3" name="profile-117">
            <a:extLst xmlns:a="http://schemas.openxmlformats.org/drawingml/2006/main">
              <a:ext uri="{FF2B5EF4-FFF2-40B4-BE49-F238E27FC236}">
                <a16:creationId xmlns:a16="http://schemas.microsoft.com/office/drawing/2014/main" id="{5144E391-3C55-4D19-8190-38E4744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147179"/>
            <a:ext cx="6343650" cy="30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4" name="profile-118">
            <a:extLst xmlns:a="http://schemas.openxmlformats.org/drawingml/2006/main">
              <a:ext uri="{FF2B5EF4-FFF2-40B4-BE49-F238E27FC236}">
                <a16:creationId xmlns:a16="http://schemas.microsoft.com/office/drawing/2014/main" id="{884E8332-D901-43BC-B0D2-F1772D38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6020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5" name="profile-119">
            <a:extLst xmlns:a="http://schemas.openxmlformats.org/drawingml/2006/main">
              <a:ext uri="{FF2B5EF4-FFF2-40B4-BE49-F238E27FC236}">
                <a16:creationId xmlns:a16="http://schemas.microsoft.com/office/drawing/2014/main" id="{B035EEA7-53C5-4C9E-85E2-E304142A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684008"/>
            <a:ext cx="6343650" cy="30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6" name="profile-120">
            <a:extLst xmlns:a="http://schemas.openxmlformats.org/drawingml/2006/main">
              <a:ext uri="{FF2B5EF4-FFF2-40B4-BE49-F238E27FC236}">
                <a16:creationId xmlns:a16="http://schemas.microsoft.com/office/drawing/2014/main" id="{FCFC5231-ED03-4CF8-8FD0-7B8E55EE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15375"/>
            <a:ext cx="400050" cy="933450"/>
          </a:xfrm>
          <a:custGeom xmlns:a="http://schemas.openxmlformats.org/drawingml/2006/main">
            <a:pathLst>
              <a:path w="400050" h="933450">
                <a:moveTo>
                  <a:pt x="0" y="0"/>
                </a:moveTo>
                <a:lnTo>
                  <a:pt x="400050" y="0"/>
                </a:lnTo>
                <a:lnTo>
                  <a:pt x="171450" y="933450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17" name="profile-121">
            <a:extLst xmlns:a="http://schemas.openxmlformats.org/drawingml/2006/main">
              <a:ext uri="{FF2B5EF4-FFF2-40B4-BE49-F238E27FC236}">
                <a16:creationId xmlns:a16="http://schemas.microsoft.com/office/drawing/2014/main" id="{843F110A-E94E-409D-8BC8-56181C53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15400"/>
            <a:ext cx="6410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The treatment scope, service schedule and specialist requirements are confirmed</a:t>
            </a:r>
          </a:p>
        </p:txBody>
      </p:sp>
      <p:sp>
        <p:nvSpPr>
          <p:cNvPr id="18" name="profile-122">
            <a:extLst xmlns:a="http://schemas.openxmlformats.org/drawingml/2006/main">
              <a:ext uri="{FF2B5EF4-FFF2-40B4-BE49-F238E27FC236}">
                <a16:creationId xmlns:a16="http://schemas.microsoft.com/office/drawing/2014/main" id="{F3D1419D-8658-44B0-805F-A4EBE5B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72575"/>
            <a:ext cx="6410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B33"/>
                </a:solidFill>
                <a:latin typeface="Arial"/>
                <a:ea typeface="Arial"/>
                <a:cs typeface="Arial"/>
              </a:rPr>
              <a:t>after assessment.</a:t>
            </a:r>
          </a:p>
        </p:txBody>
      </p:sp>
      <p:sp>
        <p:nvSpPr>
          <p:cNvPr id="19" name="profile-123">
            <a:extLst xmlns:a="http://schemas.openxmlformats.org/drawingml/2006/main">
              <a:ext uri="{FF2B5EF4-FFF2-40B4-BE49-F238E27FC236}">
                <a16:creationId xmlns:a16="http://schemas.microsoft.com/office/drawing/2014/main" id="{51A26AFC-6B85-4923-BE0A-F988A21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756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5"/>
          </a:solidFill>
          <a:ln xmlns:a="http://schemas.openxmlformats.org/drawingml/2006/main" w="0">
            <a:noFill/>
          </a:ln>
        </p:spPr>
      </p:sp>
      <p:sp>
        <p:nvSpPr>
          <p:cNvPr id="20" name="profile-124">
            <a:extLst xmlns:a="http://schemas.openxmlformats.org/drawingml/2006/main">
              <a:ext uri="{FF2B5EF4-FFF2-40B4-BE49-F238E27FC236}">
                <a16:creationId xmlns:a16="http://schemas.microsoft.com/office/drawing/2014/main" id="{37B2138C-2F8B-43D5-97B9-89CF228C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77425"/>
            <a:ext cx="2743200" cy="819150"/>
          </a:xfrm>
          <a:custGeom xmlns:a="http://schemas.openxmlformats.org/drawingml/2006/main">
            <a:pathLst>
              <a:path w="2743200" h="819150">
                <a:moveTo>
                  <a:pt x="0" y="0"/>
                </a:moveTo>
                <a:lnTo>
                  <a:pt x="2743200" y="0"/>
                </a:lnTo>
                <a:lnTo>
                  <a:pt x="23907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21" name="profile-125">
            <a:extLst xmlns:a="http://schemas.openxmlformats.org/drawingml/2006/main">
              <a:ext uri="{FF2B5EF4-FFF2-40B4-BE49-F238E27FC236}">
                <a16:creationId xmlns:a16="http://schemas.microsoft.com/office/drawing/2014/main" id="{3442981B-8024-445B-939E-F95418CF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115550"/>
            <a:ext cx="19621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OCEANIDES</a:t>
            </a:r>
          </a:p>
        </p:txBody>
      </p:sp>
      <p:sp>
        <p:nvSpPr>
          <p:cNvPr id="22" name="profile-126">
            <a:extLst xmlns:a="http://schemas.openxmlformats.org/drawingml/2006/main">
              <a:ext uri="{FF2B5EF4-FFF2-40B4-BE49-F238E27FC236}">
                <a16:creationId xmlns:a16="http://schemas.microsoft.com/office/drawing/2014/main" id="{B0920589-DA6F-4FCB-ABF1-3E2C33FA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020300"/>
            <a:ext cx="38385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23" name="profile-127">
            <a:extLst xmlns:a="http://schemas.openxmlformats.org/drawingml/2006/main">
              <a:ext uri="{FF2B5EF4-FFF2-40B4-BE49-F238E27FC236}">
                <a16:creationId xmlns:a16="http://schemas.microsoft.com/office/drawing/2014/main" id="{393EE87A-1EBC-4B64-84CD-CA9B92C3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382250"/>
            <a:ext cx="4000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24" name="profile-128">
            <a:extLst xmlns:a="http://schemas.openxmlformats.org/drawingml/2006/main">
              <a:ext uri="{FF2B5EF4-FFF2-40B4-BE49-F238E27FC236}">
                <a16:creationId xmlns:a16="http://schemas.microsoft.com/office/drawing/2014/main" id="{060C4CF3-3047-4752-B555-B580208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0163175"/>
            <a:ext cx="25717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B3D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3753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711306e1a459c"/>
          <a:stretch xmlns:a="http://schemas.openxmlformats.org/drawingml/2006/main"/>
        </p:blipFill>
        <p:spPr>
          <a:xfrm xmlns:a="http://schemas.openxmlformats.org/drawingml/2006/main">
            <a:off x="295275" y="190500"/>
            <a:ext cx="1190625" cy="1190625"/>
          </a:xfrm>
          <a:prstGeom xmlns:a="http://schemas.openxmlformats.org/drawingml/2006/main" prst="rect">
            <a:avLst/>
          </a:prstGeom>
        </p:spPr>
      </p:pic>
      <p:sp>
        <p:nvSpPr>
          <p:cNvPr id="2" name="profile-129">
            <a:extLst xmlns:a="http://schemas.openxmlformats.org/drawingml/2006/main">
              <a:ext uri="{FF2B5EF4-FFF2-40B4-BE49-F238E27FC236}">
                <a16:creationId xmlns:a16="http://schemas.microsoft.com/office/drawing/2014/main" id="{41C50467-4837-4897-BAD1-C3B11BD3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"/>
            <a:ext cx="536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42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LET'S ASSESS</a:t>
            </a:r>
          </a:p>
        </p:txBody>
      </p:sp>
      <p:sp>
        <p:nvSpPr>
          <p:cNvPr id="3" name="profile-130">
            <a:extLst xmlns:a="http://schemas.openxmlformats.org/drawingml/2006/main">
              <a:ext uri="{FF2B5EF4-FFF2-40B4-BE49-F238E27FC236}">
                <a16:creationId xmlns:a16="http://schemas.microsoft.com/office/drawing/2014/main" id="{8863C003-8374-487A-B355-FBBFEE59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28675"/>
            <a:ext cx="536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42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YOUR SITE.</a:t>
            </a:r>
          </a:p>
        </p:txBody>
      </p:sp>
      <p:sp>
        <p:nvSpPr>
          <p:cNvPr id="4" name="profile-131">
            <a:extLst xmlns:a="http://schemas.openxmlformats.org/drawingml/2006/main">
              <a:ext uri="{FF2B5EF4-FFF2-40B4-BE49-F238E27FC236}">
                <a16:creationId xmlns:a16="http://schemas.microsoft.com/office/drawing/2014/main" id="{531E2CF8-35B3-4B84-9829-A424AF8B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9775"/>
            <a:ext cx="672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Tell us the service, location and preferred inspection schedule.</a:t>
            </a:r>
          </a:p>
        </p:txBody>
      </p:sp>
      <p:sp>
        <p:nvSpPr>
          <p:cNvPr id="5" name="profile-132">
            <a:extLst xmlns:a="http://schemas.openxmlformats.org/drawingml/2006/main">
              <a:ext uri="{FF2B5EF4-FFF2-40B4-BE49-F238E27FC236}">
                <a16:creationId xmlns:a16="http://schemas.microsoft.com/office/drawing/2014/main" id="{E7F0D83D-098C-48AB-9D66-BF0310E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76550"/>
            <a:ext cx="7562850" cy="1295400"/>
          </a:xfrm>
          <a:custGeom xmlns:a="http://schemas.openxmlformats.org/drawingml/2006/main">
            <a:pathLst>
              <a:path w="7562850" h="1295400">
                <a:moveTo>
                  <a:pt x="0" y="0"/>
                </a:moveTo>
                <a:lnTo>
                  <a:pt x="7562850" y="0"/>
                </a:lnTo>
                <a:lnTo>
                  <a:pt x="6981825" y="1295400"/>
                </a:lnTo>
                <a:lnTo>
                  <a:pt x="0" y="1295400"/>
                </a:lnTo>
                <a:close/>
              </a:path>
            </a:pathLst>
          </a:custGeom>
          <a:solidFill xmlns:a="http://schemas.openxmlformats.org/drawingml/2006/main">
            <a:srgbClr val="F5B301"/>
          </a:solidFill>
          <a:ln xmlns:a="http://schemas.openxmlformats.org/drawingml/2006/main" w="0">
            <a:noFill/>
          </a:ln>
        </p:spPr>
      </p:sp>
      <p:sp>
        <p:nvSpPr>
          <p:cNvPr id="6" name="profile-133">
            <a:extLst xmlns:a="http://schemas.openxmlformats.org/drawingml/2006/main">
              <a:ext uri="{FF2B5EF4-FFF2-40B4-BE49-F238E27FC236}">
                <a16:creationId xmlns:a16="http://schemas.microsoft.com/office/drawing/2014/main" id="{8AA8A2FB-33A5-417E-AE59-81927C3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6534150" cy="724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0A1F45"/>
                </a:solidFill>
                <a:latin typeface="Arial Narrow"/>
                <a:ea typeface="Arial Narrow"/>
                <a:cs typeface="Arial Narrow"/>
              </a:rPr>
              <a:t>0917 671 6383</a:t>
            </a:r>
          </a:p>
        </p:txBody>
      </p:sp>
      <p:sp>
        <p:nvSpPr>
          <p:cNvPr id="7" name="profile-134">
            <a:extLst xmlns:a="http://schemas.openxmlformats.org/drawingml/2006/main">
              <a:ext uri="{FF2B5EF4-FFF2-40B4-BE49-F238E27FC236}">
                <a16:creationId xmlns:a16="http://schemas.microsoft.com/office/drawing/2014/main" id="{1168CCE3-CAD6-4F03-AE84-96973787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9525"/>
            <a:ext cx="64198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F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1F45"/>
                </a:solidFill>
                <a:latin typeface="Arial"/>
                <a:ea typeface="Arial"/>
                <a:cs typeface="Arial"/>
              </a:rPr>
              <a:t>GLOBE / marketing@oceanidessepticandpest.com</a:t>
            </a:r>
          </a:p>
        </p:txBody>
      </p:sp>
      <p:sp>
        <p:nvSpPr>
          <p:cNvPr id="8" name="profile-135">
            <a:extLst xmlns:a="http://schemas.openxmlformats.org/drawingml/2006/main">
              <a:ext uri="{FF2B5EF4-FFF2-40B4-BE49-F238E27FC236}">
                <a16:creationId xmlns:a16="http://schemas.microsoft.com/office/drawing/2014/main" id="{7F23B2F2-FFB8-4FA1-90D2-D509DE17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6724650" cy="37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HOW THE WORK MOVES FORWARD</a:t>
            </a:r>
          </a:p>
        </p:txBody>
      </p:sp>
      <p:sp>
        <p:nvSpPr>
          <p:cNvPr id="9" name="profile-136">
            <a:extLst xmlns:a="http://schemas.openxmlformats.org/drawingml/2006/main">
              <a:ext uri="{FF2B5EF4-FFF2-40B4-BE49-F238E27FC236}">
                <a16:creationId xmlns:a16="http://schemas.microsoft.com/office/drawing/2014/main" id="{AFD3FEFF-FB76-4F79-BE21-A4E15DF8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476250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10" name="profile-137">
            <a:extLst xmlns:a="http://schemas.openxmlformats.org/drawingml/2006/main">
              <a:ext uri="{FF2B5EF4-FFF2-40B4-BE49-F238E27FC236}">
                <a16:creationId xmlns:a16="http://schemas.microsoft.com/office/drawing/2014/main" id="{46D729CF-E9DA-4146-86D8-FDB8438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172075"/>
            <a:ext cx="25241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SITE ASSESSMENT</a:t>
            </a:r>
          </a:p>
        </p:txBody>
      </p:sp>
      <p:sp>
        <p:nvSpPr>
          <p:cNvPr id="11" name="profile-138">
            <a:extLst xmlns:a="http://schemas.openxmlformats.org/drawingml/2006/main">
              <a:ext uri="{FF2B5EF4-FFF2-40B4-BE49-F238E27FC236}">
                <a16:creationId xmlns:a16="http://schemas.microsoft.com/office/drawing/2014/main" id="{B08CCAD8-C4C0-4055-BB54-F339EC01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Review the reported problem, work areas, site</a:t>
            </a:r>
          </a:p>
        </p:txBody>
      </p:sp>
      <p:sp>
        <p:nvSpPr>
          <p:cNvPr id="12" name="profile-139">
            <a:extLst xmlns:a="http://schemas.openxmlformats.org/drawingml/2006/main">
              <a:ext uri="{FF2B5EF4-FFF2-40B4-BE49-F238E27FC236}">
                <a16:creationId xmlns:a16="http://schemas.microsoft.com/office/drawing/2014/main" id="{A91D2333-B910-4910-9ED6-1376B513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access and project requirements.</a:t>
            </a:r>
          </a:p>
        </p:txBody>
      </p:sp>
      <p:sp>
        <p:nvSpPr>
          <p:cNvPr id="13" name="profile-140">
            <a:extLst xmlns:a="http://schemas.openxmlformats.org/drawingml/2006/main">
              <a:ext uri="{FF2B5EF4-FFF2-40B4-BE49-F238E27FC236}">
                <a16:creationId xmlns:a16="http://schemas.microsoft.com/office/drawing/2014/main" id="{7C31D54F-0648-4A1A-A083-D78CE3F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476250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4" name="profile-141">
            <a:extLst xmlns:a="http://schemas.openxmlformats.org/drawingml/2006/main">
              <a:ext uri="{FF2B5EF4-FFF2-40B4-BE49-F238E27FC236}">
                <a16:creationId xmlns:a16="http://schemas.microsoft.com/office/drawing/2014/main" id="{BCA73CB8-C33D-40F8-91C6-E4BF2BCF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172075"/>
            <a:ext cx="25241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WRITTEN QUOTATION</a:t>
            </a:r>
          </a:p>
        </p:txBody>
      </p:sp>
      <p:sp>
        <p:nvSpPr>
          <p:cNvPr id="15" name="profile-142">
            <a:extLst xmlns:a="http://schemas.openxmlformats.org/drawingml/2006/main">
              <a:ext uri="{FF2B5EF4-FFF2-40B4-BE49-F238E27FC236}">
                <a16:creationId xmlns:a16="http://schemas.microsoft.com/office/drawing/2014/main" id="{0C821D52-BF61-479C-8EA9-06C05748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6578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Define the proposed work and pricing. Confirm</a:t>
            </a:r>
          </a:p>
        </p:txBody>
      </p:sp>
      <p:sp>
        <p:nvSpPr>
          <p:cNvPr id="16" name="profile-143">
            <a:extLst xmlns:a="http://schemas.openxmlformats.org/drawingml/2006/main">
              <a:ext uri="{FF2B5EF4-FFF2-40B4-BE49-F238E27FC236}">
                <a16:creationId xmlns:a16="http://schemas.microsoft.com/office/drawing/2014/main" id="{260EA2D8-16FC-47B2-9F0C-E70FE90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8864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the scope with the client before scheduling.</a:t>
            </a:r>
          </a:p>
        </p:txBody>
      </p:sp>
      <p:sp>
        <p:nvSpPr>
          <p:cNvPr id="17" name="profile-144">
            <a:extLst xmlns:a="http://schemas.openxmlformats.org/drawingml/2006/main">
              <a:ext uri="{FF2B5EF4-FFF2-40B4-BE49-F238E27FC236}">
                <a16:creationId xmlns:a16="http://schemas.microsoft.com/office/drawing/2014/main" id="{F508A464-08F1-4B97-8480-F8370A2F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476250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8" name="profile-145">
            <a:extLst xmlns:a="http://schemas.openxmlformats.org/drawingml/2006/main">
              <a:ext uri="{FF2B5EF4-FFF2-40B4-BE49-F238E27FC236}">
                <a16:creationId xmlns:a16="http://schemas.microsoft.com/office/drawing/2014/main" id="{29452A34-FDA0-4DD7-9537-2C157D2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581775"/>
            <a:ext cx="25241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COORDINATION</a:t>
            </a:r>
          </a:p>
        </p:txBody>
      </p:sp>
      <p:sp>
        <p:nvSpPr>
          <p:cNvPr id="19" name="profile-146">
            <a:extLst xmlns:a="http://schemas.openxmlformats.org/drawingml/2006/main">
              <a:ext uri="{FF2B5EF4-FFF2-40B4-BE49-F238E27FC236}">
                <a16:creationId xmlns:a16="http://schemas.microsoft.com/office/drawing/2014/main" id="{5489D87E-3F5E-401E-ABEC-2F408A0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675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Arrange the field team or specialist contractor</a:t>
            </a:r>
          </a:p>
        </p:txBody>
      </p:sp>
      <p:sp>
        <p:nvSpPr>
          <p:cNvPr id="20" name="profile-147">
            <a:extLst xmlns:a="http://schemas.openxmlformats.org/drawingml/2006/main">
              <a:ext uri="{FF2B5EF4-FFF2-40B4-BE49-F238E27FC236}">
                <a16:creationId xmlns:a16="http://schemas.microsoft.com/office/drawing/2014/main" id="{2763DAF6-F9BB-4214-94BB-E159503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961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and coordinate access with the client.</a:t>
            </a:r>
          </a:p>
        </p:txBody>
      </p:sp>
      <p:sp>
        <p:nvSpPr>
          <p:cNvPr id="21" name="profile-148">
            <a:extLst xmlns:a="http://schemas.openxmlformats.org/drawingml/2006/main">
              <a:ext uri="{FF2B5EF4-FFF2-40B4-BE49-F238E27FC236}">
                <a16:creationId xmlns:a16="http://schemas.microsoft.com/office/drawing/2014/main" id="{D6B45D0B-4F6E-4E61-939F-33B387B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572250"/>
            <a:ext cx="476250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5B301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22" name="profile-149">
            <a:extLst xmlns:a="http://schemas.openxmlformats.org/drawingml/2006/main">
              <a:ext uri="{FF2B5EF4-FFF2-40B4-BE49-F238E27FC236}">
                <a16:creationId xmlns:a16="http://schemas.microsoft.com/office/drawing/2014/main" id="{67E523EC-60C4-43DE-91CA-AAFF5A1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581775"/>
            <a:ext cx="25241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TURNOVER</a:t>
            </a:r>
          </a:p>
        </p:txBody>
      </p:sp>
      <p:sp>
        <p:nvSpPr>
          <p:cNvPr id="23" name="profile-150">
            <a:extLst xmlns:a="http://schemas.openxmlformats.org/drawingml/2006/main">
              <a:ext uri="{FF2B5EF4-FFF2-40B4-BE49-F238E27FC236}">
                <a16:creationId xmlns:a16="http://schemas.microsoft.com/office/drawing/2014/main" id="{41B4A601-8D37-437B-A958-103B6482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0675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Review the agreed work with the client and</a:t>
            </a:r>
          </a:p>
        </p:txBody>
      </p:sp>
      <p:sp>
        <p:nvSpPr>
          <p:cNvPr id="24" name="profile-151">
            <a:extLst xmlns:a="http://schemas.openxmlformats.org/drawingml/2006/main">
              <a:ext uri="{FF2B5EF4-FFF2-40B4-BE49-F238E27FC236}">
                <a16:creationId xmlns:a16="http://schemas.microsoft.com/office/drawing/2014/main" id="{58816AD2-562B-4F91-A837-9404F354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2961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coordinate any follow-up within the project</a:t>
            </a:r>
          </a:p>
        </p:txBody>
      </p:sp>
      <p:sp>
        <p:nvSpPr>
          <p:cNvPr id="25" name="profile-152">
            <a:extLst xmlns:a="http://schemas.openxmlformats.org/drawingml/2006/main">
              <a:ext uri="{FF2B5EF4-FFF2-40B4-BE49-F238E27FC236}">
                <a16:creationId xmlns:a16="http://schemas.microsoft.com/office/drawing/2014/main" id="{251BF507-5D5D-4C6A-9803-34E71B5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5247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scope.</a:t>
            </a:r>
          </a:p>
        </p:txBody>
      </p:sp>
      <p:sp>
        <p:nvSpPr>
          <p:cNvPr id="26" name="profile-153">
            <a:extLst xmlns:a="http://schemas.openxmlformats.org/drawingml/2006/main">
              <a:ext uri="{FF2B5EF4-FFF2-40B4-BE49-F238E27FC236}">
                <a16:creationId xmlns:a16="http://schemas.microsoft.com/office/drawing/2014/main" id="{7ADC4305-FC0F-4924-A201-76067610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03910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27" name="profile-154">
            <a:extLst xmlns:a="http://schemas.openxmlformats.org/drawingml/2006/main">
              <a:ext uri="{FF2B5EF4-FFF2-40B4-BE49-F238E27FC236}">
                <a16:creationId xmlns:a16="http://schemas.microsoft.com/office/drawing/2014/main" id="{4E04F433-E004-4C15-90B3-777C840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315325"/>
            <a:ext cx="6724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30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B301"/>
                </a:solidFill>
                <a:latin typeface="Arial"/>
                <a:ea typeface="Arial"/>
                <a:cs typeface="Arial"/>
              </a:rPr>
              <a:t>FOR MANAGEMENT &amp; PROCUREMENT</a:t>
            </a:r>
          </a:p>
        </p:txBody>
      </p:sp>
      <p:sp>
        <p:nvSpPr>
          <p:cNvPr id="28" name="profile-155">
            <a:extLst xmlns:a="http://schemas.openxmlformats.org/drawingml/2006/main">
              <a:ext uri="{FF2B5EF4-FFF2-40B4-BE49-F238E27FC236}">
                <a16:creationId xmlns:a16="http://schemas.microsoft.com/office/drawing/2014/main" id="{4A8AF7E8-0D8F-4CE7-A2F0-87B2D4A5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0"/>
            <a:ext cx="672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Share your supplier-accreditation requirements with Oceanides. We can coordinate the company</a:t>
            </a:r>
          </a:p>
        </p:txBody>
      </p:sp>
      <p:sp>
        <p:nvSpPr>
          <p:cNvPr id="29" name="profile-156">
            <a:extLst xmlns:a="http://schemas.openxmlformats.org/drawingml/2006/main">
              <a:ext uri="{FF2B5EF4-FFF2-40B4-BE49-F238E27FC236}">
                <a16:creationId xmlns:a16="http://schemas.microsoft.com/office/drawing/2014/main" id="{A5A4E373-443B-4B10-8FC1-D025E0F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896350"/>
            <a:ext cx="672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documents and project information required for your review.</a:t>
            </a:r>
          </a:p>
        </p:txBody>
      </p:sp>
      <p:sp>
        <p:nvSpPr>
          <p:cNvPr id="30" name="profile-157">
            <a:extLst xmlns:a="http://schemas.openxmlformats.org/drawingml/2006/main">
              <a:ext uri="{FF2B5EF4-FFF2-40B4-BE49-F238E27FC236}">
                <a16:creationId xmlns:a16="http://schemas.microsoft.com/office/drawing/2014/main" id="{A60D65C1-EE77-47C1-B01C-D242583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29750"/>
            <a:ext cx="672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3D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B3DD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31" name="profile-158">
            <a:extLst xmlns:a="http://schemas.openxmlformats.org/drawingml/2006/main">
              <a:ext uri="{FF2B5EF4-FFF2-40B4-BE49-F238E27FC236}">
                <a16:creationId xmlns:a16="http://schemas.microsoft.com/office/drawing/2014/main" id="{662C9C7A-5905-4D77-97C8-BB5B17C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53625"/>
            <a:ext cx="7562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</p:sp>
      <p:sp>
        <p:nvSpPr>
          <p:cNvPr id="32" name="profile-159">
            <a:extLst xmlns:a="http://schemas.openxmlformats.org/drawingml/2006/main">
              <a:ext uri="{FF2B5EF4-FFF2-40B4-BE49-F238E27FC236}">
                <a16:creationId xmlns:a16="http://schemas.microsoft.com/office/drawing/2014/main" id="{CD8ED270-A2FF-4F45-936F-AC39F19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96500"/>
            <a:ext cx="672465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1F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1F45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33" name="profile-160">
            <a:extLst xmlns:a="http://schemas.openxmlformats.org/drawingml/2006/main">
              <a:ext uri="{FF2B5EF4-FFF2-40B4-BE49-F238E27FC236}">
                <a16:creationId xmlns:a16="http://schemas.microsoft.com/office/drawing/2014/main" id="{BA3A3B6A-B534-4E9B-A782-81E68108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01300"/>
            <a:ext cx="6724650" cy="155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85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630580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2026-10-01T12:48:46.6630000Z</dcterms:created>
  <dcterms:modified xsi:type="dcterms:W3CDTF">2026-10-01T12:48:46.6630000Z</dcterms:modified>
</coreProperties>
</file>