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da15d94ab34ca3" /><Relationship Type="http://schemas.openxmlformats.org/officeDocument/2006/relationships/extended-properties" Target="/docProps/app.xml" Id="Rf8c426bba5aa4732" /><Relationship Type="http://schemas.openxmlformats.org/officeDocument/2006/relationships/officeDocument" Target="/ppt/presentation.xml" Id="R19c2552dfc1847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c5502b36ec4dcd"/>
  </p:sldMasterIdLst>
  <p:notesMasterIdLst>
    <p:notesMasterId xmlns:r="http://schemas.openxmlformats.org/officeDocument/2006/relationships" r:id="R7eaa511d12354b7d"/>
  </p:notesMasterIdLst>
  <p:sldIdLst>
    <p:sldId xmlns:r="http://schemas.openxmlformats.org/officeDocument/2006/relationships" id="256" r:id="R64c8a65298974df4"/>
    <p:sldId xmlns:r="http://schemas.openxmlformats.org/officeDocument/2006/relationships" id="257" r:id="R96fae06964374ebd"/>
    <p:sldId xmlns:r="http://schemas.openxmlformats.org/officeDocument/2006/relationships" id="258" r:id="Rbd2651f7661947a8"/>
    <p:sldId xmlns:r="http://schemas.openxmlformats.org/officeDocument/2006/relationships" id="259" r:id="R89ba0c4b34704058"/>
    <p:sldId xmlns:r="http://schemas.openxmlformats.org/officeDocument/2006/relationships" id="260" r:id="Rff61e436d9f54c79"/>
    <p:sldId xmlns:r="http://schemas.openxmlformats.org/officeDocument/2006/relationships" id="261" r:id="R0c6276ce5e6f4430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5b08bc522244dc" /><Relationship Type="http://schemas.openxmlformats.org/officeDocument/2006/relationships/slideMaster" Target="/ppt/slideMasters/slideMaster1.xml" Id="Rcfc5502b36ec4dcd" /><Relationship Type="http://schemas.openxmlformats.org/officeDocument/2006/relationships/notesMaster" Target="/ppt/notesMasters/notesMaster1.xml" Id="R7eaa511d12354b7d" /><Relationship Type="http://schemas.openxmlformats.org/officeDocument/2006/relationships/presProps" Target="/ppt/presProps.xml" Id="Ra5b03d7759be49b1" /><Relationship Type="http://schemas.openxmlformats.org/officeDocument/2006/relationships/tableStyles" Target="/ppt/tableStyles.xml" Id="Rbca5f8712c484165" /><Relationship Type="http://schemas.openxmlformats.org/officeDocument/2006/relationships/slide" Target="/ppt/slides/slide1.xml" Id="R64c8a65298974df4" /><Relationship Type="http://schemas.openxmlformats.org/officeDocument/2006/relationships/slide" Target="/ppt/slides/slide2.xml" Id="R96fae06964374ebd" /><Relationship Type="http://schemas.openxmlformats.org/officeDocument/2006/relationships/slide" Target="/ppt/slides/slide3.xml" Id="Rbd2651f7661947a8" /><Relationship Type="http://schemas.openxmlformats.org/officeDocument/2006/relationships/slide" Target="/ppt/slides/slide4.xml" Id="R89ba0c4b34704058" /><Relationship Type="http://schemas.openxmlformats.org/officeDocument/2006/relationships/slide" Target="/ppt/slides/slide5.xml" Id="Rff61e436d9f54c79" /><Relationship Type="http://schemas.openxmlformats.org/officeDocument/2006/relationships/slide" Target="/ppt/slides/slide6.xml" Id="R0c6276ce5e6f44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b01d2efc6d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a30381dea94385" /><Relationship Type="http://schemas.openxmlformats.org/officeDocument/2006/relationships/notesMaster" Target="/ppt/notesMasters/notesMaster1.xml" Id="Reca07aa1f72147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cf058a73b24100" /><Relationship Type="http://schemas.openxmlformats.org/officeDocument/2006/relationships/notesMaster" Target="/ppt/notesMasters/notesMaster1.xml" Id="R71d17ce1cd3249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1ccac34ed4e5e" /><Relationship Type="http://schemas.openxmlformats.org/officeDocument/2006/relationships/notesMaster" Target="/ppt/notesMasters/notesMaster1.xml" Id="Rf75313ce749d4b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e1a97587164f18" /><Relationship Type="http://schemas.openxmlformats.org/officeDocument/2006/relationships/notesMaster" Target="/ppt/notesMasters/notesMaster1.xml" Id="Recfbf02b2b484d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4b69367a8e475e" /><Relationship Type="http://schemas.openxmlformats.org/officeDocument/2006/relationships/notesMaster" Target="/ppt/notesMasters/notesMaster1.xml" Id="R565454e4bd2c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3bf64a8f8148e5" /><Relationship Type="http://schemas.openxmlformats.org/officeDocument/2006/relationships/notesMaster" Target="/ppt/notesMasters/notesMaster1.xml" Id="Rd6e44d1a11cc49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Cover vehicle: clients/oceanides/assets/tb2-truck-street.png, approved real vehicle source in client design/asset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Matched before/after pair: clients/oceanides/assets/tb2-ba2-before.png and tb2-ba2-after.png. Neil confirmed real job photos on 2026-08-01; see client DESIGN.md and asset-builder source.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inspiration: Metro Rod Services Explained brochure;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971f402644f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d48b8638e44b50" /><Relationship Type="http://schemas.openxmlformats.org/officeDocument/2006/relationships/slideLayout" Target="/ppt/slideLayouts/slideLayout1.xml" Id="R7f1760778c2846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1760778c2846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83f1e7f794c19" /><Relationship Type="http://schemas.openxmlformats.org/officeDocument/2006/relationships/image" Target="/ppt/media/image.jpeg" Id="R998a4e05e72948c4" /><Relationship Type="http://schemas.openxmlformats.org/officeDocument/2006/relationships/image" Target="/ppt/media/image2.jpeg" Id="R5b9ca352dd27420d" /><Relationship Type="http://schemas.openxmlformats.org/officeDocument/2006/relationships/notesSlide" Target="/ppt/notesSlides/notesSlide1.xml" Id="Rb3a8d0e77b0143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52e940da64160" /><Relationship Type="http://schemas.openxmlformats.org/officeDocument/2006/relationships/notesSlide" Target="/ppt/notesSlides/notesSlide2.xml" Id="Rd39b1a9e4e4c42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692fdc2fe4d3d" /><Relationship Type="http://schemas.openxmlformats.org/officeDocument/2006/relationships/image" Target="/ppt/media/image3.jpeg" Id="R9df2ea6cc26c4112" /><Relationship Type="http://schemas.openxmlformats.org/officeDocument/2006/relationships/image" Target="/ppt/media/image4.jpeg" Id="Rc7e2e24e442d4986" /><Relationship Type="http://schemas.openxmlformats.org/officeDocument/2006/relationships/notesSlide" Target="/ppt/notesSlides/notesSlide3.xml" Id="R5ca45e53245942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cbc75998e4d3e" /><Relationship Type="http://schemas.openxmlformats.org/officeDocument/2006/relationships/notesSlide" Target="/ppt/notesSlides/notesSlide4.xml" Id="Rd3bd9a707d1041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601f04c35488a" /><Relationship Type="http://schemas.openxmlformats.org/officeDocument/2006/relationships/notesSlide" Target="/ppt/notesSlides/notesSlide5.xml" Id="R132708c5dfc84f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c4952d7a2405c" /><Relationship Type="http://schemas.openxmlformats.org/officeDocument/2006/relationships/image" Target="/ppt/media/image5.jpeg" Id="R5db5aae8ae0f4f53" /><Relationship Type="http://schemas.openxmlformats.org/officeDocument/2006/relationships/notesSlide" Target="/ppt/notesSlides/notesSlide6.xml" Id="R9a6f90e68aa745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F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a4e05e72948c4"/>
          <a:stretch xmlns:a="http://schemas.openxmlformats.org/drawingml/2006/main"/>
        </p:blipFill>
        <p:spPr>
          <a:xfrm xmlns:a="http://schemas.openxmlformats.org/drawingml/2006/main">
            <a:off x="514350" y="400050"/>
            <a:ext cx="1543050" cy="1543050"/>
          </a:xfrm>
          <a:prstGeom xmlns:a="http://schemas.openxmlformats.org/drawingml/2006/main" prst="rect">
            <a:avLst/>
          </a:prstGeom>
        </p:spPr>
      </p:pic>
      <p:sp>
        <p:nvSpPr>
          <p:cNvPr id="2" name="profile-1">
            <a:extLst xmlns:a="http://schemas.openxmlformats.org/drawingml/2006/main">
              <a:ext uri="{FF2B5EF4-FFF2-40B4-BE49-F238E27FC236}">
                <a16:creationId xmlns:a16="http://schemas.microsoft.com/office/drawing/2014/main" id="{9907B9C8-14CC-41C1-9797-A0D7C187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81025"/>
            <a:ext cx="4648200" cy="7372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3" name="profile-2">
            <a:extLst xmlns:a="http://schemas.openxmlformats.org/drawingml/2006/main">
              <a:ext uri="{FF2B5EF4-FFF2-40B4-BE49-F238E27FC236}">
                <a16:creationId xmlns:a16="http://schemas.microsoft.com/office/drawing/2014/main" id="{69DB47B9-A36C-4444-9141-05DC3697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266825"/>
            <a:ext cx="4572000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Plumbing Siphoning &amp;</a:t>
            </a:r>
          </a:p>
        </p:txBody>
      </p:sp>
      <p:sp>
        <p:nvSpPr>
          <p:cNvPr id="4" name="profile-3">
            <a:extLst xmlns:a="http://schemas.openxmlformats.org/drawingml/2006/main">
              <a:ext uri="{FF2B5EF4-FFF2-40B4-BE49-F238E27FC236}">
                <a16:creationId xmlns:a16="http://schemas.microsoft.com/office/drawing/2014/main" id="{03A7C5EC-C1AC-4139-9F64-02723A70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89710"/>
            <a:ext cx="4572000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Pest Management Services OPC</a:t>
            </a:r>
          </a:p>
        </p:txBody>
      </p:sp>
      <p:sp>
        <p:nvSpPr>
          <p:cNvPr id="5" name="profile-4">
            <a:extLst xmlns:a="http://schemas.openxmlformats.org/drawingml/2006/main">
              <a:ext uri="{FF2B5EF4-FFF2-40B4-BE49-F238E27FC236}">
                <a16:creationId xmlns:a16="http://schemas.microsoft.com/office/drawing/2014/main" id="{39455F73-2A43-47C8-90D0-1F61CA93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6" name="profile-5">
            <a:extLst xmlns:a="http://schemas.openxmlformats.org/drawingml/2006/main">
              <a:ext uri="{FF2B5EF4-FFF2-40B4-BE49-F238E27FC236}">
                <a16:creationId xmlns:a16="http://schemas.microsoft.com/office/drawing/2014/main" id="{BDB97D69-CDA3-4AF1-80B5-F88455A1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90800"/>
            <a:ext cx="6591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82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COMPANY</a:t>
            </a:r>
          </a:p>
        </p:txBody>
      </p:sp>
      <p:sp>
        <p:nvSpPr>
          <p:cNvPr id="7" name="profile-6">
            <a:extLst xmlns:a="http://schemas.openxmlformats.org/drawingml/2006/main">
              <a:ext uri="{FF2B5EF4-FFF2-40B4-BE49-F238E27FC236}">
                <a16:creationId xmlns:a16="http://schemas.microsoft.com/office/drawing/2014/main" id="{B6C9236F-7831-465D-BBF9-00218A7A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6591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82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PROFILE</a:t>
            </a:r>
          </a:p>
        </p:txBody>
      </p:sp>
      <p:sp>
        <p:nvSpPr>
          <p:cNvPr id="8" name="profile-7">
            <a:extLst xmlns:a="http://schemas.openxmlformats.org/drawingml/2006/main">
              <a:ext uri="{FF2B5EF4-FFF2-40B4-BE49-F238E27FC236}">
                <a16:creationId xmlns:a16="http://schemas.microsoft.com/office/drawing/2014/main" id="{6AF64024-5598-471E-AE14-C141707E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48250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Siphoning / Plumbing</a:t>
            </a:r>
          </a:p>
        </p:txBody>
      </p:sp>
      <p:sp>
        <p:nvSpPr>
          <p:cNvPr id="9" name="profile-8">
            <a:extLst xmlns:a="http://schemas.openxmlformats.org/drawingml/2006/main">
              <a:ext uri="{FF2B5EF4-FFF2-40B4-BE49-F238E27FC236}">
                <a16:creationId xmlns:a16="http://schemas.microsoft.com/office/drawing/2014/main" id="{1A617156-79D9-4484-B6AF-030B16FD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43525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Renovation &amp; restoration / Pest control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ca352dd27420d"/>
          <a:srcRect xmlns:a="http://schemas.openxmlformats.org/drawingml/2006/main" l="0" t="13375" r="0" b="13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6124575"/>
            <a:ext cx="6534150" cy="3190875"/>
          </a:xfrm>
          <a:prstGeom xmlns:a="http://schemas.openxmlformats.org/drawingml/2006/main" prst="rect">
            <a:avLst/>
          </a:prstGeom>
        </p:spPr>
      </p:pic>
      <p:sp>
        <p:nvSpPr>
          <p:cNvPr id="11" name="profile-9">
            <a:extLst xmlns:a="http://schemas.openxmlformats.org/drawingml/2006/main">
              <a:ext uri="{FF2B5EF4-FFF2-40B4-BE49-F238E27FC236}">
                <a16:creationId xmlns:a16="http://schemas.microsoft.com/office/drawing/2014/main" id="{0D75BDE4-33B2-403D-9D66-2FD21262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25000"/>
            <a:ext cx="6534150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 | Globe</a:t>
            </a:r>
          </a:p>
        </p:txBody>
      </p:sp>
      <p:sp>
        <p:nvSpPr>
          <p:cNvPr id="12" name="profile-10">
            <a:extLst xmlns:a="http://schemas.openxmlformats.org/drawingml/2006/main">
              <a:ext uri="{FF2B5EF4-FFF2-40B4-BE49-F238E27FC236}">
                <a16:creationId xmlns:a16="http://schemas.microsoft.com/office/drawing/2014/main" id="{BCE40360-3E41-4C9E-91B9-21EDE81A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810750"/>
            <a:ext cx="653415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13" name="profile-11">
            <a:extLst xmlns:a="http://schemas.openxmlformats.org/drawingml/2006/main">
              <a:ext uri="{FF2B5EF4-FFF2-40B4-BE49-F238E27FC236}">
                <a16:creationId xmlns:a16="http://schemas.microsoft.com/office/drawing/2014/main" id="{82C0CE7A-2D86-4CEB-BD92-8111B41A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C5E"/>
          </a:solidFill>
          <a:ln xmlns:a="http://schemas.openxmlformats.org/drawingml/2006/main" w="0">
            <a:noFill/>
          </a:ln>
        </p:spPr>
      </p:sp>
      <p:sp>
        <p:nvSpPr>
          <p:cNvPr id="14" name="profile-12">
            <a:extLst xmlns:a="http://schemas.openxmlformats.org/drawingml/2006/main">
              <a:ext uri="{FF2B5EF4-FFF2-40B4-BE49-F238E27FC236}">
                <a16:creationId xmlns:a16="http://schemas.microsoft.com/office/drawing/2014/main" id="{F29CBA31-D62E-4A8D-A795-A9A9B565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15" name="profile-13">
            <a:extLst xmlns:a="http://schemas.openxmlformats.org/drawingml/2006/main">
              <a:ext uri="{FF2B5EF4-FFF2-40B4-BE49-F238E27FC236}">
                <a16:creationId xmlns:a16="http://schemas.microsoft.com/office/drawing/2014/main" id="{1BB276A8-5052-4CAD-9A74-A7FB31BF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464458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rofile-14">
            <a:extLst xmlns:a="http://schemas.openxmlformats.org/drawingml/2006/main">
              <a:ext uri="{FF2B5EF4-FFF2-40B4-BE49-F238E27FC236}">
                <a16:creationId xmlns:a16="http://schemas.microsoft.com/office/drawing/2014/main" id="{1F52E220-546C-4195-9C30-6DAD4BB2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"/>
            <a:ext cx="6534150" cy="613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2" name="profile-15">
            <a:extLst xmlns:a="http://schemas.openxmlformats.org/drawingml/2006/main">
              <a:ext uri="{FF2B5EF4-FFF2-40B4-BE49-F238E27FC236}">
                <a16:creationId xmlns:a16="http://schemas.microsoft.com/office/drawing/2014/main" id="{29CCDBB1-7297-479B-AC9D-83F90A51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6534150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7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COMPANY OVERVIEW</a:t>
            </a:r>
          </a:p>
        </p:txBody>
      </p:sp>
      <p:sp>
        <p:nvSpPr>
          <p:cNvPr id="3" name="profile-16">
            <a:extLst xmlns:a="http://schemas.openxmlformats.org/drawingml/2006/main">
              <a:ext uri="{FF2B5EF4-FFF2-40B4-BE49-F238E27FC236}">
                <a16:creationId xmlns:a16="http://schemas.microsoft.com/office/drawing/2014/main" id="{534ACD43-68CD-4C77-A46C-FCB18E1C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14525"/>
            <a:ext cx="653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Oceanides coordinates property services for homes, condominiums and</a:t>
            </a:r>
          </a:p>
        </p:txBody>
      </p:sp>
      <p:sp>
        <p:nvSpPr>
          <p:cNvPr id="4" name="profile-17">
            <a:extLst xmlns:a="http://schemas.openxmlformats.org/drawingml/2006/main">
              <a:ext uri="{FF2B5EF4-FFF2-40B4-BE49-F238E27FC236}">
                <a16:creationId xmlns:a16="http://schemas.microsoft.com/office/drawing/2014/main" id="{3DBFE43F-212A-49B2-81BB-347C3174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653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company facilities. Our service offering covers siphoning, plumbing,</a:t>
            </a:r>
          </a:p>
        </p:txBody>
      </p:sp>
      <p:sp>
        <p:nvSpPr>
          <p:cNvPr id="5" name="profile-18">
            <a:extLst xmlns:a="http://schemas.openxmlformats.org/drawingml/2006/main">
              <a:ext uri="{FF2B5EF4-FFF2-40B4-BE49-F238E27FC236}">
                <a16:creationId xmlns:a16="http://schemas.microsoft.com/office/drawing/2014/main" id="{16172326-447B-44AA-B9AE-5BFE7672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653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renovation and restoration, and pest control.</a:t>
            </a:r>
          </a:p>
        </p:txBody>
      </p:sp>
      <p:sp>
        <p:nvSpPr>
          <p:cNvPr id="6" name="profile-19">
            <a:extLst xmlns:a="http://schemas.openxmlformats.org/drawingml/2006/main">
              <a:ext uri="{FF2B5EF4-FFF2-40B4-BE49-F238E27FC236}">
                <a16:creationId xmlns:a16="http://schemas.microsoft.com/office/drawing/2014/main" id="{36191D67-7DAA-4E02-A390-358E2D9E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Oceanides remains your main contact from the initial inquiry to turnover. We</a:t>
            </a:r>
          </a:p>
        </p:txBody>
      </p:sp>
      <p:sp>
        <p:nvSpPr>
          <p:cNvPr id="7" name="profile-20">
            <a:extLst xmlns:a="http://schemas.openxmlformats.org/drawingml/2006/main">
              <a:ext uri="{FF2B5EF4-FFF2-40B4-BE49-F238E27FC236}">
                <a16:creationId xmlns:a16="http://schemas.microsoft.com/office/drawing/2014/main" id="{9AB88B11-91CB-4BD7-BF9E-FC501AB0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14700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coordinate the site assessment, quotation and service delivery, including</a:t>
            </a:r>
          </a:p>
        </p:txBody>
      </p:sp>
      <p:sp>
        <p:nvSpPr>
          <p:cNvPr id="8" name="profile-21">
            <a:extLst xmlns:a="http://schemas.openxmlformats.org/drawingml/2006/main">
              <a:ext uri="{FF2B5EF4-FFF2-40B4-BE49-F238E27FC236}">
                <a16:creationId xmlns:a16="http://schemas.microsoft.com/office/drawing/2014/main" id="{5480FBD8-C072-4343-809E-4DF925F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specialist contractors where the work requires them.</a:t>
            </a:r>
          </a:p>
        </p:txBody>
      </p:sp>
      <p:sp>
        <p:nvSpPr>
          <p:cNvPr id="9" name="profile-22">
            <a:extLst xmlns:a="http://schemas.openxmlformats.org/drawingml/2006/main">
              <a:ext uri="{FF2B5EF4-FFF2-40B4-BE49-F238E27FC236}">
                <a16:creationId xmlns:a16="http://schemas.microsoft.com/office/drawing/2014/main" id="{02C17033-E21D-4148-AD2F-23F25233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653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3AD"/>
          </a:solidFill>
          <a:ln xmlns:a="http://schemas.openxmlformats.org/drawingml/2006/main" w="0">
            <a:noFill/>
          </a:ln>
        </p:spPr>
      </p:sp>
      <p:sp>
        <p:nvSpPr>
          <p:cNvPr id="10" name="profile-23">
            <a:extLst xmlns:a="http://schemas.openxmlformats.org/drawingml/2006/main">
              <a:ext uri="{FF2B5EF4-FFF2-40B4-BE49-F238E27FC236}">
                <a16:creationId xmlns:a16="http://schemas.microsoft.com/office/drawing/2014/main" id="{8039D34B-066B-401D-8C4E-76EE3326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0125"/>
            <a:ext cx="6534150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11" name="profile-24">
            <a:extLst xmlns:a="http://schemas.openxmlformats.org/drawingml/2006/main">
              <a:ext uri="{FF2B5EF4-FFF2-40B4-BE49-F238E27FC236}">
                <a16:creationId xmlns:a16="http://schemas.microsoft.com/office/drawing/2014/main" id="{302F99D5-D4DF-4BD2-88E0-93FEE82C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95900"/>
            <a:ext cx="552450" cy="489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2" name="profile-25">
            <a:extLst xmlns:a="http://schemas.openxmlformats.org/drawingml/2006/main">
              <a:ext uri="{FF2B5EF4-FFF2-40B4-BE49-F238E27FC236}">
                <a16:creationId xmlns:a16="http://schemas.microsoft.com/office/drawing/2014/main" id="{D9771F92-C95C-49E7-85E7-BA56873D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86375"/>
            <a:ext cx="575310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13" name="profile-26">
            <a:extLst xmlns:a="http://schemas.openxmlformats.org/drawingml/2006/main">
              <a:ext uri="{FF2B5EF4-FFF2-40B4-BE49-F238E27FC236}">
                <a16:creationId xmlns:a16="http://schemas.microsoft.com/office/drawing/2014/main" id="{198A5396-BC20-4EF9-8A6A-9C0AEC8E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724525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Septic tank siphoning and cleaning, with the service scope based on site access</a:t>
            </a:r>
          </a:p>
        </p:txBody>
      </p:sp>
      <p:sp>
        <p:nvSpPr>
          <p:cNvPr id="14" name="profile-27">
            <a:extLst xmlns:a="http://schemas.openxmlformats.org/drawingml/2006/main">
              <a:ext uri="{FF2B5EF4-FFF2-40B4-BE49-F238E27FC236}">
                <a16:creationId xmlns:a16="http://schemas.microsoft.com/office/drawing/2014/main" id="{63C6B5D0-A74C-45E8-9692-85314042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2650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and tank conditions.</a:t>
            </a:r>
          </a:p>
        </p:txBody>
      </p:sp>
      <p:sp>
        <p:nvSpPr>
          <p:cNvPr id="15" name="profile-28">
            <a:extLst xmlns:a="http://schemas.openxmlformats.org/drawingml/2006/main">
              <a:ext uri="{FF2B5EF4-FFF2-40B4-BE49-F238E27FC236}">
                <a16:creationId xmlns:a16="http://schemas.microsoft.com/office/drawing/2014/main" id="{1291C61A-7C79-43FE-9B1E-D931DEF0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67475"/>
            <a:ext cx="552450" cy="489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profile-29">
            <a:extLst xmlns:a="http://schemas.openxmlformats.org/drawingml/2006/main">
              <a:ext uri="{FF2B5EF4-FFF2-40B4-BE49-F238E27FC236}">
                <a16:creationId xmlns:a16="http://schemas.microsoft.com/office/drawing/2014/main" id="{FAAB67D8-DA75-47CA-AC76-DFC8E3E5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457950"/>
            <a:ext cx="575310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PLUMBING</a:t>
            </a:r>
          </a:p>
        </p:txBody>
      </p:sp>
      <p:sp>
        <p:nvSpPr>
          <p:cNvPr id="17" name="profile-30">
            <a:extLst xmlns:a="http://schemas.openxmlformats.org/drawingml/2006/main">
              <a:ext uri="{FF2B5EF4-FFF2-40B4-BE49-F238E27FC236}">
                <a16:creationId xmlns:a16="http://schemas.microsoft.com/office/drawing/2014/main" id="{B1172377-2A38-4389-913B-B40396C7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896100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Assessment and repair of plumbing problems, including blockages and water</a:t>
            </a:r>
          </a:p>
        </p:txBody>
      </p:sp>
      <p:sp>
        <p:nvSpPr>
          <p:cNvPr id="18" name="profile-31">
            <a:extLst xmlns:a="http://schemas.openxmlformats.org/drawingml/2006/main">
              <a:ext uri="{FF2B5EF4-FFF2-40B4-BE49-F238E27FC236}">
                <a16:creationId xmlns:a16="http://schemas.microsoft.com/office/drawing/2014/main" id="{25AD9D3F-365D-44E4-9DD0-5484432B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34225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leaks.</a:t>
            </a:r>
          </a:p>
        </p:txBody>
      </p:sp>
      <p:sp>
        <p:nvSpPr>
          <p:cNvPr id="19" name="profile-32">
            <a:extLst xmlns:a="http://schemas.openxmlformats.org/drawingml/2006/main">
              <a:ext uri="{FF2B5EF4-FFF2-40B4-BE49-F238E27FC236}">
                <a16:creationId xmlns:a16="http://schemas.microsoft.com/office/drawing/2014/main" id="{7021CFE1-3EE8-4273-A1C8-4E1689A7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39050"/>
            <a:ext cx="552450" cy="489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0" name="profile-33">
            <a:extLst xmlns:a="http://schemas.openxmlformats.org/drawingml/2006/main">
              <a:ext uri="{FF2B5EF4-FFF2-40B4-BE49-F238E27FC236}">
                <a16:creationId xmlns:a16="http://schemas.microsoft.com/office/drawing/2014/main" id="{983339AA-06EC-4FF9-B9A5-1CD40DA7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629525"/>
            <a:ext cx="575310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RENOVATION &amp; RESTORATION</a:t>
            </a:r>
          </a:p>
        </p:txBody>
      </p:sp>
      <p:sp>
        <p:nvSpPr>
          <p:cNvPr id="21" name="profile-34">
            <a:extLst xmlns:a="http://schemas.openxmlformats.org/drawingml/2006/main">
              <a:ext uri="{FF2B5EF4-FFF2-40B4-BE49-F238E27FC236}">
                <a16:creationId xmlns:a16="http://schemas.microsoft.com/office/drawing/2014/main" id="{0FC6B1AA-D51D-482F-ACAA-525B7D1B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67675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Repair and improvement work for houses and condominiums, with a quotation</a:t>
            </a:r>
          </a:p>
        </p:txBody>
      </p:sp>
      <p:sp>
        <p:nvSpPr>
          <p:cNvPr id="22" name="profile-35">
            <a:extLst xmlns:a="http://schemas.openxmlformats.org/drawingml/2006/main">
              <a:ext uri="{FF2B5EF4-FFF2-40B4-BE49-F238E27FC236}">
                <a16:creationId xmlns:a16="http://schemas.microsoft.com/office/drawing/2014/main" id="{BCABE5CE-EB71-4BEF-BEF1-D0253EF2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305800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tailored to the site and the agreed scope.</a:t>
            </a:r>
          </a:p>
        </p:txBody>
      </p:sp>
      <p:sp>
        <p:nvSpPr>
          <p:cNvPr id="23" name="profile-36">
            <a:extLst xmlns:a="http://schemas.openxmlformats.org/drawingml/2006/main">
              <a:ext uri="{FF2B5EF4-FFF2-40B4-BE49-F238E27FC236}">
                <a16:creationId xmlns:a16="http://schemas.microsoft.com/office/drawing/2014/main" id="{C08BE97F-608B-4E4D-B64A-394430C6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810625"/>
            <a:ext cx="552450" cy="489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285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4" name="profile-37">
            <a:extLst xmlns:a="http://schemas.openxmlformats.org/drawingml/2006/main">
              <a:ext uri="{FF2B5EF4-FFF2-40B4-BE49-F238E27FC236}">
                <a16:creationId xmlns:a16="http://schemas.microsoft.com/office/drawing/2014/main" id="{20496C63-199A-478B-A973-65B0147C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801100"/>
            <a:ext cx="575310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PEST CONTROL</a:t>
            </a:r>
          </a:p>
        </p:txBody>
      </p:sp>
      <p:sp>
        <p:nvSpPr>
          <p:cNvPr id="25" name="profile-38">
            <a:extLst xmlns:a="http://schemas.openxmlformats.org/drawingml/2006/main">
              <a:ext uri="{FF2B5EF4-FFF2-40B4-BE49-F238E27FC236}">
                <a16:creationId xmlns:a16="http://schemas.microsoft.com/office/drawing/2014/main" id="{2F02B0D9-8A11-44A0-8C07-CAD879A6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9239250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Pest control services based on an assessment of the property and the pest</a:t>
            </a:r>
          </a:p>
        </p:txBody>
      </p:sp>
      <p:sp>
        <p:nvSpPr>
          <p:cNvPr id="26" name="profile-39">
            <a:extLst xmlns:a="http://schemas.openxmlformats.org/drawingml/2006/main">
              <a:ext uri="{FF2B5EF4-FFF2-40B4-BE49-F238E27FC236}">
                <a16:creationId xmlns:a16="http://schemas.microsoft.com/office/drawing/2014/main" id="{B8F99AB8-6A68-4D41-BB0F-55139D58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9477375"/>
            <a:ext cx="5753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concerns reported by the client.</a:t>
            </a:r>
          </a:p>
        </p:txBody>
      </p:sp>
      <p:sp>
        <p:nvSpPr>
          <p:cNvPr id="27" name="profile-40">
            <a:extLst xmlns:a="http://schemas.openxmlformats.org/drawingml/2006/main">
              <a:ext uri="{FF2B5EF4-FFF2-40B4-BE49-F238E27FC236}">
                <a16:creationId xmlns:a16="http://schemas.microsoft.com/office/drawing/2014/main" id="{F331557F-D835-4012-AA81-1545649A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28" name="profile-41">
            <a:extLst xmlns:a="http://schemas.openxmlformats.org/drawingml/2006/main">
              <a:ext uri="{FF2B5EF4-FFF2-40B4-BE49-F238E27FC236}">
                <a16:creationId xmlns:a16="http://schemas.microsoft.com/office/drawing/2014/main" id="{4AA3E595-00CA-4D68-BFF5-B3CBF108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B6B85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29" name="profile-42">
            <a:extLst xmlns:a="http://schemas.openxmlformats.org/drawingml/2006/main">
              <a:ext uri="{FF2B5EF4-FFF2-40B4-BE49-F238E27FC236}">
                <a16:creationId xmlns:a16="http://schemas.microsoft.com/office/drawing/2014/main" id="{0FDE4129-BE89-47D7-8088-3EBB8FFF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21641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rofile-43">
            <a:extLst xmlns:a="http://schemas.openxmlformats.org/drawingml/2006/main">
              <a:ext uri="{FF2B5EF4-FFF2-40B4-BE49-F238E27FC236}">
                <a16:creationId xmlns:a16="http://schemas.microsoft.com/office/drawing/2014/main" id="{9EAC5A19-4BB3-4495-85C3-C92CB9F9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2" name="profile-44">
            <a:extLst xmlns:a="http://schemas.openxmlformats.org/drawingml/2006/main">
              <a:ext uri="{FF2B5EF4-FFF2-40B4-BE49-F238E27FC236}">
                <a16:creationId xmlns:a16="http://schemas.microsoft.com/office/drawing/2014/main" id="{5163F6CD-8885-4C64-B28A-60A53A39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&amp; PLUMBING</a:t>
            </a:r>
          </a:p>
        </p:txBody>
      </p:sp>
      <p:sp>
        <p:nvSpPr>
          <p:cNvPr id="3" name="profile-45">
            <a:extLst xmlns:a="http://schemas.openxmlformats.org/drawingml/2006/main">
              <a:ext uri="{FF2B5EF4-FFF2-40B4-BE49-F238E27FC236}">
                <a16:creationId xmlns:a16="http://schemas.microsoft.com/office/drawing/2014/main" id="{78C83B74-E45F-47CC-ACCB-14A3ED63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6534150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Assessment before the final scope</a:t>
            </a:r>
          </a:p>
        </p:txBody>
      </p:sp>
      <p:sp>
        <p:nvSpPr>
          <p:cNvPr id="4" name="profile-46">
            <a:extLst xmlns:a="http://schemas.openxmlformats.org/drawingml/2006/main">
              <a:ext uri="{FF2B5EF4-FFF2-40B4-BE49-F238E27FC236}">
                <a16:creationId xmlns:a16="http://schemas.microsoft.com/office/drawing/2014/main" id="{1469089A-C671-40C3-B26A-39F40A2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653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Oceanides reviews the site conditions and coordinates the appropriate work with</a:t>
            </a:r>
          </a:p>
        </p:txBody>
      </p:sp>
      <p:sp>
        <p:nvSpPr>
          <p:cNvPr id="5" name="profile-47">
            <a:extLst xmlns:a="http://schemas.openxmlformats.org/drawingml/2006/main">
              <a:ext uri="{FF2B5EF4-FFF2-40B4-BE49-F238E27FC236}">
                <a16:creationId xmlns:a16="http://schemas.microsoft.com/office/drawing/2014/main" id="{C5107718-A951-40AB-A856-4F218889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653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the field team.</a:t>
            </a:r>
          </a:p>
        </p:txBody>
      </p:sp>
      <p:sp>
        <p:nvSpPr>
          <p:cNvPr id="6" name="profile-48">
            <a:extLst xmlns:a="http://schemas.openxmlformats.org/drawingml/2006/main">
              <a:ext uri="{FF2B5EF4-FFF2-40B4-BE49-F238E27FC236}">
                <a16:creationId xmlns:a16="http://schemas.microsoft.com/office/drawing/2014/main" id="{FFBBBC11-EB60-402C-83A7-90CF9EE4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304800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7" name="profile-49">
            <a:extLst xmlns:a="http://schemas.openxmlformats.org/drawingml/2006/main">
              <a:ext uri="{FF2B5EF4-FFF2-40B4-BE49-F238E27FC236}">
                <a16:creationId xmlns:a16="http://schemas.microsoft.com/office/drawing/2014/main" id="{281DB8F8-18DE-49C3-857A-8E1E5676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81375"/>
            <a:ext cx="302895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PLUMBING</a:t>
            </a:r>
          </a:p>
        </p:txBody>
      </p:sp>
      <p:sp>
        <p:nvSpPr>
          <p:cNvPr id="8" name="profile-50">
            <a:extLst xmlns:a="http://schemas.openxmlformats.org/drawingml/2006/main">
              <a:ext uri="{FF2B5EF4-FFF2-40B4-BE49-F238E27FC236}">
                <a16:creationId xmlns:a16="http://schemas.microsoft.com/office/drawing/2014/main" id="{A0014972-01B3-4A2E-8589-D737EED8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Septic tank siphoning</a:t>
            </a:r>
          </a:p>
        </p:txBody>
      </p:sp>
      <p:sp>
        <p:nvSpPr>
          <p:cNvPr id="9" name="profile-51">
            <a:extLst xmlns:a="http://schemas.openxmlformats.org/drawingml/2006/main">
              <a:ext uri="{FF2B5EF4-FFF2-40B4-BE49-F238E27FC236}">
                <a16:creationId xmlns:a16="http://schemas.microsoft.com/office/drawing/2014/main" id="{6B8522E3-7276-483B-8FD5-79D67934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57675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Septic tank cleaning</a:t>
            </a:r>
          </a:p>
        </p:txBody>
      </p:sp>
      <p:sp>
        <p:nvSpPr>
          <p:cNvPr id="10" name="profile-52">
            <a:extLst xmlns:a="http://schemas.openxmlformats.org/drawingml/2006/main">
              <a:ext uri="{FF2B5EF4-FFF2-40B4-BE49-F238E27FC236}">
                <a16:creationId xmlns:a16="http://schemas.microsoft.com/office/drawing/2014/main" id="{6AC0F1B2-690E-4B05-A296-E1C0687F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Service coordination and site</a:t>
            </a:r>
          </a:p>
        </p:txBody>
      </p:sp>
      <p:sp>
        <p:nvSpPr>
          <p:cNvPr id="11" name="profile-53">
            <a:extLst xmlns:a="http://schemas.openxmlformats.org/drawingml/2006/main">
              <a:ext uri="{FF2B5EF4-FFF2-40B4-BE49-F238E27FC236}">
                <a16:creationId xmlns:a16="http://schemas.microsoft.com/office/drawing/2014/main" id="{79110A4C-DBFC-4274-942D-FD56CD40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assessment</a:t>
            </a:r>
          </a:p>
        </p:txBody>
      </p:sp>
      <p:sp>
        <p:nvSpPr>
          <p:cNvPr id="12" name="profile-54">
            <a:extLst xmlns:a="http://schemas.openxmlformats.org/drawingml/2006/main">
              <a:ext uri="{FF2B5EF4-FFF2-40B4-BE49-F238E27FC236}">
                <a16:creationId xmlns:a16="http://schemas.microsoft.com/office/drawing/2014/main" id="{6CF6EF88-61BD-4015-AAEB-DC0A2616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671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Drain declogging</a:t>
            </a:r>
          </a:p>
        </p:txBody>
      </p:sp>
      <p:sp>
        <p:nvSpPr>
          <p:cNvPr id="13" name="profile-55">
            <a:extLst xmlns:a="http://schemas.openxmlformats.org/drawingml/2006/main">
              <a:ext uri="{FF2B5EF4-FFF2-40B4-BE49-F238E27FC236}">
                <a16:creationId xmlns:a16="http://schemas.microsoft.com/office/drawing/2014/main" id="{A64AA674-797D-4FCB-B53F-8E4ABFDE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57675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Plumbing and pipe leak repairs</a:t>
            </a:r>
          </a:p>
        </p:txBody>
      </p:sp>
      <p:sp>
        <p:nvSpPr>
          <p:cNvPr id="14" name="profile-56">
            <a:extLst xmlns:a="http://schemas.openxmlformats.org/drawingml/2006/main">
              <a:ext uri="{FF2B5EF4-FFF2-40B4-BE49-F238E27FC236}">
                <a16:creationId xmlns:a16="http://schemas.microsoft.com/office/drawing/2014/main" id="{55D728EF-831E-463E-96DB-B8A2C944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Troubleshooting based on site findings</a:t>
            </a:r>
          </a:p>
        </p:txBody>
      </p:sp>
      <p:sp>
        <p:nvSpPr>
          <p:cNvPr id="15" name="profile-57">
            <a:extLst xmlns:a="http://schemas.openxmlformats.org/drawingml/2006/main">
              <a:ext uri="{FF2B5EF4-FFF2-40B4-BE49-F238E27FC236}">
                <a16:creationId xmlns:a16="http://schemas.microsoft.com/office/drawing/2014/main" id="{79D3A0A4-FF7A-469D-9912-EB2987C0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00725"/>
            <a:ext cx="653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3AD"/>
          </a:solidFill>
          <a:ln xmlns:a="http://schemas.openxmlformats.org/drawingml/2006/main" w="0">
            <a:noFill/>
          </a:ln>
        </p:spPr>
      </p:sp>
      <p:sp>
        <p:nvSpPr>
          <p:cNvPr id="16" name="profile-58">
            <a:extLst xmlns:a="http://schemas.openxmlformats.org/drawingml/2006/main">
              <a:ext uri="{FF2B5EF4-FFF2-40B4-BE49-F238E27FC236}">
                <a16:creationId xmlns:a16="http://schemas.microsoft.com/office/drawing/2014/main" id="{F67D54D1-AD1C-4744-BAC5-D622FED1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48375"/>
            <a:ext cx="65341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PREVIOUS SITE WORK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f2ea6cc26c4112"/>
          <a:srcRect xmlns:a="http://schemas.openxmlformats.org/drawingml/2006/main" l="0" t="20438" r="0" b="204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6448425"/>
            <a:ext cx="3114675" cy="276225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2e24e442d4986"/>
          <a:srcRect xmlns:a="http://schemas.openxmlformats.org/drawingml/2006/main" l="0" t="20438" r="0" b="204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33825" y="6448425"/>
            <a:ext cx="3114675" cy="2762250"/>
          </a:xfrm>
          <a:prstGeom xmlns:a="http://schemas.openxmlformats.org/drawingml/2006/main" prst="rect">
            <a:avLst/>
          </a:prstGeom>
        </p:spPr>
      </p:pic>
      <p:sp>
        <p:nvSpPr>
          <p:cNvPr id="19" name="profile-59">
            <a:extLst xmlns:a="http://schemas.openxmlformats.org/drawingml/2006/main">
              <a:ext uri="{FF2B5EF4-FFF2-40B4-BE49-F238E27FC236}">
                <a16:creationId xmlns:a16="http://schemas.microsoft.com/office/drawing/2014/main" id="{65E4B1D8-8A36-48FE-A057-6B41C261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53550"/>
            <a:ext cx="3114675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20" name="profile-60">
            <a:extLst xmlns:a="http://schemas.openxmlformats.org/drawingml/2006/main">
              <a:ext uri="{FF2B5EF4-FFF2-40B4-BE49-F238E27FC236}">
                <a16:creationId xmlns:a16="http://schemas.microsoft.com/office/drawing/2014/main" id="{A85E31EE-483A-4A7B-8119-82CA9A30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9353550"/>
            <a:ext cx="3114675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21" name="profile-61">
            <a:extLst xmlns:a="http://schemas.openxmlformats.org/drawingml/2006/main">
              <a:ext uri="{FF2B5EF4-FFF2-40B4-BE49-F238E27FC236}">
                <a16:creationId xmlns:a16="http://schemas.microsoft.com/office/drawing/2014/main" id="{5D186970-AC09-4DE6-9EB3-91D53CCE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39300"/>
            <a:ext cx="65341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Same site, before and after service.</a:t>
            </a:r>
          </a:p>
        </p:txBody>
      </p:sp>
      <p:sp>
        <p:nvSpPr>
          <p:cNvPr id="22" name="profile-62">
            <a:extLst xmlns:a="http://schemas.openxmlformats.org/drawingml/2006/main">
              <a:ext uri="{FF2B5EF4-FFF2-40B4-BE49-F238E27FC236}">
                <a16:creationId xmlns:a16="http://schemas.microsoft.com/office/drawing/2014/main" id="{DA86883A-08C4-4F74-AD23-3EE566BB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23" name="profile-63">
            <a:extLst xmlns:a="http://schemas.openxmlformats.org/drawingml/2006/main">
              <a:ext uri="{FF2B5EF4-FFF2-40B4-BE49-F238E27FC236}">
                <a16:creationId xmlns:a16="http://schemas.microsoft.com/office/drawing/2014/main" id="{69CE07C3-FAB5-4EC1-9986-E0896B58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B6B85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24" name="profile-64">
            <a:extLst xmlns:a="http://schemas.openxmlformats.org/drawingml/2006/main">
              <a:ext uri="{FF2B5EF4-FFF2-40B4-BE49-F238E27FC236}">
                <a16:creationId xmlns:a16="http://schemas.microsoft.com/office/drawing/2014/main" id="{06B13566-7946-4397-A647-3BBC529C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204655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1F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rofile-65">
            <a:extLst xmlns:a="http://schemas.openxmlformats.org/drawingml/2006/main">
              <a:ext uri="{FF2B5EF4-FFF2-40B4-BE49-F238E27FC236}">
                <a16:creationId xmlns:a16="http://schemas.microsoft.com/office/drawing/2014/main" id="{CEBE8543-285D-42F7-B07B-18C4FFA7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RENOVATION</a:t>
            </a:r>
          </a:p>
        </p:txBody>
      </p:sp>
      <p:sp>
        <p:nvSpPr>
          <p:cNvPr id="2" name="profile-66">
            <a:extLst xmlns:a="http://schemas.openxmlformats.org/drawingml/2006/main">
              <a:ext uri="{FF2B5EF4-FFF2-40B4-BE49-F238E27FC236}">
                <a16:creationId xmlns:a16="http://schemas.microsoft.com/office/drawing/2014/main" id="{9D2479E8-83DC-4FD8-A6E2-EDD3C03C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&amp; RESTORATION</a:t>
            </a:r>
          </a:p>
        </p:txBody>
      </p:sp>
      <p:sp>
        <p:nvSpPr>
          <p:cNvPr id="3" name="profile-67">
            <a:extLst xmlns:a="http://schemas.openxmlformats.org/drawingml/2006/main">
              <a:ext uri="{FF2B5EF4-FFF2-40B4-BE49-F238E27FC236}">
                <a16:creationId xmlns:a16="http://schemas.microsoft.com/office/drawing/2014/main" id="{8DFDF48B-D094-46B6-A2E9-DDBE5543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6534150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B30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B301"/>
                </a:solidFill>
                <a:latin typeface="Arial"/>
                <a:ea typeface="Arial"/>
                <a:cs typeface="Arial"/>
              </a:rPr>
              <a:t>Homes and condominiums</a:t>
            </a:r>
          </a:p>
        </p:txBody>
      </p:sp>
      <p:sp>
        <p:nvSpPr>
          <p:cNvPr id="4" name="profile-68">
            <a:extLst xmlns:a="http://schemas.openxmlformats.org/drawingml/2006/main">
              <a:ext uri="{FF2B5EF4-FFF2-40B4-BE49-F238E27FC236}">
                <a16:creationId xmlns:a16="http://schemas.microsoft.com/office/drawing/2014/main" id="{7778678A-82D0-4DE9-943F-38A1B9FC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Repair and improvement work for houses and condominiums, with a</a:t>
            </a:r>
          </a:p>
        </p:txBody>
      </p:sp>
      <p:sp>
        <p:nvSpPr>
          <p:cNvPr id="5" name="profile-69">
            <a:extLst xmlns:a="http://schemas.openxmlformats.org/drawingml/2006/main">
              <a:ext uri="{FF2B5EF4-FFF2-40B4-BE49-F238E27FC236}">
                <a16:creationId xmlns:a16="http://schemas.microsoft.com/office/drawing/2014/main" id="{98F3E9E0-623C-45AC-85A9-7CB18207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76525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quotation tailored to the site and the agreed scope.</a:t>
            </a:r>
          </a:p>
        </p:txBody>
      </p:sp>
      <p:sp>
        <p:nvSpPr>
          <p:cNvPr id="6" name="profile-70">
            <a:extLst xmlns:a="http://schemas.openxmlformats.org/drawingml/2006/main">
              <a:ext uri="{FF2B5EF4-FFF2-40B4-BE49-F238E27FC236}">
                <a16:creationId xmlns:a16="http://schemas.microsoft.com/office/drawing/2014/main" id="{FCFC3786-243E-422C-B7EE-7F63E436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95675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House and condominium renovation</a:t>
            </a:r>
          </a:p>
        </p:txBody>
      </p:sp>
      <p:sp>
        <p:nvSpPr>
          <p:cNvPr id="7" name="profile-71">
            <a:extLst xmlns:a="http://schemas.openxmlformats.org/drawingml/2006/main">
              <a:ext uri="{FF2B5EF4-FFF2-40B4-BE49-F238E27FC236}">
                <a16:creationId xmlns:a16="http://schemas.microsoft.com/office/drawing/2014/main" id="{BFF7B59E-C945-46F1-ABF6-586C0A1D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81450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Restoration and ceiling repair or replacement</a:t>
            </a:r>
          </a:p>
        </p:txBody>
      </p:sp>
      <p:sp>
        <p:nvSpPr>
          <p:cNvPr id="8" name="profile-72">
            <a:extLst xmlns:a="http://schemas.openxmlformats.org/drawingml/2006/main">
              <a:ext uri="{FF2B5EF4-FFF2-40B4-BE49-F238E27FC236}">
                <a16:creationId xmlns:a16="http://schemas.microsoft.com/office/drawing/2014/main" id="{C7834043-15D6-4090-990D-BB58E139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67225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Roof leak repair and waterproofing</a:t>
            </a:r>
          </a:p>
        </p:txBody>
      </p:sp>
      <p:sp>
        <p:nvSpPr>
          <p:cNvPr id="9" name="profile-73">
            <a:extLst xmlns:a="http://schemas.openxmlformats.org/drawingml/2006/main">
              <a:ext uri="{FF2B5EF4-FFF2-40B4-BE49-F238E27FC236}">
                <a16:creationId xmlns:a16="http://schemas.microsoft.com/office/drawing/2014/main" id="{CE1A38B6-9D7F-49AA-A608-38D2E3FF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House cleaning within the agreed scope</a:t>
            </a:r>
          </a:p>
        </p:txBody>
      </p:sp>
      <p:sp>
        <p:nvSpPr>
          <p:cNvPr id="10" name="profile-74">
            <a:extLst xmlns:a="http://schemas.openxmlformats.org/drawingml/2006/main">
              <a:ext uri="{FF2B5EF4-FFF2-40B4-BE49-F238E27FC236}">
                <a16:creationId xmlns:a16="http://schemas.microsoft.com/office/drawing/2014/main" id="{B66D8520-F348-4FB0-883B-F8A42431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53100"/>
            <a:ext cx="653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1" name="profile-75">
            <a:extLst xmlns:a="http://schemas.openxmlformats.org/drawingml/2006/main">
              <a:ext uri="{FF2B5EF4-FFF2-40B4-BE49-F238E27FC236}">
                <a16:creationId xmlns:a16="http://schemas.microsoft.com/office/drawing/2014/main" id="{0CDDC0F2-C00D-410C-AA22-C0CF9419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00775"/>
            <a:ext cx="6534150" cy="650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PEST CONTROL</a:t>
            </a:r>
          </a:p>
        </p:txBody>
      </p:sp>
      <p:sp>
        <p:nvSpPr>
          <p:cNvPr id="12" name="profile-76">
            <a:extLst xmlns:a="http://schemas.openxmlformats.org/drawingml/2006/main">
              <a:ext uri="{FF2B5EF4-FFF2-40B4-BE49-F238E27FC236}">
                <a16:creationId xmlns:a16="http://schemas.microsoft.com/office/drawing/2014/main" id="{5E801E8D-45CE-4986-B1FC-36562714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62775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Pest control services based on an assessment of the property and the pest</a:t>
            </a:r>
          </a:p>
        </p:txBody>
      </p:sp>
      <p:sp>
        <p:nvSpPr>
          <p:cNvPr id="13" name="profile-77">
            <a:extLst xmlns:a="http://schemas.openxmlformats.org/drawingml/2006/main">
              <a:ext uri="{FF2B5EF4-FFF2-40B4-BE49-F238E27FC236}">
                <a16:creationId xmlns:a16="http://schemas.microsoft.com/office/drawing/2014/main" id="{1EA34D8D-D3E9-4AEE-AADA-C63F793E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0"/>
            <a:ext cx="6534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concerns reported by the client.</a:t>
            </a:r>
          </a:p>
        </p:txBody>
      </p:sp>
      <p:sp>
        <p:nvSpPr>
          <p:cNvPr id="14" name="profile-78">
            <a:extLst xmlns:a="http://schemas.openxmlformats.org/drawingml/2006/main">
              <a:ext uri="{FF2B5EF4-FFF2-40B4-BE49-F238E27FC236}">
                <a16:creationId xmlns:a16="http://schemas.microsoft.com/office/drawing/2014/main" id="{0776093C-67CD-4E34-9830-1FEA1CE3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29575"/>
            <a:ext cx="653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Assessment of pest activity</a:t>
            </a:r>
          </a:p>
        </p:txBody>
      </p:sp>
      <p:sp>
        <p:nvSpPr>
          <p:cNvPr id="15" name="profile-79">
            <a:extLst xmlns:a="http://schemas.openxmlformats.org/drawingml/2006/main">
              <a:ext uri="{FF2B5EF4-FFF2-40B4-BE49-F238E27FC236}">
                <a16:creationId xmlns:a16="http://schemas.microsoft.com/office/drawing/2014/main" id="{CA885775-2E65-45A4-A2BF-78913C82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467725"/>
            <a:ext cx="653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Treatment scope based on site findings</a:t>
            </a:r>
          </a:p>
        </p:txBody>
      </p:sp>
      <p:sp>
        <p:nvSpPr>
          <p:cNvPr id="16" name="profile-80">
            <a:extLst xmlns:a="http://schemas.openxmlformats.org/drawingml/2006/main">
              <a:ext uri="{FF2B5EF4-FFF2-40B4-BE49-F238E27FC236}">
                <a16:creationId xmlns:a16="http://schemas.microsoft.com/office/drawing/2014/main" id="{FE7531B7-89D4-413D-9E14-452464E9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905875"/>
            <a:ext cx="653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scheduling and contractor coordination</a:t>
            </a:r>
          </a:p>
        </p:txBody>
      </p:sp>
      <p:sp>
        <p:nvSpPr>
          <p:cNvPr id="17" name="profile-81">
            <a:extLst xmlns:a="http://schemas.openxmlformats.org/drawingml/2006/main">
              <a:ext uri="{FF2B5EF4-FFF2-40B4-BE49-F238E27FC236}">
                <a16:creationId xmlns:a16="http://schemas.microsoft.com/office/drawing/2014/main" id="{79A825B0-12AB-4DAD-965D-BF72AD40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39300"/>
            <a:ext cx="65341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FB3DD"/>
                </a:solidFill>
                <a:latin typeface="Arial"/>
                <a:ea typeface="Arial"/>
                <a:cs typeface="Arial"/>
              </a:rPr>
              <a:t>Work scope and specialist requirements follow the site assessment.</a:t>
            </a:r>
          </a:p>
        </p:txBody>
      </p:sp>
      <p:sp>
        <p:nvSpPr>
          <p:cNvPr id="18" name="profile-82">
            <a:extLst xmlns:a="http://schemas.openxmlformats.org/drawingml/2006/main">
              <a:ext uri="{FF2B5EF4-FFF2-40B4-BE49-F238E27FC236}">
                <a16:creationId xmlns:a16="http://schemas.microsoft.com/office/drawing/2014/main" id="{C963CA0C-F72D-43E5-B38C-B3E0B3AD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C5E"/>
          </a:solidFill>
          <a:ln xmlns:a="http://schemas.openxmlformats.org/drawingml/2006/main" w="0">
            <a:noFill/>
          </a:ln>
        </p:spPr>
      </p:sp>
      <p:sp>
        <p:nvSpPr>
          <p:cNvPr id="19" name="profile-83">
            <a:extLst xmlns:a="http://schemas.openxmlformats.org/drawingml/2006/main">
              <a:ext uri="{FF2B5EF4-FFF2-40B4-BE49-F238E27FC236}">
                <a16:creationId xmlns:a16="http://schemas.microsoft.com/office/drawing/2014/main" id="{6C506B44-6DDA-4294-BC01-FDD4EEB3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20" name="profile-84">
            <a:extLst xmlns:a="http://schemas.openxmlformats.org/drawingml/2006/main">
              <a:ext uri="{FF2B5EF4-FFF2-40B4-BE49-F238E27FC236}">
                <a16:creationId xmlns:a16="http://schemas.microsoft.com/office/drawing/2014/main" id="{A372B9A2-C838-463D-BA80-4BFA82A0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651532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rofile-85">
            <a:extLst xmlns:a="http://schemas.openxmlformats.org/drawingml/2006/main">
              <a:ext uri="{FF2B5EF4-FFF2-40B4-BE49-F238E27FC236}">
                <a16:creationId xmlns:a16="http://schemas.microsoft.com/office/drawing/2014/main" id="{0A5FF57E-7EE7-4ECF-86D0-285A54F3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PROJECT</a:t>
            </a:r>
          </a:p>
        </p:txBody>
      </p:sp>
      <p:sp>
        <p:nvSpPr>
          <p:cNvPr id="2" name="profile-86">
            <a:extLst xmlns:a="http://schemas.openxmlformats.org/drawingml/2006/main">
              <a:ext uri="{FF2B5EF4-FFF2-40B4-BE49-F238E27FC236}">
                <a16:creationId xmlns:a16="http://schemas.microsoft.com/office/drawing/2014/main" id="{48F53CA0-4495-43B3-98EE-2DC92585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33475"/>
            <a:ext cx="6534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3975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COORDINATION</a:t>
            </a:r>
          </a:p>
        </p:txBody>
      </p:sp>
      <p:sp>
        <p:nvSpPr>
          <p:cNvPr id="3" name="profile-87">
            <a:extLst xmlns:a="http://schemas.openxmlformats.org/drawingml/2006/main">
              <a:ext uri="{FF2B5EF4-FFF2-40B4-BE49-F238E27FC236}">
                <a16:creationId xmlns:a16="http://schemas.microsoft.com/office/drawing/2014/main" id="{ABEB2447-A8BD-4887-8A68-9DCD4780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6534150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One main contact through turnover</a:t>
            </a:r>
          </a:p>
        </p:txBody>
      </p:sp>
      <p:sp>
        <p:nvSpPr>
          <p:cNvPr id="4" name="profile-88">
            <a:extLst xmlns:a="http://schemas.openxmlformats.org/drawingml/2006/main">
              <a:ext uri="{FF2B5EF4-FFF2-40B4-BE49-F238E27FC236}">
                <a16:creationId xmlns:a16="http://schemas.microsoft.com/office/drawing/2014/main" id="{8DE73ED4-DBE2-4B53-9E90-2F9499CB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571500" cy="5514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5" name="profile-89">
            <a:extLst xmlns:a="http://schemas.openxmlformats.org/drawingml/2006/main">
              <a:ext uri="{FF2B5EF4-FFF2-40B4-BE49-F238E27FC236}">
                <a16:creationId xmlns:a16="http://schemas.microsoft.com/office/drawing/2014/main" id="{8DD01982-00F9-49FF-8672-8639E9B5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57340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SITE ASSESSMENT</a:t>
            </a:r>
          </a:p>
        </p:txBody>
      </p:sp>
      <p:sp>
        <p:nvSpPr>
          <p:cNvPr id="6" name="profile-90">
            <a:extLst xmlns:a="http://schemas.openxmlformats.org/drawingml/2006/main">
              <a:ext uri="{FF2B5EF4-FFF2-40B4-BE49-F238E27FC236}">
                <a16:creationId xmlns:a16="http://schemas.microsoft.com/office/drawing/2014/main" id="{CB80C27B-E06F-4114-9952-FE7B5555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95625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Review the reported problem, work areas, site access and project</a:t>
            </a:r>
          </a:p>
        </p:txBody>
      </p:sp>
      <p:sp>
        <p:nvSpPr>
          <p:cNvPr id="7" name="profile-91">
            <a:extLst xmlns:a="http://schemas.openxmlformats.org/drawingml/2006/main">
              <a:ext uri="{FF2B5EF4-FFF2-40B4-BE49-F238E27FC236}">
                <a16:creationId xmlns:a16="http://schemas.microsoft.com/office/drawing/2014/main" id="{B38CEFAC-7043-460B-82F4-969BAD24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52800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requirements.</a:t>
            </a:r>
          </a:p>
        </p:txBody>
      </p:sp>
      <p:sp>
        <p:nvSpPr>
          <p:cNvPr id="8" name="profile-92">
            <a:extLst xmlns:a="http://schemas.openxmlformats.org/drawingml/2006/main">
              <a:ext uri="{FF2B5EF4-FFF2-40B4-BE49-F238E27FC236}">
                <a16:creationId xmlns:a16="http://schemas.microsoft.com/office/drawing/2014/main" id="{E18297D1-B289-4B2D-B4BC-739E8C13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9" name="profile-93">
            <a:extLst xmlns:a="http://schemas.openxmlformats.org/drawingml/2006/main">
              <a:ext uri="{FF2B5EF4-FFF2-40B4-BE49-F238E27FC236}">
                <a16:creationId xmlns:a16="http://schemas.microsoft.com/office/drawing/2014/main" id="{4B669088-9E8A-4AE9-9842-0AA0D03E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571500" cy="5514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0" name="profile-94">
            <a:extLst xmlns:a="http://schemas.openxmlformats.org/drawingml/2006/main">
              <a:ext uri="{FF2B5EF4-FFF2-40B4-BE49-F238E27FC236}">
                <a16:creationId xmlns:a16="http://schemas.microsoft.com/office/drawing/2014/main" id="{0FEE50C1-3463-446C-9C15-B9F1ABFB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05275"/>
            <a:ext cx="57340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WRITTEN QUOTATION</a:t>
            </a:r>
          </a:p>
        </p:txBody>
      </p:sp>
      <p:sp>
        <p:nvSpPr>
          <p:cNvPr id="11" name="profile-95">
            <a:extLst xmlns:a="http://schemas.openxmlformats.org/drawingml/2006/main">
              <a:ext uri="{FF2B5EF4-FFF2-40B4-BE49-F238E27FC236}">
                <a16:creationId xmlns:a16="http://schemas.microsoft.com/office/drawing/2014/main" id="{6AECACD0-8BC6-45B7-BDC1-B3DB9888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24375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Define the proposed work and pricing. Confirm the scope with the client</a:t>
            </a:r>
          </a:p>
        </p:txBody>
      </p:sp>
      <p:sp>
        <p:nvSpPr>
          <p:cNvPr id="12" name="profile-96">
            <a:extLst xmlns:a="http://schemas.openxmlformats.org/drawingml/2006/main">
              <a:ext uri="{FF2B5EF4-FFF2-40B4-BE49-F238E27FC236}">
                <a16:creationId xmlns:a16="http://schemas.microsoft.com/office/drawing/2014/main" id="{A47CBF55-6082-4AE0-8F6B-51A43DF8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81550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before scheduling.</a:t>
            </a:r>
          </a:p>
        </p:txBody>
      </p:sp>
      <p:sp>
        <p:nvSpPr>
          <p:cNvPr id="13" name="profile-97">
            <a:extLst xmlns:a="http://schemas.openxmlformats.org/drawingml/2006/main">
              <a:ext uri="{FF2B5EF4-FFF2-40B4-BE49-F238E27FC236}">
                <a16:creationId xmlns:a16="http://schemas.microsoft.com/office/drawing/2014/main" id="{D72FB4E6-25ED-4D2D-B046-A81A55FB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970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14" name="profile-98">
            <a:extLst xmlns:a="http://schemas.openxmlformats.org/drawingml/2006/main">
              <a:ext uri="{FF2B5EF4-FFF2-40B4-BE49-F238E27FC236}">
                <a16:creationId xmlns:a16="http://schemas.microsoft.com/office/drawing/2014/main" id="{D78CEAE8-E123-482B-BF46-390365E9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571500" cy="5514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5" name="profile-99">
            <a:extLst xmlns:a="http://schemas.openxmlformats.org/drawingml/2006/main">
              <a:ext uri="{FF2B5EF4-FFF2-40B4-BE49-F238E27FC236}">
                <a16:creationId xmlns:a16="http://schemas.microsoft.com/office/drawing/2014/main" id="{1F25905A-D559-42D7-B0B8-F4390E98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534025"/>
            <a:ext cx="57340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SERVICE COORDINATION</a:t>
            </a:r>
          </a:p>
        </p:txBody>
      </p:sp>
      <p:sp>
        <p:nvSpPr>
          <p:cNvPr id="16" name="profile-100">
            <a:extLst xmlns:a="http://schemas.openxmlformats.org/drawingml/2006/main">
              <a:ext uri="{FF2B5EF4-FFF2-40B4-BE49-F238E27FC236}">
                <a16:creationId xmlns:a16="http://schemas.microsoft.com/office/drawing/2014/main" id="{71A174CD-23A3-4CF7-B906-CE94ACB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953125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Arrange the field team or specialist contractor and coordinate access with</a:t>
            </a:r>
          </a:p>
        </p:txBody>
      </p:sp>
      <p:sp>
        <p:nvSpPr>
          <p:cNvPr id="17" name="profile-101">
            <a:extLst xmlns:a="http://schemas.openxmlformats.org/drawingml/2006/main">
              <a:ext uri="{FF2B5EF4-FFF2-40B4-BE49-F238E27FC236}">
                <a16:creationId xmlns:a16="http://schemas.microsoft.com/office/drawing/2014/main" id="{1DD67562-4A41-4B85-B5EC-55D16AD8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6210300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the client.</a:t>
            </a:r>
          </a:p>
        </p:txBody>
      </p:sp>
      <p:sp>
        <p:nvSpPr>
          <p:cNvPr id="18" name="profile-102">
            <a:extLst xmlns:a="http://schemas.openxmlformats.org/drawingml/2006/main">
              <a:ext uri="{FF2B5EF4-FFF2-40B4-BE49-F238E27FC236}">
                <a16:creationId xmlns:a16="http://schemas.microsoft.com/office/drawing/2014/main" id="{935A671D-5C69-49AE-8D19-83FC9663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66484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19" name="profile-103">
            <a:extLst xmlns:a="http://schemas.openxmlformats.org/drawingml/2006/main">
              <a:ext uri="{FF2B5EF4-FFF2-40B4-BE49-F238E27FC236}">
                <a16:creationId xmlns:a16="http://schemas.microsoft.com/office/drawing/2014/main" id="{58606A76-462E-4923-AE9F-B8DF18AC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72300"/>
            <a:ext cx="571500" cy="5514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0" name="profile-104">
            <a:extLst xmlns:a="http://schemas.openxmlformats.org/drawingml/2006/main">
              <a:ext uri="{FF2B5EF4-FFF2-40B4-BE49-F238E27FC236}">
                <a16:creationId xmlns:a16="http://schemas.microsoft.com/office/drawing/2014/main" id="{D839F39E-2CA9-4063-9487-F643C7A4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6962775"/>
            <a:ext cx="57340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B1B33"/>
                </a:solidFill>
                <a:latin typeface="Arial Narrow"/>
                <a:ea typeface="Arial Narrow"/>
                <a:cs typeface="Arial Narrow"/>
              </a:rPr>
              <a:t>TURNOVER</a:t>
            </a:r>
          </a:p>
        </p:txBody>
      </p:sp>
      <p:sp>
        <p:nvSpPr>
          <p:cNvPr id="21" name="profile-105">
            <a:extLst xmlns:a="http://schemas.openxmlformats.org/drawingml/2006/main">
              <a:ext uri="{FF2B5EF4-FFF2-40B4-BE49-F238E27FC236}">
                <a16:creationId xmlns:a16="http://schemas.microsoft.com/office/drawing/2014/main" id="{7DD903B6-E14C-4F4A-9394-427E5494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7381875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Review the agreed work with the client and coordinate any follow-up within</a:t>
            </a:r>
          </a:p>
        </p:txBody>
      </p:sp>
      <p:sp>
        <p:nvSpPr>
          <p:cNvPr id="22" name="profile-106">
            <a:extLst xmlns:a="http://schemas.openxmlformats.org/drawingml/2006/main">
              <a:ext uri="{FF2B5EF4-FFF2-40B4-BE49-F238E27FC236}">
                <a16:creationId xmlns:a16="http://schemas.microsoft.com/office/drawing/2014/main" id="{97CFD1B4-712E-4DC6-A7B3-8ED41E52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7639050"/>
            <a:ext cx="573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the project scope.</a:t>
            </a:r>
          </a:p>
        </p:txBody>
      </p:sp>
      <p:sp>
        <p:nvSpPr>
          <p:cNvPr id="23" name="profile-107">
            <a:extLst xmlns:a="http://schemas.openxmlformats.org/drawingml/2006/main">
              <a:ext uri="{FF2B5EF4-FFF2-40B4-BE49-F238E27FC236}">
                <a16:creationId xmlns:a16="http://schemas.microsoft.com/office/drawing/2014/main" id="{60DF04C7-F571-48A3-9B82-8C50E35E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648700"/>
            <a:ext cx="653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3AD"/>
          </a:solidFill>
          <a:ln xmlns:a="http://schemas.openxmlformats.org/drawingml/2006/main" w="0">
            <a:noFill/>
          </a:ln>
        </p:spPr>
      </p:sp>
      <p:sp>
        <p:nvSpPr>
          <p:cNvPr id="24" name="profile-108">
            <a:extLst xmlns:a="http://schemas.openxmlformats.org/drawingml/2006/main">
              <a:ext uri="{FF2B5EF4-FFF2-40B4-BE49-F238E27FC236}">
                <a16:creationId xmlns:a16="http://schemas.microsoft.com/office/drawing/2014/main" id="{71D9B32D-92AA-4449-80F8-E7DF7997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953500"/>
            <a:ext cx="6534150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WORKING WITH PROCUREMENT</a:t>
            </a:r>
          </a:p>
        </p:txBody>
      </p:sp>
      <p:sp>
        <p:nvSpPr>
          <p:cNvPr id="25" name="profile-109">
            <a:extLst xmlns:a="http://schemas.openxmlformats.org/drawingml/2006/main">
              <a:ext uri="{FF2B5EF4-FFF2-40B4-BE49-F238E27FC236}">
                <a16:creationId xmlns:a16="http://schemas.microsoft.com/office/drawing/2014/main" id="{B2546B23-15D3-406C-B081-62A1322A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15450"/>
            <a:ext cx="653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Share your supplier-accreditation requirements with Oceanides. We can coordinate the</a:t>
            </a:r>
          </a:p>
        </p:txBody>
      </p:sp>
      <p:sp>
        <p:nvSpPr>
          <p:cNvPr id="26" name="profile-110">
            <a:extLst xmlns:a="http://schemas.openxmlformats.org/drawingml/2006/main">
              <a:ext uri="{FF2B5EF4-FFF2-40B4-BE49-F238E27FC236}">
                <a16:creationId xmlns:a16="http://schemas.microsoft.com/office/drawing/2014/main" id="{51960E34-3310-41B8-836E-5F1E5D63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44050"/>
            <a:ext cx="653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company documents and project information required for your review.</a:t>
            </a:r>
          </a:p>
        </p:txBody>
      </p:sp>
      <p:sp>
        <p:nvSpPr>
          <p:cNvPr id="27" name="profile-111">
            <a:extLst xmlns:a="http://schemas.openxmlformats.org/drawingml/2006/main">
              <a:ext uri="{FF2B5EF4-FFF2-40B4-BE49-F238E27FC236}">
                <a16:creationId xmlns:a16="http://schemas.microsoft.com/office/drawing/2014/main" id="{10C64F5E-C4BC-4DFB-9F93-6CA477F4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FE9"/>
          </a:solidFill>
          <a:ln xmlns:a="http://schemas.openxmlformats.org/drawingml/2006/main" w="0">
            <a:noFill/>
          </a:ln>
        </p:spPr>
      </p:sp>
      <p:sp>
        <p:nvSpPr>
          <p:cNvPr id="28" name="profile-112">
            <a:extLst xmlns:a="http://schemas.openxmlformats.org/drawingml/2006/main">
              <a:ext uri="{FF2B5EF4-FFF2-40B4-BE49-F238E27FC236}">
                <a16:creationId xmlns:a16="http://schemas.microsoft.com/office/drawing/2014/main" id="{FD2FDA1A-8704-4DCA-B81C-2B81CFAD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B6B85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29" name="profile-113">
            <a:extLst xmlns:a="http://schemas.openxmlformats.org/drawingml/2006/main">
              <a:ext uri="{FF2B5EF4-FFF2-40B4-BE49-F238E27FC236}">
                <a16:creationId xmlns:a16="http://schemas.microsoft.com/office/drawing/2014/main" id="{75114767-3630-4938-A2C5-8CDD4611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C63AD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044611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F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5aae8ae0f4f53"/>
          <a:stretch xmlns:a="http://schemas.openxmlformats.org/drawingml/2006/main"/>
        </p:blipFill>
        <p:spPr>
          <a:xfrm xmlns:a="http://schemas.openxmlformats.org/drawingml/2006/main">
            <a:off x="514350" y="400050"/>
            <a:ext cx="1362075" cy="1362075"/>
          </a:xfrm>
          <a:prstGeom xmlns:a="http://schemas.openxmlformats.org/drawingml/2006/main" prst="rect">
            <a:avLst/>
          </a:prstGeom>
        </p:spPr>
      </p:pic>
      <p:sp>
        <p:nvSpPr>
          <p:cNvPr id="2" name="profile-114">
            <a:extLst xmlns:a="http://schemas.openxmlformats.org/drawingml/2006/main">
              <a:ext uri="{FF2B5EF4-FFF2-40B4-BE49-F238E27FC236}">
                <a16:creationId xmlns:a16="http://schemas.microsoft.com/office/drawing/2014/main" id="{4887BFD8-CCEC-4DB4-9272-33AC21A8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704850"/>
            <a:ext cx="4838700" cy="724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2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3" name="profile-115">
            <a:extLst xmlns:a="http://schemas.openxmlformats.org/drawingml/2006/main">
              <a:ext uri="{FF2B5EF4-FFF2-40B4-BE49-F238E27FC236}">
                <a16:creationId xmlns:a16="http://schemas.microsoft.com/office/drawing/2014/main" id="{B7C59566-FF8C-4B71-99D4-3B09EEA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57425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4" name="profile-116">
            <a:extLst xmlns:a="http://schemas.openxmlformats.org/drawingml/2006/main">
              <a:ext uri="{FF2B5EF4-FFF2-40B4-BE49-F238E27FC236}">
                <a16:creationId xmlns:a16="http://schemas.microsoft.com/office/drawing/2014/main" id="{0FB741FE-653C-48C2-856F-64E23739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653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SITE ASSESSMENT</a:t>
            </a:r>
          </a:p>
        </p:txBody>
      </p:sp>
      <p:sp>
        <p:nvSpPr>
          <p:cNvPr id="5" name="profile-117">
            <a:extLst xmlns:a="http://schemas.openxmlformats.org/drawingml/2006/main">
              <a:ext uri="{FF2B5EF4-FFF2-40B4-BE49-F238E27FC236}">
                <a16:creationId xmlns:a16="http://schemas.microsoft.com/office/drawing/2014/main" id="{E5645F43-2367-4CB0-9F72-D38A2EF1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653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&amp; QUOTATION</a:t>
            </a:r>
          </a:p>
        </p:txBody>
      </p:sp>
      <p:sp>
        <p:nvSpPr>
          <p:cNvPr id="6" name="profile-118">
            <a:extLst xmlns:a="http://schemas.openxmlformats.org/drawingml/2006/main">
              <a:ext uri="{FF2B5EF4-FFF2-40B4-BE49-F238E27FC236}">
                <a16:creationId xmlns:a16="http://schemas.microsoft.com/office/drawing/2014/main" id="{7F689494-62EE-4997-BA89-25518287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91025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Tell us the service you need, the site location and your preferred</a:t>
            </a:r>
          </a:p>
        </p:txBody>
      </p:sp>
      <p:sp>
        <p:nvSpPr>
          <p:cNvPr id="7" name="profile-119">
            <a:extLst xmlns:a="http://schemas.openxmlformats.org/drawingml/2006/main">
              <a:ext uri="{FF2B5EF4-FFF2-40B4-BE49-F238E27FC236}">
                <a16:creationId xmlns:a16="http://schemas.microsoft.com/office/drawing/2014/main" id="{A5DD934B-2002-4F14-B49B-ED2F07E4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inspection schedule. Oceanides will coordinate the assessment and</a:t>
            </a:r>
          </a:p>
        </p:txBody>
      </p:sp>
      <p:sp>
        <p:nvSpPr>
          <p:cNvPr id="8" name="profile-120">
            <a:extLst xmlns:a="http://schemas.openxmlformats.org/drawingml/2006/main">
              <a:ext uri="{FF2B5EF4-FFF2-40B4-BE49-F238E27FC236}">
                <a16:creationId xmlns:a16="http://schemas.microsoft.com/office/drawing/2014/main" id="{8984E7E8-69FB-4B2D-9280-14ED0379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81575"/>
            <a:ext cx="653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prepare a quotation based on the findings.</a:t>
            </a:r>
          </a:p>
        </p:txBody>
      </p:sp>
      <p:sp>
        <p:nvSpPr>
          <p:cNvPr id="9" name="profile-121">
            <a:extLst xmlns:a="http://schemas.openxmlformats.org/drawingml/2006/main">
              <a:ext uri="{FF2B5EF4-FFF2-40B4-BE49-F238E27FC236}">
                <a16:creationId xmlns:a16="http://schemas.microsoft.com/office/drawing/2014/main" id="{ACF4CCC5-E193-4C79-B9A4-8EF31FDE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34075"/>
            <a:ext cx="65341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30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5B301"/>
                </a:solidFill>
                <a:latin typeface="Arial"/>
                <a:ea typeface="Arial"/>
                <a:cs typeface="Arial"/>
              </a:rPr>
              <a:t>CONTACT</a:t>
            </a:r>
          </a:p>
        </p:txBody>
      </p:sp>
      <p:sp>
        <p:nvSpPr>
          <p:cNvPr id="10" name="profile-122">
            <a:extLst xmlns:a="http://schemas.openxmlformats.org/drawingml/2006/main">
              <a:ext uri="{FF2B5EF4-FFF2-40B4-BE49-F238E27FC236}">
                <a16:creationId xmlns:a16="http://schemas.microsoft.com/office/drawing/2014/main" id="{B27E352D-8408-4766-9757-6D2CBE73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6534150" cy="650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0917 671 6383</a:t>
            </a:r>
          </a:p>
        </p:txBody>
      </p:sp>
      <p:sp>
        <p:nvSpPr>
          <p:cNvPr id="11" name="profile-123">
            <a:extLst xmlns:a="http://schemas.openxmlformats.org/drawingml/2006/main">
              <a:ext uri="{FF2B5EF4-FFF2-40B4-BE49-F238E27FC236}">
                <a16:creationId xmlns:a16="http://schemas.microsoft.com/office/drawing/2014/main" id="{11F79E3D-FB01-483E-A50D-B7996B3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10400"/>
            <a:ext cx="653415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FB3DD"/>
                </a:solidFill>
                <a:latin typeface="Arial"/>
                <a:ea typeface="Arial"/>
                <a:cs typeface="Arial"/>
              </a:rPr>
              <a:t>Globe</a:t>
            </a:r>
          </a:p>
        </p:txBody>
      </p:sp>
      <p:sp>
        <p:nvSpPr>
          <p:cNvPr id="12" name="profile-124">
            <a:extLst xmlns:a="http://schemas.openxmlformats.org/drawingml/2006/main">
              <a:ext uri="{FF2B5EF4-FFF2-40B4-BE49-F238E27FC236}">
                <a16:creationId xmlns:a16="http://schemas.microsoft.com/office/drawing/2014/main" id="{590A52D6-F076-405C-8095-9C746CAB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96175"/>
            <a:ext cx="6534150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13" name="profile-125">
            <a:extLst xmlns:a="http://schemas.openxmlformats.org/drawingml/2006/main">
              <a:ext uri="{FF2B5EF4-FFF2-40B4-BE49-F238E27FC236}">
                <a16:creationId xmlns:a16="http://schemas.microsoft.com/office/drawing/2014/main" id="{E54AD1AB-56A1-4A31-B61E-FF9BC6E1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29575"/>
            <a:ext cx="653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Tramo Street Corner Dandan, Pasay City, Philippines 1300</a:t>
            </a:r>
          </a:p>
        </p:txBody>
      </p:sp>
      <p:sp>
        <p:nvSpPr>
          <p:cNvPr id="14" name="profile-126">
            <a:extLst xmlns:a="http://schemas.openxmlformats.org/drawingml/2006/main">
              <a:ext uri="{FF2B5EF4-FFF2-40B4-BE49-F238E27FC236}">
                <a16:creationId xmlns:a16="http://schemas.microsoft.com/office/drawing/2014/main" id="{61B0BC20-C917-4CA6-86FE-8C2069E0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934450"/>
            <a:ext cx="653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Oceanides Plumbing Siphoning &amp; Pest Management Services OPC</a:t>
            </a:r>
          </a:p>
        </p:txBody>
      </p:sp>
      <p:sp>
        <p:nvSpPr>
          <p:cNvPr id="15" name="profile-127">
            <a:extLst xmlns:a="http://schemas.openxmlformats.org/drawingml/2006/main">
              <a:ext uri="{FF2B5EF4-FFF2-40B4-BE49-F238E27FC236}">
                <a16:creationId xmlns:a16="http://schemas.microsoft.com/office/drawing/2014/main" id="{E00CAF9C-FB0E-4899-8580-2D9D2B8E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91675"/>
            <a:ext cx="6534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FB3DD"/>
                </a:solidFill>
                <a:latin typeface="Arial"/>
                <a:ea typeface="Arial"/>
                <a:cs typeface="Arial"/>
              </a:rPr>
              <a:t>Final scope, pricing and scheduling depend on the site assessment and the agreed quotation.</a:t>
            </a:r>
          </a:p>
        </p:txBody>
      </p:sp>
      <p:sp>
        <p:nvSpPr>
          <p:cNvPr id="16" name="profile-128">
            <a:extLst xmlns:a="http://schemas.openxmlformats.org/drawingml/2006/main">
              <a:ext uri="{FF2B5EF4-FFF2-40B4-BE49-F238E27FC236}">
                <a16:creationId xmlns:a16="http://schemas.microsoft.com/office/drawing/2014/main" id="{6ABC7A0A-5354-4AAB-BAAD-CFD7329D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144125"/>
            <a:ext cx="653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C5E"/>
          </a:solidFill>
          <a:ln xmlns:a="http://schemas.openxmlformats.org/drawingml/2006/main" w="0">
            <a:noFill/>
          </a:ln>
        </p:spPr>
      </p:sp>
      <p:sp>
        <p:nvSpPr>
          <p:cNvPr id="17" name="profile-129">
            <a:extLst xmlns:a="http://schemas.openxmlformats.org/drawingml/2006/main">
              <a:ext uri="{FF2B5EF4-FFF2-40B4-BE49-F238E27FC236}">
                <a16:creationId xmlns:a16="http://schemas.microsoft.com/office/drawing/2014/main" id="{5C5C0D29-8AA2-425D-B99D-B2C77475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287000"/>
            <a:ext cx="571500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OCEANIDES / COMPANY PROFILE</a:t>
            </a:r>
          </a:p>
        </p:txBody>
      </p:sp>
      <p:sp>
        <p:nvSpPr>
          <p:cNvPr id="18" name="profile-130">
            <a:extLst xmlns:a="http://schemas.openxmlformats.org/drawingml/2006/main">
              <a:ext uri="{FF2B5EF4-FFF2-40B4-BE49-F238E27FC236}">
                <a16:creationId xmlns:a16="http://schemas.microsoft.com/office/drawing/2014/main" id="{979630DD-9EF4-43CC-B10D-1618CD6C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248900"/>
            <a:ext cx="26670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331681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2026-10-01T12:29:13.8210000Z</dcterms:created>
  <dcterms:modified xsi:type="dcterms:W3CDTF">2026-10-01T12:29:13.8210000Z</dcterms:modified>
</coreProperties>
</file>