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d96e6a2e6644f9" /><Relationship Type="http://schemas.openxmlformats.org/officeDocument/2006/relationships/extended-properties" Target="/docProps/app.xml" Id="R628821bb89b34197" /><Relationship Type="http://schemas.openxmlformats.org/officeDocument/2006/relationships/officeDocument" Target="/ppt/presentation.xml" Id="Rc817c321555740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33847ddd717447f"/>
  </p:sldMasterIdLst>
  <p:notesMasterIdLst>
    <p:notesMasterId xmlns:r="http://schemas.openxmlformats.org/officeDocument/2006/relationships" r:id="R9189071e23044e1f"/>
  </p:notesMasterIdLst>
  <p:sldIdLst>
    <p:sldId xmlns:r="http://schemas.openxmlformats.org/officeDocument/2006/relationships" id="256" r:id="Rc345c8ea6f0945a0"/>
    <p:sldId xmlns:r="http://schemas.openxmlformats.org/officeDocument/2006/relationships" id="257" r:id="Re534c8d6e825481a"/>
    <p:sldId xmlns:r="http://schemas.openxmlformats.org/officeDocument/2006/relationships" id="258" r:id="Rca3f2cf381264992"/>
    <p:sldId xmlns:r="http://schemas.openxmlformats.org/officeDocument/2006/relationships" id="259" r:id="Rcf1d1b4df91a4f5e"/>
    <p:sldId xmlns:r="http://schemas.openxmlformats.org/officeDocument/2006/relationships" id="260" r:id="R6f9a0303d83643a6"/>
    <p:sldId xmlns:r="http://schemas.openxmlformats.org/officeDocument/2006/relationships" id="261" r:id="R94efd3bdc3d44a2c"/>
  </p:sldIdLst>
  <p:sldSz cx="7562850" cy="106965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8ac786e1a164599" /><Relationship Type="http://schemas.openxmlformats.org/officeDocument/2006/relationships/slideMaster" Target="/ppt/slideMasters/slideMaster1.xml" Id="Rb33847ddd717447f" /><Relationship Type="http://schemas.openxmlformats.org/officeDocument/2006/relationships/notesMaster" Target="/ppt/notesMasters/notesMaster1.xml" Id="R9189071e23044e1f" /><Relationship Type="http://schemas.openxmlformats.org/officeDocument/2006/relationships/presProps" Target="/ppt/presProps.xml" Id="Ra2e16cc1db4742be" /><Relationship Type="http://schemas.openxmlformats.org/officeDocument/2006/relationships/tableStyles" Target="/ppt/tableStyles.xml" Id="Rc14508112cf84dea" /><Relationship Type="http://schemas.openxmlformats.org/officeDocument/2006/relationships/slide" Target="/ppt/slides/slide1.xml" Id="Rc345c8ea6f0945a0" /><Relationship Type="http://schemas.openxmlformats.org/officeDocument/2006/relationships/slide" Target="/ppt/slides/slide2.xml" Id="Re534c8d6e825481a" /><Relationship Type="http://schemas.openxmlformats.org/officeDocument/2006/relationships/slide" Target="/ppt/slides/slide3.xml" Id="Rca3f2cf381264992" /><Relationship Type="http://schemas.openxmlformats.org/officeDocument/2006/relationships/slide" Target="/ppt/slides/slide4.xml" Id="Rcf1d1b4df91a4f5e" /><Relationship Type="http://schemas.openxmlformats.org/officeDocument/2006/relationships/slide" Target="/ppt/slides/slide5.xml" Id="R6f9a0303d83643a6" /><Relationship Type="http://schemas.openxmlformats.org/officeDocument/2006/relationships/slide" Target="/ppt/slides/slide6.xml" Id="R94efd3bdc3d44a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e255b37df814b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8fc96df01fe4186" /><Relationship Type="http://schemas.openxmlformats.org/officeDocument/2006/relationships/notesMaster" Target="/ppt/notesMasters/notesMaster1.xml" Id="R5d3acf6028ba49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5b6bae312784c9e" /><Relationship Type="http://schemas.openxmlformats.org/officeDocument/2006/relationships/notesMaster" Target="/ppt/notesMasters/notesMaster1.xml" Id="R4a96c5214165440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f9ad61c20d4bdc" /><Relationship Type="http://schemas.openxmlformats.org/officeDocument/2006/relationships/notesMaster" Target="/ppt/notesMasters/notesMaster1.xml" Id="Rfe023e7e10eb44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5d6f1361074c6c" /><Relationship Type="http://schemas.openxmlformats.org/officeDocument/2006/relationships/notesMaster" Target="/ppt/notesMasters/notesMaster1.xml" Id="Ra23df14c43ad41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5068abe1f449ab" /><Relationship Type="http://schemas.openxmlformats.org/officeDocument/2006/relationships/notesMaster" Target="/ppt/notesMasters/notesMaster1.xml" Id="Rae3f5ff3dc1b495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59dfa2fa2ce4c6f" /><Relationship Type="http://schemas.openxmlformats.org/officeDocument/2006/relationships/notesMaster" Target="/ppt/notesMasters/notesMaster1.xml" Id="R263ab60df5bf4a5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Logo: latest JPG supplied by Neil on 2026-10-01, canonical clients/oceanides/assets/logo.jpg.</a:t>
            </a:r>
          </a:p>
          <a:p xmlns:a="http://schemas.openxmlformats.org/drawingml/2006/main">
            <a:r>
              <a:t>Service scope, Oceanides coordination and intended audience: user briefing in this chat.</a:t>
            </a:r>
          </a:p>
          <a:p xmlns:a="http://schemas.openxmlformats.org/drawingml/2006/main">
            <a:r>
              <a:t>Phone, email and address: user-supplied Facebook Page screenshot 1000040025.jpg; phone also explicitly confirmed by Neil.</a:t>
            </a:r>
          </a:p>
          <a:p xmlns:a="http://schemas.openxmlformats.org/drawingml/2006/main">
            <a:r>
              <a:t>Legal company name: workflows/oceanides_business_model.md, existing company records.</a:t>
            </a:r>
          </a:p>
          <a:p xmlns:a="http://schemas.openxmlformats.org/drawingml/2006/main">
            <a:r>
              <a:t>Design reference: Metro Rod Services Explained brochure https://www.metrorod.co.uk/app/themes/metrorod-v2.0.1/assets/flipbook/newcastle/common/data/catalogue.pdf ; Oceanides colors from clients/oceanides/DESIGN.md.</a:t>
            </a:r>
          </a:p>
          <a:p xmlns:a="http://schemas.openxmlformats.org/drawingml/2006/main">
            <a:r>
              <a:t>No assertion of supplier accreditation, equipment ownership, licenses, project volume, treatment-system capability or maintenance-free operation.</a:t>
            </a:r>
          </a:p>
          <a:p xmlns:a="http://schemas.openxmlformats.org/drawingml/2006/main">
            <a:r>
              <a:t>Cover: AI-generated conceptual property cutaway, not a real project or engineering plan. Exact generation brief: company-profile/assets/generated-sources.json.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Logo: latest JPG supplied by Neil on 2026-10-01, canonical clients/oceanides/assets/logo.jpg.</a:t>
            </a:r>
          </a:p>
          <a:p xmlns:a="http://schemas.openxmlformats.org/drawingml/2006/main">
            <a:r>
              <a:t>Service scope, Oceanides coordination and intended audience: user briefing in this chat.</a:t>
            </a:r>
          </a:p>
          <a:p xmlns:a="http://schemas.openxmlformats.org/drawingml/2006/main">
            <a:r>
              <a:t>Phone, email and address: user-supplied Facebook Page screenshot 1000040025.jpg; phone also explicitly confirmed by Neil.</a:t>
            </a:r>
          </a:p>
          <a:p xmlns:a="http://schemas.openxmlformats.org/drawingml/2006/main">
            <a:r>
              <a:t>Legal company name: workflows/oceanides_business_model.md, existing company records.</a:t>
            </a:r>
          </a:p>
          <a:p xmlns:a="http://schemas.openxmlformats.org/drawingml/2006/main">
            <a:r>
              <a:t>Design reference: Metro Rod Services Explained brochure https://www.metrorod.co.uk/app/themes/metrorod-v2.0.1/assets/flipbook/newcastle/common/data/catalogue.pdf ; Oceanides colors from clients/oceanides/DESIGN.md.</a:t>
            </a:r>
          </a:p>
          <a:p xmlns:a="http://schemas.openxmlformats.org/drawingml/2006/main">
            <a:r>
              <a:t>No assertion of supplier accreditation, equipment ownership, licenses, project volume, treatment-system capability or maintenance-free operation.</a:t>
            </a:r>
          </a:p>
          <a:p xmlns:a="http://schemas.openxmlformats.org/drawingml/2006/main">
            <a:r>
              <a:t>Vehicle: clients/oceanides/assets/tb2-truck-street.png, approved actual source in client design/asset records.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Logo: latest JPG supplied by Neil on 2026-10-01, canonical clients/oceanides/assets/logo.jpg.</a:t>
            </a:r>
          </a:p>
          <a:p xmlns:a="http://schemas.openxmlformats.org/drawingml/2006/main">
            <a:r>
              <a:t>Service scope, Oceanides coordination and intended audience: user briefing in this chat.</a:t>
            </a:r>
          </a:p>
          <a:p xmlns:a="http://schemas.openxmlformats.org/drawingml/2006/main">
            <a:r>
              <a:t>Phone, email and address: user-supplied Facebook Page screenshot 1000040025.jpg; phone also explicitly confirmed by Neil.</a:t>
            </a:r>
          </a:p>
          <a:p xmlns:a="http://schemas.openxmlformats.org/drawingml/2006/main">
            <a:r>
              <a:t>Legal company name: workflows/oceanides_business_model.md, existing company records.</a:t>
            </a:r>
          </a:p>
          <a:p xmlns:a="http://schemas.openxmlformats.org/drawingml/2006/main">
            <a:r>
              <a:t>Design reference: Metro Rod Services Explained brochure https://www.metrorod.co.uk/app/themes/metrorod-v2.0.1/assets/flipbook/newcastle/common/data/catalogue.pdf ; Oceanides colors from clients/oceanides/DESIGN.md.</a:t>
            </a:r>
          </a:p>
          <a:p xmlns:a="http://schemas.openxmlformats.org/drawingml/2006/main">
            <a:r>
              <a:t>No assertion of supplier accreditation, equipment ownership, licenses, project volume, treatment-system capability or maintenance-free operation.</a:t>
            </a:r>
          </a:p>
          <a:p xmlns:a="http://schemas.openxmlformats.org/drawingml/2006/main">
            <a:r>
              <a:t>Matched before/after pair: clients/oceanides/assets/tb2-ba2-before.png and tb2-ba2-after.png. Neil confirmed real job photos on 2026-08-01; see client DESIGN.md and asset-builder source.Service scene: AI-generated fictional specialist, visibly labeled. Not an actual Oceanides employee or completed project. Exact generation brief: company-profile/assets/generated-sources.json.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Logo: latest JPG supplied by Neil on 2026-10-01, canonical clients/oceanides/assets/logo.jpg.</a:t>
            </a:r>
          </a:p>
          <a:p xmlns:a="http://schemas.openxmlformats.org/drawingml/2006/main">
            <a:r>
              <a:t>Service scope, Oceanides coordination and intended audience: user briefing in this chat.</a:t>
            </a:r>
          </a:p>
          <a:p xmlns:a="http://schemas.openxmlformats.org/drawingml/2006/main">
            <a:r>
              <a:t>Phone, email and address: user-supplied Facebook Page screenshot 1000040025.jpg; phone also explicitly confirmed by Neil.</a:t>
            </a:r>
          </a:p>
          <a:p xmlns:a="http://schemas.openxmlformats.org/drawingml/2006/main">
            <a:r>
              <a:t>Legal company name: workflows/oceanides_business_model.md, existing company records.</a:t>
            </a:r>
          </a:p>
          <a:p xmlns:a="http://schemas.openxmlformats.org/drawingml/2006/main">
            <a:r>
              <a:t>Design reference: Metro Rod Services Explained brochure https://www.metrorod.co.uk/app/themes/metrorod-v2.0.1/assets/flipbook/newcastle/common/data/catalogue.pdf ; Oceanides colors from clients/oceanides/DESIGN.md.</a:t>
            </a:r>
          </a:p>
          <a:p xmlns:a="http://schemas.openxmlformats.org/drawingml/2006/main">
            <a:r>
              <a:t>No assertion of supplier accreditation, equipment ownership, licenses, project volume, treatment-system capability or maintenance-free operation.</a:t>
            </a:r>
          </a:p>
          <a:p xmlns:a="http://schemas.openxmlformats.org/drawingml/2006/main">
            <a:r>
              <a:t>Service scene: AI-generated fictional specialist, visibly labeled. Not an actual Oceanides employee or completed project. Exact generation brief: company-profile/assets/generated-sources.json.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Logo: latest JPG supplied by Neil on 2026-10-01, canonical clients/oceanides/assets/logo.jpg.</a:t>
            </a:r>
          </a:p>
          <a:p xmlns:a="http://schemas.openxmlformats.org/drawingml/2006/main">
            <a:r>
              <a:t>Service scope, Oceanides coordination and intended audience: user briefing in this chat.</a:t>
            </a:r>
          </a:p>
          <a:p xmlns:a="http://schemas.openxmlformats.org/drawingml/2006/main">
            <a:r>
              <a:t>Phone, email and address: user-supplied Facebook Page screenshot 1000040025.jpg; phone also explicitly confirmed by Neil.</a:t>
            </a:r>
          </a:p>
          <a:p xmlns:a="http://schemas.openxmlformats.org/drawingml/2006/main">
            <a:r>
              <a:t>Legal company name: workflows/oceanides_business_model.md, existing company records.</a:t>
            </a:r>
          </a:p>
          <a:p xmlns:a="http://schemas.openxmlformats.org/drawingml/2006/main">
            <a:r>
              <a:t>Design reference: Metro Rod Services Explained brochure https://www.metrorod.co.uk/app/themes/metrorod-v2.0.1/assets/flipbook/newcastle/common/data/catalogue.pdf ; Oceanides colors from clients/oceanides/DESIGN.md.</a:t>
            </a:r>
          </a:p>
          <a:p xmlns:a="http://schemas.openxmlformats.org/drawingml/2006/main">
            <a:r>
              <a:t>No assertion of supplier accreditation, equipment ownership, licenses, project volume, treatment-system capability or maintenance-free operation.</a:t>
            </a:r>
          </a:p>
          <a:p xmlns:a="http://schemas.openxmlformats.org/drawingml/2006/main">
            <a:r>
              <a:t>Service scene: AI-generated fictional specialist, visibly labeled. Not an actual Oceanides employee or completed project. Exact generation brief: company-profile/assets/generated-sources.json.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Logo: latest JPG supplied by Neil on 2026-10-01, canonical clients/oceanides/assets/logo.jpg.</a:t>
            </a:r>
          </a:p>
          <a:p xmlns:a="http://schemas.openxmlformats.org/drawingml/2006/main">
            <a:r>
              <a:t>Service scope, Oceanides coordination and intended audience: user briefing in this chat.</a:t>
            </a:r>
          </a:p>
          <a:p xmlns:a="http://schemas.openxmlformats.org/drawingml/2006/main">
            <a:r>
              <a:t>Phone, email and address: user-supplied Facebook Page screenshot 1000040025.jpg; phone also explicitly confirmed by Neil.</a:t>
            </a:r>
          </a:p>
          <a:p xmlns:a="http://schemas.openxmlformats.org/drawingml/2006/main">
            <a:r>
              <a:t>Legal company name: workflows/oceanides_business_model.md, existing company records.</a:t>
            </a:r>
          </a:p>
          <a:p xmlns:a="http://schemas.openxmlformats.org/drawingml/2006/main">
            <a:r>
              <a:t>Design reference: Metro Rod Services Explained brochure https://www.metrorod.co.uk/app/themes/metrorod-v2.0.1/assets/flipbook/newcastle/common/data/catalogue.pdf ; Oceanides colors from clients/oceanides/DESIGN.md.</a:t>
            </a:r>
          </a:p>
          <a:p xmlns:a="http://schemas.openxmlformats.org/drawingml/2006/main">
            <a:r>
              <a:t>No assertion of supplier accreditation, equipment ownership, licenses, project volume, treatment-system capability or maintenance-free operation.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e44e24362b44f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77a4c7fc2bf4892" /><Relationship Type="http://schemas.openxmlformats.org/officeDocument/2006/relationships/slideLayout" Target="/ppt/slideLayouts/slideLayout1.xml" Id="Rfa03c62a963549a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03c62a963549a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196fa57a724725" /><Relationship Type="http://schemas.openxmlformats.org/officeDocument/2006/relationships/image" Target="/ppt/media/image.jpeg" Id="R1fa473c69cca43ee" /><Relationship Type="http://schemas.openxmlformats.org/officeDocument/2006/relationships/image" Target="/ppt/media/image2.jpeg" Id="R6b2e1cc3d3824836" /><Relationship Type="http://schemas.openxmlformats.org/officeDocument/2006/relationships/notesSlide" Target="/ppt/notesSlides/notesSlide1.xml" Id="Rb2ea8693eae8495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cd918971ad4edc" /><Relationship Type="http://schemas.openxmlformats.org/officeDocument/2006/relationships/image" Target="/ppt/media/image3.jpeg" Id="R03d9b037983c490e" /><Relationship Type="http://schemas.openxmlformats.org/officeDocument/2006/relationships/notesSlide" Target="/ppt/notesSlides/notesSlide2.xml" Id="Rc3fb8319b76049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d7ac38dbd14853" /><Relationship Type="http://schemas.openxmlformats.org/officeDocument/2006/relationships/image" Target="/ppt/media/image4.jpeg" Id="R627519197d184678" /><Relationship Type="http://schemas.openxmlformats.org/officeDocument/2006/relationships/image" Target="/ppt/media/image5.jpeg" Id="R8b5e84de4cc5430d" /><Relationship Type="http://schemas.openxmlformats.org/officeDocument/2006/relationships/image" Target="/ppt/media/image6.jpeg" Id="R928110dc7fca4e88" /><Relationship Type="http://schemas.openxmlformats.org/officeDocument/2006/relationships/notesSlide" Target="/ppt/notesSlides/notesSlide3.xml" Id="Rbcec847dcebc452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19698346354f37" /><Relationship Type="http://schemas.openxmlformats.org/officeDocument/2006/relationships/image" Target="/ppt/media/image7.jpeg" Id="R09ddc44bae55426c" /><Relationship Type="http://schemas.openxmlformats.org/officeDocument/2006/relationships/notesSlide" Target="/ppt/notesSlides/notesSlide4.xml" Id="R229e73c599ed43e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8841bb9122480e" /><Relationship Type="http://schemas.openxmlformats.org/officeDocument/2006/relationships/image" Target="/ppt/media/image8.jpeg" Id="R87573b892be84338" /><Relationship Type="http://schemas.openxmlformats.org/officeDocument/2006/relationships/notesSlide" Target="/ppt/notesSlides/notesSlide5.xml" Id="Ra2e8e4ba2f3c4cd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ac045c0f334f1c" /><Relationship Type="http://schemas.openxmlformats.org/officeDocument/2006/relationships/image" Target="/ppt/media/image9.jpeg" Id="R461f7de29cb448ee" /><Relationship Type="http://schemas.openxmlformats.org/officeDocument/2006/relationships/notesSlide" Target="/ppt/notesSlides/notesSlide6.xml" Id="R634621956e8544c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1F4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a473c69cca43ee"/>
          <a:stretch xmlns:a="http://schemas.openxmlformats.org/drawingml/2006/main"/>
        </p:blipFill>
        <p:spPr>
          <a:xfrm xmlns:a="http://schemas.openxmlformats.org/drawingml/2006/main">
            <a:off x="361950" y="228600"/>
            <a:ext cx="1143000" cy="1143000"/>
          </a:xfrm>
          <a:prstGeom xmlns:a="http://schemas.openxmlformats.org/drawingml/2006/main" prst="rect">
            <a:avLst/>
          </a:prstGeom>
        </p:spPr>
      </p:pic>
      <p:sp>
        <p:nvSpPr>
          <p:cNvPr id="2" name="profile-1">
            <a:extLst xmlns:a="http://schemas.openxmlformats.org/drawingml/2006/main">
              <a:ext uri="{FF2B5EF4-FFF2-40B4-BE49-F238E27FC236}">
                <a16:creationId xmlns:a16="http://schemas.microsoft.com/office/drawing/2014/main" id="{2731B405-3CE9-4A9C-88E1-5688BEBF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14325"/>
            <a:ext cx="5334000" cy="7867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6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OCEANIDES</a:t>
            </a:r>
          </a:p>
        </p:txBody>
      </p:sp>
      <p:sp>
        <p:nvSpPr>
          <p:cNvPr id="3" name="profile-2">
            <a:extLst xmlns:a="http://schemas.openxmlformats.org/drawingml/2006/main">
              <a:ext uri="{FF2B5EF4-FFF2-40B4-BE49-F238E27FC236}">
                <a16:creationId xmlns:a16="http://schemas.microsoft.com/office/drawing/2014/main" id="{1598FEF5-8CF0-4346-977A-7E65882AF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057275"/>
            <a:ext cx="52673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Plumbing Siphoning &amp; Pest Management Services OPC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2e1cc3d3824836"/>
          <a:srcRect xmlns:a="http://schemas.openxmlformats.org/drawingml/2006/main" l="0" t="1259" r="0" b="12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676400"/>
            <a:ext cx="7562850" cy="4914900"/>
          </a:xfrm>
          <a:prstGeom xmlns:a="http://schemas.openxmlformats.org/drawingml/2006/main" prst="rect">
            <a:avLst/>
          </a:prstGeom>
        </p:spPr>
      </p:pic>
      <p:sp>
        <p:nvSpPr>
          <p:cNvPr id="5" name="profile-3">
            <a:extLst xmlns:a="http://schemas.openxmlformats.org/drawingml/2006/main">
              <a:ext uri="{FF2B5EF4-FFF2-40B4-BE49-F238E27FC236}">
                <a16:creationId xmlns:a16="http://schemas.microsoft.com/office/drawing/2014/main" id="{1C9D16EC-4212-474E-B454-3A749230C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715125"/>
            <a:ext cx="6724650" cy="1552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FB3DD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FB3DD"/>
                </a:solidFill>
                <a:latin typeface="Arial"/>
                <a:ea typeface="Arial"/>
                <a:cs typeface="Arial"/>
              </a:rPr>
              <a:t>AI-generated property-services concept</a:t>
            </a:r>
          </a:p>
        </p:txBody>
      </p:sp>
      <p:sp>
        <p:nvSpPr>
          <p:cNvPr id="6" name="profile-4">
            <a:extLst xmlns:a="http://schemas.openxmlformats.org/drawingml/2006/main">
              <a:ext uri="{FF2B5EF4-FFF2-40B4-BE49-F238E27FC236}">
                <a16:creationId xmlns:a16="http://schemas.microsoft.com/office/drawing/2014/main" id="{2E1E9CF1-1476-4B3E-941A-74FF789C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077075"/>
            <a:ext cx="257175" cy="1952625"/>
          </a:xfrm>
          <a:custGeom xmlns:a="http://schemas.openxmlformats.org/drawingml/2006/main">
            <a:pathLst>
              <a:path w="257175" h="1952625">
                <a:moveTo>
                  <a:pt x="0" y="0"/>
                </a:moveTo>
                <a:lnTo>
                  <a:pt x="257175" y="0"/>
                </a:lnTo>
                <a:lnTo>
                  <a:pt x="257175" y="1809750"/>
                </a:lnTo>
                <a:lnTo>
                  <a:pt x="0" y="1952625"/>
                </a:lnTo>
                <a:close/>
              </a:path>
            </a:pathLst>
          </a:cu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7" name="profile-5">
            <a:extLst xmlns:a="http://schemas.openxmlformats.org/drawingml/2006/main">
              <a:ext uri="{FF2B5EF4-FFF2-40B4-BE49-F238E27FC236}">
                <a16:creationId xmlns:a16="http://schemas.microsoft.com/office/drawing/2014/main" id="{D4AF5ADC-40A4-4B56-81A3-E83560D9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077075"/>
            <a:ext cx="6724650" cy="712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2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COMPANY PROFILE</a:t>
            </a:r>
          </a:p>
        </p:txBody>
      </p:sp>
      <p:sp>
        <p:nvSpPr>
          <p:cNvPr id="8" name="profile-6">
            <a:extLst xmlns:a="http://schemas.openxmlformats.org/drawingml/2006/main">
              <a:ext uri="{FF2B5EF4-FFF2-40B4-BE49-F238E27FC236}">
                <a16:creationId xmlns:a16="http://schemas.microsoft.com/office/drawing/2014/main" id="{2580C10E-C89E-42D3-8598-8C608315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839075"/>
            <a:ext cx="6724650" cy="2543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Property services. One coordinated point of contact.</a:t>
            </a:r>
          </a:p>
        </p:txBody>
      </p:sp>
      <p:sp>
        <p:nvSpPr>
          <p:cNvPr id="9" name="profile-7">
            <a:extLst xmlns:a="http://schemas.openxmlformats.org/drawingml/2006/main">
              <a:ext uri="{FF2B5EF4-FFF2-40B4-BE49-F238E27FC236}">
                <a16:creationId xmlns:a16="http://schemas.microsoft.com/office/drawing/2014/main" id="{75D54C4A-A804-4EC2-9D51-B0F5895C7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477250"/>
            <a:ext cx="3209925" cy="3533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SIPHONING</a:t>
            </a:r>
          </a:p>
        </p:txBody>
      </p:sp>
      <p:sp>
        <p:nvSpPr>
          <p:cNvPr id="10" name="profile-8">
            <a:extLst xmlns:a="http://schemas.openxmlformats.org/drawingml/2006/main">
              <a:ext uri="{FF2B5EF4-FFF2-40B4-BE49-F238E27FC236}">
                <a16:creationId xmlns:a16="http://schemas.microsoft.com/office/drawing/2014/main" id="{BA0B2B40-DA5A-4D3B-ABEB-D693BA5F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8477250"/>
            <a:ext cx="3209925" cy="3533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PLUMBING</a:t>
            </a:r>
          </a:p>
        </p:txBody>
      </p:sp>
      <p:sp>
        <p:nvSpPr>
          <p:cNvPr id="11" name="profile-9">
            <a:extLst xmlns:a="http://schemas.openxmlformats.org/drawingml/2006/main">
              <a:ext uri="{FF2B5EF4-FFF2-40B4-BE49-F238E27FC236}">
                <a16:creationId xmlns:a16="http://schemas.microsoft.com/office/drawing/2014/main" id="{B2C775A9-21EF-45E9-99FB-EB4F2B83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048750"/>
            <a:ext cx="3209925" cy="3162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RENOVATION &amp; RESTORATION</a:t>
            </a:r>
          </a:p>
        </p:txBody>
      </p:sp>
      <p:sp>
        <p:nvSpPr>
          <p:cNvPr id="12" name="profile-10">
            <a:extLst xmlns:a="http://schemas.openxmlformats.org/drawingml/2006/main">
              <a:ext uri="{FF2B5EF4-FFF2-40B4-BE49-F238E27FC236}">
                <a16:creationId xmlns:a16="http://schemas.microsoft.com/office/drawing/2014/main" id="{413A51E9-A373-4344-BDD2-F2EC32BCB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9048750"/>
            <a:ext cx="3209925" cy="3533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PEST CONTROL</a:t>
            </a:r>
          </a:p>
        </p:txBody>
      </p:sp>
      <p:sp>
        <p:nvSpPr>
          <p:cNvPr id="13" name="profile-11">
            <a:extLst xmlns:a="http://schemas.openxmlformats.org/drawingml/2006/main">
              <a:ext uri="{FF2B5EF4-FFF2-40B4-BE49-F238E27FC236}">
                <a16:creationId xmlns:a16="http://schemas.microsoft.com/office/drawing/2014/main" id="{4932955B-26A3-4A30-AEDE-AEB1C03E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877425"/>
            <a:ext cx="75628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F45"/>
          </a:solidFill>
          <a:ln xmlns:a="http://schemas.openxmlformats.org/drawingml/2006/main" w="0">
            <a:noFill/>
          </a:ln>
        </p:spPr>
      </p:sp>
      <p:sp>
        <p:nvSpPr>
          <p:cNvPr id="14" name="profile-12">
            <a:extLst xmlns:a="http://schemas.openxmlformats.org/drawingml/2006/main">
              <a:ext uri="{FF2B5EF4-FFF2-40B4-BE49-F238E27FC236}">
                <a16:creationId xmlns:a16="http://schemas.microsoft.com/office/drawing/2014/main" id="{6B1C39D9-744C-4FF9-8B30-BFAEF697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877425"/>
            <a:ext cx="2743200" cy="819150"/>
          </a:xfrm>
          <a:custGeom xmlns:a="http://schemas.openxmlformats.org/drawingml/2006/main">
            <a:pathLst>
              <a:path w="2743200" h="819150">
                <a:moveTo>
                  <a:pt x="0" y="0"/>
                </a:moveTo>
                <a:lnTo>
                  <a:pt x="2743200" y="0"/>
                </a:lnTo>
                <a:lnTo>
                  <a:pt x="2390775" y="819150"/>
                </a:lnTo>
                <a:lnTo>
                  <a:pt x="0" y="819150"/>
                </a:lnTo>
                <a:close/>
              </a:path>
            </a:pathLst>
          </a:cu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15" name="profile-13">
            <a:extLst xmlns:a="http://schemas.openxmlformats.org/drawingml/2006/main">
              <a:ext uri="{FF2B5EF4-FFF2-40B4-BE49-F238E27FC236}">
                <a16:creationId xmlns:a16="http://schemas.microsoft.com/office/drawing/2014/main" id="{47064C5D-68AA-400D-800F-F95C5D0C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115550"/>
            <a:ext cx="1962150" cy="3533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rPr>
              <a:t>OCEANIDES</a:t>
            </a:r>
          </a:p>
        </p:txBody>
      </p:sp>
      <p:sp>
        <p:nvSpPr>
          <p:cNvPr id="16" name="profile-14">
            <a:extLst xmlns:a="http://schemas.openxmlformats.org/drawingml/2006/main">
              <a:ext uri="{FF2B5EF4-FFF2-40B4-BE49-F238E27FC236}">
                <a16:creationId xmlns:a16="http://schemas.microsoft.com/office/drawing/2014/main" id="{2CDE233B-0D62-4AC2-9E53-4E9ABBB6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0020300"/>
            <a:ext cx="3838575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0917 671 6383</a:t>
            </a:r>
          </a:p>
        </p:txBody>
      </p:sp>
      <p:sp>
        <p:nvSpPr>
          <p:cNvPr id="17" name="profile-15">
            <a:extLst xmlns:a="http://schemas.openxmlformats.org/drawingml/2006/main">
              <a:ext uri="{FF2B5EF4-FFF2-40B4-BE49-F238E27FC236}">
                <a16:creationId xmlns:a16="http://schemas.microsoft.com/office/drawing/2014/main" id="{A5EB4E3E-9451-4FEB-9DCE-E6A0CAE25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0382250"/>
            <a:ext cx="4000500" cy="180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marketing@oceanidessepticandpest.com</a:t>
            </a:r>
          </a:p>
        </p:txBody>
      </p:sp>
      <p:sp>
        <p:nvSpPr>
          <p:cNvPr id="18" name="profile-16">
            <a:extLst xmlns:a="http://schemas.openxmlformats.org/drawingml/2006/main">
              <a:ext uri="{FF2B5EF4-FFF2-40B4-BE49-F238E27FC236}">
                <a16:creationId xmlns:a16="http://schemas.microsoft.com/office/drawing/2014/main" id="{381D7D7E-FDDA-4F75-91B7-1A40D3DF0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0163175"/>
            <a:ext cx="257175" cy="2047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FB3D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FB3DD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397742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d9b037983c490e"/>
          <a:srcRect xmlns:a="http://schemas.openxmlformats.org/drawingml/2006/main" l="0" t="25346" r="0" b="253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7562850" cy="2486025"/>
          </a:xfrm>
          <a:prstGeom xmlns:a="http://schemas.openxmlformats.org/drawingml/2006/main" prst="rect">
            <a:avLst/>
          </a:prstGeom>
        </p:spPr>
      </p:pic>
      <p:sp>
        <p:nvSpPr>
          <p:cNvPr id="2" name="profile-17">
            <a:extLst xmlns:a="http://schemas.openxmlformats.org/drawingml/2006/main">
              <a:ext uri="{FF2B5EF4-FFF2-40B4-BE49-F238E27FC236}">
                <a16:creationId xmlns:a16="http://schemas.microsoft.com/office/drawing/2014/main" id="{18A29371-98E5-42D9-9B01-85FADF05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952625"/>
            <a:ext cx="7000875" cy="971550"/>
          </a:xfrm>
          <a:custGeom xmlns:a="http://schemas.openxmlformats.org/drawingml/2006/main">
            <a:pathLst>
              <a:path w="7000875" h="971550">
                <a:moveTo>
                  <a:pt x="514350" y="0"/>
                </a:moveTo>
                <a:lnTo>
                  <a:pt x="7000875" y="0"/>
                </a:lnTo>
                <a:lnTo>
                  <a:pt x="6267450" y="971550"/>
                </a:lnTo>
                <a:lnTo>
                  <a:pt x="0" y="971550"/>
                </a:lnTo>
                <a:close/>
              </a:path>
            </a:pathLst>
          </a:cu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3" name="profile-18">
            <a:extLst xmlns:a="http://schemas.openxmlformats.org/drawingml/2006/main">
              <a:ext uri="{FF2B5EF4-FFF2-40B4-BE49-F238E27FC236}">
                <a16:creationId xmlns:a16="http://schemas.microsoft.com/office/drawing/2014/main" id="{D7351469-BB15-4303-B37E-93A559C2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952625"/>
            <a:ext cx="6896100" cy="885825"/>
          </a:xfrm>
          <a:custGeom xmlns:a="http://schemas.openxmlformats.org/drawingml/2006/main">
            <a:pathLst>
              <a:path w="6896100" h="885825">
                <a:moveTo>
                  <a:pt x="514350" y="0"/>
                </a:moveTo>
                <a:lnTo>
                  <a:pt x="6896100" y="0"/>
                </a:lnTo>
                <a:lnTo>
                  <a:pt x="6210300" y="885825"/>
                </a:lnTo>
                <a:lnTo>
                  <a:pt x="0" y="885825"/>
                </a:lnTo>
                <a:close/>
              </a:path>
            </a:pathLst>
          </a:custGeom>
          <a:solidFill xmlns:a="http://schemas.openxmlformats.org/drawingml/2006/main">
            <a:srgbClr val="F4F6FA"/>
          </a:solidFill>
          <a:ln xmlns:a="http://schemas.openxmlformats.org/drawingml/2006/main" w="0">
            <a:noFill/>
          </a:ln>
        </p:spPr>
      </p:sp>
      <p:sp>
        <p:nvSpPr>
          <p:cNvPr id="4" name="profile-19">
            <a:extLst xmlns:a="http://schemas.openxmlformats.org/drawingml/2006/main">
              <a:ext uri="{FF2B5EF4-FFF2-40B4-BE49-F238E27FC236}">
                <a16:creationId xmlns:a16="http://schemas.microsoft.com/office/drawing/2014/main" id="{748AAC3A-2DA8-4648-9BDB-D5DC4A76F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124075"/>
            <a:ext cx="5800725" cy="4648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defRPr>
            </a:pPr>
            <a:r>
              <a:rPr sz="337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rPr>
              <a:t>COMPANY OVERVIEW</a:t>
            </a:r>
          </a:p>
        </p:txBody>
      </p:sp>
      <p:sp>
        <p:nvSpPr>
          <p:cNvPr id="5" name="profile-20">
            <a:extLst xmlns:a="http://schemas.openxmlformats.org/drawingml/2006/main">
              <a:ext uri="{FF2B5EF4-FFF2-40B4-BE49-F238E27FC236}">
                <a16:creationId xmlns:a16="http://schemas.microsoft.com/office/drawing/2014/main" id="{B4F34595-0D38-49DE-8113-1A98D1D4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95650"/>
            <a:ext cx="672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Oceanides coordinates property services for homes, condominiums and company</a:t>
            </a:r>
          </a:p>
        </p:txBody>
      </p:sp>
      <p:sp>
        <p:nvSpPr>
          <p:cNvPr id="6" name="profile-21">
            <a:extLst xmlns:a="http://schemas.openxmlformats.org/drawingml/2006/main">
              <a:ext uri="{FF2B5EF4-FFF2-40B4-BE49-F238E27FC236}">
                <a16:creationId xmlns:a16="http://schemas.microsoft.com/office/drawing/2014/main" id="{29846BAC-E432-4B21-AF82-7D3368C6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562350"/>
            <a:ext cx="672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facilities. Our service offering covers siphoning, plumbing, renovation and</a:t>
            </a:r>
          </a:p>
        </p:txBody>
      </p:sp>
      <p:sp>
        <p:nvSpPr>
          <p:cNvPr id="7" name="profile-22">
            <a:extLst xmlns:a="http://schemas.openxmlformats.org/drawingml/2006/main">
              <a:ext uri="{FF2B5EF4-FFF2-40B4-BE49-F238E27FC236}">
                <a16:creationId xmlns:a16="http://schemas.microsoft.com/office/drawing/2014/main" id="{4C219619-205A-4A2D-ABDD-3E9419E9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29050"/>
            <a:ext cx="672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restoration, and pest control.</a:t>
            </a:r>
          </a:p>
        </p:txBody>
      </p:sp>
      <p:sp>
        <p:nvSpPr>
          <p:cNvPr id="8" name="profile-23">
            <a:extLst xmlns:a="http://schemas.openxmlformats.org/drawingml/2006/main">
              <a:ext uri="{FF2B5EF4-FFF2-40B4-BE49-F238E27FC236}">
                <a16:creationId xmlns:a16="http://schemas.microsoft.com/office/drawing/2014/main" id="{D7F3C403-BEB3-41C9-AD69-01690B4B6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24375"/>
            <a:ext cx="7562850" cy="2143125"/>
          </a:xfrm>
          <a:custGeom xmlns:a="http://schemas.openxmlformats.org/drawingml/2006/main">
            <a:pathLst>
              <a:path w="7562850" h="2143125">
                <a:moveTo>
                  <a:pt x="0" y="0"/>
                </a:moveTo>
                <a:lnTo>
                  <a:pt x="7562850" y="0"/>
                </a:lnTo>
                <a:lnTo>
                  <a:pt x="6715125" y="2143125"/>
                </a:lnTo>
                <a:lnTo>
                  <a:pt x="0" y="2143125"/>
                </a:lnTo>
                <a:close/>
              </a:path>
            </a:pathLst>
          </a:custGeom>
          <a:solidFill xmlns:a="http://schemas.openxmlformats.org/drawingml/2006/main">
            <a:srgbClr val="0A1F45"/>
          </a:solidFill>
          <a:ln xmlns:a="http://schemas.openxmlformats.org/drawingml/2006/main" w="0">
            <a:noFill/>
          </a:ln>
        </p:spPr>
      </p:sp>
      <p:sp>
        <p:nvSpPr>
          <p:cNvPr id="9" name="profile-24">
            <a:extLst xmlns:a="http://schemas.openxmlformats.org/drawingml/2006/main">
              <a:ext uri="{FF2B5EF4-FFF2-40B4-BE49-F238E27FC236}">
                <a16:creationId xmlns:a16="http://schemas.microsoft.com/office/drawing/2014/main" id="{604E2F4B-6986-47ED-A98F-1E53C7A1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91075"/>
            <a:ext cx="6334125" cy="3781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217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ONE CONTACT THROUGH TURNOVER</a:t>
            </a:r>
          </a:p>
        </p:txBody>
      </p:sp>
      <p:sp>
        <p:nvSpPr>
          <p:cNvPr id="10" name="profile-25">
            <a:extLst xmlns:a="http://schemas.openxmlformats.org/drawingml/2006/main">
              <a:ext uri="{FF2B5EF4-FFF2-40B4-BE49-F238E27FC236}">
                <a16:creationId xmlns:a16="http://schemas.microsoft.com/office/drawing/2014/main" id="{40A93782-8AFC-4753-AAA2-42C38D1E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76850"/>
            <a:ext cx="619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Oceanides remains your main contact from the initial inquiry to turnover. We</a:t>
            </a:r>
          </a:p>
        </p:txBody>
      </p:sp>
      <p:sp>
        <p:nvSpPr>
          <p:cNvPr id="11" name="profile-26">
            <a:extLst xmlns:a="http://schemas.openxmlformats.org/drawingml/2006/main">
              <a:ext uri="{FF2B5EF4-FFF2-40B4-BE49-F238E27FC236}">
                <a16:creationId xmlns:a16="http://schemas.microsoft.com/office/drawing/2014/main" id="{819AE3AF-AC49-45FC-942D-C896FE63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534025"/>
            <a:ext cx="619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coordinate the site assessment, quotation and service delivery, including</a:t>
            </a:r>
          </a:p>
        </p:txBody>
      </p:sp>
      <p:sp>
        <p:nvSpPr>
          <p:cNvPr id="12" name="profile-27">
            <a:extLst xmlns:a="http://schemas.openxmlformats.org/drawingml/2006/main">
              <a:ext uri="{FF2B5EF4-FFF2-40B4-BE49-F238E27FC236}">
                <a16:creationId xmlns:a16="http://schemas.microsoft.com/office/drawing/2014/main" id="{9B7C35C3-9DC6-4A17-9089-602E49231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791200"/>
            <a:ext cx="619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specialist contractors where the work requires them.</a:t>
            </a:r>
          </a:p>
        </p:txBody>
      </p:sp>
      <p:sp>
        <p:nvSpPr>
          <p:cNvPr id="13" name="profile-28">
            <a:extLst xmlns:a="http://schemas.openxmlformats.org/drawingml/2006/main">
              <a:ext uri="{FF2B5EF4-FFF2-40B4-BE49-F238E27FC236}">
                <a16:creationId xmlns:a16="http://schemas.microsoft.com/office/drawing/2014/main" id="{8022EC4C-197A-4143-A19E-3E1454E3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953250"/>
            <a:ext cx="672465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C63A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C63AD"/>
                </a:solidFill>
                <a:latin typeface="Arial"/>
                <a:ea typeface="Arial"/>
                <a:cs typeface="Arial"/>
              </a:rPr>
              <a:t>SERVICE PORTFOLIO</a:t>
            </a:r>
          </a:p>
        </p:txBody>
      </p:sp>
      <p:sp>
        <p:nvSpPr>
          <p:cNvPr id="14" name="profile-29">
            <a:extLst xmlns:a="http://schemas.openxmlformats.org/drawingml/2006/main">
              <a:ext uri="{FF2B5EF4-FFF2-40B4-BE49-F238E27FC236}">
                <a16:creationId xmlns:a16="http://schemas.microsoft.com/office/drawing/2014/main" id="{9F7A0BF6-BF22-4CFE-9CC9-9466D15E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439025"/>
            <a:ext cx="3181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A1F45"/>
                </a:solidFill>
                <a:latin typeface="Arial Narrow"/>
                <a:ea typeface="Arial Narrow"/>
                <a:cs typeface="Arial Narrow"/>
              </a:defRPr>
            </a:pPr>
            <a:r>
              <a:rPr sz="2100" b="1">
                <a:solidFill>
                  <a:srgbClr val="0A1F45"/>
                </a:solidFill>
                <a:latin typeface="Arial Narrow"/>
                <a:ea typeface="Arial Narrow"/>
                <a:cs typeface="Arial Narrow"/>
              </a:rPr>
              <a:t>SIPHONING</a:t>
            </a:r>
          </a:p>
        </p:txBody>
      </p:sp>
      <p:sp>
        <p:nvSpPr>
          <p:cNvPr id="15" name="profile-30">
            <a:extLst xmlns:a="http://schemas.openxmlformats.org/drawingml/2006/main">
              <a:ext uri="{FF2B5EF4-FFF2-40B4-BE49-F238E27FC236}">
                <a16:creationId xmlns:a16="http://schemas.microsoft.com/office/drawing/2014/main" id="{747A536F-3587-4D6F-ACC9-9C726E81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848600"/>
            <a:ext cx="3181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B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B6B85"/>
                </a:solidFill>
                <a:latin typeface="Arial"/>
                <a:ea typeface="Arial"/>
                <a:cs typeface="Arial"/>
              </a:rPr>
              <a:t>Septic tank siphoning and cleaning.</a:t>
            </a:r>
          </a:p>
        </p:txBody>
      </p:sp>
      <p:sp>
        <p:nvSpPr>
          <p:cNvPr id="16" name="profile-31">
            <a:extLst xmlns:a="http://schemas.openxmlformats.org/drawingml/2006/main">
              <a:ext uri="{FF2B5EF4-FFF2-40B4-BE49-F238E27FC236}">
                <a16:creationId xmlns:a16="http://schemas.microsoft.com/office/drawing/2014/main" id="{FBD49BB7-6459-4B4C-BD42-69AC69DB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7439025"/>
            <a:ext cx="3181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A1F45"/>
                </a:solidFill>
                <a:latin typeface="Arial Narrow"/>
                <a:ea typeface="Arial Narrow"/>
                <a:cs typeface="Arial Narrow"/>
              </a:defRPr>
            </a:pPr>
            <a:r>
              <a:rPr sz="2100" b="1">
                <a:solidFill>
                  <a:srgbClr val="0A1F45"/>
                </a:solidFill>
                <a:latin typeface="Arial Narrow"/>
                <a:ea typeface="Arial Narrow"/>
                <a:cs typeface="Arial Narrow"/>
              </a:rPr>
              <a:t>PLUMBING</a:t>
            </a:r>
          </a:p>
        </p:txBody>
      </p:sp>
      <p:sp>
        <p:nvSpPr>
          <p:cNvPr id="17" name="profile-32">
            <a:extLst xmlns:a="http://schemas.openxmlformats.org/drawingml/2006/main">
              <a:ext uri="{FF2B5EF4-FFF2-40B4-BE49-F238E27FC236}">
                <a16:creationId xmlns:a16="http://schemas.microsoft.com/office/drawing/2014/main" id="{71145EB7-9A2F-4DCB-BCFB-B8A3C3014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7848600"/>
            <a:ext cx="3181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B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B6B85"/>
                </a:solidFill>
                <a:latin typeface="Arial"/>
                <a:ea typeface="Arial"/>
                <a:cs typeface="Arial"/>
              </a:rPr>
              <a:t>Declogging and pipe leak repairs.</a:t>
            </a:r>
          </a:p>
        </p:txBody>
      </p:sp>
      <p:sp>
        <p:nvSpPr>
          <p:cNvPr id="18" name="profile-33">
            <a:extLst xmlns:a="http://schemas.openxmlformats.org/drawingml/2006/main">
              <a:ext uri="{FF2B5EF4-FFF2-40B4-BE49-F238E27FC236}">
                <a16:creationId xmlns:a16="http://schemas.microsoft.com/office/drawing/2014/main" id="{F17BEAD3-5657-4F3C-936F-581764E1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439150"/>
            <a:ext cx="3181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A1F45"/>
                </a:solidFill>
                <a:latin typeface="Arial Narrow"/>
                <a:ea typeface="Arial Narrow"/>
                <a:cs typeface="Arial Narrow"/>
              </a:defRPr>
            </a:pPr>
            <a:r>
              <a:rPr sz="2100" b="1">
                <a:solidFill>
                  <a:srgbClr val="0A1F45"/>
                </a:solidFill>
                <a:latin typeface="Arial Narrow"/>
                <a:ea typeface="Arial Narrow"/>
                <a:cs typeface="Arial Narrow"/>
              </a:rPr>
              <a:t>RENOVATION &amp;</a:t>
            </a:r>
          </a:p>
        </p:txBody>
      </p:sp>
      <p:sp>
        <p:nvSpPr>
          <p:cNvPr id="19" name="profile-34">
            <a:extLst xmlns:a="http://schemas.openxmlformats.org/drawingml/2006/main">
              <a:ext uri="{FF2B5EF4-FFF2-40B4-BE49-F238E27FC236}">
                <a16:creationId xmlns:a16="http://schemas.microsoft.com/office/drawing/2014/main" id="{344A87FE-C5F6-45A2-8422-C9C4ED57A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724900"/>
            <a:ext cx="3181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A1F45"/>
                </a:solidFill>
                <a:latin typeface="Arial Narrow"/>
                <a:ea typeface="Arial Narrow"/>
                <a:cs typeface="Arial Narrow"/>
              </a:defRPr>
            </a:pPr>
            <a:r>
              <a:rPr sz="2100" b="1">
                <a:solidFill>
                  <a:srgbClr val="0A1F45"/>
                </a:solidFill>
                <a:latin typeface="Arial Narrow"/>
                <a:ea typeface="Arial Narrow"/>
                <a:cs typeface="Arial Narrow"/>
              </a:rPr>
              <a:t>RESTORATION</a:t>
            </a:r>
          </a:p>
        </p:txBody>
      </p:sp>
      <p:sp>
        <p:nvSpPr>
          <p:cNvPr id="20" name="profile-35">
            <a:extLst xmlns:a="http://schemas.openxmlformats.org/drawingml/2006/main">
              <a:ext uri="{FF2B5EF4-FFF2-40B4-BE49-F238E27FC236}">
                <a16:creationId xmlns:a16="http://schemas.microsoft.com/office/drawing/2014/main" id="{90685F26-B3F3-4CC3-A5A9-DBF13BC9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077325"/>
            <a:ext cx="3181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B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B6B85"/>
                </a:solidFill>
                <a:latin typeface="Arial"/>
                <a:ea typeface="Arial"/>
                <a:cs typeface="Arial"/>
              </a:rPr>
              <a:t>House and condominium improvements.</a:t>
            </a:r>
          </a:p>
        </p:txBody>
      </p:sp>
      <p:sp>
        <p:nvSpPr>
          <p:cNvPr id="21" name="profile-36">
            <a:extLst xmlns:a="http://schemas.openxmlformats.org/drawingml/2006/main">
              <a:ext uri="{FF2B5EF4-FFF2-40B4-BE49-F238E27FC236}">
                <a16:creationId xmlns:a16="http://schemas.microsoft.com/office/drawing/2014/main" id="{676D706F-5580-4F72-9121-6D82535B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8439150"/>
            <a:ext cx="3181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A1F45"/>
                </a:solidFill>
                <a:latin typeface="Arial Narrow"/>
                <a:ea typeface="Arial Narrow"/>
                <a:cs typeface="Arial Narrow"/>
              </a:defRPr>
            </a:pPr>
            <a:r>
              <a:rPr sz="2100" b="1">
                <a:solidFill>
                  <a:srgbClr val="0A1F45"/>
                </a:solidFill>
                <a:latin typeface="Arial Narrow"/>
                <a:ea typeface="Arial Narrow"/>
                <a:cs typeface="Arial Narrow"/>
              </a:rPr>
              <a:t>PEST CONTROL</a:t>
            </a:r>
          </a:p>
        </p:txBody>
      </p:sp>
      <p:sp>
        <p:nvSpPr>
          <p:cNvPr id="22" name="profile-37">
            <a:extLst xmlns:a="http://schemas.openxmlformats.org/drawingml/2006/main">
              <a:ext uri="{FF2B5EF4-FFF2-40B4-BE49-F238E27FC236}">
                <a16:creationId xmlns:a16="http://schemas.microsoft.com/office/drawing/2014/main" id="{C330803B-9523-4392-A481-AAF2AD8C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8848725"/>
            <a:ext cx="3181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B8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B6B85"/>
                </a:solidFill>
                <a:latin typeface="Arial"/>
                <a:ea typeface="Arial"/>
                <a:cs typeface="Arial"/>
              </a:rPr>
              <a:t>Assessment-based service coordination.</a:t>
            </a:r>
          </a:p>
        </p:txBody>
      </p:sp>
      <p:sp>
        <p:nvSpPr>
          <p:cNvPr id="23" name="profile-38">
            <a:extLst xmlns:a="http://schemas.openxmlformats.org/drawingml/2006/main">
              <a:ext uri="{FF2B5EF4-FFF2-40B4-BE49-F238E27FC236}">
                <a16:creationId xmlns:a16="http://schemas.microsoft.com/office/drawing/2014/main" id="{59C95138-7D7F-46BC-8C74-90465893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877425"/>
            <a:ext cx="75628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F45"/>
          </a:solidFill>
          <a:ln xmlns:a="http://schemas.openxmlformats.org/drawingml/2006/main" w="0">
            <a:noFill/>
          </a:ln>
        </p:spPr>
      </p:sp>
      <p:sp>
        <p:nvSpPr>
          <p:cNvPr id="24" name="profile-39">
            <a:extLst xmlns:a="http://schemas.openxmlformats.org/drawingml/2006/main">
              <a:ext uri="{FF2B5EF4-FFF2-40B4-BE49-F238E27FC236}">
                <a16:creationId xmlns:a16="http://schemas.microsoft.com/office/drawing/2014/main" id="{4A4B33B6-6289-4AF1-B1A0-EE3B9DB0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877425"/>
            <a:ext cx="2743200" cy="819150"/>
          </a:xfrm>
          <a:custGeom xmlns:a="http://schemas.openxmlformats.org/drawingml/2006/main">
            <a:pathLst>
              <a:path w="2743200" h="819150">
                <a:moveTo>
                  <a:pt x="0" y="0"/>
                </a:moveTo>
                <a:lnTo>
                  <a:pt x="2743200" y="0"/>
                </a:lnTo>
                <a:lnTo>
                  <a:pt x="2390775" y="819150"/>
                </a:lnTo>
                <a:lnTo>
                  <a:pt x="0" y="819150"/>
                </a:lnTo>
                <a:close/>
              </a:path>
            </a:pathLst>
          </a:cu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25" name="profile-40">
            <a:extLst xmlns:a="http://schemas.openxmlformats.org/drawingml/2006/main">
              <a:ext uri="{FF2B5EF4-FFF2-40B4-BE49-F238E27FC236}">
                <a16:creationId xmlns:a16="http://schemas.microsoft.com/office/drawing/2014/main" id="{BFC6F8FB-2389-4779-ADE3-CA6B15F7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115550"/>
            <a:ext cx="1962150" cy="3533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rPr>
              <a:t>OCEANIDES</a:t>
            </a:r>
          </a:p>
        </p:txBody>
      </p:sp>
      <p:sp>
        <p:nvSpPr>
          <p:cNvPr id="26" name="profile-41">
            <a:extLst xmlns:a="http://schemas.openxmlformats.org/drawingml/2006/main">
              <a:ext uri="{FF2B5EF4-FFF2-40B4-BE49-F238E27FC236}">
                <a16:creationId xmlns:a16="http://schemas.microsoft.com/office/drawing/2014/main" id="{264EC907-5987-4361-A4BB-A7628CECE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0020300"/>
            <a:ext cx="3838575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0917 671 6383</a:t>
            </a:r>
          </a:p>
        </p:txBody>
      </p:sp>
      <p:sp>
        <p:nvSpPr>
          <p:cNvPr id="27" name="profile-42">
            <a:extLst xmlns:a="http://schemas.openxmlformats.org/drawingml/2006/main">
              <a:ext uri="{FF2B5EF4-FFF2-40B4-BE49-F238E27FC236}">
                <a16:creationId xmlns:a16="http://schemas.microsoft.com/office/drawing/2014/main" id="{F7430329-BA80-4FAF-BDA7-A1B317784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0382250"/>
            <a:ext cx="4000500" cy="180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marketing@oceanidessepticandpest.com</a:t>
            </a:r>
          </a:p>
        </p:txBody>
      </p:sp>
      <p:sp>
        <p:nvSpPr>
          <p:cNvPr id="28" name="profile-43">
            <a:extLst xmlns:a="http://schemas.openxmlformats.org/drawingml/2006/main">
              <a:ext uri="{FF2B5EF4-FFF2-40B4-BE49-F238E27FC236}">
                <a16:creationId xmlns:a16="http://schemas.microsoft.com/office/drawing/2014/main" id="{FAA3BAB3-442C-4D7D-958D-00724A2F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0163175"/>
            <a:ext cx="257175" cy="2047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FB3D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FB3D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794487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7519197d184678"/>
          <a:stretch xmlns:a="http://schemas.openxmlformats.org/drawingml/2006/main"/>
        </p:blipFill>
        <p:spPr>
          <a:xfrm xmlns:a="http://schemas.openxmlformats.org/drawingml/2006/main">
            <a:off x="0" y="0"/>
            <a:ext cx="7562850" cy="5041900"/>
          </a:xfrm>
          <a:prstGeom xmlns:a="http://schemas.openxmlformats.org/drawingml/2006/main" prst="rect">
            <a:avLst/>
          </a:prstGeom>
        </p:spPr>
      </p:pic>
      <p:sp>
        <p:nvSpPr>
          <p:cNvPr id="2" name="profile-44">
            <a:extLst xmlns:a="http://schemas.openxmlformats.org/drawingml/2006/main">
              <a:ext uri="{FF2B5EF4-FFF2-40B4-BE49-F238E27FC236}">
                <a16:creationId xmlns:a16="http://schemas.microsoft.com/office/drawing/2014/main" id="{6944B9AC-BAF4-46EF-AD07-65297A3F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000500"/>
            <a:ext cx="75628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0">
            <a:noFill/>
          </a:ln>
        </p:spPr>
      </p:sp>
      <p:sp>
        <p:nvSpPr>
          <p:cNvPr id="3" name="profile-45">
            <a:extLst xmlns:a="http://schemas.openxmlformats.org/drawingml/2006/main">
              <a:ext uri="{FF2B5EF4-FFF2-40B4-BE49-F238E27FC236}">
                <a16:creationId xmlns:a16="http://schemas.microsoft.com/office/drawing/2014/main" id="{317E9128-ADE1-4E50-BA45-0029481B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3276600"/>
            <a:ext cx="7000875" cy="1323975"/>
          </a:xfrm>
          <a:custGeom xmlns:a="http://schemas.openxmlformats.org/drawingml/2006/main">
            <a:pathLst>
              <a:path w="7000875" h="1323975">
                <a:moveTo>
                  <a:pt x="514350" y="0"/>
                </a:moveTo>
                <a:lnTo>
                  <a:pt x="7000875" y="0"/>
                </a:lnTo>
                <a:lnTo>
                  <a:pt x="6267450" y="1323975"/>
                </a:lnTo>
                <a:lnTo>
                  <a:pt x="0" y="1323975"/>
                </a:lnTo>
                <a:close/>
              </a:path>
            </a:pathLst>
          </a:cu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4" name="profile-46">
            <a:extLst xmlns:a="http://schemas.openxmlformats.org/drawingml/2006/main">
              <a:ext uri="{FF2B5EF4-FFF2-40B4-BE49-F238E27FC236}">
                <a16:creationId xmlns:a16="http://schemas.microsoft.com/office/drawing/2014/main" id="{515B9FFE-6C85-4347-91F8-ED197880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3276600"/>
            <a:ext cx="6896100" cy="1238250"/>
          </a:xfrm>
          <a:custGeom xmlns:a="http://schemas.openxmlformats.org/drawingml/2006/main">
            <a:pathLst>
              <a:path w="6896100" h="1238250">
                <a:moveTo>
                  <a:pt x="514350" y="0"/>
                </a:moveTo>
                <a:lnTo>
                  <a:pt x="6896100" y="0"/>
                </a:lnTo>
                <a:lnTo>
                  <a:pt x="6210300" y="1238250"/>
                </a:lnTo>
                <a:lnTo>
                  <a:pt x="0" y="1238250"/>
                </a:lnTo>
                <a:close/>
              </a:path>
            </a:pathLst>
          </a:custGeom>
          <a:solidFill xmlns:a="http://schemas.openxmlformats.org/drawingml/2006/main">
            <a:srgbClr val="F4F6FA"/>
          </a:solidFill>
          <a:ln xmlns:a="http://schemas.openxmlformats.org/drawingml/2006/main" w="0">
            <a:noFill/>
          </a:ln>
        </p:spPr>
      </p:sp>
      <p:sp>
        <p:nvSpPr>
          <p:cNvPr id="5" name="profile-47">
            <a:extLst xmlns:a="http://schemas.openxmlformats.org/drawingml/2006/main">
              <a:ext uri="{FF2B5EF4-FFF2-40B4-BE49-F238E27FC236}">
                <a16:creationId xmlns:a16="http://schemas.microsoft.com/office/drawing/2014/main" id="{145C24C2-DCB6-4D55-A301-AF2539EC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448050"/>
            <a:ext cx="5800725" cy="445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defRPr>
            </a:pPr>
            <a:r>
              <a:rPr sz="322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rPr>
              <a:t>SIPHONING</a:t>
            </a:r>
          </a:p>
        </p:txBody>
      </p:sp>
      <p:sp>
        <p:nvSpPr>
          <p:cNvPr id="6" name="profile-48">
            <a:extLst xmlns:a="http://schemas.openxmlformats.org/drawingml/2006/main">
              <a:ext uri="{FF2B5EF4-FFF2-40B4-BE49-F238E27FC236}">
                <a16:creationId xmlns:a16="http://schemas.microsoft.com/office/drawing/2014/main" id="{C4AFE0B7-B1F5-4315-A66F-D492749B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874008"/>
            <a:ext cx="5800725" cy="445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defRPr>
            </a:pPr>
            <a:r>
              <a:rPr sz="322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rPr>
              <a:t>&amp; PLUMBING</a:t>
            </a:r>
          </a:p>
        </p:txBody>
      </p:sp>
      <p:sp>
        <p:nvSpPr>
          <p:cNvPr id="7" name="profile-49">
            <a:extLst xmlns:a="http://schemas.openxmlformats.org/drawingml/2006/main">
              <a:ext uri="{FF2B5EF4-FFF2-40B4-BE49-F238E27FC236}">
                <a16:creationId xmlns:a16="http://schemas.microsoft.com/office/drawing/2014/main" id="{6DFC71FF-2DAB-4FA6-94FF-2AC9C386B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33925"/>
            <a:ext cx="6724650" cy="1552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B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B6B85"/>
                </a:solidFill>
                <a:latin typeface="Arial"/>
                <a:ea typeface="Arial"/>
                <a:cs typeface="Arial"/>
              </a:rPr>
              <a:t>AI-generated service illustration</a:t>
            </a:r>
          </a:p>
        </p:txBody>
      </p:sp>
      <p:sp>
        <p:nvSpPr>
          <p:cNvPr id="8" name="profile-50">
            <a:extLst xmlns:a="http://schemas.openxmlformats.org/drawingml/2006/main">
              <a:ext uri="{FF2B5EF4-FFF2-40B4-BE49-F238E27FC236}">
                <a16:creationId xmlns:a16="http://schemas.microsoft.com/office/drawing/2014/main" id="{898ECA28-E26E-4EE6-A134-9F1D3C6BF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05400"/>
            <a:ext cx="75628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F45"/>
          </a:solidFill>
          <a:ln xmlns:a="http://schemas.openxmlformats.org/drawingml/2006/main" w="0">
            <a:noFill/>
          </a:ln>
        </p:spPr>
      </p:sp>
      <p:sp>
        <p:nvSpPr>
          <p:cNvPr id="9" name="profile-51">
            <a:extLst xmlns:a="http://schemas.openxmlformats.org/drawingml/2006/main">
              <a:ext uri="{FF2B5EF4-FFF2-40B4-BE49-F238E27FC236}">
                <a16:creationId xmlns:a16="http://schemas.microsoft.com/office/drawing/2014/main" id="{39CE4EC9-BD9A-4C92-A243-AB3806AB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43525"/>
            <a:ext cx="3171825" cy="328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SEPTIC TANK SERVICES</a:t>
            </a:r>
          </a:p>
        </p:txBody>
      </p:sp>
      <p:sp>
        <p:nvSpPr>
          <p:cNvPr id="10" name="profile-52">
            <a:extLst xmlns:a="http://schemas.openxmlformats.org/drawingml/2006/main">
              <a:ext uri="{FF2B5EF4-FFF2-40B4-BE49-F238E27FC236}">
                <a16:creationId xmlns:a16="http://schemas.microsoft.com/office/drawing/2014/main" id="{6C9D6589-334A-463B-A4EB-8D2CB187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343525"/>
            <a:ext cx="3162300" cy="3286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PLUMBING SERVICES</a:t>
            </a:r>
          </a:p>
        </p:txBody>
      </p:sp>
      <p:sp>
        <p:nvSpPr>
          <p:cNvPr id="11" name="profile-53">
            <a:extLst xmlns:a="http://schemas.openxmlformats.org/drawingml/2006/main">
              <a:ext uri="{FF2B5EF4-FFF2-40B4-BE49-F238E27FC236}">
                <a16:creationId xmlns:a16="http://schemas.microsoft.com/office/drawing/2014/main" id="{768B696F-1482-4A0E-BE51-C1DA902D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8769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12" name="profile-54">
            <a:extLst xmlns:a="http://schemas.openxmlformats.org/drawingml/2006/main">
              <a:ext uri="{FF2B5EF4-FFF2-40B4-BE49-F238E27FC236}">
                <a16:creationId xmlns:a16="http://schemas.microsoft.com/office/drawing/2014/main" id="{A0307AA0-FF89-4957-9D09-CA9AF6F2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800725"/>
            <a:ext cx="2838450" cy="2293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Septic tank siphoning</a:t>
            </a:r>
          </a:p>
        </p:txBody>
      </p:sp>
      <p:sp>
        <p:nvSpPr>
          <p:cNvPr id="13" name="profile-55">
            <a:extLst xmlns:a="http://schemas.openxmlformats.org/drawingml/2006/main">
              <a:ext uri="{FF2B5EF4-FFF2-40B4-BE49-F238E27FC236}">
                <a16:creationId xmlns:a16="http://schemas.microsoft.com/office/drawing/2014/main" id="{5F038DC6-1E9A-4B7E-8BF4-5E6896430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01537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14" name="profile-56">
            <a:extLst xmlns:a="http://schemas.openxmlformats.org/drawingml/2006/main">
              <a:ext uri="{FF2B5EF4-FFF2-40B4-BE49-F238E27FC236}">
                <a16:creationId xmlns:a16="http://schemas.microsoft.com/office/drawing/2014/main" id="{5314A759-4D9D-4B3A-AF6B-C0138CC7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6125337"/>
            <a:ext cx="2838450" cy="2293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Septic tank cleaning</a:t>
            </a:r>
          </a:p>
        </p:txBody>
      </p:sp>
      <p:sp>
        <p:nvSpPr>
          <p:cNvPr id="15" name="profile-57">
            <a:extLst xmlns:a="http://schemas.openxmlformats.org/drawingml/2006/main">
              <a:ext uri="{FF2B5EF4-FFF2-40B4-BE49-F238E27FC236}">
                <a16:creationId xmlns:a16="http://schemas.microsoft.com/office/drawing/2014/main" id="{5690692F-D944-4338-818D-D5F6F718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26149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16" name="profile-58">
            <a:extLst xmlns:a="http://schemas.openxmlformats.org/drawingml/2006/main">
              <a:ext uri="{FF2B5EF4-FFF2-40B4-BE49-F238E27FC236}">
                <a16:creationId xmlns:a16="http://schemas.microsoft.com/office/drawing/2014/main" id="{CFC80574-3A0F-4B3F-9E95-F6F298094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6449949"/>
            <a:ext cx="2838450" cy="2293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Service coordination and site assessment</a:t>
            </a:r>
          </a:p>
        </p:txBody>
      </p:sp>
      <p:sp>
        <p:nvSpPr>
          <p:cNvPr id="17" name="profile-59">
            <a:extLst xmlns:a="http://schemas.openxmlformats.org/drawingml/2006/main">
              <a:ext uri="{FF2B5EF4-FFF2-40B4-BE49-F238E27FC236}">
                <a16:creationId xmlns:a16="http://schemas.microsoft.com/office/drawing/2014/main" id="{B2A5F5E7-FAAF-415F-A2EA-14A44CF6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769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18" name="profile-60">
            <a:extLst xmlns:a="http://schemas.openxmlformats.org/drawingml/2006/main">
              <a:ext uri="{FF2B5EF4-FFF2-40B4-BE49-F238E27FC236}">
                <a16:creationId xmlns:a16="http://schemas.microsoft.com/office/drawing/2014/main" id="{395FB902-AF66-4191-9D48-CD5E45E9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800725"/>
            <a:ext cx="2924175" cy="2293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Drain declogging</a:t>
            </a:r>
          </a:p>
        </p:txBody>
      </p:sp>
      <p:sp>
        <p:nvSpPr>
          <p:cNvPr id="19" name="profile-61">
            <a:extLst xmlns:a="http://schemas.openxmlformats.org/drawingml/2006/main">
              <a:ext uri="{FF2B5EF4-FFF2-40B4-BE49-F238E27FC236}">
                <a16:creationId xmlns:a16="http://schemas.microsoft.com/office/drawing/2014/main" id="{E83B2B0A-3A73-4A6C-86BE-7FA39345F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6201537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20" name="profile-62">
            <a:extLst xmlns:a="http://schemas.openxmlformats.org/drawingml/2006/main">
              <a:ext uri="{FF2B5EF4-FFF2-40B4-BE49-F238E27FC236}">
                <a16:creationId xmlns:a16="http://schemas.microsoft.com/office/drawing/2014/main" id="{B63B0C1E-8AF8-4E3E-AFAA-0ECD471B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6125337"/>
            <a:ext cx="2924175" cy="2293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Plumbing and pipe leak repairs</a:t>
            </a:r>
          </a:p>
        </p:txBody>
      </p:sp>
      <p:sp>
        <p:nvSpPr>
          <p:cNvPr id="21" name="profile-63">
            <a:extLst xmlns:a="http://schemas.openxmlformats.org/drawingml/2006/main">
              <a:ext uri="{FF2B5EF4-FFF2-40B4-BE49-F238E27FC236}">
                <a16:creationId xmlns:a16="http://schemas.microsoft.com/office/drawing/2014/main" id="{901D5F25-C230-4305-8424-16975A3B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6526149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22" name="profile-64">
            <a:extLst xmlns:a="http://schemas.openxmlformats.org/drawingml/2006/main">
              <a:ext uri="{FF2B5EF4-FFF2-40B4-BE49-F238E27FC236}">
                <a16:creationId xmlns:a16="http://schemas.microsoft.com/office/drawing/2014/main" id="{CA131075-BF56-4286-B8FC-52954182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6449949"/>
            <a:ext cx="2924175" cy="2293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Troubleshooting based on site findings</a:t>
            </a:r>
          </a:p>
        </p:txBody>
      </p:sp>
      <p:sp>
        <p:nvSpPr>
          <p:cNvPr id="23" name="profile-65">
            <a:extLst xmlns:a="http://schemas.openxmlformats.org/drawingml/2006/main">
              <a:ext uri="{FF2B5EF4-FFF2-40B4-BE49-F238E27FC236}">
                <a16:creationId xmlns:a16="http://schemas.microsoft.com/office/drawing/2014/main" id="{9337FA4D-2893-4C83-A8B4-10F76683B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629525"/>
            <a:ext cx="6724650" cy="180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C63A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C63AD"/>
                </a:solidFill>
                <a:latin typeface="Arial"/>
                <a:ea typeface="Arial"/>
                <a:cs typeface="Arial"/>
              </a:rPr>
              <a:t>ACTUAL SIPHONING WORK / SAME SITE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5e84de4cc5430d"/>
          <a:srcRect xmlns:a="http://schemas.openxmlformats.org/drawingml/2006/main" l="0" t="35185" r="0" b="351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7972425"/>
            <a:ext cx="3257550" cy="1447800"/>
          </a:xfrm>
          <a:prstGeom xmlns:a="http://schemas.openxmlformats.org/drawingml/2006/main" prst="rect">
            <a:avLst/>
          </a:prstGeom>
        </p:spPr>
      </p:pic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8110dc7fca4e88"/>
          <a:srcRect xmlns:a="http://schemas.openxmlformats.org/drawingml/2006/main" l="0" t="35185" r="0" b="351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86200" y="7972425"/>
            <a:ext cx="3257550" cy="1447800"/>
          </a:xfrm>
          <a:prstGeom xmlns:a="http://schemas.openxmlformats.org/drawingml/2006/main" prst="rect">
            <a:avLst/>
          </a:prstGeom>
        </p:spPr>
      </p:pic>
      <p:sp>
        <p:nvSpPr>
          <p:cNvPr id="26" name="profile-66">
            <a:extLst xmlns:a="http://schemas.openxmlformats.org/drawingml/2006/main">
              <a:ext uri="{FF2B5EF4-FFF2-40B4-BE49-F238E27FC236}">
                <a16:creationId xmlns:a16="http://schemas.microsoft.com/office/drawing/2014/main" id="{91AD4684-ADCA-4FD1-96A1-6CC407FC2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544050"/>
            <a:ext cx="3257550" cy="1552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C63A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C63AD"/>
                </a:solidFill>
                <a:latin typeface="Arial"/>
                <a:ea typeface="Arial"/>
                <a:cs typeface="Arial"/>
              </a:rPr>
              <a:t>BEFORE SERVICE</a:t>
            </a:r>
          </a:p>
        </p:txBody>
      </p:sp>
      <p:sp>
        <p:nvSpPr>
          <p:cNvPr id="27" name="profile-67">
            <a:extLst xmlns:a="http://schemas.openxmlformats.org/drawingml/2006/main">
              <a:ext uri="{FF2B5EF4-FFF2-40B4-BE49-F238E27FC236}">
                <a16:creationId xmlns:a16="http://schemas.microsoft.com/office/drawing/2014/main" id="{4DAD8FA9-9148-4976-BB80-D7CB9FDF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9544050"/>
            <a:ext cx="3257550" cy="1552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C63A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1C63AD"/>
                </a:solidFill>
                <a:latin typeface="Arial"/>
                <a:ea typeface="Arial"/>
                <a:cs typeface="Arial"/>
              </a:rPr>
              <a:t>AFTER SERVICE</a:t>
            </a:r>
          </a:p>
        </p:txBody>
      </p:sp>
      <p:sp>
        <p:nvSpPr>
          <p:cNvPr id="28" name="profile-68">
            <a:extLst xmlns:a="http://schemas.openxmlformats.org/drawingml/2006/main">
              <a:ext uri="{FF2B5EF4-FFF2-40B4-BE49-F238E27FC236}">
                <a16:creationId xmlns:a16="http://schemas.microsoft.com/office/drawing/2014/main" id="{18E8212D-8546-433B-AD18-8F707AC57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877425"/>
            <a:ext cx="75628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F45"/>
          </a:solidFill>
          <a:ln xmlns:a="http://schemas.openxmlformats.org/drawingml/2006/main" w="0">
            <a:noFill/>
          </a:ln>
        </p:spPr>
      </p:sp>
      <p:sp>
        <p:nvSpPr>
          <p:cNvPr id="29" name="profile-69">
            <a:extLst xmlns:a="http://schemas.openxmlformats.org/drawingml/2006/main">
              <a:ext uri="{FF2B5EF4-FFF2-40B4-BE49-F238E27FC236}">
                <a16:creationId xmlns:a16="http://schemas.microsoft.com/office/drawing/2014/main" id="{391F27DB-9D69-4D6D-94BF-82C981C3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877425"/>
            <a:ext cx="2743200" cy="819150"/>
          </a:xfrm>
          <a:custGeom xmlns:a="http://schemas.openxmlformats.org/drawingml/2006/main">
            <a:pathLst>
              <a:path w="2743200" h="819150">
                <a:moveTo>
                  <a:pt x="0" y="0"/>
                </a:moveTo>
                <a:lnTo>
                  <a:pt x="2743200" y="0"/>
                </a:lnTo>
                <a:lnTo>
                  <a:pt x="2390775" y="819150"/>
                </a:lnTo>
                <a:lnTo>
                  <a:pt x="0" y="819150"/>
                </a:lnTo>
                <a:close/>
              </a:path>
            </a:pathLst>
          </a:cu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30" name="profile-70">
            <a:extLst xmlns:a="http://schemas.openxmlformats.org/drawingml/2006/main">
              <a:ext uri="{FF2B5EF4-FFF2-40B4-BE49-F238E27FC236}">
                <a16:creationId xmlns:a16="http://schemas.microsoft.com/office/drawing/2014/main" id="{BEAEADE8-0B21-4AAE-88D1-A22213024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115550"/>
            <a:ext cx="1962150" cy="3533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rPr>
              <a:t>OCEANIDES</a:t>
            </a:r>
          </a:p>
        </p:txBody>
      </p:sp>
      <p:sp>
        <p:nvSpPr>
          <p:cNvPr id="31" name="profile-71">
            <a:extLst xmlns:a="http://schemas.openxmlformats.org/drawingml/2006/main">
              <a:ext uri="{FF2B5EF4-FFF2-40B4-BE49-F238E27FC236}">
                <a16:creationId xmlns:a16="http://schemas.microsoft.com/office/drawing/2014/main" id="{7E90334D-159E-4365-8F18-B7E14AB1E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0020300"/>
            <a:ext cx="3838575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0917 671 6383</a:t>
            </a:r>
          </a:p>
        </p:txBody>
      </p:sp>
      <p:sp>
        <p:nvSpPr>
          <p:cNvPr id="32" name="profile-72">
            <a:extLst xmlns:a="http://schemas.openxmlformats.org/drawingml/2006/main">
              <a:ext uri="{FF2B5EF4-FFF2-40B4-BE49-F238E27FC236}">
                <a16:creationId xmlns:a16="http://schemas.microsoft.com/office/drawing/2014/main" id="{5FB373A7-92A2-4263-B3C1-FDE76379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0382250"/>
            <a:ext cx="4000500" cy="180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marketing@oceanidessepticandpest.com</a:t>
            </a:r>
          </a:p>
        </p:txBody>
      </p:sp>
      <p:sp>
        <p:nvSpPr>
          <p:cNvPr id="33" name="profile-73">
            <a:extLst xmlns:a="http://schemas.openxmlformats.org/drawingml/2006/main">
              <a:ext uri="{FF2B5EF4-FFF2-40B4-BE49-F238E27FC236}">
                <a16:creationId xmlns:a16="http://schemas.microsoft.com/office/drawing/2014/main" id="{D3DB19D0-DFC2-4A7D-BCFB-5A543545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0163175"/>
            <a:ext cx="257175" cy="2047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FB3D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FB3D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754500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ddc44bae55426c"/>
          <a:stretch xmlns:a="http://schemas.openxmlformats.org/drawingml/2006/main"/>
        </p:blipFill>
        <p:spPr>
          <a:xfrm xmlns:a="http://schemas.openxmlformats.org/drawingml/2006/main">
            <a:off x="0" y="0"/>
            <a:ext cx="7562850" cy="5041900"/>
          </a:xfrm>
          <a:prstGeom xmlns:a="http://schemas.openxmlformats.org/drawingml/2006/main" prst="rect">
            <a:avLst/>
          </a:prstGeom>
        </p:spPr>
      </p:pic>
      <p:sp>
        <p:nvSpPr>
          <p:cNvPr id="2" name="profile-74">
            <a:extLst xmlns:a="http://schemas.openxmlformats.org/drawingml/2006/main">
              <a:ext uri="{FF2B5EF4-FFF2-40B4-BE49-F238E27FC236}">
                <a16:creationId xmlns:a16="http://schemas.microsoft.com/office/drawing/2014/main" id="{9182A3FD-C239-4EA6-ACC8-5474659F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000500"/>
            <a:ext cx="75628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0">
            <a:noFill/>
          </a:ln>
        </p:spPr>
      </p:sp>
      <p:sp>
        <p:nvSpPr>
          <p:cNvPr id="3" name="profile-75">
            <a:extLst xmlns:a="http://schemas.openxmlformats.org/drawingml/2006/main">
              <a:ext uri="{FF2B5EF4-FFF2-40B4-BE49-F238E27FC236}">
                <a16:creationId xmlns:a16="http://schemas.microsoft.com/office/drawing/2014/main" id="{34FC4688-9A4B-4A13-8F63-1148972D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3276600"/>
            <a:ext cx="7000875" cy="1323975"/>
          </a:xfrm>
          <a:custGeom xmlns:a="http://schemas.openxmlformats.org/drawingml/2006/main">
            <a:pathLst>
              <a:path w="7000875" h="1323975">
                <a:moveTo>
                  <a:pt x="514350" y="0"/>
                </a:moveTo>
                <a:lnTo>
                  <a:pt x="7000875" y="0"/>
                </a:lnTo>
                <a:lnTo>
                  <a:pt x="6267450" y="1323975"/>
                </a:lnTo>
                <a:lnTo>
                  <a:pt x="0" y="1323975"/>
                </a:lnTo>
                <a:close/>
              </a:path>
            </a:pathLst>
          </a:cu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4" name="profile-76">
            <a:extLst xmlns:a="http://schemas.openxmlformats.org/drawingml/2006/main">
              <a:ext uri="{FF2B5EF4-FFF2-40B4-BE49-F238E27FC236}">
                <a16:creationId xmlns:a16="http://schemas.microsoft.com/office/drawing/2014/main" id="{DC97A207-4377-4C6A-A9A7-57CBDC2C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3276600"/>
            <a:ext cx="6896100" cy="1238250"/>
          </a:xfrm>
          <a:custGeom xmlns:a="http://schemas.openxmlformats.org/drawingml/2006/main">
            <a:pathLst>
              <a:path w="6896100" h="1238250">
                <a:moveTo>
                  <a:pt x="514350" y="0"/>
                </a:moveTo>
                <a:lnTo>
                  <a:pt x="6896100" y="0"/>
                </a:lnTo>
                <a:lnTo>
                  <a:pt x="6210300" y="1238250"/>
                </a:lnTo>
                <a:lnTo>
                  <a:pt x="0" y="1238250"/>
                </a:lnTo>
                <a:close/>
              </a:path>
            </a:pathLst>
          </a:custGeom>
          <a:solidFill xmlns:a="http://schemas.openxmlformats.org/drawingml/2006/main">
            <a:srgbClr val="F4F6FA"/>
          </a:solidFill>
          <a:ln xmlns:a="http://schemas.openxmlformats.org/drawingml/2006/main" w="0">
            <a:noFill/>
          </a:ln>
        </p:spPr>
      </p:sp>
      <p:sp>
        <p:nvSpPr>
          <p:cNvPr id="5" name="profile-77">
            <a:extLst xmlns:a="http://schemas.openxmlformats.org/drawingml/2006/main">
              <a:ext uri="{FF2B5EF4-FFF2-40B4-BE49-F238E27FC236}">
                <a16:creationId xmlns:a16="http://schemas.microsoft.com/office/drawing/2014/main" id="{3C62740F-59F6-4500-BCB9-EA4C83E2F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448050"/>
            <a:ext cx="5800725" cy="445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defRPr>
            </a:pPr>
            <a:r>
              <a:rPr sz="322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rPr>
              <a:t>RENOVATION</a:t>
            </a:r>
          </a:p>
        </p:txBody>
      </p:sp>
      <p:sp>
        <p:nvSpPr>
          <p:cNvPr id="6" name="profile-78">
            <a:extLst xmlns:a="http://schemas.openxmlformats.org/drawingml/2006/main">
              <a:ext uri="{FF2B5EF4-FFF2-40B4-BE49-F238E27FC236}">
                <a16:creationId xmlns:a16="http://schemas.microsoft.com/office/drawing/2014/main" id="{F727ADBC-1402-4814-9965-C0B254DB1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874008"/>
            <a:ext cx="5800725" cy="445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defRPr>
            </a:pPr>
            <a:r>
              <a:rPr sz="322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rPr>
              <a:t>&amp; RESTORATION</a:t>
            </a:r>
          </a:p>
        </p:txBody>
      </p:sp>
      <p:sp>
        <p:nvSpPr>
          <p:cNvPr id="7" name="profile-79">
            <a:extLst xmlns:a="http://schemas.openxmlformats.org/drawingml/2006/main">
              <a:ext uri="{FF2B5EF4-FFF2-40B4-BE49-F238E27FC236}">
                <a16:creationId xmlns:a16="http://schemas.microsoft.com/office/drawing/2014/main" id="{122579A9-C25C-4DD9-B600-D8F7AADB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33925"/>
            <a:ext cx="6724650" cy="1552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B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B6B85"/>
                </a:solidFill>
                <a:latin typeface="Arial"/>
                <a:ea typeface="Arial"/>
                <a:cs typeface="Arial"/>
              </a:rPr>
              <a:t>AI-generated service illustration</a:t>
            </a:r>
          </a:p>
        </p:txBody>
      </p:sp>
      <p:sp>
        <p:nvSpPr>
          <p:cNvPr id="8" name="profile-80">
            <a:extLst xmlns:a="http://schemas.openxmlformats.org/drawingml/2006/main">
              <a:ext uri="{FF2B5EF4-FFF2-40B4-BE49-F238E27FC236}">
                <a16:creationId xmlns:a16="http://schemas.microsoft.com/office/drawing/2014/main" id="{10AE0855-F6D9-467C-80A1-0F277C65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172075"/>
            <a:ext cx="672465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A1F45"/>
                </a:solidFill>
                <a:latin typeface="Arial Narrow"/>
                <a:ea typeface="Arial Narrow"/>
                <a:cs typeface="Arial Narrow"/>
              </a:defRPr>
            </a:pPr>
            <a:r>
              <a:rPr sz="2100" b="1">
                <a:solidFill>
                  <a:srgbClr val="0A1F45"/>
                </a:solidFill>
                <a:latin typeface="Arial Narrow"/>
                <a:ea typeface="Arial Narrow"/>
                <a:cs typeface="Arial Narrow"/>
              </a:rPr>
              <a:t>HOUSES &amp; CONDOMINIUMS</a:t>
            </a:r>
          </a:p>
        </p:txBody>
      </p:sp>
      <p:sp>
        <p:nvSpPr>
          <p:cNvPr id="9" name="profile-81">
            <a:extLst xmlns:a="http://schemas.openxmlformats.org/drawingml/2006/main">
              <a:ext uri="{FF2B5EF4-FFF2-40B4-BE49-F238E27FC236}">
                <a16:creationId xmlns:a16="http://schemas.microsoft.com/office/drawing/2014/main" id="{60BD586D-289B-4360-91D6-7D5D4339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38800"/>
            <a:ext cx="672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Repair and improvement work for houses and condominiums, with a quotation tailored to</a:t>
            </a:r>
          </a:p>
        </p:txBody>
      </p:sp>
      <p:sp>
        <p:nvSpPr>
          <p:cNvPr id="10" name="profile-82">
            <a:extLst xmlns:a="http://schemas.openxmlformats.org/drawingml/2006/main">
              <a:ext uri="{FF2B5EF4-FFF2-40B4-BE49-F238E27FC236}">
                <a16:creationId xmlns:a16="http://schemas.microsoft.com/office/drawing/2014/main" id="{B9A3A1FC-EDA3-4E97-B9CE-F4943BE1C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886450"/>
            <a:ext cx="672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the site and the agreed scope.</a:t>
            </a:r>
          </a:p>
        </p:txBody>
      </p:sp>
      <p:sp>
        <p:nvSpPr>
          <p:cNvPr id="11" name="profile-83">
            <a:extLst xmlns:a="http://schemas.openxmlformats.org/drawingml/2006/main">
              <a:ext uri="{FF2B5EF4-FFF2-40B4-BE49-F238E27FC236}">
                <a16:creationId xmlns:a16="http://schemas.microsoft.com/office/drawing/2014/main" id="{160254A7-DD98-4196-B9C0-BE53686E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19825"/>
            <a:ext cx="7562850" cy="2638425"/>
          </a:xfrm>
          <a:custGeom xmlns:a="http://schemas.openxmlformats.org/drawingml/2006/main">
            <a:pathLst>
              <a:path w="7562850" h="2638425">
                <a:moveTo>
                  <a:pt x="0" y="0"/>
                </a:moveTo>
                <a:lnTo>
                  <a:pt x="7562850" y="0"/>
                </a:lnTo>
                <a:lnTo>
                  <a:pt x="6772275" y="2638425"/>
                </a:lnTo>
                <a:lnTo>
                  <a:pt x="0" y="2638425"/>
                </a:lnTo>
                <a:close/>
              </a:path>
            </a:pathLst>
          </a:custGeom>
          <a:solidFill xmlns:a="http://schemas.openxmlformats.org/drawingml/2006/main">
            <a:srgbClr val="0A1F45"/>
          </a:solidFill>
          <a:ln xmlns:a="http://schemas.openxmlformats.org/drawingml/2006/main" w="0">
            <a:noFill/>
          </a:ln>
        </p:spPr>
      </p:sp>
      <p:sp>
        <p:nvSpPr>
          <p:cNvPr id="12" name="profile-84">
            <a:extLst xmlns:a="http://schemas.openxmlformats.org/drawingml/2006/main">
              <a:ext uri="{FF2B5EF4-FFF2-40B4-BE49-F238E27FC236}">
                <a16:creationId xmlns:a16="http://schemas.microsoft.com/office/drawing/2014/main" id="{31B63A82-756F-4F38-B360-7C891C4C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60082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13" name="profile-85">
            <a:extLst xmlns:a="http://schemas.openxmlformats.org/drawingml/2006/main">
              <a:ext uri="{FF2B5EF4-FFF2-40B4-BE49-F238E27FC236}">
                <a16:creationId xmlns:a16="http://schemas.microsoft.com/office/drawing/2014/main" id="{8341A469-7CA6-4020-B3ED-FC653F44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6524625"/>
            <a:ext cx="6210300" cy="2950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House and condominium renovation</a:t>
            </a:r>
          </a:p>
        </p:txBody>
      </p:sp>
      <p:sp>
        <p:nvSpPr>
          <p:cNvPr id="14" name="profile-86">
            <a:extLst xmlns:a="http://schemas.openxmlformats.org/drawingml/2006/main">
              <a:ext uri="{FF2B5EF4-FFF2-40B4-BE49-F238E27FC236}">
                <a16:creationId xmlns:a16="http://schemas.microsoft.com/office/drawing/2014/main" id="{C263094C-24E7-4B8A-88A3-B61C98D2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07688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15" name="profile-87">
            <a:extLst xmlns:a="http://schemas.openxmlformats.org/drawingml/2006/main">
              <a:ext uri="{FF2B5EF4-FFF2-40B4-BE49-F238E27FC236}">
                <a16:creationId xmlns:a16="http://schemas.microsoft.com/office/drawing/2014/main" id="{F97C3AEB-D8DB-4D78-8234-B99F85431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7000685"/>
            <a:ext cx="6210300" cy="2950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Restoration and ceiling repair or replacement</a:t>
            </a:r>
          </a:p>
        </p:txBody>
      </p:sp>
      <p:sp>
        <p:nvSpPr>
          <p:cNvPr id="16" name="profile-88">
            <a:extLst xmlns:a="http://schemas.openxmlformats.org/drawingml/2006/main">
              <a:ext uri="{FF2B5EF4-FFF2-40B4-BE49-F238E27FC236}">
                <a16:creationId xmlns:a16="http://schemas.microsoft.com/office/drawing/2014/main" id="{8A5D9171-F96B-4943-8DE8-5C6149FEC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552944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17" name="profile-89">
            <a:extLst xmlns:a="http://schemas.openxmlformats.org/drawingml/2006/main">
              <a:ext uri="{FF2B5EF4-FFF2-40B4-BE49-F238E27FC236}">
                <a16:creationId xmlns:a16="http://schemas.microsoft.com/office/drawing/2014/main" id="{9F9D37F9-F892-41F2-88AE-C719D6F2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7476744"/>
            <a:ext cx="6210300" cy="2950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Roof leak repair and waterproofing</a:t>
            </a:r>
          </a:p>
        </p:txBody>
      </p:sp>
      <p:sp>
        <p:nvSpPr>
          <p:cNvPr id="18" name="profile-90">
            <a:extLst xmlns:a="http://schemas.openxmlformats.org/drawingml/2006/main">
              <a:ext uri="{FF2B5EF4-FFF2-40B4-BE49-F238E27FC236}">
                <a16:creationId xmlns:a16="http://schemas.microsoft.com/office/drawing/2014/main" id="{1C093CD6-2A0C-4662-9E4F-BC38897C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029004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19" name="profile-91">
            <a:extLst xmlns:a="http://schemas.openxmlformats.org/drawingml/2006/main">
              <a:ext uri="{FF2B5EF4-FFF2-40B4-BE49-F238E27FC236}">
                <a16:creationId xmlns:a16="http://schemas.microsoft.com/office/drawing/2014/main" id="{FAFFF646-A85F-4440-AF13-C5B548318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7952804"/>
            <a:ext cx="6210300" cy="2950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House cleaning within the agreed scope</a:t>
            </a:r>
          </a:p>
        </p:txBody>
      </p:sp>
      <p:sp>
        <p:nvSpPr>
          <p:cNvPr id="20" name="profile-92">
            <a:extLst xmlns:a="http://schemas.openxmlformats.org/drawingml/2006/main">
              <a:ext uri="{FF2B5EF4-FFF2-40B4-BE49-F238E27FC236}">
                <a16:creationId xmlns:a16="http://schemas.microsoft.com/office/drawing/2014/main" id="{183A8348-2E5C-496C-AD60-672130016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086850"/>
            <a:ext cx="6315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Oceanides coordinates the field team or specialist contractor for the agreed work.</a:t>
            </a:r>
          </a:p>
        </p:txBody>
      </p:sp>
      <p:sp>
        <p:nvSpPr>
          <p:cNvPr id="21" name="profile-93">
            <a:extLst xmlns:a="http://schemas.openxmlformats.org/drawingml/2006/main">
              <a:ext uri="{FF2B5EF4-FFF2-40B4-BE49-F238E27FC236}">
                <a16:creationId xmlns:a16="http://schemas.microsoft.com/office/drawing/2014/main" id="{EDD17EED-7B43-4552-A476-E666385AC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877425"/>
            <a:ext cx="75628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F45"/>
          </a:solidFill>
          <a:ln xmlns:a="http://schemas.openxmlformats.org/drawingml/2006/main" w="0">
            <a:noFill/>
          </a:ln>
        </p:spPr>
      </p:sp>
      <p:sp>
        <p:nvSpPr>
          <p:cNvPr id="22" name="profile-94">
            <a:extLst xmlns:a="http://schemas.openxmlformats.org/drawingml/2006/main">
              <a:ext uri="{FF2B5EF4-FFF2-40B4-BE49-F238E27FC236}">
                <a16:creationId xmlns:a16="http://schemas.microsoft.com/office/drawing/2014/main" id="{DE58A15F-18C5-4CE3-B07B-1EDE9064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877425"/>
            <a:ext cx="2743200" cy="819150"/>
          </a:xfrm>
          <a:custGeom xmlns:a="http://schemas.openxmlformats.org/drawingml/2006/main">
            <a:pathLst>
              <a:path w="2743200" h="819150">
                <a:moveTo>
                  <a:pt x="0" y="0"/>
                </a:moveTo>
                <a:lnTo>
                  <a:pt x="2743200" y="0"/>
                </a:lnTo>
                <a:lnTo>
                  <a:pt x="2390775" y="819150"/>
                </a:lnTo>
                <a:lnTo>
                  <a:pt x="0" y="819150"/>
                </a:lnTo>
                <a:close/>
              </a:path>
            </a:pathLst>
          </a:cu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23" name="profile-95">
            <a:extLst xmlns:a="http://schemas.openxmlformats.org/drawingml/2006/main">
              <a:ext uri="{FF2B5EF4-FFF2-40B4-BE49-F238E27FC236}">
                <a16:creationId xmlns:a16="http://schemas.microsoft.com/office/drawing/2014/main" id="{1D188130-28B3-4F62-8C84-646C208C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115550"/>
            <a:ext cx="1962150" cy="3533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rPr>
              <a:t>OCEANIDES</a:t>
            </a:r>
          </a:p>
        </p:txBody>
      </p:sp>
      <p:sp>
        <p:nvSpPr>
          <p:cNvPr id="24" name="profile-96">
            <a:extLst xmlns:a="http://schemas.openxmlformats.org/drawingml/2006/main">
              <a:ext uri="{FF2B5EF4-FFF2-40B4-BE49-F238E27FC236}">
                <a16:creationId xmlns:a16="http://schemas.microsoft.com/office/drawing/2014/main" id="{282D46F6-861D-4AF6-A9FD-132290FD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0020300"/>
            <a:ext cx="3838575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0917 671 6383</a:t>
            </a:r>
          </a:p>
        </p:txBody>
      </p:sp>
      <p:sp>
        <p:nvSpPr>
          <p:cNvPr id="25" name="profile-97">
            <a:extLst xmlns:a="http://schemas.openxmlformats.org/drawingml/2006/main">
              <a:ext uri="{FF2B5EF4-FFF2-40B4-BE49-F238E27FC236}">
                <a16:creationId xmlns:a16="http://schemas.microsoft.com/office/drawing/2014/main" id="{B716F937-2FAC-425B-A5A8-F4DEEBFD2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0382250"/>
            <a:ext cx="4000500" cy="180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marketing@oceanidessepticandpest.com</a:t>
            </a:r>
          </a:p>
        </p:txBody>
      </p:sp>
      <p:sp>
        <p:nvSpPr>
          <p:cNvPr id="26" name="profile-98">
            <a:extLst xmlns:a="http://schemas.openxmlformats.org/drawingml/2006/main">
              <a:ext uri="{FF2B5EF4-FFF2-40B4-BE49-F238E27FC236}">
                <a16:creationId xmlns:a16="http://schemas.microsoft.com/office/drawing/2014/main" id="{F09EFB97-FB26-4C0C-8A82-87A1B70B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0163175"/>
            <a:ext cx="257175" cy="2047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FB3D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FB3D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4704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573b892be84338"/>
          <a:stretch xmlns:a="http://schemas.openxmlformats.org/drawingml/2006/main"/>
        </p:blipFill>
        <p:spPr>
          <a:xfrm xmlns:a="http://schemas.openxmlformats.org/drawingml/2006/main">
            <a:off x="0" y="0"/>
            <a:ext cx="7562850" cy="5041900"/>
          </a:xfrm>
          <a:prstGeom xmlns:a="http://schemas.openxmlformats.org/drawingml/2006/main" prst="rect">
            <a:avLst/>
          </a:prstGeom>
        </p:spPr>
      </p:pic>
      <p:sp>
        <p:nvSpPr>
          <p:cNvPr id="2" name="profile-99">
            <a:extLst xmlns:a="http://schemas.openxmlformats.org/drawingml/2006/main">
              <a:ext uri="{FF2B5EF4-FFF2-40B4-BE49-F238E27FC236}">
                <a16:creationId xmlns:a16="http://schemas.microsoft.com/office/drawing/2014/main" id="{B0E301FB-2EB8-47E6-9A2D-0BAF4308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4762500"/>
            <a:ext cx="7000875" cy="971550"/>
          </a:xfrm>
          <a:custGeom xmlns:a="http://schemas.openxmlformats.org/drawingml/2006/main">
            <a:pathLst>
              <a:path w="7000875" h="971550">
                <a:moveTo>
                  <a:pt x="514350" y="0"/>
                </a:moveTo>
                <a:lnTo>
                  <a:pt x="7000875" y="0"/>
                </a:lnTo>
                <a:lnTo>
                  <a:pt x="6267450" y="971550"/>
                </a:lnTo>
                <a:lnTo>
                  <a:pt x="0" y="971550"/>
                </a:lnTo>
                <a:close/>
              </a:path>
            </a:pathLst>
          </a:cu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3" name="profile-100">
            <a:extLst xmlns:a="http://schemas.openxmlformats.org/drawingml/2006/main">
              <a:ext uri="{FF2B5EF4-FFF2-40B4-BE49-F238E27FC236}">
                <a16:creationId xmlns:a16="http://schemas.microsoft.com/office/drawing/2014/main" id="{7814CCA5-7B85-4EA7-834E-047A5ABFD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4762500"/>
            <a:ext cx="6896100" cy="885825"/>
          </a:xfrm>
          <a:custGeom xmlns:a="http://schemas.openxmlformats.org/drawingml/2006/main">
            <a:pathLst>
              <a:path w="6896100" h="885825">
                <a:moveTo>
                  <a:pt x="514350" y="0"/>
                </a:moveTo>
                <a:lnTo>
                  <a:pt x="6896100" y="0"/>
                </a:lnTo>
                <a:lnTo>
                  <a:pt x="6210300" y="885825"/>
                </a:lnTo>
                <a:lnTo>
                  <a:pt x="0" y="885825"/>
                </a:lnTo>
                <a:close/>
              </a:path>
            </a:pathLst>
          </a:custGeom>
          <a:solidFill xmlns:a="http://schemas.openxmlformats.org/drawingml/2006/main">
            <a:srgbClr val="F4F6FA"/>
          </a:solidFill>
          <a:ln xmlns:a="http://schemas.openxmlformats.org/drawingml/2006/main" w="0">
            <a:noFill/>
          </a:ln>
        </p:spPr>
      </p:sp>
      <p:sp>
        <p:nvSpPr>
          <p:cNvPr id="4" name="profile-101">
            <a:extLst xmlns:a="http://schemas.openxmlformats.org/drawingml/2006/main">
              <a:ext uri="{FF2B5EF4-FFF2-40B4-BE49-F238E27FC236}">
                <a16:creationId xmlns:a16="http://schemas.microsoft.com/office/drawing/2014/main" id="{D914FD9B-9455-4C1A-9287-590060FB3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933950"/>
            <a:ext cx="5800725" cy="5044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7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rPr>
              <a:t>PEST CONTROL</a:t>
            </a:r>
          </a:p>
        </p:txBody>
      </p:sp>
      <p:sp>
        <p:nvSpPr>
          <p:cNvPr id="5" name="profile-102">
            <a:extLst xmlns:a="http://schemas.openxmlformats.org/drawingml/2006/main">
              <a:ext uri="{FF2B5EF4-FFF2-40B4-BE49-F238E27FC236}">
                <a16:creationId xmlns:a16="http://schemas.microsoft.com/office/drawing/2014/main" id="{112187DE-53CE-4DC5-AFB3-7EE108BA7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867400"/>
            <a:ext cx="6724650" cy="1552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B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B6B85"/>
                </a:solidFill>
                <a:latin typeface="Arial"/>
                <a:ea typeface="Arial"/>
                <a:cs typeface="Arial"/>
              </a:rPr>
              <a:t>AI-generated service illustration</a:t>
            </a:r>
          </a:p>
        </p:txBody>
      </p:sp>
      <p:sp>
        <p:nvSpPr>
          <p:cNvPr id="6" name="profile-103">
            <a:extLst xmlns:a="http://schemas.openxmlformats.org/drawingml/2006/main">
              <a:ext uri="{FF2B5EF4-FFF2-40B4-BE49-F238E27FC236}">
                <a16:creationId xmlns:a16="http://schemas.microsoft.com/office/drawing/2014/main" id="{60B87999-6211-43D5-9242-E3F224FF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19825"/>
            <a:ext cx="6724650" cy="3533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rPr>
              <a:t>SITE FINDINGS FIRST</a:t>
            </a:r>
          </a:p>
        </p:txBody>
      </p:sp>
      <p:sp>
        <p:nvSpPr>
          <p:cNvPr id="7" name="profile-104">
            <a:extLst xmlns:a="http://schemas.openxmlformats.org/drawingml/2006/main">
              <a:ext uri="{FF2B5EF4-FFF2-40B4-BE49-F238E27FC236}">
                <a16:creationId xmlns:a16="http://schemas.microsoft.com/office/drawing/2014/main" id="{7217CFE9-8124-4BE9-A3C1-EDF0503D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657975"/>
            <a:ext cx="6724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Pest control services based on an assessment of the property and the pest concerns</a:t>
            </a:r>
          </a:p>
        </p:txBody>
      </p:sp>
      <p:sp>
        <p:nvSpPr>
          <p:cNvPr id="8" name="profile-105">
            <a:extLst xmlns:a="http://schemas.openxmlformats.org/drawingml/2006/main">
              <a:ext uri="{FF2B5EF4-FFF2-40B4-BE49-F238E27FC236}">
                <a16:creationId xmlns:a16="http://schemas.microsoft.com/office/drawing/2014/main" id="{0D63F27D-C736-4411-993B-DE8FF384A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896100"/>
            <a:ext cx="6724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reported by the client.</a:t>
            </a:r>
          </a:p>
        </p:txBody>
      </p:sp>
      <p:sp>
        <p:nvSpPr>
          <p:cNvPr id="9" name="profile-106">
            <a:extLst xmlns:a="http://schemas.openxmlformats.org/drawingml/2006/main">
              <a:ext uri="{FF2B5EF4-FFF2-40B4-BE49-F238E27FC236}">
                <a16:creationId xmlns:a16="http://schemas.microsoft.com/office/drawing/2014/main" id="{DB4CBDF4-1825-41BF-878E-82F659C1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419975"/>
            <a:ext cx="75628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F45"/>
          </a:solidFill>
          <a:ln xmlns:a="http://schemas.openxmlformats.org/drawingml/2006/main" w="0">
            <a:noFill/>
          </a:ln>
        </p:spPr>
      </p:sp>
      <p:sp>
        <p:nvSpPr>
          <p:cNvPr id="10" name="profile-107">
            <a:extLst xmlns:a="http://schemas.openxmlformats.org/drawingml/2006/main">
              <a:ext uri="{FF2B5EF4-FFF2-40B4-BE49-F238E27FC236}">
                <a16:creationId xmlns:a16="http://schemas.microsoft.com/office/drawing/2014/main" id="{E322CDEF-12BD-4D7D-B5A1-60D0F143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724775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11" name="profile-108">
            <a:extLst xmlns:a="http://schemas.openxmlformats.org/drawingml/2006/main">
              <a:ext uri="{FF2B5EF4-FFF2-40B4-BE49-F238E27FC236}">
                <a16:creationId xmlns:a16="http://schemas.microsoft.com/office/drawing/2014/main" id="{C5F4EE88-B4C7-412F-A8CC-1D73E512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7648575"/>
            <a:ext cx="6343650" cy="2556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Assessment of pest activity</a:t>
            </a:r>
          </a:p>
        </p:txBody>
      </p:sp>
      <p:sp>
        <p:nvSpPr>
          <p:cNvPr id="12" name="profile-109">
            <a:extLst xmlns:a="http://schemas.openxmlformats.org/drawingml/2006/main">
              <a:ext uri="{FF2B5EF4-FFF2-40B4-BE49-F238E27FC236}">
                <a16:creationId xmlns:a16="http://schemas.microsoft.com/office/drawing/2014/main" id="{B8081506-9743-4FF6-8FF7-301DDE3F6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094726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13" name="profile-110">
            <a:extLst xmlns:a="http://schemas.openxmlformats.org/drawingml/2006/main">
              <a:ext uri="{FF2B5EF4-FFF2-40B4-BE49-F238E27FC236}">
                <a16:creationId xmlns:a16="http://schemas.microsoft.com/office/drawing/2014/main" id="{7D195609-5D0B-4BF4-AE99-F3F793B5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8018526"/>
            <a:ext cx="6343650" cy="2556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Treatment scope based on site findings</a:t>
            </a:r>
          </a:p>
        </p:txBody>
      </p:sp>
      <p:sp>
        <p:nvSpPr>
          <p:cNvPr id="14" name="profile-111">
            <a:extLst xmlns:a="http://schemas.openxmlformats.org/drawingml/2006/main">
              <a:ext uri="{FF2B5EF4-FFF2-40B4-BE49-F238E27FC236}">
                <a16:creationId xmlns:a16="http://schemas.microsoft.com/office/drawing/2014/main" id="{1CB74970-DDB2-4AB7-98AD-0F4503ED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464677"/>
            <a:ext cx="47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15" name="profile-112">
            <a:extLst xmlns:a="http://schemas.openxmlformats.org/drawingml/2006/main">
              <a:ext uri="{FF2B5EF4-FFF2-40B4-BE49-F238E27FC236}">
                <a16:creationId xmlns:a16="http://schemas.microsoft.com/office/drawing/2014/main" id="{DE13FE02-CB94-4909-A119-1141F0AE3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8388477"/>
            <a:ext cx="6343650" cy="2556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Service scheduling and contractor coordination</a:t>
            </a:r>
          </a:p>
        </p:txBody>
      </p:sp>
      <p:sp>
        <p:nvSpPr>
          <p:cNvPr id="16" name="profile-113">
            <a:extLst xmlns:a="http://schemas.openxmlformats.org/drawingml/2006/main">
              <a:ext uri="{FF2B5EF4-FFF2-40B4-BE49-F238E27FC236}">
                <a16:creationId xmlns:a16="http://schemas.microsoft.com/office/drawing/2014/main" id="{D9DA8EF3-F0B4-42F1-8296-CADCCDC2A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058275"/>
            <a:ext cx="400050" cy="666750"/>
          </a:xfrm>
          <a:custGeom xmlns:a="http://schemas.openxmlformats.org/drawingml/2006/main">
            <a:pathLst>
              <a:path w="400050" h="666750">
                <a:moveTo>
                  <a:pt x="0" y="0"/>
                </a:moveTo>
                <a:lnTo>
                  <a:pt x="400050" y="0"/>
                </a:lnTo>
                <a:lnTo>
                  <a:pt x="171450" y="666750"/>
                </a:lnTo>
                <a:lnTo>
                  <a:pt x="0" y="666750"/>
                </a:lnTo>
                <a:close/>
              </a:path>
            </a:pathLst>
          </a:cu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17" name="profile-114">
            <a:extLst xmlns:a="http://schemas.openxmlformats.org/drawingml/2006/main">
              <a:ext uri="{FF2B5EF4-FFF2-40B4-BE49-F238E27FC236}">
                <a16:creationId xmlns:a16="http://schemas.microsoft.com/office/drawing/2014/main" id="{C603432A-8221-4A74-80ED-0178BB1C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182100"/>
            <a:ext cx="64103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The treatment scope, service schedule and specialist requirements are confirmed after</a:t>
            </a:r>
          </a:p>
        </p:txBody>
      </p:sp>
      <p:sp>
        <p:nvSpPr>
          <p:cNvPr id="18" name="profile-115">
            <a:extLst xmlns:a="http://schemas.openxmlformats.org/drawingml/2006/main">
              <a:ext uri="{FF2B5EF4-FFF2-40B4-BE49-F238E27FC236}">
                <a16:creationId xmlns:a16="http://schemas.microsoft.com/office/drawing/2014/main" id="{F526376E-DDF2-4AB6-9468-F17FBB7A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410700"/>
            <a:ext cx="64103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B1B3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B1B33"/>
                </a:solidFill>
                <a:latin typeface="Arial"/>
                <a:ea typeface="Arial"/>
                <a:cs typeface="Arial"/>
              </a:rPr>
              <a:t>assessment.</a:t>
            </a:r>
          </a:p>
        </p:txBody>
      </p:sp>
      <p:sp>
        <p:nvSpPr>
          <p:cNvPr id="19" name="profile-116">
            <a:extLst xmlns:a="http://schemas.openxmlformats.org/drawingml/2006/main">
              <a:ext uri="{FF2B5EF4-FFF2-40B4-BE49-F238E27FC236}">
                <a16:creationId xmlns:a16="http://schemas.microsoft.com/office/drawing/2014/main" id="{EA45A23E-1991-4A85-8AF2-7A08216A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877425"/>
            <a:ext cx="75628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F45"/>
          </a:solidFill>
          <a:ln xmlns:a="http://schemas.openxmlformats.org/drawingml/2006/main" w="0">
            <a:noFill/>
          </a:ln>
        </p:spPr>
      </p:sp>
      <p:sp>
        <p:nvSpPr>
          <p:cNvPr id="20" name="profile-117">
            <a:extLst xmlns:a="http://schemas.openxmlformats.org/drawingml/2006/main">
              <a:ext uri="{FF2B5EF4-FFF2-40B4-BE49-F238E27FC236}">
                <a16:creationId xmlns:a16="http://schemas.microsoft.com/office/drawing/2014/main" id="{42D057A4-FA56-4B63-A56F-94A2AC8D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877425"/>
            <a:ext cx="2743200" cy="819150"/>
          </a:xfrm>
          <a:custGeom xmlns:a="http://schemas.openxmlformats.org/drawingml/2006/main">
            <a:pathLst>
              <a:path w="2743200" h="819150">
                <a:moveTo>
                  <a:pt x="0" y="0"/>
                </a:moveTo>
                <a:lnTo>
                  <a:pt x="2743200" y="0"/>
                </a:lnTo>
                <a:lnTo>
                  <a:pt x="2390775" y="819150"/>
                </a:lnTo>
                <a:lnTo>
                  <a:pt x="0" y="819150"/>
                </a:lnTo>
                <a:close/>
              </a:path>
            </a:pathLst>
          </a:cu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21" name="profile-118">
            <a:extLst xmlns:a="http://schemas.openxmlformats.org/drawingml/2006/main">
              <a:ext uri="{FF2B5EF4-FFF2-40B4-BE49-F238E27FC236}">
                <a16:creationId xmlns:a16="http://schemas.microsoft.com/office/drawing/2014/main" id="{811321C5-5AC7-488C-8B33-ABD40A75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115550"/>
            <a:ext cx="1962150" cy="3533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defRPr>
            </a:pPr>
            <a:r>
              <a:rPr sz="202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rPr>
              <a:t>OCEANIDES</a:t>
            </a:r>
          </a:p>
        </p:txBody>
      </p:sp>
      <p:sp>
        <p:nvSpPr>
          <p:cNvPr id="22" name="profile-119">
            <a:extLst xmlns:a="http://schemas.openxmlformats.org/drawingml/2006/main">
              <a:ext uri="{FF2B5EF4-FFF2-40B4-BE49-F238E27FC236}">
                <a16:creationId xmlns:a16="http://schemas.microsoft.com/office/drawing/2014/main" id="{5A3C1AD5-C49B-42A4-801D-6A16E36B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0020300"/>
            <a:ext cx="3838575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0917 671 6383</a:t>
            </a:r>
          </a:p>
        </p:txBody>
      </p:sp>
      <p:sp>
        <p:nvSpPr>
          <p:cNvPr id="23" name="profile-120">
            <a:extLst xmlns:a="http://schemas.openxmlformats.org/drawingml/2006/main">
              <a:ext uri="{FF2B5EF4-FFF2-40B4-BE49-F238E27FC236}">
                <a16:creationId xmlns:a16="http://schemas.microsoft.com/office/drawing/2014/main" id="{92CEE3C9-6840-4DC3-8A4D-4D1A9BBE6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0382250"/>
            <a:ext cx="4000500" cy="180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marketing@oceanidessepticandpest.com</a:t>
            </a:r>
          </a:p>
        </p:txBody>
      </p:sp>
      <p:sp>
        <p:nvSpPr>
          <p:cNvPr id="24" name="profile-121">
            <a:extLst xmlns:a="http://schemas.openxmlformats.org/drawingml/2006/main">
              <a:ext uri="{FF2B5EF4-FFF2-40B4-BE49-F238E27FC236}">
                <a16:creationId xmlns:a16="http://schemas.microsoft.com/office/drawing/2014/main" id="{DEF0E675-BFD3-4BD8-BC24-7614D5A05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0163175"/>
            <a:ext cx="257175" cy="2047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FB3D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FB3D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579921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1F4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1f7de29cb448ee"/>
          <a:stretch xmlns:a="http://schemas.openxmlformats.org/drawingml/2006/main"/>
        </p:blipFill>
        <p:spPr>
          <a:xfrm xmlns:a="http://schemas.openxmlformats.org/drawingml/2006/main">
            <a:off x="295275" y="190500"/>
            <a:ext cx="1190625" cy="1190625"/>
          </a:xfrm>
          <a:prstGeom xmlns:a="http://schemas.openxmlformats.org/drawingml/2006/main" prst="rect">
            <a:avLst/>
          </a:prstGeom>
        </p:spPr>
      </p:pic>
      <p:sp>
        <p:nvSpPr>
          <p:cNvPr id="2" name="profile-122">
            <a:extLst xmlns:a="http://schemas.openxmlformats.org/drawingml/2006/main">
              <a:ext uri="{FF2B5EF4-FFF2-40B4-BE49-F238E27FC236}">
                <a16:creationId xmlns:a16="http://schemas.microsoft.com/office/drawing/2014/main" id="{1F00AE20-4281-4AAF-B1BB-C041CD4E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"/>
            <a:ext cx="53625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2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LET'S ASSESS</a:t>
            </a:r>
          </a:p>
        </p:txBody>
      </p:sp>
      <p:sp>
        <p:nvSpPr>
          <p:cNvPr id="3" name="profile-123">
            <a:extLst xmlns:a="http://schemas.openxmlformats.org/drawingml/2006/main">
              <a:ext uri="{FF2B5EF4-FFF2-40B4-BE49-F238E27FC236}">
                <a16:creationId xmlns:a16="http://schemas.microsoft.com/office/drawing/2014/main" id="{6C367F77-4CAE-48C8-AFBB-26DC22D1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828675"/>
            <a:ext cx="53625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2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YOUR SITE.</a:t>
            </a:r>
          </a:p>
        </p:txBody>
      </p:sp>
      <p:sp>
        <p:nvSpPr>
          <p:cNvPr id="4" name="profile-124">
            <a:extLst xmlns:a="http://schemas.openxmlformats.org/drawingml/2006/main">
              <a:ext uri="{FF2B5EF4-FFF2-40B4-BE49-F238E27FC236}">
                <a16:creationId xmlns:a16="http://schemas.microsoft.com/office/drawing/2014/main" id="{F6F5A22B-5052-4BB1-8F75-14BBEE14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09775"/>
            <a:ext cx="67246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Tell us the service, location and preferred inspection schedule.</a:t>
            </a:r>
          </a:p>
        </p:txBody>
      </p:sp>
      <p:sp>
        <p:nvSpPr>
          <p:cNvPr id="5" name="profile-125">
            <a:extLst xmlns:a="http://schemas.openxmlformats.org/drawingml/2006/main">
              <a:ext uri="{FF2B5EF4-FFF2-40B4-BE49-F238E27FC236}">
                <a16:creationId xmlns:a16="http://schemas.microsoft.com/office/drawing/2014/main" id="{7E666316-47B5-43D4-844B-AD9D8461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76550"/>
            <a:ext cx="7562850" cy="1295400"/>
          </a:xfrm>
          <a:custGeom xmlns:a="http://schemas.openxmlformats.org/drawingml/2006/main">
            <a:pathLst>
              <a:path w="7562850" h="1295400">
                <a:moveTo>
                  <a:pt x="0" y="0"/>
                </a:moveTo>
                <a:lnTo>
                  <a:pt x="7562850" y="0"/>
                </a:lnTo>
                <a:lnTo>
                  <a:pt x="6981825" y="1295400"/>
                </a:lnTo>
                <a:lnTo>
                  <a:pt x="0" y="1295400"/>
                </a:lnTo>
                <a:close/>
              </a:path>
            </a:pathLst>
          </a:custGeom>
          <a:solidFill xmlns:a="http://schemas.openxmlformats.org/drawingml/2006/main">
            <a:srgbClr val="F5B301"/>
          </a:solidFill>
          <a:ln xmlns:a="http://schemas.openxmlformats.org/drawingml/2006/main" w="0">
            <a:noFill/>
          </a:ln>
        </p:spPr>
      </p:sp>
      <p:sp>
        <p:nvSpPr>
          <p:cNvPr id="6" name="profile-126">
            <a:extLst xmlns:a="http://schemas.openxmlformats.org/drawingml/2006/main">
              <a:ext uri="{FF2B5EF4-FFF2-40B4-BE49-F238E27FC236}">
                <a16:creationId xmlns:a16="http://schemas.microsoft.com/office/drawing/2014/main" id="{E7642CB9-EA2F-4198-A41C-E0AFC624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67050"/>
            <a:ext cx="6534150" cy="724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7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defRPr>
            </a:pPr>
            <a:r>
              <a:rPr sz="4275" b="1">
                <a:solidFill>
                  <a:srgbClr val="0A1F45"/>
                </a:solidFill>
                <a:latin typeface="Arial Narrow"/>
                <a:ea typeface="Arial Narrow"/>
                <a:cs typeface="Arial Narrow"/>
              </a:rPr>
              <a:t>0917 671 6383</a:t>
            </a:r>
          </a:p>
        </p:txBody>
      </p:sp>
      <p:sp>
        <p:nvSpPr>
          <p:cNvPr id="7" name="profile-127">
            <a:extLst xmlns:a="http://schemas.openxmlformats.org/drawingml/2006/main">
              <a:ext uri="{FF2B5EF4-FFF2-40B4-BE49-F238E27FC236}">
                <a16:creationId xmlns:a16="http://schemas.microsoft.com/office/drawing/2014/main" id="{090D05AF-A4C5-44C0-BC44-665C56C7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819525"/>
            <a:ext cx="6419850" cy="2171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A1F4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A1F45"/>
                </a:solidFill>
                <a:latin typeface="Arial"/>
                <a:ea typeface="Arial"/>
                <a:cs typeface="Arial"/>
              </a:rPr>
              <a:t>GLOBE / marketing@oceanidessepticandpest.com</a:t>
            </a:r>
          </a:p>
        </p:txBody>
      </p:sp>
      <p:sp>
        <p:nvSpPr>
          <p:cNvPr id="8" name="profile-128">
            <a:extLst xmlns:a="http://schemas.openxmlformats.org/drawingml/2006/main">
              <a:ext uri="{FF2B5EF4-FFF2-40B4-BE49-F238E27FC236}">
                <a16:creationId xmlns:a16="http://schemas.microsoft.com/office/drawing/2014/main" id="{37F5BE88-F8C0-4BB3-815F-6EE90BCB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91050"/>
            <a:ext cx="6724650" cy="3781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217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HOW THE WORK MOVES FORWARD</a:t>
            </a:r>
          </a:p>
        </p:txBody>
      </p:sp>
      <p:sp>
        <p:nvSpPr>
          <p:cNvPr id="9" name="profile-129">
            <a:extLst xmlns:a="http://schemas.openxmlformats.org/drawingml/2006/main">
              <a:ext uri="{FF2B5EF4-FFF2-40B4-BE49-F238E27FC236}">
                <a16:creationId xmlns:a16="http://schemas.microsoft.com/office/drawing/2014/main" id="{E4BFEBB1-614C-4360-B119-6CE2125C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162550"/>
            <a:ext cx="476250" cy="402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5B301"/>
                </a:solidFill>
                <a:latin typeface="Arial Narrow"/>
                <a:ea typeface="Arial Narrow"/>
                <a:cs typeface="Arial Narrow"/>
              </a:defRPr>
            </a:pPr>
            <a:r>
              <a:rPr sz="2325" b="1">
                <a:solidFill>
                  <a:srgbClr val="F5B301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10" name="profile-130">
            <a:extLst xmlns:a="http://schemas.openxmlformats.org/drawingml/2006/main">
              <a:ext uri="{FF2B5EF4-FFF2-40B4-BE49-F238E27FC236}">
                <a16:creationId xmlns:a16="http://schemas.microsoft.com/office/drawing/2014/main" id="{6C332771-EDC3-49A2-A57A-F7447E628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5172075"/>
            <a:ext cx="2524125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SITE ASSESSMENT</a:t>
            </a:r>
          </a:p>
        </p:txBody>
      </p:sp>
      <p:sp>
        <p:nvSpPr>
          <p:cNvPr id="11" name="profile-131">
            <a:extLst xmlns:a="http://schemas.openxmlformats.org/drawingml/2006/main">
              <a:ext uri="{FF2B5EF4-FFF2-40B4-BE49-F238E27FC236}">
                <a16:creationId xmlns:a16="http://schemas.microsoft.com/office/drawing/2014/main" id="{D00EC79A-3016-4D60-BEE7-15E6E128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57850"/>
            <a:ext cx="3171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Review the reported problem, work areas, site</a:t>
            </a:r>
          </a:p>
        </p:txBody>
      </p:sp>
      <p:sp>
        <p:nvSpPr>
          <p:cNvPr id="12" name="profile-132">
            <a:extLst xmlns:a="http://schemas.openxmlformats.org/drawingml/2006/main">
              <a:ext uri="{FF2B5EF4-FFF2-40B4-BE49-F238E27FC236}">
                <a16:creationId xmlns:a16="http://schemas.microsoft.com/office/drawing/2014/main" id="{0A7A6EAA-EE15-4026-897B-DC86DA84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886450"/>
            <a:ext cx="3171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access and project requirements.</a:t>
            </a:r>
          </a:p>
        </p:txBody>
      </p:sp>
      <p:sp>
        <p:nvSpPr>
          <p:cNvPr id="13" name="profile-133">
            <a:extLst xmlns:a="http://schemas.openxmlformats.org/drawingml/2006/main">
              <a:ext uri="{FF2B5EF4-FFF2-40B4-BE49-F238E27FC236}">
                <a16:creationId xmlns:a16="http://schemas.microsoft.com/office/drawing/2014/main" id="{37802D81-5355-423A-B189-47FEA31E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162550"/>
            <a:ext cx="476250" cy="402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5B301"/>
                </a:solidFill>
                <a:latin typeface="Arial Narrow"/>
                <a:ea typeface="Arial Narrow"/>
                <a:cs typeface="Arial Narrow"/>
              </a:defRPr>
            </a:pPr>
            <a:r>
              <a:rPr sz="2325" b="1">
                <a:solidFill>
                  <a:srgbClr val="F5B301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4" name="profile-134">
            <a:extLst xmlns:a="http://schemas.openxmlformats.org/drawingml/2006/main">
              <a:ext uri="{FF2B5EF4-FFF2-40B4-BE49-F238E27FC236}">
                <a16:creationId xmlns:a16="http://schemas.microsoft.com/office/drawing/2014/main" id="{8C9B6CB3-F8C8-4C9B-904E-0E65C4EF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5172075"/>
            <a:ext cx="2524125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WRITTEN QUOTATION</a:t>
            </a:r>
          </a:p>
        </p:txBody>
      </p:sp>
      <p:sp>
        <p:nvSpPr>
          <p:cNvPr id="15" name="profile-135">
            <a:extLst xmlns:a="http://schemas.openxmlformats.org/drawingml/2006/main">
              <a:ext uri="{FF2B5EF4-FFF2-40B4-BE49-F238E27FC236}">
                <a16:creationId xmlns:a16="http://schemas.microsoft.com/office/drawing/2014/main" id="{8FD855D6-642E-4E1C-8BC3-623AEAAF6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657850"/>
            <a:ext cx="3171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Define the proposed work and pricing. Confirm</a:t>
            </a:r>
          </a:p>
        </p:txBody>
      </p:sp>
      <p:sp>
        <p:nvSpPr>
          <p:cNvPr id="16" name="profile-136">
            <a:extLst xmlns:a="http://schemas.openxmlformats.org/drawingml/2006/main">
              <a:ext uri="{FF2B5EF4-FFF2-40B4-BE49-F238E27FC236}">
                <a16:creationId xmlns:a16="http://schemas.microsoft.com/office/drawing/2014/main" id="{BDEF04FF-0E96-48D4-84DB-0C0FF0144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886450"/>
            <a:ext cx="3171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the scope with the client before scheduling.</a:t>
            </a:r>
          </a:p>
        </p:txBody>
      </p:sp>
      <p:sp>
        <p:nvSpPr>
          <p:cNvPr id="17" name="profile-137">
            <a:extLst xmlns:a="http://schemas.openxmlformats.org/drawingml/2006/main">
              <a:ext uri="{FF2B5EF4-FFF2-40B4-BE49-F238E27FC236}">
                <a16:creationId xmlns:a16="http://schemas.microsoft.com/office/drawing/2014/main" id="{431D367A-9433-41CD-9BC1-2C4E27CCE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72250"/>
            <a:ext cx="476250" cy="402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5B301"/>
                </a:solidFill>
                <a:latin typeface="Arial Narrow"/>
                <a:ea typeface="Arial Narrow"/>
                <a:cs typeface="Arial Narrow"/>
              </a:defRPr>
            </a:pPr>
            <a:r>
              <a:rPr sz="2325" b="1">
                <a:solidFill>
                  <a:srgbClr val="F5B301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18" name="profile-138">
            <a:extLst xmlns:a="http://schemas.openxmlformats.org/drawingml/2006/main">
              <a:ext uri="{FF2B5EF4-FFF2-40B4-BE49-F238E27FC236}">
                <a16:creationId xmlns:a16="http://schemas.microsoft.com/office/drawing/2014/main" id="{84E0E7EC-E8EE-4816-A575-77BAD92F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6581775"/>
            <a:ext cx="2524125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COORDINATION</a:t>
            </a:r>
          </a:p>
        </p:txBody>
      </p:sp>
      <p:sp>
        <p:nvSpPr>
          <p:cNvPr id="19" name="profile-139">
            <a:extLst xmlns:a="http://schemas.openxmlformats.org/drawingml/2006/main">
              <a:ext uri="{FF2B5EF4-FFF2-40B4-BE49-F238E27FC236}">
                <a16:creationId xmlns:a16="http://schemas.microsoft.com/office/drawing/2014/main" id="{78F33B01-760D-4C51-9AF1-EC8AF6002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067550"/>
            <a:ext cx="3171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Arrange the field team or specialist contractor</a:t>
            </a:r>
          </a:p>
        </p:txBody>
      </p:sp>
      <p:sp>
        <p:nvSpPr>
          <p:cNvPr id="20" name="profile-140">
            <a:extLst xmlns:a="http://schemas.openxmlformats.org/drawingml/2006/main">
              <a:ext uri="{FF2B5EF4-FFF2-40B4-BE49-F238E27FC236}">
                <a16:creationId xmlns:a16="http://schemas.microsoft.com/office/drawing/2014/main" id="{96024825-95BE-4537-B4EE-6B1E56517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96150"/>
            <a:ext cx="3171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and coordinate access with the client.</a:t>
            </a:r>
          </a:p>
        </p:txBody>
      </p:sp>
      <p:sp>
        <p:nvSpPr>
          <p:cNvPr id="21" name="profile-141">
            <a:extLst xmlns:a="http://schemas.openxmlformats.org/drawingml/2006/main">
              <a:ext uri="{FF2B5EF4-FFF2-40B4-BE49-F238E27FC236}">
                <a16:creationId xmlns:a16="http://schemas.microsoft.com/office/drawing/2014/main" id="{C08EB7C5-CA3C-4758-8D8A-B87AD99A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6572250"/>
            <a:ext cx="476250" cy="402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5B301"/>
                </a:solidFill>
                <a:latin typeface="Arial Narrow"/>
                <a:ea typeface="Arial Narrow"/>
                <a:cs typeface="Arial Narrow"/>
              </a:defRPr>
            </a:pPr>
            <a:r>
              <a:rPr sz="2325" b="1">
                <a:solidFill>
                  <a:srgbClr val="F5B301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22" name="profile-142">
            <a:extLst xmlns:a="http://schemas.openxmlformats.org/drawingml/2006/main">
              <a:ext uri="{FF2B5EF4-FFF2-40B4-BE49-F238E27FC236}">
                <a16:creationId xmlns:a16="http://schemas.microsoft.com/office/drawing/2014/main" id="{33A77A3F-299D-4D47-A182-1D1905CE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6581775"/>
            <a:ext cx="2524125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TURNOVER</a:t>
            </a:r>
          </a:p>
        </p:txBody>
      </p:sp>
      <p:sp>
        <p:nvSpPr>
          <p:cNvPr id="23" name="profile-143">
            <a:extLst xmlns:a="http://schemas.openxmlformats.org/drawingml/2006/main">
              <a:ext uri="{FF2B5EF4-FFF2-40B4-BE49-F238E27FC236}">
                <a16:creationId xmlns:a16="http://schemas.microsoft.com/office/drawing/2014/main" id="{EE1FCB3A-BA7D-430B-84FF-B3BB6CCE7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7067550"/>
            <a:ext cx="3171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Review the agreed work with the client and</a:t>
            </a:r>
          </a:p>
        </p:txBody>
      </p:sp>
      <p:sp>
        <p:nvSpPr>
          <p:cNvPr id="24" name="profile-144">
            <a:extLst xmlns:a="http://schemas.openxmlformats.org/drawingml/2006/main">
              <a:ext uri="{FF2B5EF4-FFF2-40B4-BE49-F238E27FC236}">
                <a16:creationId xmlns:a16="http://schemas.microsoft.com/office/drawing/2014/main" id="{D65C73A4-A896-4C35-A7D4-4772FD42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7296150"/>
            <a:ext cx="3171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coordinate any follow-up within the project</a:t>
            </a:r>
          </a:p>
        </p:txBody>
      </p:sp>
      <p:sp>
        <p:nvSpPr>
          <p:cNvPr id="25" name="profile-145">
            <a:extLst xmlns:a="http://schemas.openxmlformats.org/drawingml/2006/main">
              <a:ext uri="{FF2B5EF4-FFF2-40B4-BE49-F238E27FC236}">
                <a16:creationId xmlns:a16="http://schemas.microsoft.com/office/drawing/2014/main" id="{33C6400C-0A4E-4B5D-B6FC-1B5047CE0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7524750"/>
            <a:ext cx="3171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scope.</a:t>
            </a:r>
          </a:p>
        </p:txBody>
      </p:sp>
      <p:sp>
        <p:nvSpPr>
          <p:cNvPr id="26" name="profile-146">
            <a:extLst xmlns:a="http://schemas.openxmlformats.org/drawingml/2006/main">
              <a:ext uri="{FF2B5EF4-FFF2-40B4-BE49-F238E27FC236}">
                <a16:creationId xmlns:a16="http://schemas.microsoft.com/office/drawing/2014/main" id="{59B14DA5-06C9-4A04-8A33-B0455E6CA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039100"/>
            <a:ext cx="672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C5E"/>
          </a:solidFill>
          <a:ln xmlns:a="http://schemas.openxmlformats.org/drawingml/2006/main" w="0">
            <a:noFill/>
          </a:ln>
        </p:spPr>
      </p:sp>
      <p:sp>
        <p:nvSpPr>
          <p:cNvPr id="27" name="profile-147">
            <a:extLst xmlns:a="http://schemas.openxmlformats.org/drawingml/2006/main">
              <a:ext uri="{FF2B5EF4-FFF2-40B4-BE49-F238E27FC236}">
                <a16:creationId xmlns:a16="http://schemas.microsoft.com/office/drawing/2014/main" id="{04C1CD4B-2916-434C-86A2-9DB11C01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315325"/>
            <a:ext cx="672465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B30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5B301"/>
                </a:solidFill>
                <a:latin typeface="Arial"/>
                <a:ea typeface="Arial"/>
                <a:cs typeface="Arial"/>
              </a:rPr>
              <a:t>FOR MANAGEMENT &amp; PROCUREMENT</a:t>
            </a:r>
          </a:p>
        </p:txBody>
      </p:sp>
      <p:sp>
        <p:nvSpPr>
          <p:cNvPr id="28" name="profile-148">
            <a:extLst xmlns:a="http://schemas.openxmlformats.org/drawingml/2006/main">
              <a:ext uri="{FF2B5EF4-FFF2-40B4-BE49-F238E27FC236}">
                <a16:creationId xmlns:a16="http://schemas.microsoft.com/office/drawing/2014/main" id="{EDF9FF95-6355-44C8-AEB2-E63C1DF5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667750"/>
            <a:ext cx="6724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Share your supplier-accreditation requirements with Oceanides. We can coordinate the company</a:t>
            </a:r>
          </a:p>
        </p:txBody>
      </p:sp>
      <p:sp>
        <p:nvSpPr>
          <p:cNvPr id="29" name="profile-149">
            <a:extLst xmlns:a="http://schemas.openxmlformats.org/drawingml/2006/main">
              <a:ext uri="{FF2B5EF4-FFF2-40B4-BE49-F238E27FC236}">
                <a16:creationId xmlns:a16="http://schemas.microsoft.com/office/drawing/2014/main" id="{45381777-AA4E-4D80-9B7F-0EE44506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896350"/>
            <a:ext cx="6724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FE8F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DFE8F5"/>
                </a:solidFill>
                <a:latin typeface="Arial"/>
                <a:ea typeface="Arial"/>
                <a:cs typeface="Arial"/>
              </a:rPr>
              <a:t>documents and project information required for your review.</a:t>
            </a:r>
          </a:p>
        </p:txBody>
      </p:sp>
      <p:sp>
        <p:nvSpPr>
          <p:cNvPr id="30" name="profile-150">
            <a:extLst xmlns:a="http://schemas.openxmlformats.org/drawingml/2006/main">
              <a:ext uri="{FF2B5EF4-FFF2-40B4-BE49-F238E27FC236}">
                <a16:creationId xmlns:a16="http://schemas.microsoft.com/office/drawing/2014/main" id="{E4468A6A-5486-4DBB-82A5-E14A4AD75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429750"/>
            <a:ext cx="6724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FB3D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8FB3DD"/>
                </a:solidFill>
                <a:latin typeface="Arial"/>
                <a:ea typeface="Arial"/>
                <a:cs typeface="Arial"/>
              </a:rPr>
              <a:t>Tramo Street Corner Dandan, Pasay City, Philippines 1300</a:t>
            </a:r>
          </a:p>
        </p:txBody>
      </p:sp>
      <p:sp>
        <p:nvSpPr>
          <p:cNvPr id="31" name="profile-151">
            <a:extLst xmlns:a="http://schemas.openxmlformats.org/drawingml/2006/main">
              <a:ext uri="{FF2B5EF4-FFF2-40B4-BE49-F238E27FC236}">
                <a16:creationId xmlns:a16="http://schemas.microsoft.com/office/drawing/2014/main" id="{6F7C2137-70DC-4737-AF7E-0B28DD8B8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953625"/>
            <a:ext cx="75628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0">
            <a:noFill/>
          </a:ln>
        </p:spPr>
      </p:sp>
      <p:sp>
        <p:nvSpPr>
          <p:cNvPr id="32" name="profile-152">
            <a:extLst xmlns:a="http://schemas.openxmlformats.org/drawingml/2006/main">
              <a:ext uri="{FF2B5EF4-FFF2-40B4-BE49-F238E27FC236}">
                <a16:creationId xmlns:a16="http://schemas.microsoft.com/office/drawing/2014/main" id="{083C6E80-C720-4C15-912D-AA49F6597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096500"/>
            <a:ext cx="6724650" cy="2047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A1F4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A1F45"/>
                </a:solidFill>
                <a:latin typeface="Arial"/>
                <a:ea typeface="Arial"/>
                <a:cs typeface="Arial"/>
              </a:rPr>
              <a:t>Oceanides Plumbing Siphoning &amp; Pest Management Services OPC</a:t>
            </a:r>
          </a:p>
        </p:txBody>
      </p:sp>
      <p:sp>
        <p:nvSpPr>
          <p:cNvPr id="33" name="profile-153">
            <a:extLst xmlns:a="http://schemas.openxmlformats.org/drawingml/2006/main">
              <a:ext uri="{FF2B5EF4-FFF2-40B4-BE49-F238E27FC236}">
                <a16:creationId xmlns:a16="http://schemas.microsoft.com/office/drawing/2014/main" id="{7F4D26D8-37E7-4E5F-AFFC-B04E51C03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401300"/>
            <a:ext cx="6724650" cy="1552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B6B8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B6B85"/>
                </a:solidFill>
                <a:latin typeface="Arial"/>
                <a:ea typeface="Arial"/>
                <a:cs typeface="Arial"/>
              </a:rPr>
              <a:t>Final scope, pricing and scheduling depend on the site assessment and the agreed quotation.</a:t>
            </a:r>
          </a:p>
        </p:txBody>
      </p:sp>
    </p:spTree>
    <p:extLst>
      <p:ext uri="{BB962C8B-B14F-4D97-AF65-F5344CB8AC3E}">
        <p14:creationId xmlns:p14="http://schemas.microsoft.com/office/powerpoint/2010/main" val="8664345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2026-10-01T13:12:48.2790000Z</dcterms:created>
  <dcterms:modified xsi:type="dcterms:W3CDTF">2026-10-01T13:12:48.2790000Z</dcterms:modified>
</coreProperties>
</file>