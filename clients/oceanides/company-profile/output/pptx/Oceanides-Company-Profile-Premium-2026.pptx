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Default Extension="mp4" ContentType="video/mp4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5f4588b4fba4c49" /><Relationship Type="http://schemas.openxmlformats.org/officeDocument/2006/relationships/extended-properties" Target="/docProps/app.xml" Id="R138f8085a59e4ef7" /><Relationship Type="http://schemas.openxmlformats.org/officeDocument/2006/relationships/officeDocument" Target="/ppt/presentation.xml" Id="R4e9411bdf1b041e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4aa40ea580d43d3"/>
  </p:sldMasterIdLst>
  <p:notesMasterIdLst>
    <p:notesMasterId xmlns:r="http://schemas.openxmlformats.org/officeDocument/2006/relationships" r:id="R804b0ca35f294463"/>
  </p:notesMasterIdLst>
  <p:sldIdLst>
    <p:sldId xmlns:r="http://schemas.openxmlformats.org/officeDocument/2006/relationships" id="256" r:id="R3d5783d98c8f4f17"/>
    <p:sldId xmlns:r="http://schemas.openxmlformats.org/officeDocument/2006/relationships" id="257" r:id="R770d6d4f74304137"/>
    <p:sldId xmlns:r="http://schemas.openxmlformats.org/officeDocument/2006/relationships" id="258" r:id="R8eb2ed75d0444cbd"/>
    <p:sldId xmlns:r="http://schemas.openxmlformats.org/officeDocument/2006/relationships" id="259" r:id="Rd65f7b1570a94f9f"/>
    <p:sldId xmlns:r="http://schemas.openxmlformats.org/officeDocument/2006/relationships" id="260" r:id="R21fd8a03bf264341"/>
    <p:sldId xmlns:r="http://schemas.openxmlformats.org/officeDocument/2006/relationships" id="261" r:id="R495ec972d3c24385"/>
    <p:sldId xmlns:r="http://schemas.openxmlformats.org/officeDocument/2006/relationships" id="262" r:id="Raa71e290b3484655"/>
    <p:sldId xmlns:r="http://schemas.openxmlformats.org/officeDocument/2006/relationships" id="263" r:id="R67aad235194944c0"/>
    <p:sldId xmlns:r="http://schemas.openxmlformats.org/officeDocument/2006/relationships" id="264" r:id="Reef0739b71754354"/>
    <p:sldId xmlns:r="http://schemas.openxmlformats.org/officeDocument/2006/relationships" id="265" r:id="R8aedadd13be146f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d0b229f38ba402c" /><Relationship Type="http://schemas.openxmlformats.org/officeDocument/2006/relationships/slideMaster" Target="/ppt/slideMasters/slideMaster1.xml" Id="R54aa40ea580d43d3" /><Relationship Type="http://schemas.openxmlformats.org/officeDocument/2006/relationships/notesMaster" Target="/ppt/notesMasters/notesMaster1.xml" Id="R804b0ca35f294463" /><Relationship Type="http://schemas.openxmlformats.org/officeDocument/2006/relationships/presProps" Target="/ppt/presProps.xml" Id="R0645a41a0f734146" /><Relationship Type="http://schemas.openxmlformats.org/officeDocument/2006/relationships/tableStyles" Target="/ppt/tableStyles.xml" Id="Rb74e56d17a2545b6" /><Relationship Type="http://schemas.openxmlformats.org/officeDocument/2006/relationships/slide" Target="/ppt/slides/slide1.xml" Id="R3d5783d98c8f4f17" /><Relationship Type="http://schemas.openxmlformats.org/officeDocument/2006/relationships/slide" Target="/ppt/slides/slide2.xml" Id="R770d6d4f74304137" /><Relationship Type="http://schemas.openxmlformats.org/officeDocument/2006/relationships/slide" Target="/ppt/slides/slide3.xml" Id="R8eb2ed75d0444cbd" /><Relationship Type="http://schemas.openxmlformats.org/officeDocument/2006/relationships/slide" Target="/ppt/slides/slide4.xml" Id="Rd65f7b1570a94f9f" /><Relationship Type="http://schemas.openxmlformats.org/officeDocument/2006/relationships/slide" Target="/ppt/slides/slide5.xml" Id="R21fd8a03bf264341" /><Relationship Type="http://schemas.openxmlformats.org/officeDocument/2006/relationships/slide" Target="/ppt/slides/slide6.xml" Id="R495ec972d3c24385" /><Relationship Type="http://schemas.openxmlformats.org/officeDocument/2006/relationships/slide" Target="/ppt/slides/slide7.xml" Id="Raa71e290b3484655" /><Relationship Type="http://schemas.openxmlformats.org/officeDocument/2006/relationships/slide" Target="/ppt/slides/slide8.xml" Id="R67aad235194944c0" /><Relationship Type="http://schemas.openxmlformats.org/officeDocument/2006/relationships/slide" Target="/ppt/slides/slide9.xml" Id="Reef0739b71754354" /><Relationship Type="http://schemas.openxmlformats.org/officeDocument/2006/relationships/slide" Target="/ppt/slides/slide10.xml" Id="R8aedadd13be146f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b29ffa4a4d540b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6f22efdeaff4fea" /><Relationship Type="http://schemas.openxmlformats.org/officeDocument/2006/relationships/notesMaster" Target="/ppt/notesMasters/notesMaster1.xml" Id="Rc361123bb5de40b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5916cac19724165" /><Relationship Type="http://schemas.openxmlformats.org/officeDocument/2006/relationships/notesMaster" Target="/ppt/notesMasters/notesMaster1.xml" Id="Rca58505568074b9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d740e094388416c" /><Relationship Type="http://schemas.openxmlformats.org/officeDocument/2006/relationships/notesMaster" Target="/ppt/notesMasters/notesMaster1.xml" Id="Raf0460cfc2114ee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7d4df21aef342d1" /><Relationship Type="http://schemas.openxmlformats.org/officeDocument/2006/relationships/notesMaster" Target="/ppt/notesMasters/notesMaster1.xml" Id="R7c7e46db54134e5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8520b25c81b42b1" /><Relationship Type="http://schemas.openxmlformats.org/officeDocument/2006/relationships/notesMaster" Target="/ppt/notesMasters/notesMaster1.xml" Id="R0c07009efc344ff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7ae723e206b41a0" /><Relationship Type="http://schemas.openxmlformats.org/officeDocument/2006/relationships/notesMaster" Target="/ppt/notesMasters/notesMaster1.xml" Id="R4b3e6eaa8050437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7df60694b4c40b3" /><Relationship Type="http://schemas.openxmlformats.org/officeDocument/2006/relationships/notesMaster" Target="/ppt/notesMasters/notesMaster1.xml" Id="Re062acc36d894ff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ed24a318d264c48" /><Relationship Type="http://schemas.openxmlformats.org/officeDocument/2006/relationships/notesMaster" Target="/ppt/notesMasters/notesMaster1.xml" Id="R2c9aee0c87fc45e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5482a3d00a14995" /><Relationship Type="http://schemas.openxmlformats.org/officeDocument/2006/relationships/notesMaster" Target="/ppt/notesMasters/notesMaster1.xml" Id="R845fa2ec615f461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171cf67635e4cd4" /><Relationship Type="http://schemas.openxmlformats.org/officeDocument/2006/relationships/notesMaster" Target="/ppt/notesMasters/notesMaster1.xml" Id="Re3df12f59d5d40e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Company legal name, five service groups, delivery and current contacts: clients/oceanides/company-profile/profile-content.json and premium-content.json.</a:t>
            </a:r>
          </a:p>
          <a:p xmlns:a="http://schemas.openxmlformats.org/drawingml/2006/main">
            <a:r>
              <a:t>Design inspiration: supplied Oceanides.pptx, especially slides 1, 2, 3, 4, 6, 9, 12 and 23. Reference images, equipment, staff and third-party marks are not reused.</a:t>
            </a:r>
          </a:p>
          <a:p xmlns:a="http://schemas.openxmlformats.org/drawingml/2006/main">
            <a:r>
              <a:t>Logo: company-profile/assets/logo-transparent.png. Full emblem and alpha retained.</a:t>
            </a:r>
          </a:p>
          <a:p xmlns:a="http://schemas.openxmlformats.org/drawingml/2006/main">
            <a:r>
              <a:t>Cover illustration: company-profile/assets/cover-property-minimal.png. Source brief: company-profile/assets/generated-sources.json.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Company legal name, five service groups, delivery and current contacts: clients/oceanides/company-profile/profile-content.json and premium-content.json.</a:t>
            </a:r>
          </a:p>
          <a:p xmlns:a="http://schemas.openxmlformats.org/drawingml/2006/main">
            <a:r>
              <a:t>Design inspiration: supplied Oceanides.pptx, especially slides 1, 2, 3, 4, 6, 9, 12 and 23. Reference images, equipment, staff and third-party marks are not reused.</a:t>
            </a:r>
          </a:p>
          <a:p xmlns:a="http://schemas.openxmlformats.org/drawingml/2006/main">
            <a:r>
              <a:t>Founding-year source: user-provided Oceanides.pptx, slide 1, "Oceanides Plumbing Services was established in 2021".</a:t>
            </a:r>
          </a:p>
          <a:p xmlns:a="http://schemas.openxmlformats.org/drawingml/2006/main">
            <a:r>
              <a:t>Current offering: premium-content.json. No intervening milestone dates or years-of-experience claim inferred.</a:t>
            </a:r>
          </a:p>
          <a:p xmlns:a="http://schemas.openxmlformats.org/drawingml/2006/main">
            <a:r>
              <a:t>Mission: Provide professional service through clear assessment, practical solutions and cost-conscious planning.</a:t>
            </a:r>
          </a:p>
          <a:p xmlns:a="http://schemas.openxmlformats.org/drawingml/2006/main">
            <a:r>
              <a:t>Vision: Be a trusted service partner for the care and upkeep of homes and facilities.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Company legal name, five service groups, delivery and current contacts: clients/oceanides/company-profile/profile-content.json and premium-content.json.</a:t>
            </a:r>
          </a:p>
          <a:p xmlns:a="http://schemas.openxmlformats.org/drawingml/2006/main">
            <a:r>
              <a:t>Design inspiration: supplied Oceanides.pptx, especially slides 1, 2, 3, 4, 6, 9, 12 and 23. Reference images, equipment, staff and third-party marks are not reused.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Company legal name, five service groups, delivery and current contacts: clients/oceanides/company-profile/profile-content.json and premium-content.json.</a:t>
            </a:r>
          </a:p>
          <a:p xmlns:a="http://schemas.openxmlformats.org/drawingml/2006/main">
            <a:r>
              <a:t>Design inspiration: supplied Oceanides.pptx, especially slides 1, 2, 3, 4, 6, 9, 12 and 23. Reference images, equipment, staff and third-party marks are not reused.</a:t>
            </a:r>
          </a:p>
          <a:p xmlns:a="http://schemas.openxmlformats.org/drawingml/2006/main">
            <a:r>
              <a:t>Matched before/after pair: clients/oceanides/assets/tb2-ba2-before.png and tb2-ba2-after.png. Neil confirmed these as real job photos on 2026-08-01.</a:t>
            </a:r>
          </a:p>
          <a:p xmlns:a="http://schemas.openxmlformats.org/drawingml/2006/main">
            <a:r>
              <a:t>Original image proportions and complete evidence retained. Results describe this documented job, not a universal service guarantee.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Company legal name, five service groups, delivery and current contacts: clients/oceanides/company-profile/profile-content.json and premium-content.json.</a:t>
            </a:r>
          </a:p>
          <a:p xmlns:a="http://schemas.openxmlformats.org/drawingml/2006/main">
            <a:r>
              <a:t>Design inspiration: supplied Oceanides.pptx, especially slides 1, 2, 3, 4, 6, 9, 12 and 23. Reference images, equipment, staff and third-party marks are not reused.</a:t>
            </a:r>
          </a:p>
          <a:p xmlns:a="http://schemas.openxmlformats.org/drawingml/2006/main">
            <a:r>
              <a:t>Illustration: company-profile/assets/plumbing-service.png. Source brief: company-profile/assets/generated-sources.json. It does not depict Oceanides personnel or an actual completed job.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Company legal name, five service groups, delivery and current contacts: clients/oceanides/company-profile/profile-content.json and premium-content.json.</a:t>
            </a:r>
          </a:p>
          <a:p xmlns:a="http://schemas.openxmlformats.org/drawingml/2006/main">
            <a:r>
              <a:t>Design inspiration: supplied Oceanides.pptx, especially slides 1, 2, 3, 4, 6, 9, 12 and 23. Reference images, equipment, staff and third-party marks are not reused.</a:t>
            </a:r>
          </a:p>
          <a:p xmlns:a="http://schemas.openxmlformats.org/drawingml/2006/main">
            <a:r>
              <a:t>Service scope includes restoration, ceiling repair or replacement, roof leak repair and waterproofing, and house cleaning within the agreed scope.</a:t>
            </a:r>
          </a:p>
          <a:p xmlns:a="http://schemas.openxmlformats.org/drawingml/2006/main">
            <a:r>
              <a:t>Illustration: company-profile/assets/renovation-service.png. Source brief: company-profile/assets/generated-sources.json. It does not depict Oceanides personnel or an actual completed project.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Company legal name, five service groups, delivery and current contacts: clients/oceanides/company-profile/profile-content.json and premium-content.json.</a:t>
            </a:r>
          </a:p>
          <a:p xmlns:a="http://schemas.openxmlformats.org/drawingml/2006/main">
            <a:r>
              <a:t>Design inspiration: supplied Oceanides.pptx, especially slides 1, 2, 3, 4, 6, 9, 12 and 23. Reference images, equipment, staff and third-party marks are not reused.</a:t>
            </a:r>
          </a:p>
          <a:p xmlns:a="http://schemas.openxmlformats.org/drawingml/2006/main">
            <a:r>
              <a:t>Illustration: company-profile/assets/pest-control-service.png. Source brief: company-profile/assets/generated-sources.json. It does not depict Oceanides personnel or an actual completed job.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Company legal name, five service groups, delivery and current contacts: clients/oceanides/company-profile/profile-content.json and premium-content.json.</a:t>
            </a:r>
          </a:p>
          <a:p xmlns:a="http://schemas.openxmlformats.org/drawingml/2006/main">
            <a:r>
              <a:t>Design inspiration: supplied Oceanides.pptx, especially slides 1, 2, 3, 4, 6, 9, 12 and 23. Reference images, equipment, staff and third-party marks are not reused.</a:t>
            </a:r>
          </a:p>
          <a:p xmlns:a="http://schemas.openxmlformats.org/drawingml/2006/main">
            <a:r>
              <a:t>Suitability depends on wastewater volume, available space, outlet requirements and operating costs. Capacity, treatment performance and maintenance follow the agreed technical proposal. Sludge removal and equipment care continue after installation.</a:t>
            </a:r>
          </a:p>
          <a:p xmlns:a="http://schemas.openxmlformats.org/drawingml/2006/main">
            <a:r>
              <a:t>Visual: existing approved film overview frame, company-profile/assets/premium/stp-process-source.png. The model illustrates a general domestic-wastewater process, not an exact supplier design or Oceanides-owned facility.</a:t>
            </a:r>
          </a:p>
          <a:p xmlns:a="http://schemas.openxmlformats.org/drawingml/2006/main">
            <a:r>
              <a:t>https://www.youtube.com/watch?v=w_60iJEAf4c</a:t>
            </a:r>
          </a:p>
          <a:p xmlns:a="http://schemas.openxmlformats.org/drawingml/2006/main">
            <a:r>
              <a:t>https://www.epa.gov/npdes/peak-flows-sewage-treatment-plants</a:t>
            </a:r>
          </a:p>
          <a:p xmlns:a="http://schemas.openxmlformats.org/drawingml/2006/main">
            <a:r>
              <a:t>https://www.fujicleanusa.com/homeowners-faq</a:t>
            </a:r>
          </a:p>
          <a:p xmlns:a="http://schemas.openxmlformats.org/drawingml/2006/main">
            <a:r>
              <a:t>https://r7.emb.gov.ph/wp-content/uploads/2022/05/OPMS-DISCHARGE-PERMIT-Application-Guideline.pdf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Company legal name, five service groups, delivery and current contacts: clients/oceanides/company-profile/profile-content.json and premium-content.json.</a:t>
            </a:r>
          </a:p>
          <a:p xmlns:a="http://schemas.openxmlformats.org/drawingml/2006/main">
            <a:r>
              <a:t>Design inspiration: supplied Oceanides.pptx, especially slides 1, 2, 3, 4, 6, 9, 12 and 23. Reference images, equipment, staff and third-party marks are not reused.</a:t>
            </a:r>
          </a:p>
          <a:p xmlns:a="http://schemas.openxmlformats.org/drawingml/2006/main">
            <a:r>
              <a:t>Click the film to play. Native PowerPoint media controls support pause and replay.</a:t>
            </a:r>
          </a:p>
          <a:p xmlns:a="http://schemas.openxmlformats.org/drawingml/2006/main">
            <a:r>
              <a:t>Duration: 99.733 seconds. Original approved narration, music and image sequence retained byte-for-byte.</a:t>
            </a:r>
          </a:p>
          <a:p xmlns:a="http://schemas.openxmlformats.org/drawingml/2006/main">
            <a:r>
              <a:t>The film shows an illustrative treatment process. Capacity, treatment design, outlet requirements and operating costs follow the technical proposal.</a:t>
            </a:r>
          </a:p>
          <a:p xmlns:a="http://schemas.openxmlformats.org/drawingml/2006/main">
            <a:r>
              <a:t>https://www.youtube.com/watch?v=w_60iJEAf4c</a:t>
            </a:r>
          </a:p>
          <a:p xmlns:a="http://schemas.openxmlformats.org/drawingml/2006/main">
            <a:r>
              <a:t>https://www.epa.gov/npdes/peak-flows-sewage-treatment-plants</a:t>
            </a:r>
          </a:p>
          <a:p xmlns:a="http://schemas.openxmlformats.org/drawingml/2006/main">
            <a:r>
              <a:t>https://www.fujicleanusa.com/homeowners-faq</a:t>
            </a:r>
          </a:p>
          <a:p xmlns:a="http://schemas.openxmlformats.org/drawingml/2006/main">
            <a:r>
              <a:t>https://r7.emb.gov.ph/wp-content/uploads/2022/05/OPMS-DISCHARGE-PERMIT-Application-Guideline.pdf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Company legal name, five service groups, delivery and current contacts: clients/oceanides/company-profile/profile-content.json and premium-content.json.</a:t>
            </a:r>
          </a:p>
          <a:p xmlns:a="http://schemas.openxmlformats.org/drawingml/2006/main">
            <a:r>
              <a:t>Design inspiration: supplied Oceanides.pptx, especially slides 1, 2, 3, 4, 6, 9, 12 and 23. Reference images, equipment, staff and third-party marks are not reused.</a:t>
            </a:r>
          </a:p>
          <a:p xmlns:a="http://schemas.openxmlformats.org/drawingml/2006/main">
            <a:r>
              <a:t>Share your supplier requirements so we can coordinate company documents and project information for your review.</a:t>
            </a:r>
          </a:p>
          <a:p xmlns:a="http://schemas.openxmlformats.org/drawingml/2006/main">
            <a:r>
              <a:t>Tell us the service you need, the property location and your preferred inspection schedule. We will coordinate the assessment and prepare a quotation based on the findings.</a:t>
            </a:r>
          </a:p>
          <a:p xmlns:a="http://schemas.openxmlformats.org/drawingml/2006/main">
            <a:r>
              <a:t>Oceanides Plumbing Siphoning &amp; Pest Management Services OPC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7a8b54d787463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976b4c0f80f492c" /><Relationship Type="http://schemas.openxmlformats.org/officeDocument/2006/relationships/slideLayout" Target="/ppt/slideLayouts/slideLayout1.xml" Id="Rf354454bb1f647e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354454bb1f647e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cc1befa861486f" /><Relationship Type="http://schemas.openxmlformats.org/officeDocument/2006/relationships/image" Target="/ppt/media/image.png" Id="R6534763eac7f4ac0" /><Relationship Type="http://schemas.openxmlformats.org/officeDocument/2006/relationships/image" Target="/ppt/media/image.jpeg" Id="R6ea1777d94844727" /><Relationship Type="http://schemas.openxmlformats.org/officeDocument/2006/relationships/notesSlide" Target="/ppt/notesSlides/notesSlide1.xml" Id="R6949f3d4a56d4fe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9a079d7a9e4ed8" /><Relationship Type="http://schemas.openxmlformats.org/officeDocument/2006/relationships/notesSlide" Target="/ppt/notesSlides/notesSlide2.xml" Id="R4e4f8c393f96401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d590a9251c4bbf" /><Relationship Type="http://schemas.openxmlformats.org/officeDocument/2006/relationships/notesSlide" Target="/ppt/notesSlides/notesSlide3.xml" Id="R34eb4f96fe7c40f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06326734974b27" /><Relationship Type="http://schemas.openxmlformats.org/officeDocument/2006/relationships/image" Target="/ppt/media/image2.jpeg" Id="Rf431f472bfe54102" /><Relationship Type="http://schemas.openxmlformats.org/officeDocument/2006/relationships/image" Target="/ppt/media/image3.jpeg" Id="R3efb0434bb5e47e2" /><Relationship Type="http://schemas.openxmlformats.org/officeDocument/2006/relationships/notesSlide" Target="/ppt/notesSlides/notesSlide4.xml" Id="R092577f79191499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e53fb2c6c84d37" /><Relationship Type="http://schemas.openxmlformats.org/officeDocument/2006/relationships/image" Target="/ppt/media/image4.jpeg" Id="R7d7bdd6aa4a540cc" /><Relationship Type="http://schemas.openxmlformats.org/officeDocument/2006/relationships/notesSlide" Target="/ppt/notesSlides/notesSlide5.xml" Id="Rd443b5cfa1bc48f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049f067d4a42e5" /><Relationship Type="http://schemas.openxmlformats.org/officeDocument/2006/relationships/image" Target="/ppt/media/image5.jpeg" Id="R4e3f4e391c1242be" /><Relationship Type="http://schemas.openxmlformats.org/officeDocument/2006/relationships/notesSlide" Target="/ppt/notesSlides/notesSlide6.xml" Id="Re62a9d0b8a4644e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7d9ce4e1324e68" /><Relationship Type="http://schemas.openxmlformats.org/officeDocument/2006/relationships/image" Target="/ppt/media/image6.jpeg" Id="R1300541a692e4b01" /><Relationship Type="http://schemas.openxmlformats.org/officeDocument/2006/relationships/notesSlide" Target="/ppt/notesSlides/notesSlide7.xml" Id="R86eb5576e4e840c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ceeee88fa845ef" /><Relationship Type="http://schemas.openxmlformats.org/officeDocument/2006/relationships/image" Target="/ppt/media/image2.png" Id="Re927484d9a834e93" /><Relationship Type="http://schemas.openxmlformats.org/officeDocument/2006/relationships/notesSlide" Target="/ppt/notesSlides/notesSlide8.xml" Id="R41cf7418de3f4973" /></Relationships>
</file>

<file path=ppt/slides/_rels/slide9.xml.rels><?xml version="1.0" encoding="UTF-8"?><Relationships xmlns="http://schemas.openxmlformats.org/package/2006/relationships"><Relationship Id="rId1" Type="http://schemas.microsoft.com/office/2007/relationships/media" Target="../media/oceanides-stp-premium.mp4"/><Relationship Id="rId2" Type="http://schemas.openxmlformats.org/officeDocument/2006/relationships/video" Target="../media/oceanides-stp-premium.mp4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Relationship Id="rId5" Type="http://schemas.openxmlformats.org/officeDocument/2006/relationships/image" Target="../media/oceanides-stp-premium-poster.png"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eb8e13ed5f4eb0" /><Relationship Type="http://schemas.openxmlformats.org/officeDocument/2006/relationships/notesSlide" Target="/ppt/notesSlides/notesSlide10.xml" Id="Rd7f1b1b55b454c1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premium-text-1">
            <a:extLst xmlns:a="http://schemas.openxmlformats.org/drawingml/2006/main">
              <a:ext uri="{FF2B5EF4-FFF2-40B4-BE49-F238E27FC236}">
                <a16:creationId xmlns:a16="http://schemas.microsoft.com/office/drawing/2014/main" id="{313D06B0-1566-41E5-A448-9CC2CE75C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6270"/>
                </a:solidFill>
                <a:latin typeface="Arial"/>
                <a:ea typeface="Arial"/>
                <a:cs typeface="Arial"/>
              </a:rPr>
              <a:t>Company profile</a:t>
            </a:r>
          </a:p>
        </p:txBody>
      </p:sp>
      <p:sp>
        <p:nvSpPr>
          <p:cNvPr id="2" name="premium-text-2">
            <a:extLst xmlns:a="http://schemas.openxmlformats.org/drawingml/2006/main">
              <a:ext uri="{FF2B5EF4-FFF2-40B4-BE49-F238E27FC236}">
                <a16:creationId xmlns:a16="http://schemas.microsoft.com/office/drawing/2014/main" id="{1FBBAA9F-4EB8-4179-BAF1-0239B4D83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00800"/>
            <a:ext cx="41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627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34763eac7f4ac0"/>
          <a:stretch xmlns:a="http://schemas.openxmlformats.org/drawingml/2006/main"/>
        </p:blipFill>
        <p:spPr>
          <a:xfrm xmlns:a="http://schemas.openxmlformats.org/drawingml/2006/main">
            <a:off x="685800" y="400050"/>
            <a:ext cx="1638300" cy="1638300"/>
          </a:xfrm>
          <a:prstGeom xmlns:a="http://schemas.openxmlformats.org/drawingml/2006/main" prst="rect">
            <a:avLst/>
          </a:prstGeom>
        </p:spPr>
      </p:pic>
      <p:sp>
        <p:nvSpPr>
          <p:cNvPr id="4" name="premium-text-3">
            <a:extLst xmlns:a="http://schemas.openxmlformats.org/drawingml/2006/main">
              <a:ext uri="{FF2B5EF4-FFF2-40B4-BE49-F238E27FC236}">
                <a16:creationId xmlns:a16="http://schemas.microsoft.com/office/drawing/2014/main" id="{15A250F1-FF35-4697-85CF-9AFE4CCE9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394335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1C63AD"/>
                </a:solidFill>
                <a:latin typeface="Segoe UI"/>
                <a:ea typeface="Segoe UI"/>
                <a:cs typeface="Segoe UI"/>
              </a:defRPr>
            </a:pPr>
            <a:r>
              <a:rPr sz="5400" b="1">
                <a:solidFill>
                  <a:srgbClr val="1C63AD"/>
                </a:solidFill>
                <a:latin typeface="Segoe UI"/>
                <a:ea typeface="Segoe UI"/>
                <a:cs typeface="Segoe UI"/>
              </a:rPr>
              <a:t>Company</a:t>
            </a:r>
          </a:p>
          <a:p xmlns:a="http://schemas.openxmlformats.org/drawingml/2006/main">
            <a:pPr algn="l">
              <a:defRPr sz="5400" b="1">
                <a:solidFill>
                  <a:srgbClr val="1C63AD"/>
                </a:solidFill>
                <a:latin typeface="Segoe UI"/>
                <a:ea typeface="Segoe UI"/>
                <a:cs typeface="Segoe UI"/>
              </a:defRPr>
            </a:pPr>
            <a:r>
              <a:rPr sz="5400" b="1">
                <a:solidFill>
                  <a:srgbClr val="1C63AD"/>
                </a:solidFill>
                <a:latin typeface="Segoe UI"/>
                <a:ea typeface="Segoe UI"/>
                <a:cs typeface="Segoe UI"/>
              </a:rPr>
              <a:t>profile</a:t>
            </a:r>
          </a:p>
        </p:txBody>
      </p:sp>
      <p:sp>
        <p:nvSpPr>
          <p:cNvPr id="5" name="premium-text-4">
            <a:extLst xmlns:a="http://schemas.openxmlformats.org/drawingml/2006/main">
              <a:ext uri="{FF2B5EF4-FFF2-40B4-BE49-F238E27FC236}">
                <a16:creationId xmlns:a16="http://schemas.microsoft.com/office/drawing/2014/main" id="{6B5D0181-94EF-44B3-8CDD-845FECE12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39814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Property services for homes</a:t>
            </a:r>
          </a:p>
          <a:p xmlns:a="http://schemas.openxmlformats.org/drawingml/2006/main">
            <a:pPr algn="l">
              <a:defRPr sz="21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and company facilities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a1777d94844727"/>
          <a:stretch xmlns:a="http://schemas.openxmlformats.org/drawingml/2006/main"/>
        </p:blipFill>
        <p:spPr>
          <a:xfrm xmlns:a="http://schemas.openxmlformats.org/drawingml/2006/main">
            <a:off x="4705350" y="1355725"/>
            <a:ext cx="6819900" cy="4546600"/>
          </a:xfrm>
          <a:prstGeom xmlns:a="http://schemas.openxmlformats.org/drawingml/2006/main" prst="rect">
            <a:avLst/>
          </a:prstGeom>
        </p:spPr>
      </p:pic>
      <p:sp>
        <p:nvSpPr>
          <p:cNvPr id="7" name="premium-text-5">
            <a:extLst xmlns:a="http://schemas.openxmlformats.org/drawingml/2006/main">
              <a:ext uri="{FF2B5EF4-FFF2-40B4-BE49-F238E27FC236}">
                <a16:creationId xmlns:a16="http://schemas.microsoft.com/office/drawing/2014/main" id="{C8E51710-06F5-4810-B612-EA3ED6E8C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5981700"/>
            <a:ext cx="6534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6270"/>
                </a:solidFill>
                <a:latin typeface="Arial"/>
                <a:ea typeface="Arial"/>
                <a:cs typeface="Arial"/>
              </a:rPr>
              <a:t>AI-generated conceptual illustration</a:t>
            </a:r>
          </a:p>
        </p:txBody>
      </p:sp>
    </p:spTree>
    <p:extLst>
      <p:ext uri="{BB962C8B-B14F-4D97-AF65-F5344CB8AC3E}">
        <p14:creationId xmlns:p14="http://schemas.microsoft.com/office/powerpoint/2010/main" val="11815705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premium-text-6">
            <a:extLst xmlns:a="http://schemas.openxmlformats.org/drawingml/2006/main">
              <a:ext uri="{FF2B5EF4-FFF2-40B4-BE49-F238E27FC236}">
                <a16:creationId xmlns:a16="http://schemas.microsoft.com/office/drawing/2014/main" id="{CC69EC78-CFEA-4C82-82FF-1C37AD1B2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6270"/>
                </a:solidFill>
                <a:latin typeface="Arial"/>
                <a:ea typeface="Arial"/>
                <a:cs typeface="Arial"/>
              </a:rPr>
              <a:t>Company profile</a:t>
            </a:r>
          </a:p>
        </p:txBody>
      </p:sp>
      <p:sp>
        <p:nvSpPr>
          <p:cNvPr id="2" name="premium-text-7">
            <a:extLst xmlns:a="http://schemas.openxmlformats.org/drawingml/2006/main">
              <a:ext uri="{FF2B5EF4-FFF2-40B4-BE49-F238E27FC236}">
                <a16:creationId xmlns:a16="http://schemas.microsoft.com/office/drawing/2014/main" id="{47FAD318-4313-4F37-B70C-2682073C9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00800"/>
            <a:ext cx="41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627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premium-text-8">
            <a:extLst xmlns:a="http://schemas.openxmlformats.org/drawingml/2006/main">
              <a:ext uri="{FF2B5EF4-FFF2-40B4-BE49-F238E27FC236}">
                <a16:creationId xmlns:a16="http://schemas.microsoft.com/office/drawing/2014/main" id="{0F8C3C42-C4B8-4A40-AB02-F5B4BF2C1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1C63AD"/>
                </a:solidFill>
                <a:latin typeface="Segoe UI"/>
                <a:ea typeface="Segoe UI"/>
                <a:cs typeface="Segoe UI"/>
              </a:defRPr>
            </a:pPr>
            <a:r>
              <a:rPr sz="4800" b="1">
                <a:solidFill>
                  <a:srgbClr val="1C63AD"/>
                </a:solidFill>
                <a:latin typeface="Segoe UI"/>
                <a:ea typeface="Segoe UI"/>
                <a:cs typeface="Segoe UI"/>
              </a:rPr>
              <a:t>Company background</a:t>
            </a:r>
          </a:p>
        </p:txBody>
      </p:sp>
      <p:sp>
        <p:nvSpPr>
          <p:cNvPr id="4" name="premium-text-9">
            <a:extLst xmlns:a="http://schemas.openxmlformats.org/drawingml/2006/main">
              <a:ext uri="{FF2B5EF4-FFF2-40B4-BE49-F238E27FC236}">
                <a16:creationId xmlns:a16="http://schemas.microsoft.com/office/drawing/2014/main" id="{F51475D3-1289-436D-B5E6-3031200D9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0820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Oceanides coordinates property services for homes,</a:t>
            </a:r>
          </a:p>
          <a:p xmlns:a="http://schemas.openxmlformats.org/drawingml/2006/main">
            <a:pPr algn="l">
              <a:defRPr sz="22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condominiums and company facilities.</a:t>
            </a:r>
          </a:p>
        </p:txBody>
      </p:sp>
      <p:sp>
        <p:nvSpPr>
          <p:cNvPr id="5" name="premium-text-10">
            <a:extLst xmlns:a="http://schemas.openxmlformats.org/drawingml/2006/main">
              <a:ext uri="{FF2B5EF4-FFF2-40B4-BE49-F238E27FC236}">
                <a16:creationId xmlns:a16="http://schemas.microsoft.com/office/drawing/2014/main" id="{956F469C-A6B3-4883-A00B-168331398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5627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56270"/>
                </a:solidFill>
                <a:latin typeface="Arial"/>
                <a:ea typeface="Arial"/>
                <a:cs typeface="Arial"/>
              </a:rPr>
              <a:t>We remain your main contact for scheduling, site access</a:t>
            </a:r>
          </a:p>
          <a:p xmlns:a="http://schemas.openxmlformats.org/drawingml/2006/main">
            <a:pPr algn="l">
              <a:defRPr sz="2025" b="0">
                <a:solidFill>
                  <a:srgbClr val="55627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56270"/>
                </a:solidFill>
                <a:latin typeface="Arial"/>
                <a:ea typeface="Arial"/>
                <a:cs typeface="Arial"/>
              </a:rPr>
              <a:t>and service coordination from inquiry to turnover.</a:t>
            </a:r>
          </a:p>
        </p:txBody>
      </p:sp>
      <p:sp>
        <p:nvSpPr>
          <p:cNvPr id="6" name="premium-rule-11">
            <a:extLst xmlns:a="http://schemas.openxmlformats.org/drawingml/2006/main">
              <a:ext uri="{FF2B5EF4-FFF2-40B4-BE49-F238E27FC236}">
                <a16:creationId xmlns:a16="http://schemas.microsoft.com/office/drawing/2014/main" id="{A41B7B6B-EDB3-4757-A4AC-167E6BC86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242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4D8"/>
          </a:solidFill>
          <a:ln xmlns:a="http://schemas.openxmlformats.org/drawingml/2006/main" w="0">
            <a:noFill/>
          </a:ln>
        </p:spPr>
      </p:sp>
      <p:sp>
        <p:nvSpPr>
          <p:cNvPr id="7" name="premium-text-12">
            <a:extLst xmlns:a="http://schemas.openxmlformats.org/drawingml/2006/main">
              <a:ext uri="{FF2B5EF4-FFF2-40B4-BE49-F238E27FC236}">
                <a16:creationId xmlns:a16="http://schemas.microsoft.com/office/drawing/2014/main" id="{3CF1AF0E-5251-45FA-B363-62EBC9F69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90975"/>
            <a:ext cx="1885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C63AD"/>
                </a:solidFill>
                <a:latin typeface="Segoe UI"/>
                <a:ea typeface="Segoe UI"/>
                <a:cs typeface="Segoe UI"/>
              </a:defRPr>
            </a:pPr>
            <a:r>
              <a:rPr sz="4350" b="1">
                <a:solidFill>
                  <a:srgbClr val="1C63AD"/>
                </a:solidFill>
                <a:latin typeface="Segoe UI"/>
                <a:ea typeface="Segoe UI"/>
                <a:cs typeface="Segoe UI"/>
              </a:rPr>
              <a:t>2021</a:t>
            </a:r>
          </a:p>
        </p:txBody>
      </p:sp>
      <p:sp>
        <p:nvSpPr>
          <p:cNvPr id="8" name="premium-text-13">
            <a:extLst xmlns:a="http://schemas.openxmlformats.org/drawingml/2006/main">
              <a:ext uri="{FF2B5EF4-FFF2-40B4-BE49-F238E27FC236}">
                <a16:creationId xmlns:a16="http://schemas.microsoft.com/office/drawing/2014/main" id="{73649BBA-D84C-46AB-A55D-7AD391E5E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019550"/>
            <a:ext cx="828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12B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17212B"/>
                </a:solidFill>
                <a:latin typeface="Segoe UI"/>
                <a:ea typeface="Segoe UI"/>
                <a:cs typeface="Segoe UI"/>
              </a:rPr>
              <a:t>Septic and plumbing services</a:t>
            </a:r>
          </a:p>
        </p:txBody>
      </p:sp>
      <p:sp>
        <p:nvSpPr>
          <p:cNvPr id="9" name="premium-text-14">
            <a:extLst xmlns:a="http://schemas.openxmlformats.org/drawingml/2006/main">
              <a:ext uri="{FF2B5EF4-FFF2-40B4-BE49-F238E27FC236}">
                <a16:creationId xmlns:a16="http://schemas.microsoft.com/office/drawing/2014/main" id="{BFF55376-DF18-41D0-AF51-2E106D009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572000"/>
            <a:ext cx="828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Oceanides Plumbing Services was established.</a:t>
            </a:r>
          </a:p>
        </p:txBody>
      </p:sp>
      <p:sp>
        <p:nvSpPr>
          <p:cNvPr id="10" name="premium-rule-15">
            <a:extLst xmlns:a="http://schemas.openxmlformats.org/drawingml/2006/main">
              <a:ext uri="{FF2B5EF4-FFF2-40B4-BE49-F238E27FC236}">
                <a16:creationId xmlns:a16="http://schemas.microsoft.com/office/drawing/2014/main" id="{70316B56-0E90-415B-9761-E70EFCF13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4D8"/>
          </a:solidFill>
          <a:ln xmlns:a="http://schemas.openxmlformats.org/drawingml/2006/main" w="0">
            <a:noFill/>
          </a:ln>
        </p:spPr>
      </p:sp>
      <p:sp>
        <p:nvSpPr>
          <p:cNvPr id="11" name="premium-text-16">
            <a:extLst xmlns:a="http://schemas.openxmlformats.org/drawingml/2006/main">
              <a:ext uri="{FF2B5EF4-FFF2-40B4-BE49-F238E27FC236}">
                <a16:creationId xmlns:a16="http://schemas.microsoft.com/office/drawing/2014/main" id="{6C46B57F-9780-4B9E-8D9B-885821ABB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43525"/>
            <a:ext cx="2000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C63AD"/>
                </a:solidFill>
                <a:latin typeface="Segoe UI"/>
                <a:ea typeface="Segoe UI"/>
                <a:cs typeface="Segoe UI"/>
              </a:defRPr>
            </a:pPr>
            <a:r>
              <a:rPr sz="4350" b="1">
                <a:solidFill>
                  <a:srgbClr val="1C63AD"/>
                </a:solidFill>
                <a:latin typeface="Segoe UI"/>
                <a:ea typeface="Segoe UI"/>
                <a:cs typeface="Segoe UI"/>
              </a:rPr>
              <a:t>Today</a:t>
            </a:r>
          </a:p>
        </p:txBody>
      </p:sp>
      <p:sp>
        <p:nvSpPr>
          <p:cNvPr id="12" name="premium-text-17">
            <a:extLst xmlns:a="http://schemas.openxmlformats.org/drawingml/2006/main">
              <a:ext uri="{FF2B5EF4-FFF2-40B4-BE49-F238E27FC236}">
                <a16:creationId xmlns:a16="http://schemas.microsoft.com/office/drawing/2014/main" id="{2198379E-232D-494D-A87B-9F86CE9E7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400675"/>
            <a:ext cx="838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12B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17212B"/>
                </a:solidFill>
                <a:latin typeface="Segoe UI"/>
                <a:ea typeface="Segoe UI"/>
                <a:cs typeface="Segoe UI"/>
              </a:rPr>
              <a:t>A broader property service offering</a:t>
            </a:r>
          </a:p>
        </p:txBody>
      </p:sp>
      <p:sp>
        <p:nvSpPr>
          <p:cNvPr id="13" name="premium-text-18">
            <a:extLst xmlns:a="http://schemas.openxmlformats.org/drawingml/2006/main">
              <a:ext uri="{FF2B5EF4-FFF2-40B4-BE49-F238E27FC236}">
                <a16:creationId xmlns:a16="http://schemas.microsoft.com/office/drawing/2014/main" id="{F0402B86-ED92-406A-9EF7-C9383676E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848350"/>
            <a:ext cx="8439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Five service groups for the care and upkeep of homes and facilities.</a:t>
            </a:r>
          </a:p>
        </p:txBody>
      </p:sp>
    </p:spTree>
    <p:extLst>
      <p:ext uri="{BB962C8B-B14F-4D97-AF65-F5344CB8AC3E}">
        <p14:creationId xmlns:p14="http://schemas.microsoft.com/office/powerpoint/2010/main" val="43068355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premium-text-19">
            <a:extLst xmlns:a="http://schemas.openxmlformats.org/drawingml/2006/main">
              <a:ext uri="{FF2B5EF4-FFF2-40B4-BE49-F238E27FC236}">
                <a16:creationId xmlns:a16="http://schemas.microsoft.com/office/drawing/2014/main" id="{8A246F9E-047F-44E2-BD6E-832838842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6270"/>
                </a:solidFill>
                <a:latin typeface="Arial"/>
                <a:ea typeface="Arial"/>
                <a:cs typeface="Arial"/>
              </a:rPr>
              <a:t>Company profile</a:t>
            </a:r>
          </a:p>
        </p:txBody>
      </p:sp>
      <p:sp>
        <p:nvSpPr>
          <p:cNvPr id="2" name="premium-text-20">
            <a:extLst xmlns:a="http://schemas.openxmlformats.org/drawingml/2006/main">
              <a:ext uri="{FF2B5EF4-FFF2-40B4-BE49-F238E27FC236}">
                <a16:creationId xmlns:a16="http://schemas.microsoft.com/office/drawing/2014/main" id="{F68F551C-DB69-43A0-95E6-7C3F966B2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00800"/>
            <a:ext cx="41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627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premium-text-21">
            <a:extLst xmlns:a="http://schemas.openxmlformats.org/drawingml/2006/main">
              <a:ext uri="{FF2B5EF4-FFF2-40B4-BE49-F238E27FC236}">
                <a16:creationId xmlns:a16="http://schemas.microsoft.com/office/drawing/2014/main" id="{32CE6008-6BCE-469B-BE2C-B6DA9A7DF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1C63AD"/>
                </a:solidFill>
                <a:latin typeface="Segoe UI"/>
                <a:ea typeface="Segoe UI"/>
                <a:cs typeface="Segoe UI"/>
              </a:defRPr>
            </a:pPr>
            <a:r>
              <a:rPr sz="4800" b="1">
                <a:solidFill>
                  <a:srgbClr val="1C63AD"/>
                </a:solidFill>
                <a:latin typeface="Segoe UI"/>
                <a:ea typeface="Segoe UI"/>
                <a:cs typeface="Segoe UI"/>
              </a:rPr>
              <a:t>Our services</a:t>
            </a:r>
          </a:p>
        </p:txBody>
      </p:sp>
      <p:sp>
        <p:nvSpPr>
          <p:cNvPr id="4" name="premium-text-22">
            <a:extLst xmlns:a="http://schemas.openxmlformats.org/drawingml/2006/main">
              <a:ext uri="{FF2B5EF4-FFF2-40B4-BE49-F238E27FC236}">
                <a16:creationId xmlns:a16="http://schemas.microsoft.com/office/drawing/2014/main" id="{E05FBC0C-1E59-4CFC-9846-BA2688A4C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533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C63A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C63AD"/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  <p:sp>
        <p:nvSpPr>
          <p:cNvPr id="5" name="premium-text-23">
            <a:extLst xmlns:a="http://schemas.openxmlformats.org/drawingml/2006/main">
              <a:ext uri="{FF2B5EF4-FFF2-40B4-BE49-F238E27FC236}">
                <a16:creationId xmlns:a16="http://schemas.microsoft.com/office/drawing/2014/main" id="{FF15B800-E05E-4532-B226-4CC29F8DB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704975"/>
            <a:ext cx="4743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12B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17212B"/>
                </a:solidFill>
                <a:latin typeface="Segoe UI"/>
                <a:ea typeface="Segoe UI"/>
                <a:cs typeface="Segoe UI"/>
              </a:rPr>
              <a:t>Siphoning</a:t>
            </a:r>
          </a:p>
        </p:txBody>
      </p:sp>
      <p:sp>
        <p:nvSpPr>
          <p:cNvPr id="6" name="premium-text-24">
            <a:extLst xmlns:a="http://schemas.openxmlformats.org/drawingml/2006/main">
              <a:ext uri="{FF2B5EF4-FFF2-40B4-BE49-F238E27FC236}">
                <a16:creationId xmlns:a16="http://schemas.microsoft.com/office/drawing/2014/main" id="{052A8280-E48F-4EC7-A136-4077758B4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95450"/>
            <a:ext cx="49339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Septic tank servicing based on</a:t>
            </a:r>
          </a:p>
          <a:p xmlns:a="http://schemas.openxmlformats.org/drawingml/2006/main">
            <a:pPr algn="l">
              <a:defRPr sz="18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tank conditions and site access.</a:t>
            </a:r>
          </a:p>
        </p:txBody>
      </p:sp>
      <p:sp>
        <p:nvSpPr>
          <p:cNvPr id="7" name="premium-rule-25">
            <a:extLst xmlns:a="http://schemas.openxmlformats.org/drawingml/2006/main">
              <a:ext uri="{FF2B5EF4-FFF2-40B4-BE49-F238E27FC236}">
                <a16:creationId xmlns:a16="http://schemas.microsoft.com/office/drawing/2014/main" id="{2E34D8ED-7B5E-4E7F-A71F-49B05DC24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428875"/>
            <a:ext cx="10039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4D8"/>
          </a:solidFill>
          <a:ln xmlns:a="http://schemas.openxmlformats.org/drawingml/2006/main" w="0">
            <a:noFill/>
          </a:ln>
        </p:spPr>
      </p:sp>
      <p:sp>
        <p:nvSpPr>
          <p:cNvPr id="8" name="premium-text-26">
            <a:extLst xmlns:a="http://schemas.openxmlformats.org/drawingml/2006/main">
              <a:ext uri="{FF2B5EF4-FFF2-40B4-BE49-F238E27FC236}">
                <a16:creationId xmlns:a16="http://schemas.microsoft.com/office/drawing/2014/main" id="{02A53E1E-D4B0-483D-AD5E-16453DE5A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9850"/>
            <a:ext cx="533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C63A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C63AD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9" name="premium-text-27">
            <a:extLst xmlns:a="http://schemas.openxmlformats.org/drawingml/2006/main">
              <a:ext uri="{FF2B5EF4-FFF2-40B4-BE49-F238E27FC236}">
                <a16:creationId xmlns:a16="http://schemas.microsoft.com/office/drawing/2014/main" id="{8E239E56-CC01-42BA-B0DC-B41437ADE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600325"/>
            <a:ext cx="4743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12B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17212B"/>
                </a:solidFill>
                <a:latin typeface="Segoe UI"/>
                <a:ea typeface="Segoe UI"/>
                <a:cs typeface="Segoe UI"/>
              </a:rPr>
              <a:t>Plumbing</a:t>
            </a:r>
          </a:p>
        </p:txBody>
      </p:sp>
      <p:sp>
        <p:nvSpPr>
          <p:cNvPr id="10" name="premium-text-28">
            <a:extLst xmlns:a="http://schemas.openxmlformats.org/drawingml/2006/main">
              <a:ext uri="{FF2B5EF4-FFF2-40B4-BE49-F238E27FC236}">
                <a16:creationId xmlns:a16="http://schemas.microsoft.com/office/drawing/2014/main" id="{63F230C8-E30E-4C36-B2EA-F93EB5EC7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90800"/>
            <a:ext cx="49339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Assessment and repair of drainage,</a:t>
            </a:r>
          </a:p>
          <a:p xmlns:a="http://schemas.openxmlformats.org/drawingml/2006/main">
            <a:pPr algn="l">
              <a:defRPr sz="18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pipe and water leak problems.</a:t>
            </a:r>
          </a:p>
        </p:txBody>
      </p:sp>
      <p:sp>
        <p:nvSpPr>
          <p:cNvPr id="11" name="premium-rule-29">
            <a:extLst xmlns:a="http://schemas.openxmlformats.org/drawingml/2006/main">
              <a:ext uri="{FF2B5EF4-FFF2-40B4-BE49-F238E27FC236}">
                <a16:creationId xmlns:a16="http://schemas.microsoft.com/office/drawing/2014/main" id="{E2892F32-470B-4532-ABF2-0C096A9CE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324225"/>
            <a:ext cx="10039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4D8"/>
          </a:solidFill>
          <a:ln xmlns:a="http://schemas.openxmlformats.org/drawingml/2006/main" w="0">
            <a:noFill/>
          </a:ln>
        </p:spPr>
      </p:sp>
      <p:sp>
        <p:nvSpPr>
          <p:cNvPr id="12" name="premium-text-30">
            <a:extLst xmlns:a="http://schemas.openxmlformats.org/drawingml/2006/main">
              <a:ext uri="{FF2B5EF4-FFF2-40B4-BE49-F238E27FC236}">
                <a16:creationId xmlns:a16="http://schemas.microsoft.com/office/drawing/2014/main" id="{FD979278-4C51-4AEC-8B2E-702EAB45A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05200"/>
            <a:ext cx="533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C63A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C63AD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13" name="premium-text-31">
            <a:extLst xmlns:a="http://schemas.openxmlformats.org/drawingml/2006/main">
              <a:ext uri="{FF2B5EF4-FFF2-40B4-BE49-F238E27FC236}">
                <a16:creationId xmlns:a16="http://schemas.microsoft.com/office/drawing/2014/main" id="{A08F0514-3C61-4E56-BCD9-C7AE3885E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495675"/>
            <a:ext cx="4743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12B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17212B"/>
                </a:solidFill>
                <a:latin typeface="Segoe UI"/>
                <a:ea typeface="Segoe UI"/>
                <a:cs typeface="Segoe UI"/>
              </a:rPr>
              <a:t>Renovation &amp; restoration</a:t>
            </a:r>
          </a:p>
        </p:txBody>
      </p:sp>
      <p:sp>
        <p:nvSpPr>
          <p:cNvPr id="14" name="premium-text-32">
            <a:extLst xmlns:a="http://schemas.openxmlformats.org/drawingml/2006/main">
              <a:ext uri="{FF2B5EF4-FFF2-40B4-BE49-F238E27FC236}">
                <a16:creationId xmlns:a16="http://schemas.microsoft.com/office/drawing/2014/main" id="{0E18B277-0483-4872-8168-3767CA98A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86150"/>
            <a:ext cx="49339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Repairs and improvements tailored</a:t>
            </a:r>
          </a:p>
          <a:p xmlns:a="http://schemas.openxmlformats.org/drawingml/2006/main">
            <a:pPr algn="l">
              <a:defRPr sz="18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to the property and agreed scope.</a:t>
            </a:r>
          </a:p>
        </p:txBody>
      </p:sp>
      <p:sp>
        <p:nvSpPr>
          <p:cNvPr id="15" name="premium-rule-33">
            <a:extLst xmlns:a="http://schemas.openxmlformats.org/drawingml/2006/main">
              <a:ext uri="{FF2B5EF4-FFF2-40B4-BE49-F238E27FC236}">
                <a16:creationId xmlns:a16="http://schemas.microsoft.com/office/drawing/2014/main" id="{C371AB6E-C7C7-4F95-B94B-68DB03AAA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219575"/>
            <a:ext cx="10039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4D8"/>
          </a:solidFill>
          <a:ln xmlns:a="http://schemas.openxmlformats.org/drawingml/2006/main" w="0">
            <a:noFill/>
          </a:ln>
        </p:spPr>
      </p:sp>
      <p:sp>
        <p:nvSpPr>
          <p:cNvPr id="16" name="premium-text-34">
            <a:extLst xmlns:a="http://schemas.openxmlformats.org/drawingml/2006/main">
              <a:ext uri="{FF2B5EF4-FFF2-40B4-BE49-F238E27FC236}">
                <a16:creationId xmlns:a16="http://schemas.microsoft.com/office/drawing/2014/main" id="{A40BC26C-A906-4055-9A0F-887E91B3C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00550"/>
            <a:ext cx="533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C63A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C63AD"/>
                </a:solidFill>
                <a:latin typeface="Segoe UI"/>
                <a:ea typeface="Segoe UI"/>
                <a:cs typeface="Segoe UI"/>
              </a:rPr>
              <a:t>04</a:t>
            </a:r>
          </a:p>
        </p:txBody>
      </p:sp>
      <p:sp>
        <p:nvSpPr>
          <p:cNvPr id="17" name="premium-text-35">
            <a:extLst xmlns:a="http://schemas.openxmlformats.org/drawingml/2006/main">
              <a:ext uri="{FF2B5EF4-FFF2-40B4-BE49-F238E27FC236}">
                <a16:creationId xmlns:a16="http://schemas.microsoft.com/office/drawing/2014/main" id="{83F86ABC-15E7-4D32-99C2-CD57E2B27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391025"/>
            <a:ext cx="4743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12B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17212B"/>
                </a:solidFill>
                <a:latin typeface="Segoe UI"/>
                <a:ea typeface="Segoe UI"/>
                <a:cs typeface="Segoe UI"/>
              </a:rPr>
              <a:t>Pest control</a:t>
            </a:r>
          </a:p>
        </p:txBody>
      </p:sp>
      <p:sp>
        <p:nvSpPr>
          <p:cNvPr id="18" name="premium-text-36">
            <a:extLst xmlns:a="http://schemas.openxmlformats.org/drawingml/2006/main">
              <a:ext uri="{FF2B5EF4-FFF2-40B4-BE49-F238E27FC236}">
                <a16:creationId xmlns:a16="http://schemas.microsoft.com/office/drawing/2014/main" id="{41674A58-B716-4E09-B4A6-C0C3D2F63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381500"/>
            <a:ext cx="49339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Service planning based on pest concerns</a:t>
            </a:r>
          </a:p>
          <a:p xmlns:a="http://schemas.openxmlformats.org/drawingml/2006/main">
            <a:pPr algn="l">
              <a:defRPr sz="18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and a property assessment.</a:t>
            </a:r>
          </a:p>
        </p:txBody>
      </p:sp>
      <p:sp>
        <p:nvSpPr>
          <p:cNvPr id="19" name="premium-rule-37">
            <a:extLst xmlns:a="http://schemas.openxmlformats.org/drawingml/2006/main">
              <a:ext uri="{FF2B5EF4-FFF2-40B4-BE49-F238E27FC236}">
                <a16:creationId xmlns:a16="http://schemas.microsoft.com/office/drawing/2014/main" id="{D65732F1-A768-4BAA-B677-B55FBCEFC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114925"/>
            <a:ext cx="10039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4D8"/>
          </a:solidFill>
          <a:ln xmlns:a="http://schemas.openxmlformats.org/drawingml/2006/main" w="0">
            <a:noFill/>
          </a:ln>
        </p:spPr>
      </p:sp>
      <p:sp>
        <p:nvSpPr>
          <p:cNvPr id="20" name="premium-text-38">
            <a:extLst xmlns:a="http://schemas.openxmlformats.org/drawingml/2006/main">
              <a:ext uri="{FF2B5EF4-FFF2-40B4-BE49-F238E27FC236}">
                <a16:creationId xmlns:a16="http://schemas.microsoft.com/office/drawing/2014/main" id="{43CA3BA2-D89E-4CF8-BD69-00B70A042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95900"/>
            <a:ext cx="533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C63A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C63AD"/>
                </a:solidFill>
                <a:latin typeface="Segoe UI"/>
                <a:ea typeface="Segoe UI"/>
                <a:cs typeface="Segoe UI"/>
              </a:rPr>
              <a:t>05</a:t>
            </a:r>
          </a:p>
        </p:txBody>
      </p:sp>
      <p:sp>
        <p:nvSpPr>
          <p:cNvPr id="21" name="premium-text-39">
            <a:extLst xmlns:a="http://schemas.openxmlformats.org/drawingml/2006/main">
              <a:ext uri="{FF2B5EF4-FFF2-40B4-BE49-F238E27FC236}">
                <a16:creationId xmlns:a16="http://schemas.microsoft.com/office/drawing/2014/main" id="{2798A202-987F-4328-9C38-34111AECC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286375"/>
            <a:ext cx="4743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12B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12B"/>
                </a:solidFill>
                <a:latin typeface="Segoe UI"/>
                <a:ea typeface="Segoe UI"/>
                <a:cs typeface="Segoe UI"/>
              </a:rPr>
              <a:t>Sewage treatment plant (STP)</a:t>
            </a:r>
          </a:p>
        </p:txBody>
      </p:sp>
      <p:sp>
        <p:nvSpPr>
          <p:cNvPr id="22" name="premium-text-40">
            <a:extLst xmlns:a="http://schemas.openxmlformats.org/drawingml/2006/main">
              <a:ext uri="{FF2B5EF4-FFF2-40B4-BE49-F238E27FC236}">
                <a16:creationId xmlns:a16="http://schemas.microsoft.com/office/drawing/2014/main" id="{B9396E55-F239-4992-AF2F-494E47563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276850"/>
            <a:ext cx="49339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Coordination of projects that treat</a:t>
            </a:r>
          </a:p>
          <a:p xmlns:a="http://schemas.openxmlformats.org/drawingml/2006/main">
            <a:pPr algn="l">
              <a:defRPr sz="18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building wastewater on site.</a:t>
            </a:r>
          </a:p>
        </p:txBody>
      </p:sp>
    </p:spTree>
    <p:extLst>
      <p:ext uri="{BB962C8B-B14F-4D97-AF65-F5344CB8AC3E}">
        <p14:creationId xmlns:p14="http://schemas.microsoft.com/office/powerpoint/2010/main" val="89560507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remium-text-41">
            <a:extLst xmlns:a="http://schemas.openxmlformats.org/drawingml/2006/main">
              <a:ext uri="{FF2B5EF4-FFF2-40B4-BE49-F238E27FC236}">
                <a16:creationId xmlns:a16="http://schemas.microsoft.com/office/drawing/2014/main" id="{BEF307BA-F3D6-4783-923A-895D49C9A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6270"/>
                </a:solidFill>
                <a:latin typeface="Arial"/>
                <a:ea typeface="Arial"/>
                <a:cs typeface="Arial"/>
              </a:rPr>
              <a:t>Company profile</a:t>
            </a:r>
          </a:p>
        </p:txBody>
      </p:sp>
      <p:sp>
        <p:nvSpPr>
          <p:cNvPr id="2" name="premium-text-42">
            <a:extLst xmlns:a="http://schemas.openxmlformats.org/drawingml/2006/main">
              <a:ext uri="{FF2B5EF4-FFF2-40B4-BE49-F238E27FC236}">
                <a16:creationId xmlns:a16="http://schemas.microsoft.com/office/drawing/2014/main" id="{82024EFD-18CA-4331-A34B-A1B8A6FA4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00800"/>
            <a:ext cx="41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627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premium-text-43">
            <a:extLst xmlns:a="http://schemas.openxmlformats.org/drawingml/2006/main">
              <a:ext uri="{FF2B5EF4-FFF2-40B4-BE49-F238E27FC236}">
                <a16:creationId xmlns:a16="http://schemas.microsoft.com/office/drawing/2014/main" id="{517A498D-E3E3-4ED3-A3E6-149DE16D5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1C63AD"/>
                </a:solidFill>
                <a:latin typeface="Segoe UI"/>
                <a:ea typeface="Segoe UI"/>
                <a:cs typeface="Segoe UI"/>
              </a:defRPr>
            </a:pPr>
            <a:r>
              <a:rPr sz="4800" b="1">
                <a:solidFill>
                  <a:srgbClr val="1C63AD"/>
                </a:solidFill>
                <a:latin typeface="Segoe UI"/>
                <a:ea typeface="Segoe UI"/>
                <a:cs typeface="Segoe UI"/>
              </a:rPr>
              <a:t>Siphoning</a:t>
            </a:r>
          </a:p>
        </p:txBody>
      </p:sp>
      <p:sp>
        <p:nvSpPr>
          <p:cNvPr id="4" name="premium-text-44">
            <a:extLst xmlns:a="http://schemas.openxmlformats.org/drawingml/2006/main">
              <a:ext uri="{FF2B5EF4-FFF2-40B4-BE49-F238E27FC236}">
                <a16:creationId xmlns:a16="http://schemas.microsoft.com/office/drawing/2014/main" id="{9B3C9431-AD6F-409F-8B3F-80BB8877A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4191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Septic tank servicing based on</a:t>
            </a:r>
          </a:p>
          <a:p xmlns:a="http://schemas.openxmlformats.org/drawingml/2006/main">
            <a:pPr algn="l">
              <a:defRPr sz="21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tank conditions and site access.</a:t>
            </a:r>
          </a:p>
        </p:txBody>
      </p:sp>
      <p:sp>
        <p:nvSpPr>
          <p:cNvPr id="5" name="premium-text-45">
            <a:extLst xmlns:a="http://schemas.openxmlformats.org/drawingml/2006/main">
              <a:ext uri="{FF2B5EF4-FFF2-40B4-BE49-F238E27FC236}">
                <a16:creationId xmlns:a16="http://schemas.microsoft.com/office/drawing/2014/main" id="{9832FD5E-3FD2-4219-AEEF-BB85AB4E6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419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12B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12B"/>
                </a:solidFill>
                <a:latin typeface="Segoe UI"/>
                <a:ea typeface="Segoe UI"/>
                <a:cs typeface="Segoe UI"/>
              </a:rPr>
              <a:t>Service scope</a:t>
            </a:r>
          </a:p>
        </p:txBody>
      </p:sp>
      <p:sp>
        <p:nvSpPr>
          <p:cNvPr id="6" name="premium-text-46">
            <a:extLst xmlns:a="http://schemas.openxmlformats.org/drawingml/2006/main">
              <a:ext uri="{FF2B5EF4-FFF2-40B4-BE49-F238E27FC236}">
                <a16:creationId xmlns:a16="http://schemas.microsoft.com/office/drawing/2014/main" id="{13E433C7-920E-4007-BFCF-060EA8E98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9975"/>
            <a:ext cx="41910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Septic tank siphoning</a:t>
            </a:r>
          </a:p>
          <a:p xmlns:a="http://schemas.openxmlformats.org/drawingml/2006/main">
            <a:pPr algn="l">
              <a:defRPr sz="19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Septic tank cleaning</a:t>
            </a:r>
          </a:p>
          <a:p xmlns:a="http://schemas.openxmlformats.org/drawingml/2006/main">
            <a:pPr algn="l">
              <a:defRPr sz="19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Site and service assessment</a:t>
            </a:r>
          </a:p>
        </p:txBody>
      </p:sp>
      <p:sp>
        <p:nvSpPr>
          <p:cNvPr id="7" name="premium-text-47">
            <a:extLst xmlns:a="http://schemas.openxmlformats.org/drawingml/2006/main">
              <a:ext uri="{FF2B5EF4-FFF2-40B4-BE49-F238E27FC236}">
                <a16:creationId xmlns:a16="http://schemas.microsoft.com/office/drawing/2014/main" id="{BC76D94B-D3C9-4A64-803F-A1EFCF272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10200"/>
            <a:ext cx="4143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627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56270"/>
                </a:solidFill>
                <a:latin typeface="Arial"/>
                <a:ea typeface="Arial"/>
                <a:cs typeface="Arial"/>
              </a:rPr>
              <a:t>Actual Oceanides job photos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31f472bfe54102"/>
          <a:stretch xmlns:a="http://schemas.openxmlformats.org/drawingml/2006/main"/>
        </p:blipFill>
        <p:spPr>
          <a:xfrm xmlns:a="http://schemas.openxmlformats.org/drawingml/2006/main">
            <a:off x="5257800" y="1695450"/>
            <a:ext cx="2667000" cy="4000500"/>
          </a:xfrm>
          <a:prstGeom xmlns:a="http://schemas.openxmlformats.org/drawingml/2006/main" prst="rect">
            <a:avLst/>
          </a:prstGeom>
        </p:spPr>
      </p:pic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fb0434bb5e47e2"/>
          <a:stretch xmlns:a="http://schemas.openxmlformats.org/drawingml/2006/main"/>
        </p:blipFill>
        <p:spPr>
          <a:xfrm xmlns:a="http://schemas.openxmlformats.org/drawingml/2006/main">
            <a:off x="8382000" y="1695450"/>
            <a:ext cx="2667000" cy="4000500"/>
          </a:xfrm>
          <a:prstGeom xmlns:a="http://schemas.openxmlformats.org/drawingml/2006/main" prst="rect">
            <a:avLst/>
          </a:prstGeom>
        </p:spPr>
      </p:pic>
      <p:sp>
        <p:nvSpPr>
          <p:cNvPr id="10" name="premium-text-48">
            <a:extLst xmlns:a="http://schemas.openxmlformats.org/drawingml/2006/main">
              <a:ext uri="{FF2B5EF4-FFF2-40B4-BE49-F238E27FC236}">
                <a16:creationId xmlns:a16="http://schemas.microsoft.com/office/drawing/2014/main" id="{A482BF67-3A46-4F76-8E55-824CA322D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84835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C63AD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C63AD"/>
                </a:solidFill>
                <a:latin typeface="Segoe UI"/>
                <a:ea typeface="Segoe UI"/>
                <a:cs typeface="Segoe UI"/>
              </a:rPr>
              <a:t>Before service</a:t>
            </a:r>
          </a:p>
        </p:txBody>
      </p:sp>
      <p:sp>
        <p:nvSpPr>
          <p:cNvPr id="11" name="premium-text-49">
            <a:extLst xmlns:a="http://schemas.openxmlformats.org/drawingml/2006/main">
              <a:ext uri="{FF2B5EF4-FFF2-40B4-BE49-F238E27FC236}">
                <a16:creationId xmlns:a16="http://schemas.microsoft.com/office/drawing/2014/main" id="{EA2F8FAD-EB96-41F0-99A2-53443ACE7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84835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C63AD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C63AD"/>
                </a:solidFill>
                <a:latin typeface="Segoe UI"/>
                <a:ea typeface="Segoe UI"/>
                <a:cs typeface="Segoe UI"/>
              </a:rPr>
              <a:t>After service</a:t>
            </a:r>
          </a:p>
        </p:txBody>
      </p:sp>
    </p:spTree>
    <p:extLst>
      <p:ext uri="{BB962C8B-B14F-4D97-AF65-F5344CB8AC3E}">
        <p14:creationId xmlns:p14="http://schemas.microsoft.com/office/powerpoint/2010/main" val="34266404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premium-text-50">
            <a:extLst xmlns:a="http://schemas.openxmlformats.org/drawingml/2006/main">
              <a:ext uri="{FF2B5EF4-FFF2-40B4-BE49-F238E27FC236}">
                <a16:creationId xmlns:a16="http://schemas.microsoft.com/office/drawing/2014/main" id="{024C264E-264B-4E55-9BE4-279146BB7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6270"/>
                </a:solidFill>
                <a:latin typeface="Arial"/>
                <a:ea typeface="Arial"/>
                <a:cs typeface="Arial"/>
              </a:rPr>
              <a:t>Company profile</a:t>
            </a:r>
          </a:p>
        </p:txBody>
      </p:sp>
      <p:sp>
        <p:nvSpPr>
          <p:cNvPr id="2" name="premium-text-51">
            <a:extLst xmlns:a="http://schemas.openxmlformats.org/drawingml/2006/main">
              <a:ext uri="{FF2B5EF4-FFF2-40B4-BE49-F238E27FC236}">
                <a16:creationId xmlns:a16="http://schemas.microsoft.com/office/drawing/2014/main" id="{5869A8EB-A97E-400A-A19F-D92C11F0A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00800"/>
            <a:ext cx="41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627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premium-text-52">
            <a:extLst xmlns:a="http://schemas.openxmlformats.org/drawingml/2006/main">
              <a:ext uri="{FF2B5EF4-FFF2-40B4-BE49-F238E27FC236}">
                <a16:creationId xmlns:a16="http://schemas.microsoft.com/office/drawing/2014/main" id="{4215383E-6B88-4F13-92B6-F5A86EC67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1C63AD"/>
                </a:solidFill>
                <a:latin typeface="Segoe UI"/>
                <a:ea typeface="Segoe UI"/>
                <a:cs typeface="Segoe UI"/>
              </a:defRPr>
            </a:pPr>
            <a:r>
              <a:rPr sz="4800" b="1">
                <a:solidFill>
                  <a:srgbClr val="1C63AD"/>
                </a:solidFill>
                <a:latin typeface="Segoe UI"/>
                <a:ea typeface="Segoe UI"/>
                <a:cs typeface="Segoe UI"/>
              </a:rPr>
              <a:t>Plumbing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7bdd6aa4a540cc"/>
          <a:stretch xmlns:a="http://schemas.openxmlformats.org/drawingml/2006/main"/>
        </p:blipFill>
        <p:spPr>
          <a:xfrm xmlns:a="http://schemas.openxmlformats.org/drawingml/2006/main">
            <a:off x="685800" y="1755775"/>
            <a:ext cx="6019800" cy="4013200"/>
          </a:xfrm>
          <a:prstGeom xmlns:a="http://schemas.openxmlformats.org/drawingml/2006/main" prst="rect">
            <a:avLst/>
          </a:prstGeom>
        </p:spPr>
      </p:pic>
      <p:sp>
        <p:nvSpPr>
          <p:cNvPr id="5" name="premium-text-53">
            <a:extLst xmlns:a="http://schemas.openxmlformats.org/drawingml/2006/main">
              <a:ext uri="{FF2B5EF4-FFF2-40B4-BE49-F238E27FC236}">
                <a16:creationId xmlns:a16="http://schemas.microsoft.com/office/drawing/2014/main" id="{0FDC9B98-B833-41F1-BFC8-86DF67935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1943100"/>
            <a:ext cx="42291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Assessment and repair of</a:t>
            </a:r>
          </a:p>
          <a:p xmlns:a="http://schemas.openxmlformats.org/drawingml/2006/main">
            <a:pPr algn="l">
              <a:defRPr sz="21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drainage, pipe and water</a:t>
            </a:r>
          </a:p>
          <a:p xmlns:a="http://schemas.openxmlformats.org/drawingml/2006/main">
            <a:pPr algn="l">
              <a:defRPr sz="21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leak problems.</a:t>
            </a:r>
          </a:p>
        </p:txBody>
      </p:sp>
      <p:sp>
        <p:nvSpPr>
          <p:cNvPr id="6" name="premium-text-54">
            <a:extLst xmlns:a="http://schemas.openxmlformats.org/drawingml/2006/main">
              <a:ext uri="{FF2B5EF4-FFF2-40B4-BE49-F238E27FC236}">
                <a16:creationId xmlns:a16="http://schemas.microsoft.com/office/drawing/2014/main" id="{3A7A871D-BE26-4D42-B2E4-E0881B0FC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400425"/>
            <a:ext cx="4229100" cy="2533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Drain declogging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Plumbing and pipe</a:t>
            </a:r>
          </a:p>
          <a:p xmlns:a="http://schemas.openxmlformats.org/drawingml/2006/main">
            <a:pPr algn="l">
              <a:defRPr sz="19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leak repairs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Troubleshooting based</a:t>
            </a:r>
          </a:p>
          <a:p xmlns:a="http://schemas.openxmlformats.org/drawingml/2006/main">
            <a:pPr algn="l">
              <a:defRPr sz="19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on site findings</a:t>
            </a:r>
          </a:p>
        </p:txBody>
      </p:sp>
      <p:sp>
        <p:nvSpPr>
          <p:cNvPr id="7" name="premium-text-55">
            <a:extLst xmlns:a="http://schemas.openxmlformats.org/drawingml/2006/main">
              <a:ext uri="{FF2B5EF4-FFF2-40B4-BE49-F238E27FC236}">
                <a16:creationId xmlns:a16="http://schemas.microsoft.com/office/drawing/2014/main" id="{D088E92D-944D-4A4C-A335-20DB61259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6019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6270"/>
                </a:solidFill>
                <a:latin typeface="Arial"/>
                <a:ea typeface="Arial"/>
                <a:cs typeface="Arial"/>
              </a:rPr>
              <a:t>AI-generated service illustration</a:t>
            </a:r>
          </a:p>
        </p:txBody>
      </p:sp>
    </p:spTree>
    <p:extLst>
      <p:ext uri="{BB962C8B-B14F-4D97-AF65-F5344CB8AC3E}">
        <p14:creationId xmlns:p14="http://schemas.microsoft.com/office/powerpoint/2010/main" val="80975542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premium-text-56">
            <a:extLst xmlns:a="http://schemas.openxmlformats.org/drawingml/2006/main">
              <a:ext uri="{FF2B5EF4-FFF2-40B4-BE49-F238E27FC236}">
                <a16:creationId xmlns:a16="http://schemas.microsoft.com/office/drawing/2014/main" id="{2C3A2C19-BE32-4735-8B4A-780E338BF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6270"/>
                </a:solidFill>
                <a:latin typeface="Arial"/>
                <a:ea typeface="Arial"/>
                <a:cs typeface="Arial"/>
              </a:rPr>
              <a:t>Company profile</a:t>
            </a:r>
          </a:p>
        </p:txBody>
      </p:sp>
      <p:sp>
        <p:nvSpPr>
          <p:cNvPr id="2" name="premium-text-57">
            <a:extLst xmlns:a="http://schemas.openxmlformats.org/drawingml/2006/main">
              <a:ext uri="{FF2B5EF4-FFF2-40B4-BE49-F238E27FC236}">
                <a16:creationId xmlns:a16="http://schemas.microsoft.com/office/drawing/2014/main" id="{73BA5238-205A-43D8-98CD-9B710F672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00800"/>
            <a:ext cx="41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627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premium-text-58">
            <a:extLst xmlns:a="http://schemas.openxmlformats.org/drawingml/2006/main">
              <a:ext uri="{FF2B5EF4-FFF2-40B4-BE49-F238E27FC236}">
                <a16:creationId xmlns:a16="http://schemas.microsoft.com/office/drawing/2014/main" id="{92D87B03-C11C-486A-BFC0-87DF4E0E5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1C63AD"/>
                </a:solidFill>
                <a:latin typeface="Segoe UI"/>
                <a:ea typeface="Segoe UI"/>
                <a:cs typeface="Segoe UI"/>
              </a:defRPr>
            </a:pPr>
            <a:r>
              <a:rPr sz="4800" b="1">
                <a:solidFill>
                  <a:srgbClr val="1C63AD"/>
                </a:solidFill>
                <a:latin typeface="Segoe UI"/>
                <a:ea typeface="Segoe UI"/>
                <a:cs typeface="Segoe UI"/>
              </a:rPr>
              <a:t>Renovation &amp; restoration</a:t>
            </a:r>
          </a:p>
        </p:txBody>
      </p:sp>
      <p:sp>
        <p:nvSpPr>
          <p:cNvPr id="4" name="premium-text-59">
            <a:extLst xmlns:a="http://schemas.openxmlformats.org/drawingml/2006/main">
              <a:ext uri="{FF2B5EF4-FFF2-40B4-BE49-F238E27FC236}">
                <a16:creationId xmlns:a16="http://schemas.microsoft.com/office/drawing/2014/main" id="{C8393C9D-4CFF-46D6-97DF-3824AD6C3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44577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Repair and improvement work</a:t>
            </a:r>
          </a:p>
          <a:p xmlns:a="http://schemas.openxmlformats.org/drawingml/2006/main">
            <a:pPr algn="l">
              <a:defRPr sz="21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tailored to the property and</a:t>
            </a:r>
          </a:p>
          <a:p xmlns:a="http://schemas.openxmlformats.org/drawingml/2006/main">
            <a:pPr algn="l">
              <a:defRPr sz="21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agreed scope.</a:t>
            </a:r>
          </a:p>
        </p:txBody>
      </p:sp>
      <p:sp>
        <p:nvSpPr>
          <p:cNvPr id="5" name="premium-text-60">
            <a:extLst xmlns:a="http://schemas.openxmlformats.org/drawingml/2006/main">
              <a:ext uri="{FF2B5EF4-FFF2-40B4-BE49-F238E27FC236}">
                <a16:creationId xmlns:a16="http://schemas.microsoft.com/office/drawing/2014/main" id="{0F5A6D60-E8E5-419E-A043-72F425D88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24200"/>
            <a:ext cx="4619625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House and condominium</a:t>
            </a:r>
          </a:p>
          <a:p xmlns:a="http://schemas.openxmlformats.org/drawingml/2006/main">
            <a:pPr algn="l">
              <a:defRPr sz="18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renovation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Ceiling repair or replacement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Roof leak repair and waterproofing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House cleaning within scope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3f4e391c1242be"/>
          <a:stretch xmlns:a="http://schemas.openxmlformats.org/drawingml/2006/main"/>
        </p:blipFill>
        <p:spPr>
          <a:xfrm xmlns:a="http://schemas.openxmlformats.org/drawingml/2006/main">
            <a:off x="5505450" y="1952625"/>
            <a:ext cx="6000750" cy="4000500"/>
          </a:xfrm>
          <a:prstGeom xmlns:a="http://schemas.openxmlformats.org/drawingml/2006/main" prst="rect">
            <a:avLst/>
          </a:prstGeom>
        </p:spPr>
      </p:pic>
      <p:sp>
        <p:nvSpPr>
          <p:cNvPr id="7" name="premium-text-61">
            <a:extLst xmlns:a="http://schemas.openxmlformats.org/drawingml/2006/main">
              <a:ext uri="{FF2B5EF4-FFF2-40B4-BE49-F238E27FC236}">
                <a16:creationId xmlns:a16="http://schemas.microsoft.com/office/drawing/2014/main" id="{6CC79A8D-CCD1-4C51-B08A-87B851AC6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6096000"/>
            <a:ext cx="600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6270"/>
                </a:solidFill>
                <a:latin typeface="Arial"/>
                <a:ea typeface="Arial"/>
                <a:cs typeface="Arial"/>
              </a:rPr>
              <a:t>AI-generated service illustration</a:t>
            </a:r>
          </a:p>
        </p:txBody>
      </p:sp>
    </p:spTree>
    <p:extLst>
      <p:ext uri="{BB962C8B-B14F-4D97-AF65-F5344CB8AC3E}">
        <p14:creationId xmlns:p14="http://schemas.microsoft.com/office/powerpoint/2010/main" val="20046140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premium-text-62">
            <a:extLst xmlns:a="http://schemas.openxmlformats.org/drawingml/2006/main">
              <a:ext uri="{FF2B5EF4-FFF2-40B4-BE49-F238E27FC236}">
                <a16:creationId xmlns:a16="http://schemas.microsoft.com/office/drawing/2014/main" id="{2B6F52DA-CA8B-4A15-9C72-221E2C06F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6270"/>
                </a:solidFill>
                <a:latin typeface="Arial"/>
                <a:ea typeface="Arial"/>
                <a:cs typeface="Arial"/>
              </a:rPr>
              <a:t>Company profile</a:t>
            </a:r>
          </a:p>
        </p:txBody>
      </p:sp>
      <p:sp>
        <p:nvSpPr>
          <p:cNvPr id="2" name="premium-text-63">
            <a:extLst xmlns:a="http://schemas.openxmlformats.org/drawingml/2006/main">
              <a:ext uri="{FF2B5EF4-FFF2-40B4-BE49-F238E27FC236}">
                <a16:creationId xmlns:a16="http://schemas.microsoft.com/office/drawing/2014/main" id="{456DC80B-7F02-41A2-BEE7-A3A7E7E99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00800"/>
            <a:ext cx="41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6270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premium-text-64">
            <a:extLst xmlns:a="http://schemas.openxmlformats.org/drawingml/2006/main">
              <a:ext uri="{FF2B5EF4-FFF2-40B4-BE49-F238E27FC236}">
                <a16:creationId xmlns:a16="http://schemas.microsoft.com/office/drawing/2014/main" id="{3D22394B-D54F-4283-8B2F-B44F8E29B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1C63AD"/>
                </a:solidFill>
                <a:latin typeface="Segoe UI"/>
                <a:ea typeface="Segoe UI"/>
                <a:cs typeface="Segoe UI"/>
              </a:defRPr>
            </a:pPr>
            <a:r>
              <a:rPr sz="4800" b="1">
                <a:solidFill>
                  <a:srgbClr val="1C63AD"/>
                </a:solidFill>
                <a:latin typeface="Segoe UI"/>
                <a:ea typeface="Segoe UI"/>
                <a:cs typeface="Segoe UI"/>
              </a:rPr>
              <a:t>Pest control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00541a692e4b01"/>
          <a:stretch xmlns:a="http://schemas.openxmlformats.org/drawingml/2006/main"/>
        </p:blipFill>
        <p:spPr>
          <a:xfrm xmlns:a="http://schemas.openxmlformats.org/drawingml/2006/main">
            <a:off x="685800" y="1755775"/>
            <a:ext cx="6019800" cy="4013200"/>
          </a:xfrm>
          <a:prstGeom xmlns:a="http://schemas.openxmlformats.org/drawingml/2006/main" prst="rect">
            <a:avLst/>
          </a:prstGeom>
        </p:spPr>
      </p:pic>
      <p:sp>
        <p:nvSpPr>
          <p:cNvPr id="5" name="premium-text-65">
            <a:extLst xmlns:a="http://schemas.openxmlformats.org/drawingml/2006/main">
              <a:ext uri="{FF2B5EF4-FFF2-40B4-BE49-F238E27FC236}">
                <a16:creationId xmlns:a16="http://schemas.microsoft.com/office/drawing/2014/main" id="{01A9466B-6EB9-437A-B681-823C61BE8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1943100"/>
            <a:ext cx="42291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Service planning based on</a:t>
            </a:r>
          </a:p>
          <a:p xmlns:a="http://schemas.openxmlformats.org/drawingml/2006/main">
            <a:pPr algn="l">
              <a:defRPr sz="21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reported pest concerns and</a:t>
            </a:r>
          </a:p>
          <a:p xmlns:a="http://schemas.openxmlformats.org/drawingml/2006/main">
            <a:pPr algn="l">
              <a:defRPr sz="21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a property assessment.</a:t>
            </a:r>
          </a:p>
        </p:txBody>
      </p:sp>
      <p:sp>
        <p:nvSpPr>
          <p:cNvPr id="6" name="premium-text-66">
            <a:extLst xmlns:a="http://schemas.openxmlformats.org/drawingml/2006/main">
              <a:ext uri="{FF2B5EF4-FFF2-40B4-BE49-F238E27FC236}">
                <a16:creationId xmlns:a16="http://schemas.microsoft.com/office/drawing/2014/main" id="{4650C481-A1AB-4B0D-828A-092CB5A14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400425"/>
            <a:ext cx="4229100" cy="2533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Assessment of pest activity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Treatment scope based</a:t>
            </a:r>
          </a:p>
          <a:p xmlns:a="http://schemas.openxmlformats.org/drawingml/2006/main">
            <a:pPr algn="l">
              <a:defRPr sz="19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on site findings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Scheduling and</a:t>
            </a:r>
          </a:p>
          <a:p xmlns:a="http://schemas.openxmlformats.org/drawingml/2006/main">
            <a:pPr algn="l">
              <a:defRPr sz="19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contractor coordination</a:t>
            </a:r>
          </a:p>
        </p:txBody>
      </p:sp>
      <p:sp>
        <p:nvSpPr>
          <p:cNvPr id="7" name="premium-text-67">
            <a:extLst xmlns:a="http://schemas.openxmlformats.org/drawingml/2006/main">
              <a:ext uri="{FF2B5EF4-FFF2-40B4-BE49-F238E27FC236}">
                <a16:creationId xmlns:a16="http://schemas.microsoft.com/office/drawing/2014/main" id="{99406025-91B3-476E-B229-7C9EEC17B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6019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6270"/>
                </a:solidFill>
                <a:latin typeface="Arial"/>
                <a:ea typeface="Arial"/>
                <a:cs typeface="Arial"/>
              </a:rPr>
              <a:t>AI-generated service illustration</a:t>
            </a:r>
          </a:p>
        </p:txBody>
      </p:sp>
    </p:spTree>
    <p:extLst>
      <p:ext uri="{BB962C8B-B14F-4D97-AF65-F5344CB8AC3E}">
        <p14:creationId xmlns:p14="http://schemas.microsoft.com/office/powerpoint/2010/main" val="22677642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premium-text-68">
            <a:extLst xmlns:a="http://schemas.openxmlformats.org/drawingml/2006/main">
              <a:ext uri="{FF2B5EF4-FFF2-40B4-BE49-F238E27FC236}">
                <a16:creationId xmlns:a16="http://schemas.microsoft.com/office/drawing/2014/main" id="{E51E151A-5CFB-4B4F-8268-997D4AD02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6270"/>
                </a:solidFill>
                <a:latin typeface="Arial"/>
                <a:ea typeface="Arial"/>
                <a:cs typeface="Arial"/>
              </a:rPr>
              <a:t>Company profile</a:t>
            </a:r>
          </a:p>
        </p:txBody>
      </p:sp>
      <p:sp>
        <p:nvSpPr>
          <p:cNvPr id="2" name="premium-text-69">
            <a:extLst xmlns:a="http://schemas.openxmlformats.org/drawingml/2006/main">
              <a:ext uri="{FF2B5EF4-FFF2-40B4-BE49-F238E27FC236}">
                <a16:creationId xmlns:a16="http://schemas.microsoft.com/office/drawing/2014/main" id="{A6FF1AE8-FBC0-4EF6-B6A4-0AEF6E382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00800"/>
            <a:ext cx="41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6270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premium-text-70">
            <a:extLst xmlns:a="http://schemas.openxmlformats.org/drawingml/2006/main">
              <a:ext uri="{FF2B5EF4-FFF2-40B4-BE49-F238E27FC236}">
                <a16:creationId xmlns:a16="http://schemas.microsoft.com/office/drawing/2014/main" id="{F26ED815-F06F-4820-A74A-A4843EAAE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1C63AD"/>
                </a:solidFill>
                <a:latin typeface="Segoe UI"/>
                <a:ea typeface="Segoe UI"/>
                <a:cs typeface="Segoe UI"/>
              </a:defRPr>
            </a:pPr>
            <a:r>
              <a:rPr sz="4800" b="1">
                <a:solidFill>
                  <a:srgbClr val="1C63AD"/>
                </a:solidFill>
                <a:latin typeface="Segoe UI"/>
                <a:ea typeface="Segoe UI"/>
                <a:cs typeface="Segoe UI"/>
              </a:rPr>
              <a:t>On-site sewage treatment</a:t>
            </a:r>
          </a:p>
          <a:p xmlns:a="http://schemas.openxmlformats.org/drawingml/2006/main">
            <a:pPr algn="l">
              <a:defRPr sz="4800" b="1">
                <a:solidFill>
                  <a:srgbClr val="1C63AD"/>
                </a:solidFill>
                <a:latin typeface="Segoe UI"/>
                <a:ea typeface="Segoe UI"/>
                <a:cs typeface="Segoe UI"/>
              </a:defRPr>
            </a:pPr>
            <a:r>
              <a:rPr sz="4800" b="1">
                <a:solidFill>
                  <a:srgbClr val="1C63AD"/>
                </a:solidFill>
                <a:latin typeface="Segoe UI"/>
                <a:ea typeface="Segoe UI"/>
                <a:cs typeface="Segoe UI"/>
              </a:rPr>
              <a:t>plant (STP)</a:t>
            </a:r>
          </a:p>
        </p:txBody>
      </p:sp>
      <p:sp>
        <p:nvSpPr>
          <p:cNvPr id="4" name="premium-text-71">
            <a:extLst xmlns:a="http://schemas.openxmlformats.org/drawingml/2006/main">
              <a:ext uri="{FF2B5EF4-FFF2-40B4-BE49-F238E27FC236}">
                <a16:creationId xmlns:a16="http://schemas.microsoft.com/office/drawing/2014/main" id="{4CDE0D82-0B96-4C5E-A933-24ED9A7C7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95550"/>
            <a:ext cx="5238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An STP treats building wastewater</a:t>
            </a:r>
          </a:p>
          <a:p xmlns:a="http://schemas.openxmlformats.org/drawingml/2006/main">
            <a:pPr algn="l">
              <a:defRPr sz="202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before discharge through a suitable</a:t>
            </a:r>
          </a:p>
          <a:p xmlns:a="http://schemas.openxmlformats.org/drawingml/2006/main">
            <a:pPr algn="l">
              <a:defRPr sz="202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outlet. Oceanides coordinates the</a:t>
            </a:r>
          </a:p>
          <a:p xmlns:a="http://schemas.openxmlformats.org/drawingml/2006/main">
            <a:pPr algn="l">
              <a:defRPr sz="202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assessment and technical proposal.</a:t>
            </a:r>
          </a:p>
        </p:txBody>
      </p:sp>
      <p:sp>
        <p:nvSpPr>
          <p:cNvPr id="5" name="premium-text-72">
            <a:extLst xmlns:a="http://schemas.openxmlformats.org/drawingml/2006/main">
              <a:ext uri="{FF2B5EF4-FFF2-40B4-BE49-F238E27FC236}">
                <a16:creationId xmlns:a16="http://schemas.microsoft.com/office/drawing/2014/main" id="{3752FD78-3861-4BD8-BD59-EA899D8BB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5238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Suitability depends on wastewater</a:t>
            </a:r>
          </a:p>
          <a:p xmlns:a="http://schemas.openxmlformats.org/drawingml/2006/main">
            <a:pPr algn="l">
              <a:defRPr sz="18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volume, space, outlet requirements</a:t>
            </a:r>
          </a:p>
          <a:p xmlns:a="http://schemas.openxmlformats.org/drawingml/2006/main">
            <a:pPr algn="l">
              <a:defRPr sz="18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and operating costs. Sludge removal</a:t>
            </a:r>
          </a:p>
          <a:p xmlns:a="http://schemas.openxmlformats.org/drawingml/2006/main">
            <a:pPr algn="l">
              <a:defRPr sz="18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and equipment care continue.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27484d9a834e93"/>
          <a:srcRect xmlns:a="http://schemas.openxmlformats.org/drawingml/2006/main" l="17500" t="28200" r="13500" b="16000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172200" y="2857500"/>
            <a:ext cx="5334000" cy="2428875"/>
          </a:xfrm>
          <a:prstGeom xmlns:a="http://schemas.openxmlformats.org/drawingml/2006/main" prst="rect">
            <a:avLst/>
          </a:prstGeom>
        </p:spPr>
      </p:pic>
      <p:sp>
        <p:nvSpPr>
          <p:cNvPr id="7" name="premium-text-73">
            <a:extLst xmlns:a="http://schemas.openxmlformats.org/drawingml/2006/main">
              <a:ext uri="{FF2B5EF4-FFF2-40B4-BE49-F238E27FC236}">
                <a16:creationId xmlns:a16="http://schemas.microsoft.com/office/drawing/2014/main" id="{59B9009F-7688-420F-B36C-905F96694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905500"/>
            <a:ext cx="533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6270"/>
                </a:solidFill>
                <a:latin typeface="Arial"/>
                <a:ea typeface="Arial"/>
                <a:cs typeface="Arial"/>
              </a:rPr>
              <a:t>Illustrative process. Actual design follows assessment.</a:t>
            </a:r>
          </a:p>
        </p:txBody>
      </p:sp>
    </p:spTree>
    <p:extLst>
      <p:ext uri="{BB962C8B-B14F-4D97-AF65-F5344CB8AC3E}">
        <p14:creationId xmlns:p14="http://schemas.microsoft.com/office/powerpoint/2010/main" val="1150225285"/>
      </p:ext>
    </p:extLst>
  </p:cSld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Oceanides STP film">
            <a:hlinkClick action="ppaction://media"/>
            <a:extLst>
              <a:ext uri="{FF2B5EF4-FFF2-40B4-BE49-F238E27FC236}">
                <a16:creationId xmlns:a16="http://schemas.microsoft.com/office/drawing/2014/main" id="{A8E16CF4-1592-80E3-DC5F-7D6C78098FA8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2737416"/>
      </p:ext>
    </p:extLst>
  </p:cSld>
  <p:timing>
    <p:tnLst>
      <p:par>
        <p:cTn id="1" dur="indefinite" restart="never" nodeType="tmRoot">
          <p:childTnLst>
            <p:video>
              <p:cMediaNode vol="80000">
                <p:cTn id="2" fill="remove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A1F4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premium-text-74">
            <a:extLst xmlns:a="http://schemas.openxmlformats.org/drawingml/2006/main">
              <a:ext uri="{FF2B5EF4-FFF2-40B4-BE49-F238E27FC236}">
                <a16:creationId xmlns:a16="http://schemas.microsoft.com/office/drawing/2014/main" id="{A177B836-EF13-427C-B9E7-43299DD16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FE8F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FE8F5"/>
                </a:solidFill>
                <a:latin typeface="Arial"/>
                <a:ea typeface="Arial"/>
                <a:cs typeface="Arial"/>
              </a:rPr>
              <a:t>Company profile</a:t>
            </a:r>
          </a:p>
        </p:txBody>
      </p:sp>
      <p:sp>
        <p:nvSpPr>
          <p:cNvPr id="2" name="premium-text-75">
            <a:extLst xmlns:a="http://schemas.openxmlformats.org/drawingml/2006/main">
              <a:ext uri="{FF2B5EF4-FFF2-40B4-BE49-F238E27FC236}">
                <a16:creationId xmlns:a16="http://schemas.microsoft.com/office/drawing/2014/main" id="{D01D6030-3771-4015-B49A-C76A4CBE5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00800"/>
            <a:ext cx="41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FE8F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FE8F5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3" name="premium-text-76">
            <a:extLst xmlns:a="http://schemas.openxmlformats.org/drawingml/2006/main">
              <a:ext uri="{FF2B5EF4-FFF2-40B4-BE49-F238E27FC236}">
                <a16:creationId xmlns:a16="http://schemas.microsoft.com/office/drawing/2014/main" id="{FE9DF28C-3F3C-4EAE-A58E-FD4B4019D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7F7F2"/>
                </a:solidFill>
                <a:latin typeface="Segoe UI"/>
                <a:ea typeface="Segoe UI"/>
                <a:cs typeface="Segoe UI"/>
              </a:defRPr>
            </a:pPr>
            <a:r>
              <a:rPr sz="4800" b="1">
                <a:solidFill>
                  <a:srgbClr val="F7F7F2"/>
                </a:solidFill>
                <a:latin typeface="Segoe UI"/>
                <a:ea typeface="Segoe UI"/>
                <a:cs typeface="Segoe UI"/>
              </a:rPr>
              <a:t>Site assessment and quotation</a:t>
            </a:r>
          </a:p>
        </p:txBody>
      </p:sp>
      <p:sp>
        <p:nvSpPr>
          <p:cNvPr id="4" name="premium-text-77">
            <a:extLst xmlns:a="http://schemas.openxmlformats.org/drawingml/2006/main">
              <a:ext uri="{FF2B5EF4-FFF2-40B4-BE49-F238E27FC236}">
                <a16:creationId xmlns:a16="http://schemas.microsoft.com/office/drawing/2014/main" id="{D90AB8A7-388E-42F5-86B0-405EBC232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5334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DFE8F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DFE8F5"/>
                </a:solidFill>
                <a:latin typeface="Arial"/>
                <a:ea typeface="Arial"/>
                <a:cs typeface="Arial"/>
              </a:rPr>
              <a:t>Tell us the service you need, the</a:t>
            </a:r>
          </a:p>
          <a:p xmlns:a="http://schemas.openxmlformats.org/drawingml/2006/main">
            <a:pPr algn="l">
              <a:defRPr sz="2025" b="0">
                <a:solidFill>
                  <a:srgbClr val="DFE8F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DFE8F5"/>
                </a:solidFill>
                <a:latin typeface="Arial"/>
                <a:ea typeface="Arial"/>
                <a:cs typeface="Arial"/>
              </a:rPr>
              <a:t>property location and your preferred</a:t>
            </a:r>
          </a:p>
          <a:p xmlns:a="http://schemas.openxmlformats.org/drawingml/2006/main">
            <a:pPr algn="l">
              <a:defRPr sz="2025" b="0">
                <a:solidFill>
                  <a:srgbClr val="DFE8F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DFE8F5"/>
                </a:solidFill>
                <a:latin typeface="Arial"/>
                <a:ea typeface="Arial"/>
                <a:cs typeface="Arial"/>
              </a:rPr>
              <a:t>inspection schedule. We will coordinate</a:t>
            </a:r>
          </a:p>
          <a:p xmlns:a="http://schemas.openxmlformats.org/drawingml/2006/main">
            <a:pPr algn="l">
              <a:defRPr sz="2025" b="0">
                <a:solidFill>
                  <a:srgbClr val="DFE8F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DFE8F5"/>
                </a:solidFill>
                <a:latin typeface="Arial"/>
                <a:ea typeface="Arial"/>
                <a:cs typeface="Arial"/>
              </a:rPr>
              <a:t>the assessment and prepare a quotation.</a:t>
            </a:r>
          </a:p>
        </p:txBody>
      </p:sp>
      <p:sp>
        <p:nvSpPr>
          <p:cNvPr id="5" name="premium-text-78">
            <a:extLst xmlns:a="http://schemas.openxmlformats.org/drawingml/2006/main">
              <a:ext uri="{FF2B5EF4-FFF2-40B4-BE49-F238E27FC236}">
                <a16:creationId xmlns:a16="http://schemas.microsoft.com/office/drawing/2014/main" id="{2E02DA78-8172-47C2-A2FD-AE4584773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76650"/>
            <a:ext cx="5524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7F7F2"/>
                </a:solidFill>
                <a:latin typeface="Segoe UI"/>
                <a:ea typeface="Segoe UI"/>
                <a:cs typeface="Segoe UI"/>
              </a:defRPr>
            </a:pPr>
            <a:r>
              <a:rPr sz="3150" b="1">
                <a:solidFill>
                  <a:srgbClr val="F7F7F2"/>
                </a:solidFill>
                <a:latin typeface="Segoe UI"/>
                <a:ea typeface="Segoe UI"/>
                <a:cs typeface="Segoe UI"/>
              </a:rPr>
              <a:t>0917 671 6383</a:t>
            </a:r>
          </a:p>
        </p:txBody>
      </p:sp>
      <p:sp>
        <p:nvSpPr>
          <p:cNvPr id="6" name="premium-text-79">
            <a:extLst xmlns:a="http://schemas.openxmlformats.org/drawingml/2006/main">
              <a:ext uri="{FF2B5EF4-FFF2-40B4-BE49-F238E27FC236}">
                <a16:creationId xmlns:a16="http://schemas.microsoft.com/office/drawing/2014/main" id="{3DB85F71-831B-49D1-AA76-605565AFE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5753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7F7F2"/>
                </a:solidFill>
                <a:latin typeface="Arial"/>
                <a:ea typeface="Arial"/>
                <a:cs typeface="Arial"/>
              </a:rPr>
              <a:t>marketing@oceanidessepticandpest.com</a:t>
            </a:r>
          </a:p>
        </p:txBody>
      </p:sp>
      <p:sp>
        <p:nvSpPr>
          <p:cNvPr id="7" name="premium-text-80">
            <a:extLst xmlns:a="http://schemas.openxmlformats.org/drawingml/2006/main">
              <a:ext uri="{FF2B5EF4-FFF2-40B4-BE49-F238E27FC236}">
                <a16:creationId xmlns:a16="http://schemas.microsoft.com/office/drawing/2014/main" id="{3C3F3AB3-3306-4775-A837-B75404C26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14900"/>
            <a:ext cx="5572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FE8F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FE8F5"/>
                </a:solidFill>
                <a:latin typeface="Arial"/>
                <a:ea typeface="Arial"/>
                <a:cs typeface="Arial"/>
              </a:rPr>
              <a:t>Tramo Street Corner Dandan,</a:t>
            </a:r>
          </a:p>
          <a:p xmlns:a="http://schemas.openxmlformats.org/drawingml/2006/main">
            <a:pPr algn="l">
              <a:defRPr sz="1875" b="0">
                <a:solidFill>
                  <a:srgbClr val="DFE8F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FE8F5"/>
                </a:solidFill>
                <a:latin typeface="Arial"/>
                <a:ea typeface="Arial"/>
                <a:cs typeface="Arial"/>
              </a:rPr>
              <a:t>Pasay City, Philippines 1300</a:t>
            </a:r>
          </a:p>
        </p:txBody>
      </p:sp>
      <p:sp>
        <p:nvSpPr>
          <p:cNvPr id="8" name="premium-text-81">
            <a:extLst xmlns:a="http://schemas.openxmlformats.org/drawingml/2006/main">
              <a:ext uri="{FF2B5EF4-FFF2-40B4-BE49-F238E27FC236}">
                <a16:creationId xmlns:a16="http://schemas.microsoft.com/office/drawing/2014/main" id="{ED44152B-15C4-473C-91F6-C4E1B1D81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790700"/>
            <a:ext cx="53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DFE8F5"/>
                </a:solidFill>
                <a:latin typeface="Segoe UI"/>
                <a:ea typeface="Segoe UI"/>
                <a:cs typeface="Segoe UI"/>
              </a:defRPr>
            </a:pPr>
            <a:r>
              <a:rPr sz="1950" b="1">
                <a:solidFill>
                  <a:srgbClr val="DFE8F5"/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  <p:sp>
        <p:nvSpPr>
          <p:cNvPr id="9" name="premium-text-82">
            <a:extLst xmlns:a="http://schemas.openxmlformats.org/drawingml/2006/main">
              <a:ext uri="{FF2B5EF4-FFF2-40B4-BE49-F238E27FC236}">
                <a16:creationId xmlns:a16="http://schemas.microsoft.com/office/drawing/2014/main" id="{E8A97441-D643-485D-A279-BFC0FF1DE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75260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7F7F2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F7F7F2"/>
                </a:solidFill>
                <a:latin typeface="Segoe UI"/>
                <a:ea typeface="Segoe UI"/>
                <a:cs typeface="Segoe UI"/>
              </a:rPr>
              <a:t>Assess</a:t>
            </a:r>
          </a:p>
        </p:txBody>
      </p:sp>
      <p:sp>
        <p:nvSpPr>
          <p:cNvPr id="10" name="premium-text-83">
            <a:extLst xmlns:a="http://schemas.openxmlformats.org/drawingml/2006/main">
              <a:ext uri="{FF2B5EF4-FFF2-40B4-BE49-F238E27FC236}">
                <a16:creationId xmlns:a16="http://schemas.microsoft.com/office/drawing/2014/main" id="{C3AD0957-5249-481C-8264-C9C6B9F2F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238375"/>
            <a:ext cx="3810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FE8F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FE8F5"/>
                </a:solidFill>
                <a:latin typeface="Arial"/>
                <a:ea typeface="Arial"/>
                <a:cs typeface="Arial"/>
              </a:rPr>
              <a:t>Review the concern, site access</a:t>
            </a:r>
          </a:p>
          <a:p xmlns:a="http://schemas.openxmlformats.org/drawingml/2006/main">
            <a:pPr algn="l">
              <a:defRPr sz="1875" b="0">
                <a:solidFill>
                  <a:srgbClr val="DFE8F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FE8F5"/>
                </a:solidFill>
                <a:latin typeface="Arial"/>
                <a:ea typeface="Arial"/>
                <a:cs typeface="Arial"/>
              </a:rPr>
              <a:t>and work requirements.</a:t>
            </a:r>
          </a:p>
        </p:txBody>
      </p:sp>
      <p:sp>
        <p:nvSpPr>
          <p:cNvPr id="11" name="premium-text-84">
            <a:extLst xmlns:a="http://schemas.openxmlformats.org/drawingml/2006/main">
              <a:ext uri="{FF2B5EF4-FFF2-40B4-BE49-F238E27FC236}">
                <a16:creationId xmlns:a16="http://schemas.microsoft.com/office/drawing/2014/main" id="{EC268AB4-6D6F-4FAB-8AAC-1C076C633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857500"/>
            <a:ext cx="53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DFE8F5"/>
                </a:solidFill>
                <a:latin typeface="Segoe UI"/>
                <a:ea typeface="Segoe UI"/>
                <a:cs typeface="Segoe UI"/>
              </a:defRPr>
            </a:pPr>
            <a:r>
              <a:rPr sz="1950" b="1">
                <a:solidFill>
                  <a:srgbClr val="DFE8F5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12" name="premium-text-85">
            <a:extLst xmlns:a="http://schemas.openxmlformats.org/drawingml/2006/main">
              <a:ext uri="{FF2B5EF4-FFF2-40B4-BE49-F238E27FC236}">
                <a16:creationId xmlns:a16="http://schemas.microsoft.com/office/drawing/2014/main" id="{CC1A6AC4-45F2-41D9-9187-EAD3C8DF7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81940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7F7F2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F7F7F2"/>
                </a:solidFill>
                <a:latin typeface="Segoe UI"/>
                <a:ea typeface="Segoe UI"/>
                <a:cs typeface="Segoe UI"/>
              </a:rPr>
              <a:t>Quote</a:t>
            </a:r>
          </a:p>
        </p:txBody>
      </p:sp>
      <p:sp>
        <p:nvSpPr>
          <p:cNvPr id="13" name="premium-text-86">
            <a:extLst xmlns:a="http://schemas.openxmlformats.org/drawingml/2006/main">
              <a:ext uri="{FF2B5EF4-FFF2-40B4-BE49-F238E27FC236}">
                <a16:creationId xmlns:a16="http://schemas.microsoft.com/office/drawing/2014/main" id="{19E97346-FBD1-4D74-8E19-121A134C6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305175"/>
            <a:ext cx="3810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FE8F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FE8F5"/>
                </a:solidFill>
                <a:latin typeface="Arial"/>
                <a:ea typeface="Arial"/>
                <a:cs typeface="Arial"/>
              </a:rPr>
              <a:t>Confirm scope and pricing</a:t>
            </a:r>
          </a:p>
          <a:p xmlns:a="http://schemas.openxmlformats.org/drawingml/2006/main">
            <a:pPr algn="l">
              <a:defRPr sz="1875" b="0">
                <a:solidFill>
                  <a:srgbClr val="DFE8F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FE8F5"/>
                </a:solidFill>
                <a:latin typeface="Arial"/>
                <a:ea typeface="Arial"/>
                <a:cs typeface="Arial"/>
              </a:rPr>
              <a:t>before scheduling.</a:t>
            </a:r>
          </a:p>
        </p:txBody>
      </p:sp>
      <p:sp>
        <p:nvSpPr>
          <p:cNvPr id="14" name="premium-text-87">
            <a:extLst xmlns:a="http://schemas.openxmlformats.org/drawingml/2006/main">
              <a:ext uri="{FF2B5EF4-FFF2-40B4-BE49-F238E27FC236}">
                <a16:creationId xmlns:a16="http://schemas.microsoft.com/office/drawing/2014/main" id="{3DA84280-BD2D-469A-8738-E34E6E63E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924300"/>
            <a:ext cx="53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DFE8F5"/>
                </a:solidFill>
                <a:latin typeface="Segoe UI"/>
                <a:ea typeface="Segoe UI"/>
                <a:cs typeface="Segoe UI"/>
              </a:defRPr>
            </a:pPr>
            <a:r>
              <a:rPr sz="1950" b="1">
                <a:solidFill>
                  <a:srgbClr val="DFE8F5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15" name="premium-text-88">
            <a:extLst xmlns:a="http://schemas.openxmlformats.org/drawingml/2006/main">
              <a:ext uri="{FF2B5EF4-FFF2-40B4-BE49-F238E27FC236}">
                <a16:creationId xmlns:a16="http://schemas.microsoft.com/office/drawing/2014/main" id="{E2BFBC27-3883-472F-AFA5-38C0737CF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88620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7F7F2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F7F7F2"/>
                </a:solidFill>
                <a:latin typeface="Segoe UI"/>
                <a:ea typeface="Segoe UI"/>
                <a:cs typeface="Segoe UI"/>
              </a:rPr>
              <a:t>Coordinate</a:t>
            </a:r>
          </a:p>
        </p:txBody>
      </p:sp>
      <p:sp>
        <p:nvSpPr>
          <p:cNvPr id="16" name="premium-text-89">
            <a:extLst xmlns:a="http://schemas.openxmlformats.org/drawingml/2006/main">
              <a:ext uri="{FF2B5EF4-FFF2-40B4-BE49-F238E27FC236}">
                <a16:creationId xmlns:a16="http://schemas.microsoft.com/office/drawing/2014/main" id="{B2420EEE-3FCB-4745-9490-01C3B4AB6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371975"/>
            <a:ext cx="3810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FE8F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FE8F5"/>
                </a:solidFill>
                <a:latin typeface="Arial"/>
                <a:ea typeface="Arial"/>
                <a:cs typeface="Arial"/>
              </a:rPr>
              <a:t>Arrange the team or specialist</a:t>
            </a:r>
          </a:p>
          <a:p xmlns:a="http://schemas.openxmlformats.org/drawingml/2006/main">
            <a:pPr algn="l">
              <a:defRPr sz="1875" b="0">
                <a:solidFill>
                  <a:srgbClr val="DFE8F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FE8F5"/>
                </a:solidFill>
                <a:latin typeface="Arial"/>
                <a:ea typeface="Arial"/>
                <a:cs typeface="Arial"/>
              </a:rPr>
              <a:t>and coordinate site access.</a:t>
            </a:r>
          </a:p>
        </p:txBody>
      </p:sp>
      <p:sp>
        <p:nvSpPr>
          <p:cNvPr id="17" name="premium-text-90">
            <a:extLst xmlns:a="http://schemas.openxmlformats.org/drawingml/2006/main">
              <a:ext uri="{FF2B5EF4-FFF2-40B4-BE49-F238E27FC236}">
                <a16:creationId xmlns:a16="http://schemas.microsoft.com/office/drawing/2014/main" id="{F83F5C93-DC9C-473C-B01F-2320F2C13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991100"/>
            <a:ext cx="53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DFE8F5"/>
                </a:solidFill>
                <a:latin typeface="Segoe UI"/>
                <a:ea typeface="Segoe UI"/>
                <a:cs typeface="Segoe UI"/>
              </a:defRPr>
            </a:pPr>
            <a:r>
              <a:rPr sz="1950" b="1">
                <a:solidFill>
                  <a:srgbClr val="DFE8F5"/>
                </a:solidFill>
                <a:latin typeface="Segoe UI"/>
                <a:ea typeface="Segoe UI"/>
                <a:cs typeface="Segoe UI"/>
              </a:rPr>
              <a:t>04</a:t>
            </a:r>
          </a:p>
        </p:txBody>
      </p:sp>
      <p:sp>
        <p:nvSpPr>
          <p:cNvPr id="18" name="premium-text-91">
            <a:extLst xmlns:a="http://schemas.openxmlformats.org/drawingml/2006/main">
              <a:ext uri="{FF2B5EF4-FFF2-40B4-BE49-F238E27FC236}">
                <a16:creationId xmlns:a16="http://schemas.microsoft.com/office/drawing/2014/main" id="{ABC21F52-7186-47A9-A923-4051E6B95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95300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7F7F2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F7F7F2"/>
                </a:solidFill>
                <a:latin typeface="Segoe UI"/>
                <a:ea typeface="Segoe UI"/>
                <a:cs typeface="Segoe UI"/>
              </a:rPr>
              <a:t>Turn over</a:t>
            </a:r>
          </a:p>
        </p:txBody>
      </p:sp>
      <p:sp>
        <p:nvSpPr>
          <p:cNvPr id="19" name="premium-text-92">
            <a:extLst xmlns:a="http://schemas.openxmlformats.org/drawingml/2006/main">
              <a:ext uri="{FF2B5EF4-FFF2-40B4-BE49-F238E27FC236}">
                <a16:creationId xmlns:a16="http://schemas.microsoft.com/office/drawing/2014/main" id="{EDA01F91-D066-4083-8F23-C56B8294E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5438775"/>
            <a:ext cx="3810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FE8F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FE8F5"/>
                </a:solidFill>
                <a:latin typeface="Arial"/>
                <a:ea typeface="Arial"/>
                <a:cs typeface="Arial"/>
              </a:rPr>
              <a:t>Review the agreed work and</a:t>
            </a:r>
          </a:p>
          <a:p xmlns:a="http://schemas.openxmlformats.org/drawingml/2006/main">
            <a:pPr algn="l">
              <a:defRPr sz="1875" b="0">
                <a:solidFill>
                  <a:srgbClr val="DFE8F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FE8F5"/>
                </a:solidFill>
                <a:latin typeface="Arial"/>
                <a:ea typeface="Arial"/>
                <a:cs typeface="Arial"/>
              </a:rPr>
              <a:t>follow-up within scope.</a:t>
            </a:r>
          </a:p>
        </p:txBody>
      </p:sp>
      <p:sp>
        <p:nvSpPr>
          <p:cNvPr id="20" name="premium-text-93">
            <a:extLst xmlns:a="http://schemas.openxmlformats.org/drawingml/2006/main">
              <a:ext uri="{FF2B5EF4-FFF2-40B4-BE49-F238E27FC236}">
                <a16:creationId xmlns:a16="http://schemas.microsoft.com/office/drawing/2014/main" id="{F57CCDCA-467E-49DD-9C90-F419182F6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29325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FE8F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FE8F5"/>
                </a:solidFill>
                <a:latin typeface="Arial"/>
                <a:ea typeface="Arial"/>
                <a:cs typeface="Arial"/>
              </a:rPr>
              <a:t>Final scope, pricing and scheduling depend on the site assessment and agreed quotation.</a:t>
            </a:r>
          </a:p>
        </p:txBody>
      </p:sp>
    </p:spTree>
    <p:extLst>
      <p:ext uri="{BB962C8B-B14F-4D97-AF65-F5344CB8AC3E}">
        <p14:creationId xmlns:p14="http://schemas.microsoft.com/office/powerpoint/2010/main" val="9886188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2026-10-06T07:46:40.6610000Z</dcterms:created>
  <dcterms:modified xsi:type="dcterms:W3CDTF">2026-10-06T07:46:40.6610000Z</dcterms:modified>
</coreProperties>
</file>