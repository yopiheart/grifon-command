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a253950d254e49" /><Relationship Type="http://schemas.openxmlformats.org/officeDocument/2006/relationships/extended-properties" Target="/docProps/app.xml" Id="R6232b74b6e7745f7" /><Relationship Type="http://schemas.openxmlformats.org/officeDocument/2006/relationships/officeDocument" Target="/ppt/presentation.xml" Id="Rde6de1aed9154e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403b8c61d64faf"/>
  </p:sldMasterIdLst>
  <p:notesMasterIdLst>
    <p:notesMasterId xmlns:r="http://schemas.openxmlformats.org/officeDocument/2006/relationships" r:id="R88a15d5356c146a5"/>
  </p:notesMasterIdLst>
  <p:sldIdLst>
    <p:sldId xmlns:r="http://schemas.openxmlformats.org/officeDocument/2006/relationships" id="256" r:id="R82273e449518410c"/>
    <p:sldId xmlns:r="http://schemas.openxmlformats.org/officeDocument/2006/relationships" id="257" r:id="R732f27aa89a747b9"/>
    <p:sldId xmlns:r="http://schemas.openxmlformats.org/officeDocument/2006/relationships" id="258" r:id="R3653757ea5234aa7"/>
    <p:sldId xmlns:r="http://schemas.openxmlformats.org/officeDocument/2006/relationships" id="259" r:id="Rf34f47c3e6a44d09"/>
    <p:sldId xmlns:r="http://schemas.openxmlformats.org/officeDocument/2006/relationships" id="260" r:id="Rc60240bfbe524e76"/>
    <p:sldId xmlns:r="http://schemas.openxmlformats.org/officeDocument/2006/relationships" id="261" r:id="R91cd6e76eb43428b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c90fe3439a4db2" /><Relationship Type="http://schemas.openxmlformats.org/officeDocument/2006/relationships/slideMaster" Target="/ppt/slideMasters/slideMaster1.xml" Id="R49403b8c61d64faf" /><Relationship Type="http://schemas.openxmlformats.org/officeDocument/2006/relationships/notesMaster" Target="/ppt/notesMasters/notesMaster1.xml" Id="R88a15d5356c146a5" /><Relationship Type="http://schemas.openxmlformats.org/officeDocument/2006/relationships/presProps" Target="/ppt/presProps.xml" Id="R43bb1a9b56944839" /><Relationship Type="http://schemas.openxmlformats.org/officeDocument/2006/relationships/tableStyles" Target="/ppt/tableStyles.xml" Id="R815838183bc34635" /><Relationship Type="http://schemas.openxmlformats.org/officeDocument/2006/relationships/slide" Target="/ppt/slides/slide1.xml" Id="R82273e449518410c" /><Relationship Type="http://schemas.openxmlformats.org/officeDocument/2006/relationships/slide" Target="/ppt/slides/slide2.xml" Id="R732f27aa89a747b9" /><Relationship Type="http://schemas.openxmlformats.org/officeDocument/2006/relationships/slide" Target="/ppt/slides/slide3.xml" Id="R3653757ea5234aa7" /><Relationship Type="http://schemas.openxmlformats.org/officeDocument/2006/relationships/slide" Target="/ppt/slides/slide4.xml" Id="Rf34f47c3e6a44d09" /><Relationship Type="http://schemas.openxmlformats.org/officeDocument/2006/relationships/slide" Target="/ppt/slides/slide5.xml" Id="Rc60240bfbe524e76" /><Relationship Type="http://schemas.openxmlformats.org/officeDocument/2006/relationships/slide" Target="/ppt/slides/slide6.xml" Id="R91cd6e76eb4342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e0102bd1c843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af9ad82dd945b2" /><Relationship Type="http://schemas.openxmlformats.org/officeDocument/2006/relationships/notesMaster" Target="/ppt/notesMasters/notesMaster1.xml" Id="R07cd482f4f9741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52ef5813da48e1" /><Relationship Type="http://schemas.openxmlformats.org/officeDocument/2006/relationships/notesMaster" Target="/ppt/notesMasters/notesMaster1.xml" Id="Rdf024de96bbd44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ca173779c2427e" /><Relationship Type="http://schemas.openxmlformats.org/officeDocument/2006/relationships/notesMaster" Target="/ppt/notesMasters/notesMaster1.xml" Id="Rf8ec0fc9330e42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e1d5f87d7e49df" /><Relationship Type="http://schemas.openxmlformats.org/officeDocument/2006/relationships/notesMaster" Target="/ppt/notesMasters/notesMaster1.xml" Id="Rf6aed26ec5ce4c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50f33fa147499a" /><Relationship Type="http://schemas.openxmlformats.org/officeDocument/2006/relationships/notesMaster" Target="/ppt/notesMasters/notesMaster1.xml" Id="Rb1ca46f97e184f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07ec01ae8a4956" /><Relationship Type="http://schemas.openxmlformats.org/officeDocument/2006/relationships/notesMaster" Target="/ppt/notesMasters/notesMaster1.xml" Id="R146dd798a7bc40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Cover: AI-generated conceptual property cutaway, not a real project or engineering plan.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Matched before/after pair: clients/oceanides/assets/tb2-ba2-before.png and tb2-ba2-after.png. Neil confirmed real job photos on 2026-08-01; see client DESIGN.md and asset-builder source.Service scene: AI-generated fictional specialist, visibly labeled. Not an actual Oceanides employee or completed project.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Service scene: AI-generated fictional specialist, visibly labeled. Not an actual Oceanides employee or completed project.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Service scene: AI-generated fictional specialist, visibly labeled. Not an actual Oceanides employee or completed project.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57710dde6e49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e6e71883364389" /><Relationship Type="http://schemas.openxmlformats.org/officeDocument/2006/relationships/slideLayout" Target="/ppt/slideLayouts/slideLayout1.xml" Id="R1eeafded089345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eafded089345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4eb674d1b4c15" /><Relationship Type="http://schemas.openxmlformats.org/officeDocument/2006/relationships/image" Target="/ppt/media/image.png" Id="R4cd38b2b2826455f" /><Relationship Type="http://schemas.openxmlformats.org/officeDocument/2006/relationships/image" Target="/ppt/media/image.jpeg" Id="R5962bc72920a4369" /><Relationship Type="http://schemas.openxmlformats.org/officeDocument/2006/relationships/notesSlide" Target="/ppt/notesSlides/notesSlide1.xml" Id="R52136582abd549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1dd1d09de465d" /><Relationship Type="http://schemas.openxmlformats.org/officeDocument/2006/relationships/notesSlide" Target="/ppt/notesSlides/notesSlide2.xml" Id="R0d7a5a7bafee4a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bfc476e8e4aee" /><Relationship Type="http://schemas.openxmlformats.org/officeDocument/2006/relationships/image" Target="/ppt/media/image2.jpeg" Id="R71017cbb08f84286" /><Relationship Type="http://schemas.openxmlformats.org/officeDocument/2006/relationships/image" Target="/ppt/media/image3.jpeg" Id="Re0addcf74b6c4f01" /><Relationship Type="http://schemas.openxmlformats.org/officeDocument/2006/relationships/image" Target="/ppt/media/image4.jpeg" Id="Rc38669e53e924ac5" /><Relationship Type="http://schemas.openxmlformats.org/officeDocument/2006/relationships/notesSlide" Target="/ppt/notesSlides/notesSlide3.xml" Id="Rfc2c1b22732544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f3deef3f549bc" /><Relationship Type="http://schemas.openxmlformats.org/officeDocument/2006/relationships/image" Target="/ppt/media/image5.jpeg" Id="Ra71af9ce34a542f4" /><Relationship Type="http://schemas.openxmlformats.org/officeDocument/2006/relationships/notesSlide" Target="/ppt/notesSlides/notesSlide4.xml" Id="Rc11c93f0f2e943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f706db82a47b2" /><Relationship Type="http://schemas.openxmlformats.org/officeDocument/2006/relationships/image" Target="/ppt/media/image6.jpeg" Id="R25befc9e39c44ee4" /><Relationship Type="http://schemas.openxmlformats.org/officeDocument/2006/relationships/notesSlide" Target="/ppt/notesSlides/notesSlide5.xml" Id="R186aa8a923834b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3354a43e547d4" /><Relationship Type="http://schemas.openxmlformats.org/officeDocument/2006/relationships/image" Target="/ppt/media/image2.png" Id="R5b3331af0a64461b" /><Relationship Type="http://schemas.openxmlformats.org/officeDocument/2006/relationships/notesSlide" Target="/ppt/notesSlides/notesSlide6.xml" Id="R4406ab1439ac42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rofile-1">
            <a:extLst xmlns:a="http://schemas.openxmlformats.org/drawingml/2006/main">
              <a:ext uri="{FF2B5EF4-FFF2-40B4-BE49-F238E27FC236}">
                <a16:creationId xmlns:a16="http://schemas.microsoft.com/office/drawing/2014/main" id="{8AC5C59E-C0BC-43D1-8308-C9864B0C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5048250" cy="353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38b2b2826455f"/>
          <a:stretch xmlns:a="http://schemas.openxmlformats.org/drawingml/2006/main"/>
        </p:blipFill>
        <p:spPr>
          <a:xfrm xmlns:a="http://schemas.openxmlformats.org/drawingml/2006/main">
            <a:off x="6115050" y="276225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3" name="profile-2">
            <a:extLst xmlns:a="http://schemas.openxmlformats.org/drawingml/2006/main">
              <a:ext uri="{FF2B5EF4-FFF2-40B4-BE49-F238E27FC236}">
                <a16:creationId xmlns:a16="http://schemas.microsoft.com/office/drawing/2014/main" id="{B79C1E57-D96D-42EC-88A8-5ADF7A69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343650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4" name="profile-3">
            <a:extLst xmlns:a="http://schemas.openxmlformats.org/drawingml/2006/main">
              <a:ext uri="{FF2B5EF4-FFF2-40B4-BE49-F238E27FC236}">
                <a16:creationId xmlns:a16="http://schemas.microsoft.com/office/drawing/2014/main" id="{1E23E316-55F4-402E-8FD3-795093F0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34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45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Property services</a:t>
            </a:r>
          </a:p>
        </p:txBody>
      </p:sp>
      <p:sp>
        <p:nvSpPr>
          <p:cNvPr id="5" name="profile-4">
            <a:extLst xmlns:a="http://schemas.openxmlformats.org/drawingml/2006/main">
              <a:ext uri="{FF2B5EF4-FFF2-40B4-BE49-F238E27FC236}">
                <a16:creationId xmlns:a16="http://schemas.microsoft.com/office/drawing/2014/main" id="{7E25CC68-02DF-4988-B19E-B86D0FD2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634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45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One point of contact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2bc72920a4369"/>
          <a:stretch xmlns:a="http://schemas.openxmlformats.org/drawingml/2006/main"/>
        </p:blipFill>
        <p:spPr>
          <a:xfrm xmlns:a="http://schemas.openxmlformats.org/drawingml/2006/main">
            <a:off x="0" y="3638550"/>
            <a:ext cx="7562850" cy="5041900"/>
          </a:xfrm>
          <a:prstGeom xmlns:a="http://schemas.openxmlformats.org/drawingml/2006/main" prst="rect">
            <a:avLst/>
          </a:prstGeom>
        </p:spPr>
      </p:pic>
      <p:sp>
        <p:nvSpPr>
          <p:cNvPr id="7" name="profile-5">
            <a:extLst xmlns:a="http://schemas.openxmlformats.org/drawingml/2006/main">
              <a:ext uri="{FF2B5EF4-FFF2-40B4-BE49-F238E27FC236}">
                <a16:creationId xmlns:a16="http://schemas.microsoft.com/office/drawing/2014/main" id="{A3BE2A1D-7625-45B4-BC3D-5F4275DF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82050"/>
            <a:ext cx="6343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property-services concept</a:t>
            </a:r>
          </a:p>
        </p:txBody>
      </p:sp>
      <p:sp>
        <p:nvSpPr>
          <p:cNvPr id="8" name="profile-6">
            <a:extLst xmlns:a="http://schemas.openxmlformats.org/drawingml/2006/main">
              <a:ext uri="{FF2B5EF4-FFF2-40B4-BE49-F238E27FC236}">
                <a16:creationId xmlns:a16="http://schemas.microsoft.com/office/drawing/2014/main" id="{044765B6-2C9D-4910-906A-090E9D09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77350"/>
            <a:ext cx="6343650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Siphoning. Plumbing. Renovation &amp; restoration. Pest control.</a:t>
            </a:r>
          </a:p>
        </p:txBody>
      </p:sp>
      <p:sp>
        <p:nvSpPr>
          <p:cNvPr id="9" name="profile-7">
            <a:extLst xmlns:a="http://schemas.openxmlformats.org/drawingml/2006/main">
              <a:ext uri="{FF2B5EF4-FFF2-40B4-BE49-F238E27FC236}">
                <a16:creationId xmlns:a16="http://schemas.microsoft.com/office/drawing/2014/main" id="{4BF4D4B9-817C-4462-9A12-C806B626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77400"/>
            <a:ext cx="63436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Plumbing Siphoning &amp; Pest Management Services OPC</a:t>
            </a:r>
          </a:p>
        </p:txBody>
      </p:sp>
      <p:sp>
        <p:nvSpPr>
          <p:cNvPr id="10" name="profile-8">
            <a:extLst xmlns:a="http://schemas.openxmlformats.org/drawingml/2006/main">
              <a:ext uri="{FF2B5EF4-FFF2-40B4-BE49-F238E27FC236}">
                <a16:creationId xmlns:a16="http://schemas.microsoft.com/office/drawing/2014/main" id="{8B2C20D2-02BB-4292-8005-C323C940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1" name="profile-9">
            <a:extLst xmlns:a="http://schemas.openxmlformats.org/drawingml/2006/main">
              <a:ext uri="{FF2B5EF4-FFF2-40B4-BE49-F238E27FC236}">
                <a16:creationId xmlns:a16="http://schemas.microsoft.com/office/drawing/2014/main" id="{EB00556A-9064-4427-AD6C-12549337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12" name="profile-10">
            <a:extLst xmlns:a="http://schemas.openxmlformats.org/drawingml/2006/main">
              <a:ext uri="{FF2B5EF4-FFF2-40B4-BE49-F238E27FC236}">
                <a16:creationId xmlns:a16="http://schemas.microsoft.com/office/drawing/2014/main" id="{7CD7AF2E-6291-4DB4-AAB6-A3514EAC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681045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rofile-11">
            <a:extLst xmlns:a="http://schemas.openxmlformats.org/drawingml/2006/main">
              <a:ext uri="{FF2B5EF4-FFF2-40B4-BE49-F238E27FC236}">
                <a16:creationId xmlns:a16="http://schemas.microsoft.com/office/drawing/2014/main" id="{A8ABC520-479F-438F-A729-3E643C42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" name="profile-12">
            <a:extLst xmlns:a="http://schemas.openxmlformats.org/drawingml/2006/main">
              <a:ext uri="{FF2B5EF4-FFF2-40B4-BE49-F238E27FC236}">
                <a16:creationId xmlns:a16="http://schemas.microsoft.com/office/drawing/2014/main" id="{244F8230-2585-416A-88DD-5BA1CED6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3" name="profile-13">
            <a:extLst xmlns:a="http://schemas.openxmlformats.org/drawingml/2006/main">
              <a:ext uri="{FF2B5EF4-FFF2-40B4-BE49-F238E27FC236}">
                <a16:creationId xmlns:a16="http://schemas.microsoft.com/office/drawing/2014/main" id="{F53BEC8B-D7CA-4201-B80B-34539322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634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Services for the places</a:t>
            </a:r>
          </a:p>
        </p:txBody>
      </p:sp>
      <p:sp>
        <p:nvSpPr>
          <p:cNvPr id="4" name="profile-14">
            <a:extLst xmlns:a="http://schemas.openxmlformats.org/drawingml/2006/main">
              <a:ext uri="{FF2B5EF4-FFF2-40B4-BE49-F238E27FC236}">
                <a16:creationId xmlns:a16="http://schemas.microsoft.com/office/drawing/2014/main" id="{1338D3B2-242E-43A7-BEDF-5DA4A34C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34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you live and work</a:t>
            </a:r>
          </a:p>
        </p:txBody>
      </p:sp>
      <p:sp>
        <p:nvSpPr>
          <p:cNvPr id="5" name="profile-15">
            <a:extLst xmlns:a="http://schemas.openxmlformats.org/drawingml/2006/main">
              <a:ext uri="{FF2B5EF4-FFF2-40B4-BE49-F238E27FC236}">
                <a16:creationId xmlns:a16="http://schemas.microsoft.com/office/drawing/2014/main" id="{52A98BB8-7C14-49E1-9622-A49BEF21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coordinates property services for homes, condominiums</a:t>
            </a:r>
          </a:p>
        </p:txBody>
      </p:sp>
      <p:sp>
        <p:nvSpPr>
          <p:cNvPr id="6" name="profile-16">
            <a:extLst xmlns:a="http://schemas.openxmlformats.org/drawingml/2006/main">
              <a:ext uri="{FF2B5EF4-FFF2-40B4-BE49-F238E27FC236}">
                <a16:creationId xmlns:a16="http://schemas.microsoft.com/office/drawing/2014/main" id="{81587EA2-2E09-4F11-B210-B00C15E3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and company facilities. Our service offering covers siphoning,</a:t>
            </a:r>
          </a:p>
        </p:txBody>
      </p:sp>
      <p:sp>
        <p:nvSpPr>
          <p:cNvPr id="7" name="profile-17">
            <a:extLst xmlns:a="http://schemas.openxmlformats.org/drawingml/2006/main">
              <a:ext uri="{FF2B5EF4-FFF2-40B4-BE49-F238E27FC236}">
                <a16:creationId xmlns:a16="http://schemas.microsoft.com/office/drawing/2014/main" id="{963D607B-8DF5-4B0C-8EFB-0757E3B6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plumbing, renovation and restoration, and pest control.</a:t>
            </a:r>
          </a:p>
        </p:txBody>
      </p:sp>
      <p:sp>
        <p:nvSpPr>
          <p:cNvPr id="8" name="profile-18">
            <a:extLst xmlns:a="http://schemas.openxmlformats.org/drawingml/2006/main">
              <a:ext uri="{FF2B5EF4-FFF2-40B4-BE49-F238E27FC236}">
                <a16:creationId xmlns:a16="http://schemas.microsoft.com/office/drawing/2014/main" id="{9E40AEF6-AD19-4B44-B729-135BCAAC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9" name="profile-19">
            <a:extLst xmlns:a="http://schemas.openxmlformats.org/drawingml/2006/main">
              <a:ext uri="{FF2B5EF4-FFF2-40B4-BE49-F238E27FC236}">
                <a16:creationId xmlns:a16="http://schemas.microsoft.com/office/drawing/2014/main" id="{ABABAA29-0FA6-468B-8DD8-7945F2F6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Siphoning</a:t>
            </a:r>
          </a:p>
        </p:txBody>
      </p:sp>
      <p:sp>
        <p:nvSpPr>
          <p:cNvPr id="10" name="profile-20">
            <a:extLst xmlns:a="http://schemas.openxmlformats.org/drawingml/2006/main">
              <a:ext uri="{FF2B5EF4-FFF2-40B4-BE49-F238E27FC236}">
                <a16:creationId xmlns:a16="http://schemas.microsoft.com/office/drawing/2014/main" id="{24155C9C-2EE5-45FC-B7E4-173FDC3C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55295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Septic tank siphoning and cleaning.</a:t>
            </a:r>
          </a:p>
        </p:txBody>
      </p:sp>
      <p:sp>
        <p:nvSpPr>
          <p:cNvPr id="11" name="profile-21">
            <a:extLst xmlns:a="http://schemas.openxmlformats.org/drawingml/2006/main">
              <a:ext uri="{FF2B5EF4-FFF2-40B4-BE49-F238E27FC236}">
                <a16:creationId xmlns:a16="http://schemas.microsoft.com/office/drawing/2014/main" id="{098A383C-9430-418E-9204-891E08C7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2" name="profile-22">
            <a:extLst xmlns:a="http://schemas.openxmlformats.org/drawingml/2006/main">
              <a:ext uri="{FF2B5EF4-FFF2-40B4-BE49-F238E27FC236}">
                <a16:creationId xmlns:a16="http://schemas.microsoft.com/office/drawing/2014/main" id="{78431522-F716-466C-8C98-2EBEA7D9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Plumbing</a:t>
            </a:r>
          </a:p>
        </p:txBody>
      </p:sp>
      <p:sp>
        <p:nvSpPr>
          <p:cNvPr id="13" name="profile-23">
            <a:extLst xmlns:a="http://schemas.openxmlformats.org/drawingml/2006/main">
              <a:ext uri="{FF2B5EF4-FFF2-40B4-BE49-F238E27FC236}">
                <a16:creationId xmlns:a16="http://schemas.microsoft.com/office/drawing/2014/main" id="{DB0216CA-AD40-4AE7-87AC-72BD598C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63880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Drain declogging and pipe leak repairs.</a:t>
            </a:r>
          </a:p>
        </p:txBody>
      </p:sp>
      <p:sp>
        <p:nvSpPr>
          <p:cNvPr id="14" name="profile-24">
            <a:extLst xmlns:a="http://schemas.openxmlformats.org/drawingml/2006/main">
              <a:ext uri="{FF2B5EF4-FFF2-40B4-BE49-F238E27FC236}">
                <a16:creationId xmlns:a16="http://schemas.microsoft.com/office/drawing/2014/main" id="{735EA5A2-F101-49B7-BE11-DD80BF82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5" name="profile-25">
            <a:extLst xmlns:a="http://schemas.openxmlformats.org/drawingml/2006/main">
              <a:ext uri="{FF2B5EF4-FFF2-40B4-BE49-F238E27FC236}">
                <a16:creationId xmlns:a16="http://schemas.microsoft.com/office/drawing/2014/main" id="{31553F6D-6D0F-46FF-B8E6-2684728E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1512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Renovation &amp;</a:t>
            </a:r>
          </a:p>
        </p:txBody>
      </p:sp>
      <p:sp>
        <p:nvSpPr>
          <p:cNvPr id="16" name="profile-26">
            <a:extLst xmlns:a="http://schemas.openxmlformats.org/drawingml/2006/main">
              <a:ext uri="{FF2B5EF4-FFF2-40B4-BE49-F238E27FC236}">
                <a16:creationId xmlns:a16="http://schemas.microsoft.com/office/drawing/2014/main" id="{43EF4818-CF3D-4B14-8A75-08B88678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91350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restoration</a:t>
            </a:r>
          </a:p>
        </p:txBody>
      </p:sp>
      <p:sp>
        <p:nvSpPr>
          <p:cNvPr id="17" name="profile-27">
            <a:extLst xmlns:a="http://schemas.openxmlformats.org/drawingml/2006/main">
              <a:ext uri="{FF2B5EF4-FFF2-40B4-BE49-F238E27FC236}">
                <a16:creationId xmlns:a16="http://schemas.microsoft.com/office/drawing/2014/main" id="{F4D2C3F8-E6CE-4CA6-9634-42D74049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72465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 and condominium repairs and</a:t>
            </a:r>
          </a:p>
        </p:txBody>
      </p:sp>
      <p:sp>
        <p:nvSpPr>
          <p:cNvPr id="18" name="profile-28">
            <a:extLst xmlns:a="http://schemas.openxmlformats.org/drawingml/2006/main">
              <a:ext uri="{FF2B5EF4-FFF2-40B4-BE49-F238E27FC236}">
                <a16:creationId xmlns:a16="http://schemas.microsoft.com/office/drawing/2014/main" id="{C995951E-BC80-4E03-B8B3-18711E8A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981825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improvements.</a:t>
            </a:r>
          </a:p>
        </p:txBody>
      </p:sp>
      <p:sp>
        <p:nvSpPr>
          <p:cNvPr id="19" name="profile-29">
            <a:extLst xmlns:a="http://schemas.openxmlformats.org/drawingml/2006/main">
              <a:ext uri="{FF2B5EF4-FFF2-40B4-BE49-F238E27FC236}">
                <a16:creationId xmlns:a16="http://schemas.microsoft.com/office/drawing/2014/main" id="{0CCDB67B-68F0-40ED-9122-B4B5A897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342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0" name="profile-30">
            <a:extLst xmlns:a="http://schemas.openxmlformats.org/drawingml/2006/main">
              <a:ext uri="{FF2B5EF4-FFF2-40B4-BE49-F238E27FC236}">
                <a16:creationId xmlns:a16="http://schemas.microsoft.com/office/drawing/2014/main" id="{BF76C879-67F0-48CC-982E-FEE2BDAC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0097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Pest control</a:t>
            </a:r>
          </a:p>
        </p:txBody>
      </p:sp>
      <p:sp>
        <p:nvSpPr>
          <p:cNvPr id="21" name="profile-31">
            <a:extLst xmlns:a="http://schemas.openxmlformats.org/drawingml/2006/main">
              <a:ext uri="{FF2B5EF4-FFF2-40B4-BE49-F238E27FC236}">
                <a16:creationId xmlns:a16="http://schemas.microsoft.com/office/drawing/2014/main" id="{CA8F69C2-E2AB-4884-97CD-941C96AC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781050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Site assessment, treatment scope and</a:t>
            </a:r>
          </a:p>
        </p:txBody>
      </p:sp>
      <p:sp>
        <p:nvSpPr>
          <p:cNvPr id="22" name="profile-32">
            <a:extLst xmlns:a="http://schemas.openxmlformats.org/drawingml/2006/main">
              <a:ext uri="{FF2B5EF4-FFF2-40B4-BE49-F238E27FC236}">
                <a16:creationId xmlns:a16="http://schemas.microsoft.com/office/drawing/2014/main" id="{E5ECBEAB-734E-4AC2-A45D-61CEE52A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8067675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service coordination.</a:t>
            </a:r>
          </a:p>
        </p:txBody>
      </p:sp>
      <p:sp>
        <p:nvSpPr>
          <p:cNvPr id="23" name="profile-33">
            <a:extLst xmlns:a="http://schemas.openxmlformats.org/drawingml/2006/main">
              <a:ext uri="{FF2B5EF4-FFF2-40B4-BE49-F238E27FC236}">
                <a16:creationId xmlns:a16="http://schemas.microsoft.com/office/drawing/2014/main" id="{278085F0-112A-4086-8E2A-49C3E492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201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4" name="profile-34">
            <a:extLst xmlns:a="http://schemas.openxmlformats.org/drawingml/2006/main">
              <a:ext uri="{FF2B5EF4-FFF2-40B4-BE49-F238E27FC236}">
                <a16:creationId xmlns:a16="http://schemas.microsoft.com/office/drawing/2014/main" id="{03D506F5-002B-4167-9B3E-A47CE91A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34450"/>
            <a:ext cx="63436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One contact through turnover</a:t>
            </a:r>
          </a:p>
        </p:txBody>
      </p:sp>
      <p:sp>
        <p:nvSpPr>
          <p:cNvPr id="25" name="profile-35">
            <a:extLst xmlns:a="http://schemas.openxmlformats.org/drawingml/2006/main">
              <a:ext uri="{FF2B5EF4-FFF2-40B4-BE49-F238E27FC236}">
                <a16:creationId xmlns:a16="http://schemas.microsoft.com/office/drawing/2014/main" id="{CBF4037B-8666-4DF1-B5AC-DC0DA57C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0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coordinates assessment, quotation and delivery, including specialist</a:t>
            </a:r>
          </a:p>
        </p:txBody>
      </p:sp>
      <p:sp>
        <p:nvSpPr>
          <p:cNvPr id="26" name="profile-36">
            <a:extLst xmlns:a="http://schemas.openxmlformats.org/drawingml/2006/main">
              <a:ext uri="{FF2B5EF4-FFF2-40B4-BE49-F238E27FC236}">
                <a16:creationId xmlns:a16="http://schemas.microsoft.com/office/drawing/2014/main" id="{845467D7-6F86-4BAC-92AE-7F553BB5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91675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contractors where required.</a:t>
            </a:r>
          </a:p>
        </p:txBody>
      </p:sp>
      <p:sp>
        <p:nvSpPr>
          <p:cNvPr id="27" name="profile-37">
            <a:extLst xmlns:a="http://schemas.openxmlformats.org/drawingml/2006/main">
              <a:ext uri="{FF2B5EF4-FFF2-40B4-BE49-F238E27FC236}">
                <a16:creationId xmlns:a16="http://schemas.microsoft.com/office/drawing/2014/main" id="{8EEC9F84-BADB-47C8-BCC3-9160BADA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8" name="profile-38">
            <a:extLst xmlns:a="http://schemas.openxmlformats.org/drawingml/2006/main">
              <a:ext uri="{FF2B5EF4-FFF2-40B4-BE49-F238E27FC236}">
                <a16:creationId xmlns:a16="http://schemas.microsoft.com/office/drawing/2014/main" id="{3D009B28-783D-4486-AD2F-29BBCC90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9" name="profile-39">
            <a:extLst xmlns:a="http://schemas.openxmlformats.org/drawingml/2006/main">
              <a:ext uri="{FF2B5EF4-FFF2-40B4-BE49-F238E27FC236}">
                <a16:creationId xmlns:a16="http://schemas.microsoft.com/office/drawing/2014/main" id="{6E55BF51-4670-487A-AAE7-F768E006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457697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rofile-40">
            <a:extLst xmlns:a="http://schemas.openxmlformats.org/drawingml/2006/main">
              <a:ext uri="{FF2B5EF4-FFF2-40B4-BE49-F238E27FC236}">
                <a16:creationId xmlns:a16="http://schemas.microsoft.com/office/drawing/2014/main" id="{79EEB59D-89CC-4D69-A4F8-C17FBB9A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" name="profile-41">
            <a:extLst xmlns:a="http://schemas.openxmlformats.org/drawingml/2006/main">
              <a:ext uri="{FF2B5EF4-FFF2-40B4-BE49-F238E27FC236}">
                <a16:creationId xmlns:a16="http://schemas.microsoft.com/office/drawing/2014/main" id="{F0D38673-0E60-44C7-A49F-D0BBC5A5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3" name="profile-42">
            <a:extLst xmlns:a="http://schemas.openxmlformats.org/drawingml/2006/main">
              <a:ext uri="{FF2B5EF4-FFF2-40B4-BE49-F238E27FC236}">
                <a16:creationId xmlns:a16="http://schemas.microsoft.com/office/drawing/2014/main" id="{570B753D-180F-452F-81BA-4BCCCB8D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Siphoning &amp;</a:t>
            </a:r>
          </a:p>
        </p:txBody>
      </p:sp>
      <p:sp>
        <p:nvSpPr>
          <p:cNvPr id="4" name="profile-43">
            <a:extLst xmlns:a="http://schemas.openxmlformats.org/drawingml/2006/main">
              <a:ext uri="{FF2B5EF4-FFF2-40B4-BE49-F238E27FC236}">
                <a16:creationId xmlns:a16="http://schemas.microsoft.com/office/drawing/2014/main" id="{E80D5B26-9A47-48A7-8084-8E9C6C17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plumbing</a:t>
            </a:r>
          </a:p>
        </p:txBody>
      </p:sp>
      <p:sp>
        <p:nvSpPr>
          <p:cNvPr id="5" name="profile-44">
            <a:extLst xmlns:a="http://schemas.openxmlformats.org/drawingml/2006/main">
              <a:ext uri="{FF2B5EF4-FFF2-40B4-BE49-F238E27FC236}">
                <a16:creationId xmlns:a16="http://schemas.microsoft.com/office/drawing/2014/main" id="{94271C82-3115-4958-94D6-359C073D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Septic tank services, drain declogging and plumbing repairs.</a:t>
            </a:r>
          </a:p>
        </p:txBody>
      </p:sp>
      <p:sp>
        <p:nvSpPr>
          <p:cNvPr id="6" name="profile-45">
            <a:extLst xmlns:a="http://schemas.openxmlformats.org/drawingml/2006/main">
              <a:ext uri="{FF2B5EF4-FFF2-40B4-BE49-F238E27FC236}">
                <a16:creationId xmlns:a16="http://schemas.microsoft.com/office/drawing/2014/main" id="{6D5B1D51-F504-49E8-BA27-2340CC2B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6479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Service scope</a:t>
            </a:r>
          </a:p>
        </p:txBody>
      </p:sp>
      <p:sp>
        <p:nvSpPr>
          <p:cNvPr id="7" name="profile-46">
            <a:extLst xmlns:a="http://schemas.openxmlformats.org/drawingml/2006/main">
              <a:ext uri="{FF2B5EF4-FFF2-40B4-BE49-F238E27FC236}">
                <a16:creationId xmlns:a16="http://schemas.microsoft.com/office/drawing/2014/main" id="{56DD1711-3DC4-462D-8BEF-5A52A5ED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Septic tank siphoning</a:t>
            </a:r>
          </a:p>
        </p:txBody>
      </p:sp>
      <p:sp>
        <p:nvSpPr>
          <p:cNvPr id="8" name="profile-47">
            <a:extLst xmlns:a="http://schemas.openxmlformats.org/drawingml/2006/main">
              <a:ext uri="{FF2B5EF4-FFF2-40B4-BE49-F238E27FC236}">
                <a16:creationId xmlns:a16="http://schemas.microsoft.com/office/drawing/2014/main" id="{B1FA9011-7465-43C1-A67E-43280333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Septic tank cleaning</a:t>
            </a:r>
          </a:p>
        </p:txBody>
      </p:sp>
      <p:sp>
        <p:nvSpPr>
          <p:cNvPr id="9" name="profile-48">
            <a:extLst xmlns:a="http://schemas.openxmlformats.org/drawingml/2006/main">
              <a:ext uri="{FF2B5EF4-FFF2-40B4-BE49-F238E27FC236}">
                <a16:creationId xmlns:a16="http://schemas.microsoft.com/office/drawing/2014/main" id="{D5B91ECD-2884-45DA-BD45-7AFA09DF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Drain declogging</a:t>
            </a:r>
          </a:p>
        </p:txBody>
      </p:sp>
      <p:sp>
        <p:nvSpPr>
          <p:cNvPr id="10" name="profile-49">
            <a:extLst xmlns:a="http://schemas.openxmlformats.org/drawingml/2006/main">
              <a:ext uri="{FF2B5EF4-FFF2-40B4-BE49-F238E27FC236}">
                <a16:creationId xmlns:a16="http://schemas.microsoft.com/office/drawing/2014/main" id="{36E80B2E-2559-4A3B-AD3B-3435455E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Pipe leak repairs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17cbb08f84286"/>
          <a:stretch xmlns:a="http://schemas.openxmlformats.org/drawingml/2006/main"/>
        </p:blipFill>
        <p:spPr>
          <a:xfrm xmlns:a="http://schemas.openxmlformats.org/drawingml/2006/main">
            <a:off x="3543300" y="3648075"/>
            <a:ext cx="3409950" cy="2273300"/>
          </a:xfrm>
          <a:prstGeom xmlns:a="http://schemas.openxmlformats.org/drawingml/2006/main" prst="rect">
            <a:avLst/>
          </a:prstGeom>
        </p:spPr>
      </p:pic>
      <p:sp>
        <p:nvSpPr>
          <p:cNvPr id="12" name="profile-50">
            <a:extLst xmlns:a="http://schemas.openxmlformats.org/drawingml/2006/main">
              <a:ext uri="{FF2B5EF4-FFF2-40B4-BE49-F238E27FC236}">
                <a16:creationId xmlns:a16="http://schemas.microsoft.com/office/drawing/2014/main" id="{B76A5C27-655B-4DCA-A039-1C022873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076950"/>
            <a:ext cx="3409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13" name="profile-51">
            <a:extLst xmlns:a="http://schemas.openxmlformats.org/drawingml/2006/main">
              <a:ext uri="{FF2B5EF4-FFF2-40B4-BE49-F238E27FC236}">
                <a16:creationId xmlns:a16="http://schemas.microsoft.com/office/drawing/2014/main" id="{F5ED2A36-DEB7-4AE3-9ABD-43AC4181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4" name="profile-52">
            <a:extLst xmlns:a="http://schemas.openxmlformats.org/drawingml/2006/main">
              <a:ext uri="{FF2B5EF4-FFF2-40B4-BE49-F238E27FC236}">
                <a16:creationId xmlns:a16="http://schemas.microsoft.com/office/drawing/2014/main" id="{54712D69-90C6-421D-BA06-F8B3FF80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67525"/>
            <a:ext cx="6343650" cy="3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Actual siphoning work</a:t>
            </a:r>
          </a:p>
        </p:txBody>
      </p:sp>
      <p:sp>
        <p:nvSpPr>
          <p:cNvPr id="15" name="profile-53">
            <a:extLst xmlns:a="http://schemas.openxmlformats.org/drawingml/2006/main">
              <a:ext uri="{FF2B5EF4-FFF2-40B4-BE49-F238E27FC236}">
                <a16:creationId xmlns:a16="http://schemas.microsoft.com/office/drawing/2014/main" id="{D0215B24-506E-4032-9926-B95AC739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58050"/>
            <a:ext cx="634365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Same site before and after service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ddcf74b6c4f01"/>
          <a:srcRect xmlns:a="http://schemas.openxmlformats.org/drawingml/2006/main" l="0" t="31186" r="0" b="311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7629525"/>
            <a:ext cx="3105150" cy="175260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669e53e924ac5"/>
          <a:srcRect xmlns:a="http://schemas.openxmlformats.org/drawingml/2006/main" l="0" t="31186" r="0" b="311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8100" y="7629525"/>
            <a:ext cx="3105150" cy="1752600"/>
          </a:xfrm>
          <a:prstGeom xmlns:a="http://schemas.openxmlformats.org/drawingml/2006/main" prst="rect">
            <a:avLst/>
          </a:prstGeom>
        </p:spPr>
      </p:pic>
      <p:sp>
        <p:nvSpPr>
          <p:cNvPr id="18" name="profile-54">
            <a:extLst xmlns:a="http://schemas.openxmlformats.org/drawingml/2006/main">
              <a:ext uri="{FF2B5EF4-FFF2-40B4-BE49-F238E27FC236}">
                <a16:creationId xmlns:a16="http://schemas.microsoft.com/office/drawing/2014/main" id="{7805F82B-EE8B-498F-86E8-17FFB3E9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15475"/>
            <a:ext cx="31051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Before service</a:t>
            </a:r>
          </a:p>
        </p:txBody>
      </p:sp>
      <p:sp>
        <p:nvSpPr>
          <p:cNvPr id="19" name="profile-55">
            <a:extLst xmlns:a="http://schemas.openxmlformats.org/drawingml/2006/main">
              <a:ext uri="{FF2B5EF4-FFF2-40B4-BE49-F238E27FC236}">
                <a16:creationId xmlns:a16="http://schemas.microsoft.com/office/drawing/2014/main" id="{DA65F4F0-D07F-44EB-AB37-FE522B1C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9515475"/>
            <a:ext cx="31051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After service</a:t>
            </a:r>
          </a:p>
        </p:txBody>
      </p:sp>
      <p:sp>
        <p:nvSpPr>
          <p:cNvPr id="20" name="profile-56">
            <a:extLst xmlns:a="http://schemas.openxmlformats.org/drawingml/2006/main">
              <a:ext uri="{FF2B5EF4-FFF2-40B4-BE49-F238E27FC236}">
                <a16:creationId xmlns:a16="http://schemas.microsoft.com/office/drawing/2014/main" id="{E065F0B3-3D6C-4D1E-BF76-A6DDD062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0"/>
            <a:ext cx="63436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Scope follows site access and tank or pipe conditions.</a:t>
            </a:r>
          </a:p>
        </p:txBody>
      </p:sp>
      <p:sp>
        <p:nvSpPr>
          <p:cNvPr id="21" name="profile-57">
            <a:extLst xmlns:a="http://schemas.openxmlformats.org/drawingml/2006/main">
              <a:ext uri="{FF2B5EF4-FFF2-40B4-BE49-F238E27FC236}">
                <a16:creationId xmlns:a16="http://schemas.microsoft.com/office/drawing/2014/main" id="{1FD8C51E-2452-4265-AEEB-8C7503E2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2" name="profile-58">
            <a:extLst xmlns:a="http://schemas.openxmlformats.org/drawingml/2006/main">
              <a:ext uri="{FF2B5EF4-FFF2-40B4-BE49-F238E27FC236}">
                <a16:creationId xmlns:a16="http://schemas.microsoft.com/office/drawing/2014/main" id="{96EF1D63-DD8C-4A0D-8053-DA357D78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3" name="profile-59">
            <a:extLst xmlns:a="http://schemas.openxmlformats.org/drawingml/2006/main">
              <a:ext uri="{FF2B5EF4-FFF2-40B4-BE49-F238E27FC236}">
                <a16:creationId xmlns:a16="http://schemas.microsoft.com/office/drawing/2014/main" id="{E09AC66D-36EC-4AAD-B17D-6268F44A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25377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rofile-60">
            <a:extLst xmlns:a="http://schemas.openxmlformats.org/drawingml/2006/main">
              <a:ext uri="{FF2B5EF4-FFF2-40B4-BE49-F238E27FC236}">
                <a16:creationId xmlns:a16="http://schemas.microsoft.com/office/drawing/2014/main" id="{FC71663F-60A4-4848-AB58-AC7D1557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" name="profile-61">
            <a:extLst xmlns:a="http://schemas.openxmlformats.org/drawingml/2006/main">
              <a:ext uri="{FF2B5EF4-FFF2-40B4-BE49-F238E27FC236}">
                <a16:creationId xmlns:a16="http://schemas.microsoft.com/office/drawing/2014/main" id="{C6027848-B022-4FFB-B813-698F669C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3" name="profile-62">
            <a:extLst xmlns:a="http://schemas.openxmlformats.org/drawingml/2006/main">
              <a:ext uri="{FF2B5EF4-FFF2-40B4-BE49-F238E27FC236}">
                <a16:creationId xmlns:a16="http://schemas.microsoft.com/office/drawing/2014/main" id="{663EE627-1893-4F7F-82EA-3F7086CB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Renovation &amp;</a:t>
            </a:r>
          </a:p>
        </p:txBody>
      </p:sp>
      <p:sp>
        <p:nvSpPr>
          <p:cNvPr id="4" name="profile-63">
            <a:extLst xmlns:a="http://schemas.openxmlformats.org/drawingml/2006/main">
              <a:ext uri="{FF2B5EF4-FFF2-40B4-BE49-F238E27FC236}">
                <a16:creationId xmlns:a16="http://schemas.microsoft.com/office/drawing/2014/main" id="{297EAAAE-6F1E-4D7B-BC02-9AC7BDEB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restoration</a:t>
            </a:r>
          </a:p>
        </p:txBody>
      </p:sp>
      <p:sp>
        <p:nvSpPr>
          <p:cNvPr id="5" name="profile-64">
            <a:extLst xmlns:a="http://schemas.openxmlformats.org/drawingml/2006/main">
              <a:ext uri="{FF2B5EF4-FFF2-40B4-BE49-F238E27FC236}">
                <a16:creationId xmlns:a16="http://schemas.microsoft.com/office/drawing/2014/main" id="{289B4662-BFD7-441E-B1C9-E28F36C3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Repair and improvement work for houses and condominiums.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af9ce34a542f4"/>
          <a:stretch xmlns:a="http://schemas.openxmlformats.org/drawingml/2006/main"/>
        </p:blipFill>
        <p:spPr>
          <a:xfrm xmlns:a="http://schemas.openxmlformats.org/drawingml/2006/main">
            <a:off x="609600" y="3419475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7" name="profile-65">
            <a:extLst xmlns:a="http://schemas.openxmlformats.org/drawingml/2006/main">
              <a:ext uri="{FF2B5EF4-FFF2-40B4-BE49-F238E27FC236}">
                <a16:creationId xmlns:a16="http://schemas.microsoft.com/office/drawing/2014/main" id="{46A0BB03-67C1-495D-85D8-0EFA8017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72400"/>
            <a:ext cx="6343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8" name="profile-66">
            <a:extLst xmlns:a="http://schemas.openxmlformats.org/drawingml/2006/main">
              <a:ext uri="{FF2B5EF4-FFF2-40B4-BE49-F238E27FC236}">
                <a16:creationId xmlns:a16="http://schemas.microsoft.com/office/drawing/2014/main" id="{C44ACCC9-FBB2-4148-AB66-818DA304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010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Ceilings</a:t>
            </a:r>
          </a:p>
        </p:txBody>
      </p:sp>
      <p:sp>
        <p:nvSpPr>
          <p:cNvPr id="9" name="profile-67">
            <a:extLst xmlns:a="http://schemas.openxmlformats.org/drawingml/2006/main">
              <a:ext uri="{FF2B5EF4-FFF2-40B4-BE49-F238E27FC236}">
                <a16:creationId xmlns:a16="http://schemas.microsoft.com/office/drawing/2014/main" id="{E7660D36-1274-48AB-A3B7-BDB560F5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53450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Repair and replacement</a:t>
            </a:r>
          </a:p>
        </p:txBody>
      </p:sp>
      <p:sp>
        <p:nvSpPr>
          <p:cNvPr id="10" name="profile-68">
            <a:extLst xmlns:a="http://schemas.openxmlformats.org/drawingml/2006/main">
              <a:ext uri="{FF2B5EF4-FFF2-40B4-BE49-F238E27FC236}">
                <a16:creationId xmlns:a16="http://schemas.microsoft.com/office/drawing/2014/main" id="{E245B69E-1EC8-4C48-92E5-BAE6E9EC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2010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Water protection</a:t>
            </a:r>
          </a:p>
        </p:txBody>
      </p:sp>
      <p:sp>
        <p:nvSpPr>
          <p:cNvPr id="11" name="profile-69">
            <a:extLst xmlns:a="http://schemas.openxmlformats.org/drawingml/2006/main">
              <a:ext uri="{FF2B5EF4-FFF2-40B4-BE49-F238E27FC236}">
                <a16:creationId xmlns:a16="http://schemas.microsoft.com/office/drawing/2014/main" id="{978256D4-9B8C-41A7-9BED-0AD276A3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553450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Roof leak repair and waterproofing</a:t>
            </a:r>
          </a:p>
        </p:txBody>
      </p:sp>
      <p:sp>
        <p:nvSpPr>
          <p:cNvPr id="12" name="profile-70">
            <a:extLst xmlns:a="http://schemas.openxmlformats.org/drawingml/2006/main">
              <a:ext uri="{FF2B5EF4-FFF2-40B4-BE49-F238E27FC236}">
                <a16:creationId xmlns:a16="http://schemas.microsoft.com/office/drawing/2014/main" id="{3C3088CA-9247-419A-8CB6-B06E671F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297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Renovation &amp; restoration</a:t>
            </a:r>
          </a:p>
        </p:txBody>
      </p:sp>
      <p:sp>
        <p:nvSpPr>
          <p:cNvPr id="13" name="profile-71">
            <a:extLst xmlns:a="http://schemas.openxmlformats.org/drawingml/2006/main">
              <a:ext uri="{FF2B5EF4-FFF2-40B4-BE49-F238E27FC236}">
                <a16:creationId xmlns:a16="http://schemas.microsoft.com/office/drawing/2014/main" id="{65590964-5050-498B-944C-C58DD703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82125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Houses and condominiums</a:t>
            </a:r>
          </a:p>
        </p:txBody>
      </p:sp>
      <p:sp>
        <p:nvSpPr>
          <p:cNvPr id="14" name="profile-72">
            <a:extLst xmlns:a="http://schemas.openxmlformats.org/drawingml/2006/main">
              <a:ext uri="{FF2B5EF4-FFF2-40B4-BE49-F238E27FC236}">
                <a16:creationId xmlns:a16="http://schemas.microsoft.com/office/drawing/2014/main" id="{B673CA65-B9FE-44ED-8E54-8EF63264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0297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Cleaning</a:t>
            </a:r>
          </a:p>
        </p:txBody>
      </p:sp>
      <p:sp>
        <p:nvSpPr>
          <p:cNvPr id="15" name="profile-73">
            <a:extLst xmlns:a="http://schemas.openxmlformats.org/drawingml/2006/main">
              <a:ext uri="{FF2B5EF4-FFF2-40B4-BE49-F238E27FC236}">
                <a16:creationId xmlns:a16="http://schemas.microsoft.com/office/drawing/2014/main" id="{06D634D5-415A-4D65-8087-D13F4957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382125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 cleaning to agreed scope</a:t>
            </a:r>
          </a:p>
        </p:txBody>
      </p:sp>
      <p:sp>
        <p:nvSpPr>
          <p:cNvPr id="16" name="profile-74">
            <a:extLst xmlns:a="http://schemas.openxmlformats.org/drawingml/2006/main">
              <a:ext uri="{FF2B5EF4-FFF2-40B4-BE49-F238E27FC236}">
                <a16:creationId xmlns:a16="http://schemas.microsoft.com/office/drawing/2014/main" id="{694632A2-F20F-4F7A-817F-A2AC35C1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7" name="profile-75">
            <a:extLst xmlns:a="http://schemas.openxmlformats.org/drawingml/2006/main">
              <a:ext uri="{FF2B5EF4-FFF2-40B4-BE49-F238E27FC236}">
                <a16:creationId xmlns:a16="http://schemas.microsoft.com/office/drawing/2014/main" id="{2B12E654-19C3-47BF-96D4-4E0D62BD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18" name="profile-76">
            <a:extLst xmlns:a="http://schemas.openxmlformats.org/drawingml/2006/main">
              <a:ext uri="{FF2B5EF4-FFF2-40B4-BE49-F238E27FC236}">
                <a16:creationId xmlns:a16="http://schemas.microsoft.com/office/drawing/2014/main" id="{E2F1153C-ECB7-46D7-992A-6E49D4F9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098275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rofile-77">
            <a:extLst xmlns:a="http://schemas.openxmlformats.org/drawingml/2006/main">
              <a:ext uri="{FF2B5EF4-FFF2-40B4-BE49-F238E27FC236}">
                <a16:creationId xmlns:a16="http://schemas.microsoft.com/office/drawing/2014/main" id="{2FC3FA96-10AA-4269-951E-7310BC77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" name="profile-78">
            <a:extLst xmlns:a="http://schemas.openxmlformats.org/drawingml/2006/main">
              <a:ext uri="{FF2B5EF4-FFF2-40B4-BE49-F238E27FC236}">
                <a16:creationId xmlns:a16="http://schemas.microsoft.com/office/drawing/2014/main" id="{B553DD27-6332-48A8-8363-D8930B48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efc9e39c44ee4"/>
          <a:stretch xmlns:a="http://schemas.openxmlformats.org/drawingml/2006/main"/>
        </p:blipFill>
        <p:spPr>
          <a:xfrm xmlns:a="http://schemas.openxmlformats.org/drawingml/2006/main">
            <a:off x="609600" y="1257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4" name="profile-79">
            <a:extLst xmlns:a="http://schemas.openxmlformats.org/drawingml/2006/main">
              <a:ext uri="{FF2B5EF4-FFF2-40B4-BE49-F238E27FC236}">
                <a16:creationId xmlns:a16="http://schemas.microsoft.com/office/drawing/2014/main" id="{489F2998-E18A-4744-B481-378799ED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6343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5" name="profile-80">
            <a:extLst xmlns:a="http://schemas.openxmlformats.org/drawingml/2006/main">
              <a:ext uri="{FF2B5EF4-FFF2-40B4-BE49-F238E27FC236}">
                <a16:creationId xmlns:a16="http://schemas.microsoft.com/office/drawing/2014/main" id="{EA232339-5D82-4366-B529-A4D3E500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634365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Pest control</a:t>
            </a:r>
          </a:p>
        </p:txBody>
      </p:sp>
      <p:sp>
        <p:nvSpPr>
          <p:cNvPr id="6" name="profile-81">
            <a:extLst xmlns:a="http://schemas.openxmlformats.org/drawingml/2006/main">
              <a:ext uri="{FF2B5EF4-FFF2-40B4-BE49-F238E27FC236}">
                <a16:creationId xmlns:a16="http://schemas.microsoft.com/office/drawing/2014/main" id="{C9F9756E-41D1-4BCE-B62D-17E0F7BC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0562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Pest control services based on an assessment of the property and the</a:t>
            </a:r>
          </a:p>
        </p:txBody>
      </p:sp>
      <p:sp>
        <p:nvSpPr>
          <p:cNvPr id="7" name="profile-82">
            <a:extLst xmlns:a="http://schemas.openxmlformats.org/drawingml/2006/main">
              <a:ext uri="{FF2B5EF4-FFF2-40B4-BE49-F238E27FC236}">
                <a16:creationId xmlns:a16="http://schemas.microsoft.com/office/drawing/2014/main" id="{CDAEF9E6-EFC4-4984-B1F1-1E5781A4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00900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pest concerns reported by the client.</a:t>
            </a:r>
          </a:p>
        </p:txBody>
      </p:sp>
      <p:sp>
        <p:nvSpPr>
          <p:cNvPr id="8" name="profile-83">
            <a:extLst xmlns:a="http://schemas.openxmlformats.org/drawingml/2006/main">
              <a:ext uri="{FF2B5EF4-FFF2-40B4-BE49-F238E27FC236}">
                <a16:creationId xmlns:a16="http://schemas.microsoft.com/office/drawing/2014/main" id="{D1CA15FF-6F7A-40BC-8177-F8323478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9" name="profile-84">
            <a:extLst xmlns:a="http://schemas.openxmlformats.org/drawingml/2006/main">
              <a:ext uri="{FF2B5EF4-FFF2-40B4-BE49-F238E27FC236}">
                <a16:creationId xmlns:a16="http://schemas.microsoft.com/office/drawing/2014/main" id="{8FF6BBC3-3D7C-4E42-BFAE-7697EC11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72425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Assessment of pest activity</a:t>
            </a:r>
          </a:p>
        </p:txBody>
      </p:sp>
      <p:sp>
        <p:nvSpPr>
          <p:cNvPr id="10" name="profile-85">
            <a:extLst xmlns:a="http://schemas.openxmlformats.org/drawingml/2006/main">
              <a:ext uri="{FF2B5EF4-FFF2-40B4-BE49-F238E27FC236}">
                <a16:creationId xmlns:a16="http://schemas.microsoft.com/office/drawing/2014/main" id="{1780D4C1-252C-4A81-B3D6-A72CE321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6295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1" name="profile-86">
            <a:extLst xmlns:a="http://schemas.openxmlformats.org/drawingml/2006/main">
              <a:ext uri="{FF2B5EF4-FFF2-40B4-BE49-F238E27FC236}">
                <a16:creationId xmlns:a16="http://schemas.microsoft.com/office/drawing/2014/main" id="{4AC7FE68-6953-4709-ADCF-A4F1563A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24875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Treatment scope based on site findings</a:t>
            </a:r>
          </a:p>
        </p:txBody>
      </p:sp>
      <p:sp>
        <p:nvSpPr>
          <p:cNvPr id="12" name="profile-87">
            <a:extLst xmlns:a="http://schemas.openxmlformats.org/drawingml/2006/main">
              <a:ext uri="{FF2B5EF4-FFF2-40B4-BE49-F238E27FC236}">
                <a16:creationId xmlns:a16="http://schemas.microsoft.com/office/drawing/2014/main" id="{FC1581BF-8795-4C9E-A97D-2CF2483F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1540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3" name="profile-88">
            <a:extLst xmlns:a="http://schemas.openxmlformats.org/drawingml/2006/main">
              <a:ext uri="{FF2B5EF4-FFF2-40B4-BE49-F238E27FC236}">
                <a16:creationId xmlns:a16="http://schemas.microsoft.com/office/drawing/2014/main" id="{AD4675AD-743E-40AE-96EB-7F386ECC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77325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Service scheduling and contractor coordination</a:t>
            </a:r>
          </a:p>
        </p:txBody>
      </p:sp>
      <p:sp>
        <p:nvSpPr>
          <p:cNvPr id="14" name="profile-89">
            <a:extLst xmlns:a="http://schemas.openxmlformats.org/drawingml/2006/main">
              <a:ext uri="{FF2B5EF4-FFF2-40B4-BE49-F238E27FC236}">
                <a16:creationId xmlns:a16="http://schemas.microsoft.com/office/drawing/2014/main" id="{DCDACDE9-421F-44B3-A9B6-21E87BB8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63125"/>
            <a:ext cx="63436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Treatment and specialist requirements follow the site assessment.</a:t>
            </a:r>
          </a:p>
        </p:txBody>
      </p:sp>
      <p:sp>
        <p:nvSpPr>
          <p:cNvPr id="15" name="profile-90">
            <a:extLst xmlns:a="http://schemas.openxmlformats.org/drawingml/2006/main">
              <a:ext uri="{FF2B5EF4-FFF2-40B4-BE49-F238E27FC236}">
                <a16:creationId xmlns:a16="http://schemas.microsoft.com/office/drawing/2014/main" id="{71287BFD-7266-4605-B322-F0A5421B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6" name="profile-91">
            <a:extLst xmlns:a="http://schemas.openxmlformats.org/drawingml/2006/main">
              <a:ext uri="{FF2B5EF4-FFF2-40B4-BE49-F238E27FC236}">
                <a16:creationId xmlns:a16="http://schemas.microsoft.com/office/drawing/2014/main" id="{56D2C57E-3E3B-4AF6-BA92-5EC7C52B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17" name="profile-92">
            <a:extLst xmlns:a="http://schemas.openxmlformats.org/drawingml/2006/main">
              <a:ext uri="{FF2B5EF4-FFF2-40B4-BE49-F238E27FC236}">
                <a16:creationId xmlns:a16="http://schemas.microsoft.com/office/drawing/2014/main" id="{286D5624-7F43-49E0-A937-2D6598A4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626997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F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rofile-93">
            <a:extLst xmlns:a="http://schemas.openxmlformats.org/drawingml/2006/main">
              <a:ext uri="{FF2B5EF4-FFF2-40B4-BE49-F238E27FC236}">
                <a16:creationId xmlns:a16="http://schemas.microsoft.com/office/drawing/2014/main" id="{732D60A3-0873-4D6A-8A54-56A786C1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5048250" cy="353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331af0a64461b"/>
          <a:stretch xmlns:a="http://schemas.openxmlformats.org/drawingml/2006/main"/>
        </p:blipFill>
        <p:spPr>
          <a:xfrm xmlns:a="http://schemas.openxmlformats.org/drawingml/2006/main">
            <a:off x="6115050" y="276225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3" name="profile-94">
            <a:extLst xmlns:a="http://schemas.openxmlformats.org/drawingml/2006/main">
              <a:ext uri="{FF2B5EF4-FFF2-40B4-BE49-F238E27FC236}">
                <a16:creationId xmlns:a16="http://schemas.microsoft.com/office/drawing/2014/main" id="{B955FCC1-7B1F-4677-BC41-28C0BD14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343650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Your next step</a:t>
            </a:r>
          </a:p>
        </p:txBody>
      </p:sp>
      <p:sp>
        <p:nvSpPr>
          <p:cNvPr id="4" name="profile-95">
            <a:extLst xmlns:a="http://schemas.openxmlformats.org/drawingml/2006/main">
              <a:ext uri="{FF2B5EF4-FFF2-40B4-BE49-F238E27FC236}">
                <a16:creationId xmlns:a16="http://schemas.microsoft.com/office/drawing/2014/main" id="{C32FCB56-097B-4CC8-953F-5F562685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343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Site assessment</a:t>
            </a:r>
          </a:p>
        </p:txBody>
      </p:sp>
      <p:sp>
        <p:nvSpPr>
          <p:cNvPr id="5" name="profile-96">
            <a:extLst xmlns:a="http://schemas.openxmlformats.org/drawingml/2006/main">
              <a:ext uri="{FF2B5EF4-FFF2-40B4-BE49-F238E27FC236}">
                <a16:creationId xmlns:a16="http://schemas.microsoft.com/office/drawing/2014/main" id="{F111E71E-6F69-40B2-B2E8-E8D93B9C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343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Written quotation</a:t>
            </a:r>
          </a:p>
        </p:txBody>
      </p:sp>
      <p:sp>
        <p:nvSpPr>
          <p:cNvPr id="6" name="profile-97">
            <a:extLst xmlns:a="http://schemas.openxmlformats.org/drawingml/2006/main">
              <a:ext uri="{FF2B5EF4-FFF2-40B4-BE49-F238E27FC236}">
                <a16:creationId xmlns:a16="http://schemas.microsoft.com/office/drawing/2014/main" id="{1830B1BA-3980-48C1-99D6-D7F1BA93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Tell us the service, site location and preferred inspection schedule.</a:t>
            </a:r>
          </a:p>
        </p:txBody>
      </p:sp>
      <p:sp>
        <p:nvSpPr>
          <p:cNvPr id="7" name="profile-98">
            <a:extLst xmlns:a="http://schemas.openxmlformats.org/drawingml/2006/main">
              <a:ext uri="{FF2B5EF4-FFF2-40B4-BE49-F238E27FC236}">
                <a16:creationId xmlns:a16="http://schemas.microsoft.com/office/drawing/2014/main" id="{A68CEC96-CF0F-4CD0-8F55-08A48F41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6343650" cy="601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0917 671 6383</a:t>
            </a:r>
          </a:p>
        </p:txBody>
      </p:sp>
      <p:sp>
        <p:nvSpPr>
          <p:cNvPr id="8" name="profile-99">
            <a:extLst xmlns:a="http://schemas.openxmlformats.org/drawingml/2006/main">
              <a:ext uri="{FF2B5EF4-FFF2-40B4-BE49-F238E27FC236}">
                <a16:creationId xmlns:a16="http://schemas.microsoft.com/office/drawing/2014/main" id="{7C09FCC7-B834-4D4D-A004-449719E0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63436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marketing@oceanidessepticandpest.com</a:t>
            </a:r>
          </a:p>
        </p:txBody>
      </p:sp>
      <p:sp>
        <p:nvSpPr>
          <p:cNvPr id="9" name="profile-100">
            <a:extLst xmlns:a="http://schemas.openxmlformats.org/drawingml/2006/main">
              <a:ext uri="{FF2B5EF4-FFF2-40B4-BE49-F238E27FC236}">
                <a16:creationId xmlns:a16="http://schemas.microsoft.com/office/drawing/2014/main" id="{4C47528C-B4FB-4C00-8E77-13ED7DFE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634365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C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ABCD3"/>
                </a:solidFill>
                <a:latin typeface="Arial"/>
                <a:ea typeface="Arial"/>
                <a:cs typeface="Arial"/>
              </a:rPr>
              <a:t>Globe</a:t>
            </a:r>
          </a:p>
        </p:txBody>
      </p:sp>
      <p:sp>
        <p:nvSpPr>
          <p:cNvPr id="10" name="profile-101">
            <a:extLst xmlns:a="http://schemas.openxmlformats.org/drawingml/2006/main">
              <a:ext uri="{FF2B5EF4-FFF2-40B4-BE49-F238E27FC236}">
                <a16:creationId xmlns:a16="http://schemas.microsoft.com/office/drawing/2014/main" id="{C856B77E-061E-4CB1-87D9-30D10663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6343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Tramo Street Corner Dandan, Pasay City, Philippines 1300</a:t>
            </a:r>
          </a:p>
        </p:txBody>
      </p:sp>
      <p:sp>
        <p:nvSpPr>
          <p:cNvPr id="11" name="profile-102">
            <a:extLst xmlns:a="http://schemas.openxmlformats.org/drawingml/2006/main">
              <a:ext uri="{FF2B5EF4-FFF2-40B4-BE49-F238E27FC236}">
                <a16:creationId xmlns:a16="http://schemas.microsoft.com/office/drawing/2014/main" id="{75AA22C2-3C69-4D3E-83A1-D45D598F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D5F"/>
          </a:solidFill>
          <a:ln xmlns:a="http://schemas.openxmlformats.org/drawingml/2006/main" w="0">
            <a:noFill/>
          </a:ln>
        </p:spPr>
      </p:sp>
      <p:sp>
        <p:nvSpPr>
          <p:cNvPr id="12" name="profile-103">
            <a:extLst xmlns:a="http://schemas.openxmlformats.org/drawingml/2006/main">
              <a:ext uri="{FF2B5EF4-FFF2-40B4-BE49-F238E27FC236}">
                <a16:creationId xmlns:a16="http://schemas.microsoft.com/office/drawing/2014/main" id="{408E0040-5986-4F16-96AE-49C2BE6B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24675"/>
            <a:ext cx="63436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Supplier accreditation</a:t>
            </a:r>
          </a:p>
        </p:txBody>
      </p:sp>
      <p:sp>
        <p:nvSpPr>
          <p:cNvPr id="13" name="profile-104">
            <a:extLst xmlns:a="http://schemas.openxmlformats.org/drawingml/2006/main">
              <a:ext uri="{FF2B5EF4-FFF2-40B4-BE49-F238E27FC236}">
                <a16:creationId xmlns:a16="http://schemas.microsoft.com/office/drawing/2014/main" id="{3A8C566E-739D-41C7-B3C9-9F7DD53D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15200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Share your procurement requirements. Oceanides can coordinate the company</a:t>
            </a:r>
          </a:p>
        </p:txBody>
      </p:sp>
      <p:sp>
        <p:nvSpPr>
          <p:cNvPr id="14" name="profile-105">
            <a:extLst xmlns:a="http://schemas.openxmlformats.org/drawingml/2006/main">
              <a:ext uri="{FF2B5EF4-FFF2-40B4-BE49-F238E27FC236}">
                <a16:creationId xmlns:a16="http://schemas.microsoft.com/office/drawing/2014/main" id="{56311659-AE7D-42B5-9E86-A965173B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72375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documents and project information for your review.</a:t>
            </a:r>
          </a:p>
        </p:txBody>
      </p:sp>
      <p:sp>
        <p:nvSpPr>
          <p:cNvPr id="15" name="profile-106">
            <a:extLst xmlns:a="http://schemas.openxmlformats.org/drawingml/2006/main">
              <a:ext uri="{FF2B5EF4-FFF2-40B4-BE49-F238E27FC236}">
                <a16:creationId xmlns:a16="http://schemas.microsoft.com/office/drawing/2014/main" id="{0F75F925-18FB-4456-AA1B-7687F5E4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96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Site assessment</a:t>
            </a:r>
          </a:p>
        </p:txBody>
      </p:sp>
      <p:sp>
        <p:nvSpPr>
          <p:cNvPr id="16" name="profile-107">
            <a:extLst xmlns:a="http://schemas.openxmlformats.org/drawingml/2006/main">
              <a:ext uri="{FF2B5EF4-FFF2-40B4-BE49-F238E27FC236}">
                <a16:creationId xmlns:a16="http://schemas.microsoft.com/office/drawing/2014/main" id="{4301873F-AA7C-4F43-8ED9-584A1792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10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Review the site and requirements.</a:t>
            </a:r>
          </a:p>
        </p:txBody>
      </p:sp>
      <p:sp>
        <p:nvSpPr>
          <p:cNvPr id="17" name="profile-108">
            <a:extLst xmlns:a="http://schemas.openxmlformats.org/drawingml/2006/main">
              <a:ext uri="{FF2B5EF4-FFF2-40B4-BE49-F238E27FC236}">
                <a16:creationId xmlns:a16="http://schemas.microsoft.com/office/drawing/2014/main" id="{91AAC782-263C-4A04-A787-47311ADF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296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Written quotation</a:t>
            </a:r>
          </a:p>
        </p:txBody>
      </p:sp>
      <p:sp>
        <p:nvSpPr>
          <p:cNvPr id="18" name="profile-109">
            <a:extLst xmlns:a="http://schemas.openxmlformats.org/drawingml/2006/main">
              <a:ext uri="{FF2B5EF4-FFF2-40B4-BE49-F238E27FC236}">
                <a16:creationId xmlns:a16="http://schemas.microsoft.com/office/drawing/2014/main" id="{2357ED3F-D67F-46B8-B06D-10EC31E0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610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Confirm the proposed scope and price.</a:t>
            </a:r>
          </a:p>
        </p:txBody>
      </p:sp>
      <p:sp>
        <p:nvSpPr>
          <p:cNvPr id="19" name="profile-110">
            <a:extLst xmlns:a="http://schemas.openxmlformats.org/drawingml/2006/main">
              <a:ext uri="{FF2B5EF4-FFF2-40B4-BE49-F238E27FC236}">
                <a16:creationId xmlns:a16="http://schemas.microsoft.com/office/drawing/2014/main" id="{231F7538-4231-48C1-A269-313427FE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58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 coordination</a:t>
            </a:r>
          </a:p>
        </p:txBody>
      </p:sp>
      <p:sp>
        <p:nvSpPr>
          <p:cNvPr id="20" name="profile-111">
            <a:extLst xmlns:a="http://schemas.openxmlformats.org/drawingml/2006/main">
              <a:ext uri="{FF2B5EF4-FFF2-40B4-BE49-F238E27FC236}">
                <a16:creationId xmlns:a16="http://schemas.microsoft.com/office/drawing/2014/main" id="{65926B60-F4EF-4CCE-87B0-51753EAA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72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Arrange the field team or specialist.</a:t>
            </a:r>
          </a:p>
        </p:txBody>
      </p:sp>
      <p:sp>
        <p:nvSpPr>
          <p:cNvPr id="21" name="profile-112">
            <a:extLst xmlns:a="http://schemas.openxmlformats.org/drawingml/2006/main">
              <a:ext uri="{FF2B5EF4-FFF2-40B4-BE49-F238E27FC236}">
                <a16:creationId xmlns:a16="http://schemas.microsoft.com/office/drawing/2014/main" id="{1DA3A638-1318-47AC-B7A5-09AF8B1E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058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Turnover</a:t>
            </a:r>
          </a:p>
        </p:txBody>
      </p:sp>
      <p:sp>
        <p:nvSpPr>
          <p:cNvPr id="22" name="profile-113">
            <a:extLst xmlns:a="http://schemas.openxmlformats.org/drawingml/2006/main">
              <a:ext uri="{FF2B5EF4-FFF2-40B4-BE49-F238E27FC236}">
                <a16:creationId xmlns:a16="http://schemas.microsoft.com/office/drawing/2014/main" id="{A4377825-0301-4A3F-8B65-B41E829F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372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Review the agreed work with the client.</a:t>
            </a:r>
          </a:p>
        </p:txBody>
      </p:sp>
      <p:sp>
        <p:nvSpPr>
          <p:cNvPr id="23" name="profile-114">
            <a:extLst xmlns:a="http://schemas.openxmlformats.org/drawingml/2006/main">
              <a:ext uri="{FF2B5EF4-FFF2-40B4-BE49-F238E27FC236}">
                <a16:creationId xmlns:a16="http://schemas.microsoft.com/office/drawing/2014/main" id="{1A4AF75F-7D27-4707-92F5-2A896AC4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345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D5F"/>
          </a:solidFill>
          <a:ln xmlns:a="http://schemas.openxmlformats.org/drawingml/2006/main" w="0">
            <a:noFill/>
          </a:ln>
        </p:spPr>
      </p:sp>
      <p:sp>
        <p:nvSpPr>
          <p:cNvPr id="24" name="profile-115">
            <a:extLst xmlns:a="http://schemas.openxmlformats.org/drawingml/2006/main">
              <a:ext uri="{FF2B5EF4-FFF2-40B4-BE49-F238E27FC236}">
                <a16:creationId xmlns:a16="http://schemas.microsoft.com/office/drawing/2014/main" id="{5895E26F-C1D1-4752-9322-69847DF7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25075"/>
            <a:ext cx="63436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Oceanides Plumbing Siphoning &amp; Pest Management Services OPC</a:t>
            </a:r>
          </a:p>
        </p:txBody>
      </p:sp>
      <p:sp>
        <p:nvSpPr>
          <p:cNvPr id="25" name="profile-116">
            <a:extLst xmlns:a="http://schemas.openxmlformats.org/drawingml/2006/main">
              <a:ext uri="{FF2B5EF4-FFF2-40B4-BE49-F238E27FC236}">
                <a16:creationId xmlns:a16="http://schemas.microsoft.com/office/drawing/2014/main" id="{6E39EBAD-EB95-4436-B0A2-6E1E60B3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0"/>
            <a:ext cx="6343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CD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ABCD3"/>
                </a:solidFill>
                <a:latin typeface="Arial"/>
                <a:ea typeface="Arial"/>
                <a:cs typeface="Arial"/>
              </a:rPr>
              <a:t>Final scope, pricing and scheduling depend on the site assessment and the agreed quotation.</a:t>
            </a:r>
          </a:p>
        </p:txBody>
      </p:sp>
    </p:spTree>
    <p:extLst>
      <p:ext uri="{BB962C8B-B14F-4D97-AF65-F5344CB8AC3E}">
        <p14:creationId xmlns:p14="http://schemas.microsoft.com/office/powerpoint/2010/main" val="1061693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2026-10-01T13:52:06.1650000Z</dcterms:created>
  <dcterms:modified xsi:type="dcterms:W3CDTF">2026-10-01T13:52:06.1650000Z</dcterms:modified>
</coreProperties>
</file>