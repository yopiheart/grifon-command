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Corbel" panose="020B0503020204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Stock architecture: To Tao/Pexels, https://www.pexels.com/photo/windows-in-modern-office-building-14765373/ . License: https://www.pexels.com/license/ . Illustrative use only, not an Oceanides project.</a:t>
            </a:r>
          </a:p>
          <a:p>
            <a:r>
              <a:t>This cover replaces the former white home-cutaway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Founding year: the user-provided Oceanides.pptx, slide 1, states "Oceanides Plumbing Services was established in 2021".</a:t>
            </a:r>
          </a:p>
          <a:p>
            <a:r>
              <a:t>No additional milestone dates, founders or achieved accreditations are inferred.</a:t>
            </a:r>
          </a:p>
          <a:p>
            <a:r>
              <a:t>Mission: Provide professional service through clear assessment, practical solutions and cost-conscious planning.</a:t>
            </a:r>
          </a:p>
          <a:p>
            <a:r>
              <a:t>Vision: Be a trusted service partner for the care and upkeep of homes and facilities.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All five approved service groups are represented. Service details remain subject to the assessed site and agreed quotation.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Original source files: clients/oceanides/assets/before-1.jpg and after-1.jpg.</a:t>
            </a:r>
          </a:p>
          <a:p>
            <a:r>
              <a:t>The AI-recreated tb2-ba2 pair is excluded. Original proportions are preserved without cropping.</a:t>
            </a:r>
          </a:p>
          <a:p>
            <a:r>
              <a:t>Photographs document this specific service, not a guarantee for every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Illustration: company-profile/assets/plumbing-service.png. It does not depict Oceanides personnel or a completed project. Working hands, wrench and pipe remain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All approved renovation and restoration scopes retained, including ceiling replacement, roof leaks, waterproofing and house cleaning.</a:t>
            </a:r>
          </a:p>
          <a:p>
            <a:r>
              <a:t>Illustration: company-profile/assets/renovation-service.png. It is not evidence of Oceanides personnel or a completed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Pest service is presented as assessment-led planning and coordination. No unsupported pesticide, licensing, treatment guarantee or staff claim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Suitability depends on wastewater volume, available space, outlet requirements and operating costs. Capacity, treatment performance and maintenance follow the agreed technical proposal. Sludge removal and equipment care continue after installation.</a:t>
            </a:r>
          </a:p>
          <a:p>
            <a:r>
              <a:t>Existing approved film model is illustrative, not a supplier-specific design or owned Oceanides facility.</a:t>
            </a:r>
          </a:p>
          <a:p>
            <a:r>
              <a:t>https://www.youtube.com/watch?v=w_60iJEAf4c</a:t>
            </a:r>
          </a:p>
          <a:p>
            <a:r>
              <a:t>https://www.epa.gov/npdes/peak-flows-sewage-treatment-plants</a:t>
            </a:r>
          </a:p>
          <a:p>
            <a:r>
              <a:t>https://www.fujicleanusa.com/homeowners-faq</a:t>
            </a:r>
          </a:p>
          <a:p>
            <a:r>
              <a:t>https://r7.emb.gov.ph/wp-content/uploads/2022/05/OPMS-DISCHARGE-PERMIT-Application-Guideline.pdf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Click to play the embedded film. Duration 99.733 seconds. Approved picture sequence, narration and music remain byte-for-byte unchanged.</a:t>
            </a:r>
          </a:p>
          <a:p>
            <a:r>
              <a:t>General treatment illustration. Site-specific suitability, capacity and maintenance follow the technical proposal.</a:t>
            </a:r>
          </a:p>
          <a:p>
            <a:r>
              <a:t>https://www.youtube.com/watch?v=w_60iJEAf4c</a:t>
            </a:r>
          </a:p>
          <a:p>
            <a:r>
              <a:t>https://www.epa.gov/npdes/peak-flows-sewage-treatment-plants</a:t>
            </a:r>
          </a:p>
          <a:p>
            <a:r>
              <a:t>https://www.fujicleanusa.com/homeowners-faq</a:t>
            </a:r>
          </a:p>
          <a:p>
            <a:r>
              <a:t>https://r7.emb.gov.ph/wp-content/uploads/2022/05/OPMS-DISCHARGE-PERMIT-Application-Guideline.pdf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facts and contacts: clients/oceanides/company-profile/premium-content.json.</a:t>
            </a:r>
          </a:p>
          <a:p>
            <a:r>
              <a:t>Blue corporate editorial direction informed by https://www.magnific.com/premium-vector/modern-company-profile-brochure-template-layout_422990779.htm. Layout and artwork are authored for Oceanides, not copied from the template.</a:t>
            </a:r>
          </a:p>
          <a:p>
            <a:r>
              <a:t>Share your supplier requirements so we can coordinate company documents and project information for your review.</a:t>
            </a:r>
          </a:p>
          <a:p>
            <a:r>
              <a:t>Tell us the service you need, the property location and your preferred inspection schedule. We will coordinate the assessment and prepare a quotation based on the findings.</a:t>
            </a:r>
          </a:p>
          <a:p>
            <a:r>
              <a:t>Oceanides Plumbing Siphoning &amp; Pest Management Services OPC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design-field-1">
            <a:extLst>
              <a:ext uri="{FF2B5EF4-FFF2-40B4-BE49-F238E27FC236}">
                <a16:creationId xmlns:a16="http://schemas.microsoft.com/office/drawing/2014/main" id="{833896C8-933D-4439-AD7B-6C2A0989C64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C63AD"/>
          </a:solidFill>
          <a:ln w="0">
            <a:noFill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419100"/>
            <a:ext cx="1066800" cy="1066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rcRect t="6490" b="6490"/>
          <a:stretch>
            <a:fillRect/>
          </a:stretch>
        </p:blipFill>
        <p:spPr>
          <a:xfrm>
            <a:off x="7924800" y="762000"/>
            <a:ext cx="3581400" cy="5124450"/>
          </a:xfrm>
          <a:prstGeom prst="rect">
            <a:avLst/>
          </a:prstGeom>
        </p:spPr>
      </p:pic>
      <p:sp>
        <p:nvSpPr>
          <p:cNvPr id="4" name="redesign-text-2">
            <a:extLst>
              <a:ext uri="{FF2B5EF4-FFF2-40B4-BE49-F238E27FC236}">
                <a16:creationId xmlns:a16="http://schemas.microsoft.com/office/drawing/2014/main" id="{8E16B65F-243B-42BE-8064-A0C51C51E355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6629400" cy="2038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5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645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Property</a:t>
            </a:r>
          </a:p>
          <a:p>
            <a:pPr algn="l">
              <a:defRPr sz="645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645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services.</a:t>
            </a:r>
          </a:p>
        </p:txBody>
      </p:sp>
      <p:sp>
        <p:nvSpPr>
          <p:cNvPr id="5" name="redesign-text-3">
            <a:extLst>
              <a:ext uri="{FF2B5EF4-FFF2-40B4-BE49-F238E27FC236}">
                <a16:creationId xmlns:a16="http://schemas.microsoft.com/office/drawing/2014/main" id="{0139F07C-613D-42C6-B3E1-4F26AD4DB524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For homes and company facilities</a:t>
            </a:r>
          </a:p>
        </p:txBody>
      </p:sp>
      <p:sp>
        <p:nvSpPr>
          <p:cNvPr id="6" name="redesign-field-4">
            <a:extLst>
              <a:ext uri="{FF2B5EF4-FFF2-40B4-BE49-F238E27FC236}">
                <a16:creationId xmlns:a16="http://schemas.microsoft.com/office/drawing/2014/main" id="{7AA69702-CFEB-460D-9935-6B26266307A6}"/>
              </a:ext>
            </a:extLst>
          </p:cNvPr>
          <p:cNvSpPr>
            <a:spLocks noGrp="1"/>
          </p:cNvSpPr>
          <p:nvPr/>
        </p:nvSpPr>
        <p:spPr>
          <a:xfrm>
            <a:off x="723900" y="5372100"/>
            <a:ext cx="5562600" cy="9525"/>
          </a:xfrm>
          <a:prstGeom prst="rect">
            <a:avLst/>
          </a:prstGeom>
          <a:solidFill>
            <a:srgbClr val="426084"/>
          </a:solidFill>
          <a:ln w="0">
            <a:noFill/>
          </a:ln>
        </p:spPr>
      </p:sp>
      <p:sp>
        <p:nvSpPr>
          <p:cNvPr id="7" name="redesign-text-5">
            <a:extLst>
              <a:ext uri="{FF2B5EF4-FFF2-40B4-BE49-F238E27FC236}">
                <a16:creationId xmlns:a16="http://schemas.microsoft.com/office/drawing/2014/main" id="{7548D344-0CA0-41D5-8725-BD6F0489E434}"/>
              </a:ext>
            </a:extLst>
          </p:cNvPr>
          <p:cNvSpPr>
            <a:spLocks noGrp="1"/>
          </p:cNvSpPr>
          <p:nvPr/>
        </p:nvSpPr>
        <p:spPr>
          <a:xfrm>
            <a:off x="723900" y="56007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72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Company profile</a:t>
            </a:r>
          </a:p>
        </p:txBody>
      </p:sp>
      <p:sp>
        <p:nvSpPr>
          <p:cNvPr id="8" name="redesign-text-6">
            <a:extLst>
              <a:ext uri="{FF2B5EF4-FFF2-40B4-BE49-F238E27FC236}">
                <a16:creationId xmlns:a16="http://schemas.microsoft.com/office/drawing/2014/main" id="{DADF0505-9710-4EC4-B5AA-699C6ED80803}"/>
              </a:ext>
            </a:extLst>
          </p:cNvPr>
          <p:cNvSpPr>
            <a:spLocks noGrp="1"/>
          </p:cNvSpPr>
          <p:nvPr/>
        </p:nvSpPr>
        <p:spPr>
          <a:xfrm>
            <a:off x="723900" y="6029325"/>
            <a:ext cx="619125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5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Oceanides Plumbing Siphoning &amp;</a:t>
            </a:r>
          </a:p>
          <a:p>
            <a:pPr algn="l">
              <a:defRPr sz="15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5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Pest Management Services OPC</a:t>
            </a:r>
          </a:p>
        </p:txBody>
      </p:sp>
      <p:sp>
        <p:nvSpPr>
          <p:cNvPr id="9" name="redesign-text-7">
            <a:extLst>
              <a:ext uri="{FF2B5EF4-FFF2-40B4-BE49-F238E27FC236}">
                <a16:creationId xmlns:a16="http://schemas.microsoft.com/office/drawing/2014/main" id="{5F87C8A7-8D4D-4624-BE53-717C273845A2}"/>
              </a:ext>
            </a:extLst>
          </p:cNvPr>
          <p:cNvSpPr>
            <a:spLocks noGrp="1"/>
          </p:cNvSpPr>
          <p:nvPr/>
        </p:nvSpPr>
        <p:spPr>
          <a:xfrm>
            <a:off x="7924800" y="60960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350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Illustrative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19554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design-field-8">
            <a:extLst>
              <a:ext uri="{FF2B5EF4-FFF2-40B4-BE49-F238E27FC236}">
                <a16:creationId xmlns:a16="http://schemas.microsoft.com/office/drawing/2014/main" id="{77ECDA97-EA7F-41E8-8DED-B94A41480A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1C63AD"/>
          </a:solidFill>
          <a:ln w="0">
            <a:noFill/>
          </a:ln>
        </p:spPr>
      </p:sp>
      <p:sp>
        <p:nvSpPr>
          <p:cNvPr id="2" name="redesign-text-9">
            <a:extLst>
              <a:ext uri="{FF2B5EF4-FFF2-40B4-BE49-F238E27FC236}">
                <a16:creationId xmlns:a16="http://schemas.microsoft.com/office/drawing/2014/main" id="{AAB1297B-7897-413F-B9B9-DF7E27643DD8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295275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6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2021</a:t>
            </a:r>
          </a:p>
        </p:txBody>
      </p:sp>
      <p:sp>
        <p:nvSpPr>
          <p:cNvPr id="3" name="redesign-text-10">
            <a:extLst>
              <a:ext uri="{FF2B5EF4-FFF2-40B4-BE49-F238E27FC236}">
                <a16:creationId xmlns:a16="http://schemas.microsoft.com/office/drawing/2014/main" id="{BF9E70A2-0B58-44CE-BA7E-C3E7B5E9B403}"/>
              </a:ext>
            </a:extLst>
          </p:cNvPr>
          <p:cNvSpPr>
            <a:spLocks noGrp="1"/>
          </p:cNvSpPr>
          <p:nvPr/>
        </p:nvSpPr>
        <p:spPr>
          <a:xfrm>
            <a:off x="628650" y="225742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Established</a:t>
            </a:r>
          </a:p>
        </p:txBody>
      </p:sp>
      <p:sp>
        <p:nvSpPr>
          <p:cNvPr id="4" name="redesign-text-11">
            <a:extLst>
              <a:ext uri="{FF2B5EF4-FFF2-40B4-BE49-F238E27FC236}">
                <a16:creationId xmlns:a16="http://schemas.microsoft.com/office/drawing/2014/main" id="{CFC05C78-A24C-4FC8-8F97-46D79626C497}"/>
              </a:ext>
            </a:extLst>
          </p:cNvPr>
          <p:cNvSpPr>
            <a:spLocks noGrp="1"/>
          </p:cNvSpPr>
          <p:nvPr/>
        </p:nvSpPr>
        <p:spPr>
          <a:xfrm>
            <a:off x="628650" y="2847975"/>
            <a:ext cx="287655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Septic tank cleaning</a:t>
            </a:r>
          </a:p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and plumbing services</a:t>
            </a:r>
          </a:p>
        </p:txBody>
      </p:sp>
      <p:sp>
        <p:nvSpPr>
          <p:cNvPr id="5" name="redesign-field-12">
            <a:extLst>
              <a:ext uri="{FF2B5EF4-FFF2-40B4-BE49-F238E27FC236}">
                <a16:creationId xmlns:a16="http://schemas.microsoft.com/office/drawing/2014/main" id="{E444B415-3DF6-407F-AFDA-CFC40929A201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2781300" cy="9525"/>
          </a:xfrm>
          <a:prstGeom prst="rect">
            <a:avLst/>
          </a:prstGeom>
          <a:solidFill>
            <a:srgbClr val="6B9BCD"/>
          </a:solidFill>
          <a:ln w="0">
            <a:noFill/>
          </a:ln>
        </p:spPr>
      </p:sp>
      <p:sp>
        <p:nvSpPr>
          <p:cNvPr id="6" name="redesign-text-13">
            <a:extLst>
              <a:ext uri="{FF2B5EF4-FFF2-40B4-BE49-F238E27FC236}">
                <a16:creationId xmlns:a16="http://schemas.microsoft.com/office/drawing/2014/main" id="{2B0D88A6-7052-40A3-8600-28FE62CC230E}"/>
              </a:ext>
            </a:extLst>
          </p:cNvPr>
          <p:cNvSpPr>
            <a:spLocks noGrp="1"/>
          </p:cNvSpPr>
          <p:nvPr/>
        </p:nvSpPr>
        <p:spPr>
          <a:xfrm>
            <a:off x="628650" y="49720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Today</a:t>
            </a:r>
          </a:p>
        </p:txBody>
      </p:sp>
      <p:sp>
        <p:nvSpPr>
          <p:cNvPr id="7" name="redesign-text-14">
            <a:extLst>
              <a:ext uri="{FF2B5EF4-FFF2-40B4-BE49-F238E27FC236}">
                <a16:creationId xmlns:a16="http://schemas.microsoft.com/office/drawing/2014/main" id="{B257F458-AFF5-43AE-BD8A-01D802779AD2}"/>
              </a:ext>
            </a:extLst>
          </p:cNvPr>
          <p:cNvSpPr>
            <a:spLocks noGrp="1"/>
          </p:cNvSpPr>
          <p:nvPr/>
        </p:nvSpPr>
        <p:spPr>
          <a:xfrm>
            <a:off x="628650" y="5629275"/>
            <a:ext cx="2876550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950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Five service groups</a:t>
            </a:r>
          </a:p>
          <a:p>
            <a:pPr algn="l">
              <a:defRPr sz="1950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950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for property upkeep</a:t>
            </a:r>
          </a:p>
        </p:txBody>
      </p:sp>
      <p:sp>
        <p:nvSpPr>
          <p:cNvPr id="8" name="redesign-text-15">
            <a:extLst>
              <a:ext uri="{FF2B5EF4-FFF2-40B4-BE49-F238E27FC236}">
                <a16:creationId xmlns:a16="http://schemas.microsoft.com/office/drawing/2014/main" id="{B01CB38B-EDE7-4F32-9FF5-6118E7ECE2E0}"/>
              </a:ext>
            </a:extLst>
          </p:cNvPr>
          <p:cNvSpPr>
            <a:spLocks noGrp="1"/>
          </p:cNvSpPr>
          <p:nvPr/>
        </p:nvSpPr>
        <p:spPr>
          <a:xfrm>
            <a:off x="4610100" y="714375"/>
            <a:ext cx="6896100" cy="1409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5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45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Company</a:t>
            </a:r>
          </a:p>
          <a:p>
            <a:pPr algn="l">
              <a:defRPr sz="45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45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background</a:t>
            </a:r>
          </a:p>
        </p:txBody>
      </p:sp>
      <p:sp>
        <p:nvSpPr>
          <p:cNvPr id="9" name="redesign-text-16">
            <a:extLst>
              <a:ext uri="{FF2B5EF4-FFF2-40B4-BE49-F238E27FC236}">
                <a16:creationId xmlns:a16="http://schemas.microsoft.com/office/drawing/2014/main" id="{D3DD9204-928B-4123-B0ED-2C4AFB8424E9}"/>
              </a:ext>
            </a:extLst>
          </p:cNvPr>
          <p:cNvSpPr>
            <a:spLocks noGrp="1"/>
          </p:cNvSpPr>
          <p:nvPr/>
        </p:nvSpPr>
        <p:spPr>
          <a:xfrm>
            <a:off x="4648200" y="2686050"/>
            <a:ext cx="6838950" cy="1276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0B1B33"/>
                </a:solidFill>
                <a:latin typeface="Corbel"/>
                <a:ea typeface="Corbel"/>
                <a:cs typeface="Corbel"/>
              </a:defRPr>
            </a:pPr>
            <a:r>
              <a:rPr sz="2400" b="0">
                <a:solidFill>
                  <a:srgbClr val="0B1B33"/>
                </a:solidFill>
                <a:latin typeface="Corbel"/>
                <a:ea typeface="Corbel"/>
                <a:cs typeface="Corbel"/>
              </a:rPr>
              <a:t>Oceanides coordinates property services</a:t>
            </a:r>
          </a:p>
          <a:p>
            <a:pPr algn="l">
              <a:defRPr sz="2400" b="0">
                <a:solidFill>
                  <a:srgbClr val="0B1B33"/>
                </a:solidFill>
                <a:latin typeface="Corbel"/>
                <a:ea typeface="Corbel"/>
                <a:cs typeface="Corbel"/>
              </a:defRPr>
            </a:pPr>
            <a:r>
              <a:rPr sz="2400" b="0">
                <a:solidFill>
                  <a:srgbClr val="0B1B33"/>
                </a:solidFill>
                <a:latin typeface="Corbel"/>
                <a:ea typeface="Corbel"/>
                <a:cs typeface="Corbel"/>
              </a:rPr>
              <a:t>for homes, condominiums and</a:t>
            </a:r>
          </a:p>
          <a:p>
            <a:pPr algn="l">
              <a:defRPr sz="2400" b="0">
                <a:solidFill>
                  <a:srgbClr val="0B1B33"/>
                </a:solidFill>
                <a:latin typeface="Corbel"/>
                <a:ea typeface="Corbel"/>
                <a:cs typeface="Corbel"/>
              </a:defRPr>
            </a:pPr>
            <a:r>
              <a:rPr sz="2400" b="0">
                <a:solidFill>
                  <a:srgbClr val="0B1B33"/>
                </a:solidFill>
                <a:latin typeface="Corbel"/>
                <a:ea typeface="Corbel"/>
                <a:cs typeface="Corbel"/>
              </a:rPr>
              <a:t>company facilities.</a:t>
            </a:r>
          </a:p>
        </p:txBody>
      </p:sp>
      <p:sp>
        <p:nvSpPr>
          <p:cNvPr id="10" name="redesign-text-17">
            <a:extLst>
              <a:ext uri="{FF2B5EF4-FFF2-40B4-BE49-F238E27FC236}">
                <a16:creationId xmlns:a16="http://schemas.microsoft.com/office/drawing/2014/main" id="{29D0CC4B-781C-4574-87F2-A4CEC9973C77}"/>
              </a:ext>
            </a:extLst>
          </p:cNvPr>
          <p:cNvSpPr>
            <a:spLocks noGrp="1"/>
          </p:cNvSpPr>
          <p:nvPr/>
        </p:nvSpPr>
        <p:spPr>
          <a:xfrm>
            <a:off x="4648200" y="4257675"/>
            <a:ext cx="6838950" cy="1238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We remain your main contact for scheduling,</a:t>
            </a:r>
          </a:p>
          <a:p>
            <a:pPr algn="l">
              <a:defRPr sz="21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site access and service coordination from</a:t>
            </a:r>
          </a:p>
          <a:p>
            <a:pPr algn="l">
              <a:defRPr sz="21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inquiry to turnover.</a:t>
            </a:r>
          </a:p>
        </p:txBody>
      </p:sp>
      <p:sp>
        <p:nvSpPr>
          <p:cNvPr id="11" name="redesign-text-18">
            <a:extLst>
              <a:ext uri="{FF2B5EF4-FFF2-40B4-BE49-F238E27FC236}">
                <a16:creationId xmlns:a16="http://schemas.microsoft.com/office/drawing/2014/main" id="{9793F956-BD1A-4D4B-AD7D-AED8DDF12847}"/>
              </a:ext>
            </a:extLst>
          </p:cNvPr>
          <p:cNvSpPr>
            <a:spLocks noGrp="1"/>
          </p:cNvSpPr>
          <p:nvPr/>
        </p:nvSpPr>
        <p:spPr>
          <a:xfrm>
            <a:off x="4648200" y="5943600"/>
            <a:ext cx="68389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C63AD"/>
                </a:solidFill>
                <a:latin typeface="Corbel"/>
                <a:ea typeface="Corbel"/>
                <a:cs typeface="Corbel"/>
              </a:defRPr>
            </a:pPr>
            <a:r>
              <a:rPr sz="1800" b="0">
                <a:solidFill>
                  <a:srgbClr val="1C63AD"/>
                </a:solidFill>
                <a:latin typeface="Corbel"/>
                <a:ea typeface="Corbel"/>
                <a:cs typeface="Corbel"/>
              </a:rPr>
              <a:t>Clear assessment. Agreed scope. Written quotation.</a:t>
            </a:r>
          </a:p>
        </p:txBody>
      </p:sp>
    </p:spTree>
    <p:extLst>
      <p:ext uri="{BB962C8B-B14F-4D97-AF65-F5344CB8AC3E}">
        <p14:creationId xmlns:p14="http://schemas.microsoft.com/office/powerpoint/2010/main" val="1342649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design-text-19">
            <a:extLst>
              <a:ext uri="{FF2B5EF4-FFF2-40B4-BE49-F238E27FC236}">
                <a16:creationId xmlns:a16="http://schemas.microsoft.com/office/drawing/2014/main" id="{F2E4430A-FC2F-42DF-A9F1-A8736B250EE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553200" cy="1323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2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Our service</a:t>
            </a:r>
          </a:p>
          <a:p>
            <a:pPr algn="l">
              <a:defRPr sz="42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offering</a:t>
            </a:r>
          </a:p>
        </p:txBody>
      </p:sp>
      <p:sp>
        <p:nvSpPr>
          <p:cNvPr id="2" name="redesign-text-20">
            <a:extLst>
              <a:ext uri="{FF2B5EF4-FFF2-40B4-BE49-F238E27FC236}">
                <a16:creationId xmlns:a16="http://schemas.microsoft.com/office/drawing/2014/main" id="{F0E1C6EF-7C53-491E-AD84-9498AE5641E2}"/>
              </a:ext>
            </a:extLst>
          </p:cNvPr>
          <p:cNvSpPr>
            <a:spLocks noGrp="1"/>
          </p:cNvSpPr>
          <p:nvPr/>
        </p:nvSpPr>
        <p:spPr>
          <a:xfrm>
            <a:off x="8248650" y="742950"/>
            <a:ext cx="32766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100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A defined scope for</a:t>
            </a:r>
          </a:p>
          <a:p>
            <a:pPr algn="l">
              <a:defRPr sz="2100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100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each property concern.</a:t>
            </a:r>
          </a:p>
        </p:txBody>
      </p:sp>
      <p:sp>
        <p:nvSpPr>
          <p:cNvPr id="3" name="redesign-field-21">
            <a:extLst>
              <a:ext uri="{FF2B5EF4-FFF2-40B4-BE49-F238E27FC236}">
                <a16:creationId xmlns:a16="http://schemas.microsoft.com/office/drawing/2014/main" id="{AE1FF0D9-1B60-4798-8862-9353357AAA41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5086350" cy="9525"/>
          </a:xfrm>
          <a:prstGeom prst="rect">
            <a:avLst/>
          </a:prstGeom>
          <a:solidFill>
            <a:srgbClr val="CCD6E3"/>
          </a:solidFill>
          <a:ln w="0">
            <a:noFill/>
          </a:ln>
        </p:spPr>
      </p:sp>
      <p:sp>
        <p:nvSpPr>
          <p:cNvPr id="4" name="redesign-text-22">
            <a:extLst>
              <a:ext uri="{FF2B5EF4-FFF2-40B4-BE49-F238E27FC236}">
                <a16:creationId xmlns:a16="http://schemas.microsoft.com/office/drawing/2014/main" id="{938F7CBE-92A4-4C7D-B7ED-329754F76AFD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1C63AD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1C63AD"/>
                </a:solidFill>
                <a:latin typeface="Corbel"/>
                <a:ea typeface="Corbel"/>
                <a:cs typeface="Corbel"/>
              </a:rPr>
              <a:t>01</a:t>
            </a:r>
          </a:p>
        </p:txBody>
      </p:sp>
      <p:sp>
        <p:nvSpPr>
          <p:cNvPr id="5" name="redesign-text-23">
            <a:extLst>
              <a:ext uri="{FF2B5EF4-FFF2-40B4-BE49-F238E27FC236}">
                <a16:creationId xmlns:a16="http://schemas.microsoft.com/office/drawing/2014/main" id="{89EF2DB6-03FC-4C1F-A174-1BDEFF4EE983}"/>
              </a:ext>
            </a:extLst>
          </p:cNvPr>
          <p:cNvSpPr>
            <a:spLocks noGrp="1"/>
          </p:cNvSpPr>
          <p:nvPr/>
        </p:nvSpPr>
        <p:spPr>
          <a:xfrm>
            <a:off x="1428750" y="2381250"/>
            <a:ext cx="4476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0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Siphoning</a:t>
            </a:r>
          </a:p>
        </p:txBody>
      </p:sp>
      <p:sp>
        <p:nvSpPr>
          <p:cNvPr id="6" name="redesign-text-24">
            <a:extLst>
              <a:ext uri="{FF2B5EF4-FFF2-40B4-BE49-F238E27FC236}">
                <a16:creationId xmlns:a16="http://schemas.microsoft.com/office/drawing/2014/main" id="{79536B2A-D771-442C-AC66-EBF5CAAE12D2}"/>
              </a:ext>
            </a:extLst>
          </p:cNvPr>
          <p:cNvSpPr>
            <a:spLocks noGrp="1"/>
          </p:cNvSpPr>
          <p:nvPr/>
        </p:nvSpPr>
        <p:spPr>
          <a:xfrm>
            <a:off x="1428750" y="2924175"/>
            <a:ext cx="4343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Septic tank siphoning and cleaning.</a:t>
            </a:r>
          </a:p>
          <a:p>
            <a:pPr algn="l">
              <a:defRPr sz="18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Site and service assessment.</a:t>
            </a:r>
          </a:p>
        </p:txBody>
      </p:sp>
      <p:sp>
        <p:nvSpPr>
          <p:cNvPr id="7" name="redesign-field-25">
            <a:extLst>
              <a:ext uri="{FF2B5EF4-FFF2-40B4-BE49-F238E27FC236}">
                <a16:creationId xmlns:a16="http://schemas.microsoft.com/office/drawing/2014/main" id="{387197B2-14FB-4680-BFB1-0285B618903A}"/>
              </a:ext>
            </a:extLst>
          </p:cNvPr>
          <p:cNvSpPr>
            <a:spLocks noGrp="1"/>
          </p:cNvSpPr>
          <p:nvPr/>
        </p:nvSpPr>
        <p:spPr>
          <a:xfrm>
            <a:off x="6419850" y="2152650"/>
            <a:ext cx="5086350" cy="9525"/>
          </a:xfrm>
          <a:prstGeom prst="rect">
            <a:avLst/>
          </a:prstGeom>
          <a:solidFill>
            <a:srgbClr val="CCD6E3"/>
          </a:solidFill>
          <a:ln w="0">
            <a:noFill/>
          </a:ln>
        </p:spPr>
      </p:sp>
      <p:sp>
        <p:nvSpPr>
          <p:cNvPr id="8" name="redesign-text-26">
            <a:extLst>
              <a:ext uri="{FF2B5EF4-FFF2-40B4-BE49-F238E27FC236}">
                <a16:creationId xmlns:a16="http://schemas.microsoft.com/office/drawing/2014/main" id="{3550527F-6FCB-4142-8B79-22BF90EF52E1}"/>
              </a:ext>
            </a:extLst>
          </p:cNvPr>
          <p:cNvSpPr>
            <a:spLocks noGrp="1"/>
          </p:cNvSpPr>
          <p:nvPr/>
        </p:nvSpPr>
        <p:spPr>
          <a:xfrm>
            <a:off x="6419850" y="2390775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1C63AD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1C63AD"/>
                </a:solidFill>
                <a:latin typeface="Corbel"/>
                <a:ea typeface="Corbel"/>
                <a:cs typeface="Corbel"/>
              </a:rPr>
              <a:t>02</a:t>
            </a:r>
          </a:p>
        </p:txBody>
      </p:sp>
      <p:sp>
        <p:nvSpPr>
          <p:cNvPr id="9" name="redesign-text-27">
            <a:extLst>
              <a:ext uri="{FF2B5EF4-FFF2-40B4-BE49-F238E27FC236}">
                <a16:creationId xmlns:a16="http://schemas.microsoft.com/office/drawing/2014/main" id="{139A5AB9-34B9-436E-89A9-8A14F29A8F52}"/>
              </a:ext>
            </a:extLst>
          </p:cNvPr>
          <p:cNvSpPr>
            <a:spLocks noGrp="1"/>
          </p:cNvSpPr>
          <p:nvPr/>
        </p:nvSpPr>
        <p:spPr>
          <a:xfrm>
            <a:off x="7162800" y="2381250"/>
            <a:ext cx="4476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0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Plumbing</a:t>
            </a:r>
          </a:p>
        </p:txBody>
      </p:sp>
      <p:sp>
        <p:nvSpPr>
          <p:cNvPr id="10" name="redesign-text-28">
            <a:extLst>
              <a:ext uri="{FF2B5EF4-FFF2-40B4-BE49-F238E27FC236}">
                <a16:creationId xmlns:a16="http://schemas.microsoft.com/office/drawing/2014/main" id="{CBB47699-013E-41C3-8388-FCA0E7642222}"/>
              </a:ext>
            </a:extLst>
          </p:cNvPr>
          <p:cNvSpPr>
            <a:spLocks noGrp="1"/>
          </p:cNvSpPr>
          <p:nvPr/>
        </p:nvSpPr>
        <p:spPr>
          <a:xfrm>
            <a:off x="7162800" y="2924175"/>
            <a:ext cx="4343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Declogging, pipe leak repairs</a:t>
            </a:r>
          </a:p>
          <a:p>
            <a:pPr algn="l">
              <a:defRPr sz="18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and plumbing troubleshooting.</a:t>
            </a:r>
          </a:p>
        </p:txBody>
      </p:sp>
      <p:sp>
        <p:nvSpPr>
          <p:cNvPr id="11" name="redesign-field-29">
            <a:extLst>
              <a:ext uri="{FF2B5EF4-FFF2-40B4-BE49-F238E27FC236}">
                <a16:creationId xmlns:a16="http://schemas.microsoft.com/office/drawing/2014/main" id="{58D78EDC-768A-47E7-AFE1-A6FC45D65D2C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5086350" cy="9525"/>
          </a:xfrm>
          <a:prstGeom prst="rect">
            <a:avLst/>
          </a:prstGeom>
          <a:solidFill>
            <a:srgbClr val="CCD6E3"/>
          </a:solidFill>
          <a:ln w="0">
            <a:noFill/>
          </a:ln>
        </p:spPr>
      </p:sp>
      <p:sp>
        <p:nvSpPr>
          <p:cNvPr id="12" name="redesign-text-30">
            <a:extLst>
              <a:ext uri="{FF2B5EF4-FFF2-40B4-BE49-F238E27FC236}">
                <a16:creationId xmlns:a16="http://schemas.microsoft.com/office/drawing/2014/main" id="{395D7990-FCAE-4B37-BBE1-A7651F567D25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1C63AD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1C63AD"/>
                </a:solidFill>
                <a:latin typeface="Corbel"/>
                <a:ea typeface="Corbel"/>
                <a:cs typeface="Corbel"/>
              </a:rPr>
              <a:t>03</a:t>
            </a:r>
          </a:p>
        </p:txBody>
      </p:sp>
      <p:sp>
        <p:nvSpPr>
          <p:cNvPr id="13" name="redesign-text-31">
            <a:extLst>
              <a:ext uri="{FF2B5EF4-FFF2-40B4-BE49-F238E27FC236}">
                <a16:creationId xmlns:a16="http://schemas.microsoft.com/office/drawing/2014/main" id="{63C45EFB-2B3A-41A4-9F31-8A5FC926C961}"/>
              </a:ext>
            </a:extLst>
          </p:cNvPr>
          <p:cNvSpPr>
            <a:spLocks noGrp="1"/>
          </p:cNvSpPr>
          <p:nvPr/>
        </p:nvSpPr>
        <p:spPr>
          <a:xfrm>
            <a:off x="1428750" y="3990975"/>
            <a:ext cx="4476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Renovation &amp; restoration</a:t>
            </a:r>
          </a:p>
        </p:txBody>
      </p:sp>
      <p:sp>
        <p:nvSpPr>
          <p:cNvPr id="14" name="redesign-text-32">
            <a:extLst>
              <a:ext uri="{FF2B5EF4-FFF2-40B4-BE49-F238E27FC236}">
                <a16:creationId xmlns:a16="http://schemas.microsoft.com/office/drawing/2014/main" id="{732B248C-93A6-478D-8CCC-DC117A99C0D6}"/>
              </a:ext>
            </a:extLst>
          </p:cNvPr>
          <p:cNvSpPr>
            <a:spLocks noGrp="1"/>
          </p:cNvSpPr>
          <p:nvPr/>
        </p:nvSpPr>
        <p:spPr>
          <a:xfrm>
            <a:off x="1428750" y="4533900"/>
            <a:ext cx="4343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House and condo repairs, ceilings,</a:t>
            </a:r>
          </a:p>
          <a:p>
            <a:pPr algn="l">
              <a:defRPr sz="18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roof leaks, waterproofing and cleaning.</a:t>
            </a:r>
          </a:p>
        </p:txBody>
      </p:sp>
      <p:sp>
        <p:nvSpPr>
          <p:cNvPr id="15" name="redesign-field-33">
            <a:extLst>
              <a:ext uri="{FF2B5EF4-FFF2-40B4-BE49-F238E27FC236}">
                <a16:creationId xmlns:a16="http://schemas.microsoft.com/office/drawing/2014/main" id="{72CFA0EC-8170-4485-B79E-B3A15D6F8533}"/>
              </a:ext>
            </a:extLst>
          </p:cNvPr>
          <p:cNvSpPr>
            <a:spLocks noGrp="1"/>
          </p:cNvSpPr>
          <p:nvPr/>
        </p:nvSpPr>
        <p:spPr>
          <a:xfrm>
            <a:off x="6419850" y="3762375"/>
            <a:ext cx="5086350" cy="9525"/>
          </a:xfrm>
          <a:prstGeom prst="rect">
            <a:avLst/>
          </a:prstGeom>
          <a:solidFill>
            <a:srgbClr val="CCD6E3"/>
          </a:solidFill>
          <a:ln w="0">
            <a:noFill/>
          </a:ln>
        </p:spPr>
      </p:sp>
      <p:sp>
        <p:nvSpPr>
          <p:cNvPr id="16" name="redesign-text-34">
            <a:extLst>
              <a:ext uri="{FF2B5EF4-FFF2-40B4-BE49-F238E27FC236}">
                <a16:creationId xmlns:a16="http://schemas.microsoft.com/office/drawing/2014/main" id="{77F7EA94-9CFD-437A-AEEB-8DDE11370E2F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1C63AD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1C63AD"/>
                </a:solidFill>
                <a:latin typeface="Corbel"/>
                <a:ea typeface="Corbel"/>
                <a:cs typeface="Corbel"/>
              </a:rPr>
              <a:t>04</a:t>
            </a:r>
          </a:p>
        </p:txBody>
      </p:sp>
      <p:sp>
        <p:nvSpPr>
          <p:cNvPr id="17" name="redesign-text-35">
            <a:extLst>
              <a:ext uri="{FF2B5EF4-FFF2-40B4-BE49-F238E27FC236}">
                <a16:creationId xmlns:a16="http://schemas.microsoft.com/office/drawing/2014/main" id="{1743B052-4C5F-4857-83C2-8503CA8E638A}"/>
              </a:ext>
            </a:extLst>
          </p:cNvPr>
          <p:cNvSpPr>
            <a:spLocks noGrp="1"/>
          </p:cNvSpPr>
          <p:nvPr/>
        </p:nvSpPr>
        <p:spPr>
          <a:xfrm>
            <a:off x="7162800" y="3990975"/>
            <a:ext cx="4476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0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Pest control</a:t>
            </a:r>
          </a:p>
        </p:txBody>
      </p:sp>
      <p:sp>
        <p:nvSpPr>
          <p:cNvPr id="18" name="redesign-text-36">
            <a:extLst>
              <a:ext uri="{FF2B5EF4-FFF2-40B4-BE49-F238E27FC236}">
                <a16:creationId xmlns:a16="http://schemas.microsoft.com/office/drawing/2014/main" id="{FBF5923C-8BE9-445D-8846-F53019C65756}"/>
              </a:ext>
            </a:extLst>
          </p:cNvPr>
          <p:cNvSpPr>
            <a:spLocks noGrp="1"/>
          </p:cNvSpPr>
          <p:nvPr/>
        </p:nvSpPr>
        <p:spPr>
          <a:xfrm>
            <a:off x="7162800" y="4533900"/>
            <a:ext cx="4343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Assessment, treatment scope</a:t>
            </a:r>
          </a:p>
          <a:p>
            <a:pPr algn="l">
              <a:defRPr sz="18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and service coordination.</a:t>
            </a:r>
          </a:p>
        </p:txBody>
      </p:sp>
      <p:sp>
        <p:nvSpPr>
          <p:cNvPr id="19" name="redesign-field-37">
            <a:extLst>
              <a:ext uri="{FF2B5EF4-FFF2-40B4-BE49-F238E27FC236}">
                <a16:creationId xmlns:a16="http://schemas.microsoft.com/office/drawing/2014/main" id="{0A69A0B8-5BF8-499B-BAEA-D262888DF516}"/>
              </a:ext>
            </a:extLst>
          </p:cNvPr>
          <p:cNvSpPr>
            <a:spLocks noGrp="1"/>
          </p:cNvSpPr>
          <p:nvPr/>
        </p:nvSpPr>
        <p:spPr>
          <a:xfrm>
            <a:off x="0" y="5562600"/>
            <a:ext cx="12192000" cy="1295400"/>
          </a:xfrm>
          <a:prstGeom prst="rect">
            <a:avLst/>
          </a:prstGeom>
          <a:solidFill>
            <a:srgbClr val="1C63AD"/>
          </a:solidFill>
          <a:ln w="0">
            <a:noFill/>
          </a:ln>
        </p:spPr>
      </p:sp>
      <p:sp>
        <p:nvSpPr>
          <p:cNvPr id="20" name="redesign-text-38">
            <a:extLst>
              <a:ext uri="{FF2B5EF4-FFF2-40B4-BE49-F238E27FC236}">
                <a16:creationId xmlns:a16="http://schemas.microsoft.com/office/drawing/2014/main" id="{9CEF9231-88B4-4B41-8560-5172C2EBA404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05</a:t>
            </a:r>
          </a:p>
        </p:txBody>
      </p:sp>
      <p:sp>
        <p:nvSpPr>
          <p:cNvPr id="21" name="redesign-text-39">
            <a:extLst>
              <a:ext uri="{FF2B5EF4-FFF2-40B4-BE49-F238E27FC236}">
                <a16:creationId xmlns:a16="http://schemas.microsoft.com/office/drawing/2014/main" id="{3E5A4F1C-2E5F-4688-920B-81C1D55E5A4F}"/>
              </a:ext>
            </a:extLst>
          </p:cNvPr>
          <p:cNvSpPr>
            <a:spLocks noGrp="1"/>
          </p:cNvSpPr>
          <p:nvPr/>
        </p:nvSpPr>
        <p:spPr>
          <a:xfrm>
            <a:off x="1428750" y="5848350"/>
            <a:ext cx="49911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Sewage treatment plant</a:t>
            </a:r>
          </a:p>
        </p:txBody>
      </p:sp>
      <p:sp>
        <p:nvSpPr>
          <p:cNvPr id="22" name="redesign-text-40">
            <a:extLst>
              <a:ext uri="{FF2B5EF4-FFF2-40B4-BE49-F238E27FC236}">
                <a16:creationId xmlns:a16="http://schemas.microsoft.com/office/drawing/2014/main" id="{E4BF4075-4B2F-438B-A1E5-A5A057CA2FC4}"/>
              </a:ext>
            </a:extLst>
          </p:cNvPr>
          <p:cNvSpPr>
            <a:spLocks noGrp="1"/>
          </p:cNvSpPr>
          <p:nvPr/>
        </p:nvSpPr>
        <p:spPr>
          <a:xfrm>
            <a:off x="7219950" y="5867400"/>
            <a:ext cx="4343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On-site wastewater treatment projects.</a:t>
            </a:r>
          </a:p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Assessment and specialist coordination.</a:t>
            </a:r>
          </a:p>
        </p:txBody>
      </p:sp>
    </p:spTree>
    <p:extLst>
      <p:ext uri="{BB962C8B-B14F-4D97-AF65-F5344CB8AC3E}">
        <p14:creationId xmlns:p14="http://schemas.microsoft.com/office/powerpoint/2010/main" val="94931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design-field-41">
            <a:extLst>
              <a:ext uri="{FF2B5EF4-FFF2-40B4-BE49-F238E27FC236}">
                <a16:creationId xmlns:a16="http://schemas.microsoft.com/office/drawing/2014/main" id="{89C0837E-0DAE-43C8-A059-AE582095D2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57700" cy="6858000"/>
          </a:xfrm>
          <a:prstGeom prst="rect">
            <a:avLst/>
          </a:prstGeom>
          <a:solidFill>
            <a:srgbClr val="0A1F45"/>
          </a:solidFill>
          <a:ln w="0">
            <a:noFill/>
          </a:ln>
        </p:spPr>
      </p:sp>
      <p:sp>
        <p:nvSpPr>
          <p:cNvPr id="2" name="redesign-text-42">
            <a:extLst>
              <a:ext uri="{FF2B5EF4-FFF2-40B4-BE49-F238E27FC236}">
                <a16:creationId xmlns:a16="http://schemas.microsoft.com/office/drawing/2014/main" id="{2EEAAF84-BA87-4325-A7B7-60054947916D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35814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9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39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Siphoning</a:t>
            </a:r>
          </a:p>
        </p:txBody>
      </p:sp>
      <p:sp>
        <p:nvSpPr>
          <p:cNvPr id="3" name="redesign-text-43">
            <a:extLst>
              <a:ext uri="{FF2B5EF4-FFF2-40B4-BE49-F238E27FC236}">
                <a16:creationId xmlns:a16="http://schemas.microsoft.com/office/drawing/2014/main" id="{91F6ED38-9C4D-45D3-8B18-743380A511F6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3314700" cy="1304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Septic tank servicing</a:t>
            </a:r>
          </a:p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based on conditions</a:t>
            </a:r>
          </a:p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and site access.</a:t>
            </a:r>
          </a:p>
        </p:txBody>
      </p:sp>
      <p:sp>
        <p:nvSpPr>
          <p:cNvPr id="4" name="redesign-text-44">
            <a:extLst>
              <a:ext uri="{FF2B5EF4-FFF2-40B4-BE49-F238E27FC236}">
                <a16:creationId xmlns:a16="http://schemas.microsoft.com/office/drawing/2014/main" id="{2A65D607-43BC-4180-A3BC-BEA9D36C5503}"/>
              </a:ext>
            </a:extLst>
          </p:cNvPr>
          <p:cNvSpPr>
            <a:spLocks noGrp="1"/>
          </p:cNvSpPr>
          <p:nvPr/>
        </p:nvSpPr>
        <p:spPr>
          <a:xfrm>
            <a:off x="628650" y="3790950"/>
            <a:ext cx="3333750" cy="1905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Septic tank siphoning</a:t>
            </a:r>
          </a:p>
          <a:p>
            <a:endParaRPr sz="2025" b="0">
              <a:solidFill>
                <a:srgbClr val="FFFFFF"/>
              </a:solidFill>
              <a:latin typeface="Corbel"/>
              <a:ea typeface="Corbel"/>
              <a:cs typeface="Corbel"/>
            </a:endParaRPr>
          </a:p>
          <a:p>
            <a:pPr algn="l">
              <a:defRPr sz="202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Septic tank cleaning</a:t>
            </a:r>
          </a:p>
          <a:p>
            <a:endParaRPr sz="2025" b="0">
              <a:solidFill>
                <a:srgbClr val="FFFFFF"/>
              </a:solidFill>
              <a:latin typeface="Corbel"/>
              <a:ea typeface="Corbel"/>
              <a:cs typeface="Corbel"/>
            </a:endParaRPr>
          </a:p>
          <a:p>
            <a:pPr algn="l">
              <a:defRPr sz="202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Site assessment</a:t>
            </a:r>
          </a:p>
        </p:txBody>
      </p:sp>
      <p:sp>
        <p:nvSpPr>
          <p:cNvPr id="5" name="redesign-text-45">
            <a:extLst>
              <a:ext uri="{FF2B5EF4-FFF2-40B4-BE49-F238E27FC236}">
                <a16:creationId xmlns:a16="http://schemas.microsoft.com/office/drawing/2014/main" id="{89672F5F-7746-4D62-A73A-EABE8C8DF1B1}"/>
              </a:ext>
            </a:extLst>
          </p:cNvPr>
          <p:cNvSpPr>
            <a:spLocks noGrp="1"/>
          </p:cNvSpPr>
          <p:nvPr/>
        </p:nvSpPr>
        <p:spPr>
          <a:xfrm>
            <a:off x="4953000" y="476250"/>
            <a:ext cx="65532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800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Original job photographs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4191" y="1190625"/>
            <a:ext cx="2893219" cy="38576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02241" y="1190625"/>
            <a:ext cx="2893219" cy="3857625"/>
          </a:xfrm>
          <a:prstGeom prst="rect">
            <a:avLst/>
          </a:prstGeom>
        </p:spPr>
      </p:pic>
      <p:sp>
        <p:nvSpPr>
          <p:cNvPr id="8" name="redesign-text-46">
            <a:extLst>
              <a:ext uri="{FF2B5EF4-FFF2-40B4-BE49-F238E27FC236}">
                <a16:creationId xmlns:a16="http://schemas.microsoft.com/office/drawing/2014/main" id="{13C98083-6A7E-48EF-A912-AB5ABE08D6F4}"/>
              </a:ext>
            </a:extLst>
          </p:cNvPr>
          <p:cNvSpPr>
            <a:spLocks noGrp="1"/>
          </p:cNvSpPr>
          <p:nvPr/>
        </p:nvSpPr>
        <p:spPr>
          <a:xfrm>
            <a:off x="4953000" y="5334000"/>
            <a:ext cx="2895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2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Before service</a:t>
            </a:r>
          </a:p>
        </p:txBody>
      </p:sp>
      <p:sp>
        <p:nvSpPr>
          <p:cNvPr id="9" name="redesign-text-47">
            <a:extLst>
              <a:ext uri="{FF2B5EF4-FFF2-40B4-BE49-F238E27FC236}">
                <a16:creationId xmlns:a16="http://schemas.microsoft.com/office/drawing/2014/main" id="{46242066-7359-4E54-841B-063E84B43470}"/>
              </a:ext>
            </a:extLst>
          </p:cNvPr>
          <p:cNvSpPr>
            <a:spLocks noGrp="1"/>
          </p:cNvSpPr>
          <p:nvPr/>
        </p:nvSpPr>
        <p:spPr>
          <a:xfrm>
            <a:off x="8401050" y="5334000"/>
            <a:ext cx="2895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2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After service</a:t>
            </a:r>
          </a:p>
        </p:txBody>
      </p:sp>
      <p:sp>
        <p:nvSpPr>
          <p:cNvPr id="10" name="redesign-field-48">
            <a:extLst>
              <a:ext uri="{FF2B5EF4-FFF2-40B4-BE49-F238E27FC236}">
                <a16:creationId xmlns:a16="http://schemas.microsoft.com/office/drawing/2014/main" id="{9FCF61A5-BC4C-405E-8AD7-8871A146CE2E}"/>
              </a:ext>
            </a:extLst>
          </p:cNvPr>
          <p:cNvSpPr>
            <a:spLocks noGrp="1"/>
          </p:cNvSpPr>
          <p:nvPr/>
        </p:nvSpPr>
        <p:spPr>
          <a:xfrm>
            <a:off x="4953000" y="6000750"/>
            <a:ext cx="6343650" cy="9525"/>
          </a:xfrm>
          <a:prstGeom prst="rect">
            <a:avLst/>
          </a:prstGeom>
          <a:solidFill>
            <a:srgbClr val="CCD6E3"/>
          </a:solidFill>
          <a:ln w="0">
            <a:noFill/>
          </a:ln>
        </p:spPr>
      </p:sp>
      <p:sp>
        <p:nvSpPr>
          <p:cNvPr id="11" name="redesign-text-49">
            <a:extLst>
              <a:ext uri="{FF2B5EF4-FFF2-40B4-BE49-F238E27FC236}">
                <a16:creationId xmlns:a16="http://schemas.microsoft.com/office/drawing/2014/main" id="{B87817A5-BB54-4B3B-A78A-F4C57360A83F}"/>
              </a:ext>
            </a:extLst>
          </p:cNvPr>
          <p:cNvSpPr>
            <a:spLocks noGrp="1"/>
          </p:cNvSpPr>
          <p:nvPr/>
        </p:nvSpPr>
        <p:spPr>
          <a:xfrm>
            <a:off x="4953000" y="6210300"/>
            <a:ext cx="65532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650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A documented job. Service needs vary by tank and site.</a:t>
            </a:r>
          </a:p>
        </p:txBody>
      </p:sp>
    </p:spTree>
    <p:extLst>
      <p:ext uri="{BB962C8B-B14F-4D97-AF65-F5344CB8AC3E}">
        <p14:creationId xmlns:p14="http://schemas.microsoft.com/office/powerpoint/2010/main" val="404230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63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design-field-50">
            <a:extLst>
              <a:ext uri="{FF2B5EF4-FFF2-40B4-BE49-F238E27FC236}">
                <a16:creationId xmlns:a16="http://schemas.microsoft.com/office/drawing/2014/main" id="{2D4A3110-6F1F-4B4F-B202-FC073A751BFF}"/>
              </a:ext>
            </a:extLst>
          </p:cNvPr>
          <p:cNvSpPr>
            <a:spLocks noGrp="1"/>
          </p:cNvSpPr>
          <p:nvPr/>
        </p:nvSpPr>
        <p:spPr>
          <a:xfrm>
            <a:off x="4629150" y="0"/>
            <a:ext cx="7562850" cy="6858000"/>
          </a:xfrm>
          <a:prstGeom prst="rect">
            <a:avLst/>
          </a:prstGeom>
          <a:solidFill>
            <a:srgbClr val="F4F6FA"/>
          </a:solidFill>
          <a:ln w="0">
            <a:noFill/>
          </a:ln>
        </p:spPr>
      </p:sp>
      <p:sp>
        <p:nvSpPr>
          <p:cNvPr id="2" name="redesign-text-51">
            <a:extLst>
              <a:ext uri="{FF2B5EF4-FFF2-40B4-BE49-F238E27FC236}">
                <a16:creationId xmlns:a16="http://schemas.microsoft.com/office/drawing/2014/main" id="{0D261F59-68EE-46B7-A2EF-08E294B990E5}"/>
              </a:ext>
            </a:extLst>
          </p:cNvPr>
          <p:cNvSpPr>
            <a:spLocks noGrp="1"/>
          </p:cNvSpPr>
          <p:nvPr/>
        </p:nvSpPr>
        <p:spPr>
          <a:xfrm>
            <a:off x="590550" y="752475"/>
            <a:ext cx="36195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405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Plumbing</a:t>
            </a:r>
          </a:p>
        </p:txBody>
      </p:sp>
      <p:sp>
        <p:nvSpPr>
          <p:cNvPr id="3" name="redesign-text-52">
            <a:extLst>
              <a:ext uri="{FF2B5EF4-FFF2-40B4-BE49-F238E27FC236}">
                <a16:creationId xmlns:a16="http://schemas.microsoft.com/office/drawing/2014/main" id="{EA16C755-D7CE-49EE-912F-0B9AEEC0D44A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3486150" cy="1343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2100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Assessment and repair of</a:t>
            </a:r>
          </a:p>
          <a:p>
            <a:pPr algn="l">
              <a:defRPr sz="2100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2100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drainage, pipe and</a:t>
            </a:r>
          </a:p>
          <a:p>
            <a:pPr algn="l">
              <a:defRPr sz="2100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2100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water leak problems.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24450" y="1763713"/>
            <a:ext cx="6381750" cy="4254500"/>
          </a:xfrm>
          <a:prstGeom prst="rect">
            <a:avLst/>
          </a:prstGeom>
        </p:spPr>
      </p:pic>
      <p:sp>
        <p:nvSpPr>
          <p:cNvPr id="5" name="redesign-field-53">
            <a:extLst>
              <a:ext uri="{FF2B5EF4-FFF2-40B4-BE49-F238E27FC236}">
                <a16:creationId xmlns:a16="http://schemas.microsoft.com/office/drawing/2014/main" id="{8C835F83-7513-485E-90A4-2ED5A4A7A5CB}"/>
              </a:ext>
            </a:extLst>
          </p:cNvPr>
          <p:cNvSpPr>
            <a:spLocks noGrp="1"/>
          </p:cNvSpPr>
          <p:nvPr/>
        </p:nvSpPr>
        <p:spPr>
          <a:xfrm>
            <a:off x="628650" y="3714750"/>
            <a:ext cx="3371850" cy="9525"/>
          </a:xfrm>
          <a:prstGeom prst="rect">
            <a:avLst/>
          </a:prstGeom>
          <a:solidFill>
            <a:srgbClr val="6B9BCD"/>
          </a:solidFill>
          <a:ln w="0">
            <a:noFill/>
          </a:ln>
        </p:spPr>
      </p:sp>
      <p:sp>
        <p:nvSpPr>
          <p:cNvPr id="6" name="redesign-text-54">
            <a:extLst>
              <a:ext uri="{FF2B5EF4-FFF2-40B4-BE49-F238E27FC236}">
                <a16:creationId xmlns:a16="http://schemas.microsoft.com/office/drawing/2014/main" id="{CDFA4CAB-11C9-4747-A10F-CA43EE0E5D83}"/>
              </a:ext>
            </a:extLst>
          </p:cNvPr>
          <p:cNvSpPr>
            <a:spLocks noGrp="1"/>
          </p:cNvSpPr>
          <p:nvPr/>
        </p:nvSpPr>
        <p:spPr>
          <a:xfrm>
            <a:off x="628650" y="4038600"/>
            <a:ext cx="3429000" cy="2238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Drain declogging</a:t>
            </a:r>
          </a:p>
          <a:p>
            <a:endParaRPr sz="1875" b="0">
              <a:solidFill>
                <a:srgbClr val="FFFFFF"/>
              </a:solidFill>
              <a:latin typeface="Corbel"/>
              <a:ea typeface="Corbel"/>
              <a:cs typeface="Corbel"/>
            </a:endParaRPr>
          </a:p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Plumbing and pipe leak repairs</a:t>
            </a:r>
          </a:p>
          <a:p>
            <a:endParaRPr sz="1875" b="0">
              <a:solidFill>
                <a:srgbClr val="FFFFFF"/>
              </a:solidFill>
              <a:latin typeface="Corbel"/>
              <a:ea typeface="Corbel"/>
              <a:cs typeface="Corbel"/>
            </a:endParaRPr>
          </a:p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Troubleshooting based</a:t>
            </a:r>
          </a:p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on site findings</a:t>
            </a:r>
          </a:p>
        </p:txBody>
      </p:sp>
      <p:sp>
        <p:nvSpPr>
          <p:cNvPr id="7" name="redesign-text-55">
            <a:extLst>
              <a:ext uri="{FF2B5EF4-FFF2-40B4-BE49-F238E27FC236}">
                <a16:creationId xmlns:a16="http://schemas.microsoft.com/office/drawing/2014/main" id="{A8C8D1D7-8219-4635-8550-16B939D7AE5F}"/>
              </a:ext>
            </a:extLst>
          </p:cNvPr>
          <p:cNvSpPr>
            <a:spLocks noGrp="1"/>
          </p:cNvSpPr>
          <p:nvPr/>
        </p:nvSpPr>
        <p:spPr>
          <a:xfrm>
            <a:off x="5124450" y="6286500"/>
            <a:ext cx="6381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350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AI-generated service illustration</a:t>
            </a:r>
          </a:p>
        </p:txBody>
      </p:sp>
    </p:spTree>
    <p:extLst>
      <p:ext uri="{BB962C8B-B14F-4D97-AF65-F5344CB8AC3E}">
        <p14:creationId xmlns:p14="http://schemas.microsoft.com/office/powerpoint/2010/main" val="135389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design-text-56">
            <a:extLst>
              <a:ext uri="{FF2B5EF4-FFF2-40B4-BE49-F238E27FC236}">
                <a16:creationId xmlns:a16="http://schemas.microsoft.com/office/drawing/2014/main" id="{B93F3A22-8479-4381-B065-35D1F0437CE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6257925" cy="1352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0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40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Renovation &amp;</a:t>
            </a:r>
          </a:p>
          <a:p>
            <a:pPr algn="l">
              <a:defRPr sz="40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40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restoration</a:t>
            </a:r>
          </a:p>
        </p:txBody>
      </p:sp>
      <p:sp>
        <p:nvSpPr>
          <p:cNvPr id="2" name="redesign-text-57">
            <a:extLst>
              <a:ext uri="{FF2B5EF4-FFF2-40B4-BE49-F238E27FC236}">
                <a16:creationId xmlns:a16="http://schemas.microsoft.com/office/drawing/2014/main" id="{B37F04CB-1BEE-41FB-B6FA-22A51475BD3B}"/>
              </a:ext>
            </a:extLst>
          </p:cNvPr>
          <p:cNvSpPr>
            <a:spLocks noGrp="1"/>
          </p:cNvSpPr>
          <p:nvPr/>
        </p:nvSpPr>
        <p:spPr>
          <a:xfrm>
            <a:off x="723900" y="2371725"/>
            <a:ext cx="619125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Repairs and improvements tailored</a:t>
            </a:r>
          </a:p>
          <a:p>
            <a:pPr algn="l">
              <a:defRPr sz="21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to the property and agreed scope.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7581" y="666750"/>
            <a:ext cx="4186238" cy="2790825"/>
          </a:xfrm>
          <a:prstGeom prst="rect">
            <a:avLst/>
          </a:prstGeom>
        </p:spPr>
      </p:pic>
      <p:sp>
        <p:nvSpPr>
          <p:cNvPr id="4" name="redesign-text-58">
            <a:extLst>
              <a:ext uri="{FF2B5EF4-FFF2-40B4-BE49-F238E27FC236}">
                <a16:creationId xmlns:a16="http://schemas.microsoft.com/office/drawing/2014/main" id="{108209EF-6013-46E0-9C33-AF9CDFC4446E}"/>
              </a:ext>
            </a:extLst>
          </p:cNvPr>
          <p:cNvSpPr>
            <a:spLocks noGrp="1"/>
          </p:cNvSpPr>
          <p:nvPr/>
        </p:nvSpPr>
        <p:spPr>
          <a:xfrm>
            <a:off x="7315200" y="3581400"/>
            <a:ext cx="4191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350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AI-generated service illustration</a:t>
            </a:r>
          </a:p>
        </p:txBody>
      </p:sp>
      <p:sp>
        <p:nvSpPr>
          <p:cNvPr id="5" name="redesign-field-59">
            <a:extLst>
              <a:ext uri="{FF2B5EF4-FFF2-40B4-BE49-F238E27FC236}">
                <a16:creationId xmlns:a16="http://schemas.microsoft.com/office/drawing/2014/main" id="{51A7734F-CF55-4289-980C-B47919F40CAA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10820400" cy="9525"/>
          </a:xfrm>
          <a:prstGeom prst="rect">
            <a:avLst/>
          </a:prstGeom>
          <a:solidFill>
            <a:srgbClr val="CCD6E3"/>
          </a:solidFill>
          <a:ln w="0">
            <a:noFill/>
          </a:ln>
        </p:spPr>
      </p:sp>
      <p:sp>
        <p:nvSpPr>
          <p:cNvPr id="6" name="redesign-text-60">
            <a:extLst>
              <a:ext uri="{FF2B5EF4-FFF2-40B4-BE49-F238E27FC236}">
                <a16:creationId xmlns:a16="http://schemas.microsoft.com/office/drawing/2014/main" id="{1E69AB03-35C0-4A11-8233-52D727246941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512445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House and condo</a:t>
            </a:r>
          </a:p>
          <a:p>
            <a:pPr algn="l">
              <a:defRPr sz="22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renovation</a:t>
            </a:r>
          </a:p>
        </p:txBody>
      </p:sp>
      <p:sp>
        <p:nvSpPr>
          <p:cNvPr id="7" name="redesign-text-61">
            <a:extLst>
              <a:ext uri="{FF2B5EF4-FFF2-40B4-BE49-F238E27FC236}">
                <a16:creationId xmlns:a16="http://schemas.microsoft.com/office/drawing/2014/main" id="{EDB59CA5-61C2-432E-A9CF-8E02673129DD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Ceiling repair or replacement</a:t>
            </a:r>
          </a:p>
        </p:txBody>
      </p:sp>
      <p:sp>
        <p:nvSpPr>
          <p:cNvPr id="8" name="redesign-text-62">
            <a:extLst>
              <a:ext uri="{FF2B5EF4-FFF2-40B4-BE49-F238E27FC236}">
                <a16:creationId xmlns:a16="http://schemas.microsoft.com/office/drawing/2014/main" id="{0A465B6A-79A9-411B-84DE-8C1DFF31E082}"/>
              </a:ext>
            </a:extLst>
          </p:cNvPr>
          <p:cNvSpPr>
            <a:spLocks noGrp="1"/>
          </p:cNvSpPr>
          <p:nvPr/>
        </p:nvSpPr>
        <p:spPr>
          <a:xfrm>
            <a:off x="6400800" y="4629150"/>
            <a:ext cx="5105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Roof leak repair</a:t>
            </a:r>
          </a:p>
          <a:p>
            <a:pPr algn="l">
              <a:defRPr sz="22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and waterproofing</a:t>
            </a:r>
          </a:p>
        </p:txBody>
      </p:sp>
      <p:sp>
        <p:nvSpPr>
          <p:cNvPr id="9" name="redesign-text-63">
            <a:extLst>
              <a:ext uri="{FF2B5EF4-FFF2-40B4-BE49-F238E27FC236}">
                <a16:creationId xmlns:a16="http://schemas.microsoft.com/office/drawing/2014/main" id="{5FFED357-716C-4E26-A0DE-11B231A5C291}"/>
              </a:ext>
            </a:extLst>
          </p:cNvPr>
          <p:cNvSpPr>
            <a:spLocks noGrp="1"/>
          </p:cNvSpPr>
          <p:nvPr/>
        </p:nvSpPr>
        <p:spPr>
          <a:xfrm>
            <a:off x="6400800" y="5705475"/>
            <a:ext cx="51054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House cleaning within the agreed scope</a:t>
            </a:r>
          </a:p>
        </p:txBody>
      </p:sp>
    </p:spTree>
    <p:extLst>
      <p:ext uri="{BB962C8B-B14F-4D97-AF65-F5344CB8AC3E}">
        <p14:creationId xmlns:p14="http://schemas.microsoft.com/office/powerpoint/2010/main" val="1884958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design-text-64">
            <a:extLst>
              <a:ext uri="{FF2B5EF4-FFF2-40B4-BE49-F238E27FC236}">
                <a16:creationId xmlns:a16="http://schemas.microsoft.com/office/drawing/2014/main" id="{B5317F5F-41D7-4E13-97AC-E51D12B0A3F1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02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5025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Pest control</a:t>
            </a:r>
          </a:p>
        </p:txBody>
      </p:sp>
      <p:sp>
        <p:nvSpPr>
          <p:cNvPr id="2" name="redesign-text-65">
            <a:extLst>
              <a:ext uri="{FF2B5EF4-FFF2-40B4-BE49-F238E27FC236}">
                <a16:creationId xmlns:a16="http://schemas.microsoft.com/office/drawing/2014/main" id="{6E0CD071-042F-4939-BF27-1FDB7EDC2029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10001250" cy="1352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675" b="0">
                <a:solidFill>
                  <a:srgbClr val="1C63AD"/>
                </a:solidFill>
                <a:latin typeface="Century Gothic"/>
                <a:ea typeface="Century Gothic"/>
                <a:cs typeface="Century Gothic"/>
              </a:defRPr>
            </a:pPr>
            <a:r>
              <a:rPr sz="3675" b="0">
                <a:solidFill>
                  <a:srgbClr val="1C63AD"/>
                </a:solidFill>
                <a:latin typeface="Century Gothic"/>
                <a:ea typeface="Century Gothic"/>
                <a:cs typeface="Century Gothic"/>
              </a:rPr>
              <a:t>Service planning starts with</a:t>
            </a:r>
          </a:p>
          <a:p>
            <a:pPr algn="l">
              <a:defRPr sz="3675" b="0">
                <a:solidFill>
                  <a:srgbClr val="1C63AD"/>
                </a:solidFill>
                <a:latin typeface="Century Gothic"/>
                <a:ea typeface="Century Gothic"/>
                <a:cs typeface="Century Gothic"/>
              </a:defRPr>
            </a:pPr>
            <a:r>
              <a:rPr sz="3675" b="0">
                <a:solidFill>
                  <a:srgbClr val="1C63AD"/>
                </a:solidFill>
                <a:latin typeface="Century Gothic"/>
                <a:ea typeface="Century Gothic"/>
                <a:cs typeface="Century Gothic"/>
              </a:rPr>
              <a:t>the concern at your property.</a:t>
            </a:r>
          </a:p>
        </p:txBody>
      </p:sp>
      <p:sp>
        <p:nvSpPr>
          <p:cNvPr id="3" name="redesign-field-66">
            <a:extLst>
              <a:ext uri="{FF2B5EF4-FFF2-40B4-BE49-F238E27FC236}">
                <a16:creationId xmlns:a16="http://schemas.microsoft.com/office/drawing/2014/main" id="{B73644C5-A6E8-441D-BD2B-B5ED67F94755}"/>
              </a:ext>
            </a:extLst>
          </p:cNvPr>
          <p:cNvSpPr>
            <a:spLocks noGrp="1"/>
          </p:cNvSpPr>
          <p:nvPr/>
        </p:nvSpPr>
        <p:spPr>
          <a:xfrm>
            <a:off x="0" y="4543425"/>
            <a:ext cx="12192000" cy="2314575"/>
          </a:xfrm>
          <a:prstGeom prst="rect">
            <a:avLst/>
          </a:prstGeom>
          <a:solidFill>
            <a:srgbClr val="0A1F45"/>
          </a:solidFill>
          <a:ln w="0">
            <a:noFill/>
          </a:ln>
        </p:spPr>
      </p:sp>
      <p:sp>
        <p:nvSpPr>
          <p:cNvPr id="4" name="redesign-text-67">
            <a:extLst>
              <a:ext uri="{FF2B5EF4-FFF2-40B4-BE49-F238E27FC236}">
                <a16:creationId xmlns:a16="http://schemas.microsoft.com/office/drawing/2014/main" id="{D7F55363-9D82-46EC-AC8B-16D2FD5E6512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33528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Assessment</a:t>
            </a:r>
          </a:p>
        </p:txBody>
      </p:sp>
      <p:sp>
        <p:nvSpPr>
          <p:cNvPr id="5" name="redesign-text-68">
            <a:extLst>
              <a:ext uri="{FF2B5EF4-FFF2-40B4-BE49-F238E27FC236}">
                <a16:creationId xmlns:a16="http://schemas.microsoft.com/office/drawing/2014/main" id="{B8F539BF-7176-470A-9786-50E4274AB9DC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335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Review reported concerns</a:t>
            </a:r>
          </a:p>
          <a:p>
            <a:pPr algn="l">
              <a:defRPr sz="202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and signs of pest activity.</a:t>
            </a:r>
          </a:p>
        </p:txBody>
      </p:sp>
      <p:sp>
        <p:nvSpPr>
          <p:cNvPr id="6" name="redesign-text-69">
            <a:extLst>
              <a:ext uri="{FF2B5EF4-FFF2-40B4-BE49-F238E27FC236}">
                <a16:creationId xmlns:a16="http://schemas.microsoft.com/office/drawing/2014/main" id="{05189BF4-7D00-4213-9001-4929D4833886}"/>
              </a:ext>
            </a:extLst>
          </p:cNvPr>
          <p:cNvSpPr>
            <a:spLocks noGrp="1"/>
          </p:cNvSpPr>
          <p:nvPr/>
        </p:nvSpPr>
        <p:spPr>
          <a:xfrm>
            <a:off x="4476750" y="5038725"/>
            <a:ext cx="33528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Treatment scope</a:t>
            </a:r>
          </a:p>
        </p:txBody>
      </p:sp>
      <p:sp>
        <p:nvSpPr>
          <p:cNvPr id="7" name="redesign-text-70">
            <a:extLst>
              <a:ext uri="{FF2B5EF4-FFF2-40B4-BE49-F238E27FC236}">
                <a16:creationId xmlns:a16="http://schemas.microsoft.com/office/drawing/2014/main" id="{1C4CD1BE-4A42-4929-BBDF-67AC6588D666}"/>
              </a:ext>
            </a:extLst>
          </p:cNvPr>
          <p:cNvSpPr>
            <a:spLocks noGrp="1"/>
          </p:cNvSpPr>
          <p:nvPr/>
        </p:nvSpPr>
        <p:spPr>
          <a:xfrm>
            <a:off x="4476750" y="5715000"/>
            <a:ext cx="335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Base the proposed service</a:t>
            </a:r>
          </a:p>
          <a:p>
            <a:pPr algn="l">
              <a:defRPr sz="202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on site findings.</a:t>
            </a:r>
          </a:p>
        </p:txBody>
      </p:sp>
      <p:sp>
        <p:nvSpPr>
          <p:cNvPr id="8" name="redesign-text-71">
            <a:extLst>
              <a:ext uri="{FF2B5EF4-FFF2-40B4-BE49-F238E27FC236}">
                <a16:creationId xmlns:a16="http://schemas.microsoft.com/office/drawing/2014/main" id="{9263E2FC-0E33-4CFD-8C49-BEBA6526354A}"/>
              </a:ext>
            </a:extLst>
          </p:cNvPr>
          <p:cNvSpPr>
            <a:spLocks noGrp="1"/>
          </p:cNvSpPr>
          <p:nvPr/>
        </p:nvSpPr>
        <p:spPr>
          <a:xfrm>
            <a:off x="8267700" y="5038725"/>
            <a:ext cx="33528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Coordination</a:t>
            </a:r>
          </a:p>
        </p:txBody>
      </p:sp>
      <p:sp>
        <p:nvSpPr>
          <p:cNvPr id="9" name="redesign-text-72">
            <a:extLst>
              <a:ext uri="{FF2B5EF4-FFF2-40B4-BE49-F238E27FC236}">
                <a16:creationId xmlns:a16="http://schemas.microsoft.com/office/drawing/2014/main" id="{24FCFD95-A4AE-4785-B923-F2485F376654}"/>
              </a:ext>
            </a:extLst>
          </p:cNvPr>
          <p:cNvSpPr>
            <a:spLocks noGrp="1"/>
          </p:cNvSpPr>
          <p:nvPr/>
        </p:nvSpPr>
        <p:spPr>
          <a:xfrm>
            <a:off x="8267700" y="5715000"/>
            <a:ext cx="3352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Arrange scheduling and</a:t>
            </a:r>
          </a:p>
          <a:p>
            <a:pPr algn="l">
              <a:defRPr sz="202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02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the appropriate contractor.</a:t>
            </a:r>
          </a:p>
        </p:txBody>
      </p:sp>
    </p:spTree>
    <p:extLst>
      <p:ext uri="{BB962C8B-B14F-4D97-AF65-F5344CB8AC3E}">
        <p14:creationId xmlns:p14="http://schemas.microsoft.com/office/powerpoint/2010/main" val="376830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63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design-field-73">
            <a:extLst>
              <a:ext uri="{FF2B5EF4-FFF2-40B4-BE49-F238E27FC236}">
                <a16:creationId xmlns:a16="http://schemas.microsoft.com/office/drawing/2014/main" id="{6B6D21CB-9074-4B88-B747-C65AE4451709}"/>
              </a:ext>
            </a:extLst>
          </p:cNvPr>
          <p:cNvSpPr>
            <a:spLocks noGrp="1"/>
          </p:cNvSpPr>
          <p:nvPr/>
        </p:nvSpPr>
        <p:spPr>
          <a:xfrm>
            <a:off x="5962650" y="0"/>
            <a:ext cx="6229350" cy="6858000"/>
          </a:xfrm>
          <a:prstGeom prst="rect">
            <a:avLst/>
          </a:prstGeom>
          <a:solidFill>
            <a:srgbClr val="F4F6FA"/>
          </a:solidFill>
          <a:ln w="0">
            <a:noFill/>
          </a:ln>
        </p:spPr>
      </p:sp>
      <p:sp>
        <p:nvSpPr>
          <p:cNvPr id="2" name="redesign-text-74">
            <a:extLst>
              <a:ext uri="{FF2B5EF4-FFF2-40B4-BE49-F238E27FC236}">
                <a16:creationId xmlns:a16="http://schemas.microsoft.com/office/drawing/2014/main" id="{06376E12-4D92-4F61-A814-50428C40FB1E}"/>
              </a:ext>
            </a:extLst>
          </p:cNvPr>
          <p:cNvSpPr>
            <a:spLocks noGrp="1"/>
          </p:cNvSpPr>
          <p:nvPr/>
        </p:nvSpPr>
        <p:spPr>
          <a:xfrm>
            <a:off x="590550" y="704850"/>
            <a:ext cx="5219700" cy="2276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On-site</a:t>
            </a:r>
          </a:p>
          <a:p>
            <a:pPr algn="l">
              <a:def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wastewater</a:t>
            </a:r>
          </a:p>
          <a:p>
            <a:pPr algn="l">
              <a:def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treatment</a:t>
            </a:r>
          </a:p>
        </p:txBody>
      </p:sp>
      <p:sp>
        <p:nvSpPr>
          <p:cNvPr id="3" name="redesign-text-75">
            <a:extLst>
              <a:ext uri="{FF2B5EF4-FFF2-40B4-BE49-F238E27FC236}">
                <a16:creationId xmlns:a16="http://schemas.microsoft.com/office/drawing/2014/main" id="{861FF902-CE39-4B53-B4C6-EDD36DAC5BD3}"/>
              </a:ext>
            </a:extLst>
          </p:cNvPr>
          <p:cNvSpPr>
            <a:spLocks noGrp="1"/>
          </p:cNvSpPr>
          <p:nvPr/>
        </p:nvSpPr>
        <p:spPr>
          <a:xfrm>
            <a:off x="628650" y="3419475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Sewage treatment plant (STP)</a:t>
            </a:r>
          </a:p>
        </p:txBody>
      </p:sp>
      <p:sp>
        <p:nvSpPr>
          <p:cNvPr id="4" name="redesign-text-76">
            <a:extLst>
              <a:ext uri="{FF2B5EF4-FFF2-40B4-BE49-F238E27FC236}">
                <a16:creationId xmlns:a16="http://schemas.microsoft.com/office/drawing/2014/main" id="{A2A430FA-4BF7-4A1F-ABA4-D5B6C649984E}"/>
              </a:ext>
            </a:extLst>
          </p:cNvPr>
          <p:cNvSpPr>
            <a:spLocks noGrp="1"/>
          </p:cNvSpPr>
          <p:nvPr/>
        </p:nvSpPr>
        <p:spPr>
          <a:xfrm>
            <a:off x="628650" y="4124325"/>
            <a:ext cx="5048250" cy="1343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Building wastewater treatment.</a:t>
            </a:r>
          </a:p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Assessment, technical proposal</a:t>
            </a:r>
          </a:p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and specialist coordination.</a:t>
            </a:r>
          </a:p>
        </p:txBody>
      </p:sp>
      <p:sp>
        <p:nvSpPr>
          <p:cNvPr id="5" name="redesign-text-77">
            <a:extLst>
              <a:ext uri="{FF2B5EF4-FFF2-40B4-BE49-F238E27FC236}">
                <a16:creationId xmlns:a16="http://schemas.microsoft.com/office/drawing/2014/main" id="{A7B8E906-E9BE-4114-8BC0-6E4B04C03483}"/>
              </a:ext>
            </a:extLst>
          </p:cNvPr>
          <p:cNvSpPr>
            <a:spLocks noGrp="1"/>
          </p:cNvSpPr>
          <p:nvPr/>
        </p:nvSpPr>
        <p:spPr>
          <a:xfrm>
            <a:off x="6486525" y="619125"/>
            <a:ext cx="50101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70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defRPr>
            </a:pPr>
            <a:r>
              <a:rPr sz="2700" b="1">
                <a:solidFill>
                  <a:srgbClr val="0B1B33"/>
                </a:solidFill>
                <a:latin typeface="Century Gothic"/>
                <a:ea typeface="Century Gothic"/>
                <a:cs typeface="Century Gothic"/>
              </a:rPr>
              <a:t>Site requirements first</a:t>
            </a:r>
          </a:p>
        </p:txBody>
      </p:sp>
      <p:sp>
        <p:nvSpPr>
          <p:cNvPr id="6" name="redesign-text-78">
            <a:extLst>
              <a:ext uri="{FF2B5EF4-FFF2-40B4-BE49-F238E27FC236}">
                <a16:creationId xmlns:a16="http://schemas.microsoft.com/office/drawing/2014/main" id="{CD6D2D64-1F38-45F3-B6BA-B2CCBD2DBD46}"/>
              </a:ext>
            </a:extLst>
          </p:cNvPr>
          <p:cNvSpPr>
            <a:spLocks noGrp="1"/>
          </p:cNvSpPr>
          <p:nvPr/>
        </p:nvSpPr>
        <p:spPr>
          <a:xfrm>
            <a:off x="6486525" y="1323975"/>
            <a:ext cx="5048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950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Volume. Space. Outlet. Operating costs.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17500" t="28200" r="13500" b="16000"/>
          <a:stretch>
            <a:fillRect/>
          </a:stretch>
        </p:blipFill>
        <p:spPr>
          <a:xfrm>
            <a:off x="6296025" y="2457450"/>
            <a:ext cx="5429250" cy="2600325"/>
          </a:xfrm>
          <a:prstGeom prst="rect">
            <a:avLst/>
          </a:prstGeom>
        </p:spPr>
      </p:pic>
      <p:sp>
        <p:nvSpPr>
          <p:cNvPr id="8" name="redesign-text-79">
            <a:extLst>
              <a:ext uri="{FF2B5EF4-FFF2-40B4-BE49-F238E27FC236}">
                <a16:creationId xmlns:a16="http://schemas.microsoft.com/office/drawing/2014/main" id="{149A55A9-E720-4F21-95F0-D2D8149D08CF}"/>
              </a:ext>
            </a:extLst>
          </p:cNvPr>
          <p:cNvSpPr>
            <a:spLocks noGrp="1"/>
          </p:cNvSpPr>
          <p:nvPr/>
        </p:nvSpPr>
        <p:spPr>
          <a:xfrm>
            <a:off x="6486525" y="5514975"/>
            <a:ext cx="508635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0B1B33"/>
                </a:solidFill>
                <a:latin typeface="Corbel"/>
                <a:ea typeface="Corbel"/>
                <a:cs typeface="Corbel"/>
              </a:defRPr>
            </a:pPr>
            <a:r>
              <a:rPr sz="2100" b="0">
                <a:solidFill>
                  <a:srgbClr val="0B1B33"/>
                </a:solidFill>
                <a:latin typeface="Corbel"/>
                <a:ea typeface="Corbel"/>
                <a:cs typeface="Corbel"/>
              </a:rPr>
              <a:t>Sludge removal and equipment care</a:t>
            </a:r>
          </a:p>
          <a:p>
            <a:pPr algn="l">
              <a:defRPr sz="2100" b="0">
                <a:solidFill>
                  <a:srgbClr val="0B1B33"/>
                </a:solidFill>
                <a:latin typeface="Corbel"/>
                <a:ea typeface="Corbel"/>
                <a:cs typeface="Corbel"/>
              </a:defRPr>
            </a:pPr>
            <a:r>
              <a:rPr sz="2100" b="0">
                <a:solidFill>
                  <a:srgbClr val="0B1B33"/>
                </a:solidFill>
                <a:latin typeface="Corbel"/>
                <a:ea typeface="Corbel"/>
                <a:cs typeface="Corbel"/>
              </a:rPr>
              <a:t>continue after installation.</a:t>
            </a:r>
          </a:p>
        </p:txBody>
      </p:sp>
      <p:sp>
        <p:nvSpPr>
          <p:cNvPr id="9" name="redesign-text-80">
            <a:extLst>
              <a:ext uri="{FF2B5EF4-FFF2-40B4-BE49-F238E27FC236}">
                <a16:creationId xmlns:a16="http://schemas.microsoft.com/office/drawing/2014/main" id="{1B10935E-314F-4FA8-A495-ADF7EE64A7E7}"/>
              </a:ext>
            </a:extLst>
          </p:cNvPr>
          <p:cNvSpPr>
            <a:spLocks noGrp="1"/>
          </p:cNvSpPr>
          <p:nvPr/>
        </p:nvSpPr>
        <p:spPr>
          <a:xfrm>
            <a:off x="6486525" y="6543675"/>
            <a:ext cx="50863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75" b="0">
                <a:solidFill>
                  <a:srgbClr val="4F6077"/>
                </a:solidFill>
                <a:latin typeface="Corbel"/>
                <a:ea typeface="Corbel"/>
                <a:cs typeface="Corbel"/>
              </a:defRPr>
            </a:pPr>
            <a:r>
              <a:rPr sz="1275" b="0">
                <a:solidFill>
                  <a:srgbClr val="4F6077"/>
                </a:solidFill>
                <a:latin typeface="Corbel"/>
                <a:ea typeface="Corbel"/>
                <a:cs typeface="Corbel"/>
              </a:rPr>
              <a:t>Illustrative process. Actual design follows assessment.</a:t>
            </a:r>
          </a:p>
        </p:txBody>
      </p:sp>
    </p:spTree>
    <p:extLst>
      <p:ext uri="{BB962C8B-B14F-4D97-AF65-F5344CB8AC3E}">
        <p14:creationId xmlns:p14="http://schemas.microsoft.com/office/powerpoint/2010/main" val="1938203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ides STP film">
            <a:hlinkClick action="ppaction://media"/>
            <a:extLst>
              <a:ext uri="{FF2B5EF4-FFF2-40B4-BE49-F238E27FC236}">
                <a16:creationId xmlns:a16="http://schemas.microsoft.com/office/drawing/2014/main" id="{A8E16CF4-1592-80E3-DC5F-7D6C78098F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2994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design-field-81">
            <a:extLst>
              <a:ext uri="{FF2B5EF4-FFF2-40B4-BE49-F238E27FC236}">
                <a16:creationId xmlns:a16="http://schemas.microsoft.com/office/drawing/2014/main" id="{3A6BD5D6-0BBA-44AF-BAE9-B27B2A4FAA47}"/>
              </a:ext>
            </a:extLst>
          </p:cNvPr>
          <p:cNvSpPr>
            <a:spLocks noGrp="1"/>
          </p:cNvSpPr>
          <p:nvPr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rgbClr val="1C63AD"/>
          </a:solidFill>
          <a:ln w="0">
            <a:noFill/>
          </a:ln>
        </p:spPr>
      </p:sp>
      <p:sp>
        <p:nvSpPr>
          <p:cNvPr id="2" name="redesign-text-82">
            <a:extLst>
              <a:ext uri="{FF2B5EF4-FFF2-40B4-BE49-F238E27FC236}">
                <a16:creationId xmlns:a16="http://schemas.microsoft.com/office/drawing/2014/main" id="{C850E892-0446-4396-8356-45146A1C535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162800" cy="151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Site assessment</a:t>
            </a:r>
          </a:p>
          <a:p>
            <a:pPr algn="l">
              <a:def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and quotation</a:t>
            </a:r>
          </a:p>
        </p:txBody>
      </p:sp>
      <p:sp>
        <p:nvSpPr>
          <p:cNvPr id="3" name="redesign-text-83">
            <a:extLst>
              <a:ext uri="{FF2B5EF4-FFF2-40B4-BE49-F238E27FC236}">
                <a16:creationId xmlns:a16="http://schemas.microsoft.com/office/drawing/2014/main" id="{434F88FD-00F8-46E2-B10B-F0FD230A4C2E}"/>
              </a:ext>
            </a:extLst>
          </p:cNvPr>
          <p:cNvSpPr>
            <a:spLocks noGrp="1"/>
          </p:cNvSpPr>
          <p:nvPr/>
        </p:nvSpPr>
        <p:spPr>
          <a:xfrm>
            <a:off x="723900" y="2524125"/>
            <a:ext cx="706755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Share the service you need, the location</a:t>
            </a:r>
          </a:p>
          <a:p>
            <a:pPr algn="l">
              <a:defRPr sz="217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217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and your preferred inspection schedule.</a:t>
            </a:r>
          </a:p>
        </p:txBody>
      </p:sp>
      <p:sp>
        <p:nvSpPr>
          <p:cNvPr id="4" name="redesign-field-84">
            <a:extLst>
              <a:ext uri="{FF2B5EF4-FFF2-40B4-BE49-F238E27FC236}">
                <a16:creationId xmlns:a16="http://schemas.microsoft.com/office/drawing/2014/main" id="{024DF374-D179-4C2F-BB9B-A329760BC8F3}"/>
              </a:ext>
            </a:extLst>
          </p:cNvPr>
          <p:cNvSpPr>
            <a:spLocks noGrp="1"/>
          </p:cNvSpPr>
          <p:nvPr/>
        </p:nvSpPr>
        <p:spPr>
          <a:xfrm>
            <a:off x="723900" y="3914775"/>
            <a:ext cx="6667500" cy="9525"/>
          </a:xfrm>
          <a:prstGeom prst="rect">
            <a:avLst/>
          </a:prstGeom>
          <a:solidFill>
            <a:srgbClr val="426084"/>
          </a:solidFill>
          <a:ln w="0">
            <a:noFill/>
          </a:ln>
        </p:spPr>
      </p:sp>
      <p:sp>
        <p:nvSpPr>
          <p:cNvPr id="5" name="redesign-text-85">
            <a:extLst>
              <a:ext uri="{FF2B5EF4-FFF2-40B4-BE49-F238E27FC236}">
                <a16:creationId xmlns:a16="http://schemas.microsoft.com/office/drawing/2014/main" id="{6688B66F-E852-4BF0-B151-E2B30097D217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15240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950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01</a:t>
            </a:r>
          </a:p>
        </p:txBody>
      </p:sp>
      <p:sp>
        <p:nvSpPr>
          <p:cNvPr id="6" name="redesign-text-86">
            <a:extLst>
              <a:ext uri="{FF2B5EF4-FFF2-40B4-BE49-F238E27FC236}">
                <a16:creationId xmlns:a16="http://schemas.microsoft.com/office/drawing/2014/main" id="{9EBE5928-F3CB-4B17-BDE5-0E7C48C55377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16383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Assess</a:t>
            </a:r>
          </a:p>
        </p:txBody>
      </p:sp>
      <p:sp>
        <p:nvSpPr>
          <p:cNvPr id="7" name="redesign-text-87">
            <a:extLst>
              <a:ext uri="{FF2B5EF4-FFF2-40B4-BE49-F238E27FC236}">
                <a16:creationId xmlns:a16="http://schemas.microsoft.com/office/drawing/2014/main" id="{2019B4B8-35A4-4743-90B1-DEAEE8AE0E3B}"/>
              </a:ext>
            </a:extLst>
          </p:cNvPr>
          <p:cNvSpPr>
            <a:spLocks noGrp="1"/>
          </p:cNvSpPr>
          <p:nvPr/>
        </p:nvSpPr>
        <p:spPr>
          <a:xfrm>
            <a:off x="2457450" y="4305300"/>
            <a:ext cx="15240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950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02</a:t>
            </a:r>
          </a:p>
        </p:txBody>
      </p:sp>
      <p:sp>
        <p:nvSpPr>
          <p:cNvPr id="8" name="redesign-text-88">
            <a:extLst>
              <a:ext uri="{FF2B5EF4-FFF2-40B4-BE49-F238E27FC236}">
                <a16:creationId xmlns:a16="http://schemas.microsoft.com/office/drawing/2014/main" id="{FD9F8CF2-F842-47E8-B72F-F797AC88F647}"/>
              </a:ext>
            </a:extLst>
          </p:cNvPr>
          <p:cNvSpPr>
            <a:spLocks noGrp="1"/>
          </p:cNvSpPr>
          <p:nvPr/>
        </p:nvSpPr>
        <p:spPr>
          <a:xfrm>
            <a:off x="2457450" y="4857750"/>
            <a:ext cx="16383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Quote</a:t>
            </a:r>
          </a:p>
        </p:txBody>
      </p:sp>
      <p:sp>
        <p:nvSpPr>
          <p:cNvPr id="9" name="redesign-text-89">
            <a:extLst>
              <a:ext uri="{FF2B5EF4-FFF2-40B4-BE49-F238E27FC236}">
                <a16:creationId xmlns:a16="http://schemas.microsoft.com/office/drawing/2014/main" id="{7B709EF8-6C8C-4275-BE37-68A43008E9E8}"/>
              </a:ext>
            </a:extLst>
          </p:cNvPr>
          <p:cNvSpPr>
            <a:spLocks noGrp="1"/>
          </p:cNvSpPr>
          <p:nvPr/>
        </p:nvSpPr>
        <p:spPr>
          <a:xfrm>
            <a:off x="4191000" y="4305300"/>
            <a:ext cx="15240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950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03</a:t>
            </a:r>
          </a:p>
        </p:txBody>
      </p:sp>
      <p:sp>
        <p:nvSpPr>
          <p:cNvPr id="10" name="redesign-text-90">
            <a:extLst>
              <a:ext uri="{FF2B5EF4-FFF2-40B4-BE49-F238E27FC236}">
                <a16:creationId xmlns:a16="http://schemas.microsoft.com/office/drawing/2014/main" id="{74ABCD6A-8C21-4F28-B11B-299C288C5949}"/>
              </a:ext>
            </a:extLst>
          </p:cNvPr>
          <p:cNvSpPr>
            <a:spLocks noGrp="1"/>
          </p:cNvSpPr>
          <p:nvPr/>
        </p:nvSpPr>
        <p:spPr>
          <a:xfrm>
            <a:off x="4191000" y="4857750"/>
            <a:ext cx="16383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Coordinate</a:t>
            </a:r>
          </a:p>
        </p:txBody>
      </p:sp>
      <p:sp>
        <p:nvSpPr>
          <p:cNvPr id="11" name="redesign-text-91">
            <a:extLst>
              <a:ext uri="{FF2B5EF4-FFF2-40B4-BE49-F238E27FC236}">
                <a16:creationId xmlns:a16="http://schemas.microsoft.com/office/drawing/2014/main" id="{1CCA3D5E-D3FB-4B4E-867A-805B2B34E213}"/>
              </a:ext>
            </a:extLst>
          </p:cNvPr>
          <p:cNvSpPr>
            <a:spLocks noGrp="1"/>
          </p:cNvSpPr>
          <p:nvPr/>
        </p:nvSpPr>
        <p:spPr>
          <a:xfrm>
            <a:off x="5924550" y="4305300"/>
            <a:ext cx="15240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950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04</a:t>
            </a:r>
          </a:p>
        </p:txBody>
      </p:sp>
      <p:sp>
        <p:nvSpPr>
          <p:cNvPr id="12" name="redesign-text-92">
            <a:extLst>
              <a:ext uri="{FF2B5EF4-FFF2-40B4-BE49-F238E27FC236}">
                <a16:creationId xmlns:a16="http://schemas.microsoft.com/office/drawing/2014/main" id="{BCAFAA92-5936-494B-BBDE-BE503F0BA590}"/>
              </a:ext>
            </a:extLst>
          </p:cNvPr>
          <p:cNvSpPr>
            <a:spLocks noGrp="1"/>
          </p:cNvSpPr>
          <p:nvPr/>
        </p:nvSpPr>
        <p:spPr>
          <a:xfrm>
            <a:off x="5924550" y="4857750"/>
            <a:ext cx="16383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Turn over</a:t>
            </a:r>
          </a:p>
        </p:txBody>
      </p:sp>
      <p:sp>
        <p:nvSpPr>
          <p:cNvPr id="13" name="redesign-text-93">
            <a:extLst>
              <a:ext uri="{FF2B5EF4-FFF2-40B4-BE49-F238E27FC236}">
                <a16:creationId xmlns:a16="http://schemas.microsoft.com/office/drawing/2014/main" id="{7961ABF0-F19A-4826-895E-79E31614C4CD}"/>
              </a:ext>
            </a:extLst>
          </p:cNvPr>
          <p:cNvSpPr>
            <a:spLocks noGrp="1"/>
          </p:cNvSpPr>
          <p:nvPr/>
        </p:nvSpPr>
        <p:spPr>
          <a:xfrm>
            <a:off x="723900" y="5915025"/>
            <a:ext cx="6743700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72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Final scope, pricing and scheduling follow</a:t>
            </a:r>
          </a:p>
          <a:p>
            <a:pPr algn="l">
              <a:defRPr sz="1725" b="0">
                <a:solidFill>
                  <a:srgbClr val="DFE9F8"/>
                </a:solidFill>
                <a:latin typeface="Corbel"/>
                <a:ea typeface="Corbel"/>
                <a:cs typeface="Corbel"/>
              </a:defRPr>
            </a:pPr>
            <a:r>
              <a:rPr sz="1725" b="0">
                <a:solidFill>
                  <a:srgbClr val="DFE9F8"/>
                </a:solidFill>
                <a:latin typeface="Corbel"/>
                <a:ea typeface="Corbel"/>
                <a:cs typeface="Corbel"/>
              </a:rPr>
              <a:t>the site assessment and agreed quotation.</a:t>
            </a:r>
          </a:p>
        </p:txBody>
      </p:sp>
      <p:sp>
        <p:nvSpPr>
          <p:cNvPr id="14" name="redesign-text-94">
            <a:extLst>
              <a:ext uri="{FF2B5EF4-FFF2-40B4-BE49-F238E27FC236}">
                <a16:creationId xmlns:a16="http://schemas.microsoft.com/office/drawing/2014/main" id="{08104E5A-B296-42DC-8884-9D00AC9D64BD}"/>
              </a:ext>
            </a:extLst>
          </p:cNvPr>
          <p:cNvSpPr>
            <a:spLocks noGrp="1"/>
          </p:cNvSpPr>
          <p:nvPr/>
        </p:nvSpPr>
        <p:spPr>
          <a:xfrm>
            <a:off x="8477250" y="685800"/>
            <a:ext cx="321945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85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Contact</a:t>
            </a:r>
          </a:p>
        </p:txBody>
      </p:sp>
      <p:sp>
        <p:nvSpPr>
          <p:cNvPr id="15" name="redesign-text-95">
            <a:extLst>
              <a:ext uri="{FF2B5EF4-FFF2-40B4-BE49-F238E27FC236}">
                <a16:creationId xmlns:a16="http://schemas.microsoft.com/office/drawing/2014/main" id="{E644A995-A949-4EC1-8406-8AE54F80C97B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321945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7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0917 671 6383</a:t>
            </a:r>
          </a:p>
        </p:txBody>
      </p:sp>
      <p:sp>
        <p:nvSpPr>
          <p:cNvPr id="16" name="redesign-text-96">
            <a:extLst>
              <a:ext uri="{FF2B5EF4-FFF2-40B4-BE49-F238E27FC236}">
                <a16:creationId xmlns:a16="http://schemas.microsoft.com/office/drawing/2014/main" id="{BC7BF18B-E1A7-439E-9554-579A1E63C424}"/>
              </a:ext>
            </a:extLst>
          </p:cNvPr>
          <p:cNvSpPr>
            <a:spLocks noGrp="1"/>
          </p:cNvSpPr>
          <p:nvPr/>
        </p:nvSpPr>
        <p:spPr>
          <a:xfrm>
            <a:off x="8496300" y="2657475"/>
            <a:ext cx="32004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72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Globe</a:t>
            </a:r>
          </a:p>
        </p:txBody>
      </p:sp>
      <p:sp>
        <p:nvSpPr>
          <p:cNvPr id="17" name="redesign-text-97">
            <a:extLst>
              <a:ext uri="{FF2B5EF4-FFF2-40B4-BE49-F238E27FC236}">
                <a16:creationId xmlns:a16="http://schemas.microsoft.com/office/drawing/2014/main" id="{C0AF2A88-02EF-4F7B-9FA7-98CF42FA2FE3}"/>
              </a:ext>
            </a:extLst>
          </p:cNvPr>
          <p:cNvSpPr>
            <a:spLocks noGrp="1"/>
          </p:cNvSpPr>
          <p:nvPr/>
        </p:nvSpPr>
        <p:spPr>
          <a:xfrm>
            <a:off x="8477250" y="362902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marketing@</a:t>
            </a:r>
          </a:p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oceanidessepticandpest.com</a:t>
            </a:r>
          </a:p>
        </p:txBody>
      </p:sp>
      <p:sp>
        <p:nvSpPr>
          <p:cNvPr id="18" name="redesign-text-98">
            <a:extLst>
              <a:ext uri="{FF2B5EF4-FFF2-40B4-BE49-F238E27FC236}">
                <a16:creationId xmlns:a16="http://schemas.microsoft.com/office/drawing/2014/main" id="{A13D5FC5-9F1C-469D-A7A7-97DF868675C6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3286125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Tramo Street Corner Dandan,</a:t>
            </a:r>
          </a:p>
          <a:p>
            <a:pPr algn="l">
              <a:defRPr sz="1875" b="0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1875" b="0">
                <a:solidFill>
                  <a:srgbClr val="FFFFFF"/>
                </a:solidFill>
                <a:latin typeface="Corbel"/>
                <a:ea typeface="Corbel"/>
                <a:cs typeface="Corbel"/>
              </a:rPr>
              <a:t>Pasay City, Philippines 1300</a:t>
            </a:r>
          </a:p>
        </p:txBody>
      </p:sp>
    </p:spTree>
    <p:extLst>
      <p:ext uri="{BB962C8B-B14F-4D97-AF65-F5344CB8AC3E}">
        <p14:creationId xmlns:p14="http://schemas.microsoft.com/office/powerpoint/2010/main" val="1069310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1448</Words>
  <Application>Microsoft Office PowerPoint</Application>
  <DocSecurity>0</DocSecurity>
  <PresentationFormat>Widescreen</PresentationFormat>
  <Paragraphs>176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Century Gothic</vt:lpstr>
      <vt:lpstr>Corbel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2026-10-06T08:18:56Z</dcterms:created>
  <dcterms:modified xsi:type="dcterms:W3CDTF">2026-10-06T08:19:00Z</dcterms:modified>
</cp:coreProperties>
</file>