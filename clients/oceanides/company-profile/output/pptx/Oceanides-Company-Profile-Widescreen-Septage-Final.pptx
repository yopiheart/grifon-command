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d3b37c43b67466d" /><Relationship Type="http://schemas.openxmlformats.org/officeDocument/2006/relationships/extended-properties" Target="/docProps/app.xml" Id="R190f65094feb4c2c" /><Relationship Type="http://schemas.openxmlformats.org/officeDocument/2006/relationships/officeDocument" Target="/ppt/presentation.xml" Id="R84e7dc964db74d1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e68b1371bb1401c"/>
  </p:sldMasterIdLst>
  <p:notesMasterIdLst>
    <p:notesMasterId xmlns:r="http://schemas.openxmlformats.org/officeDocument/2006/relationships" r:id="Rf5b9265a752b41e0"/>
  </p:notesMasterIdLst>
  <p:sldIdLst>
    <p:sldId xmlns:r="http://schemas.openxmlformats.org/officeDocument/2006/relationships" id="256" r:id="R9a6a8041108f4813"/>
    <p:sldId xmlns:r="http://schemas.openxmlformats.org/officeDocument/2006/relationships" id="257" r:id="Rac98623228e2437c"/>
    <p:sldId xmlns:r="http://schemas.openxmlformats.org/officeDocument/2006/relationships" id="258" r:id="Rf3e935bfb3214366"/>
    <p:sldId xmlns:r="http://schemas.openxmlformats.org/officeDocument/2006/relationships" id="259" r:id="R93b4486f0c2b4760"/>
    <p:sldId xmlns:r="http://schemas.openxmlformats.org/officeDocument/2006/relationships" id="260" r:id="Rca238ac2d71f4be4"/>
    <p:sldId xmlns:r="http://schemas.openxmlformats.org/officeDocument/2006/relationships" id="261" r:id="Rd22f425f8aad4e17"/>
    <p:sldId xmlns:r="http://schemas.openxmlformats.org/officeDocument/2006/relationships" id="262" r:id="R6a71c2de25754bea"/>
    <p:sldId xmlns:r="http://schemas.openxmlformats.org/officeDocument/2006/relationships" id="263" r:id="Re4e06a456ee544e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0927ab7a51649db" /><Relationship Type="http://schemas.openxmlformats.org/officeDocument/2006/relationships/slideMaster" Target="/ppt/slideMasters/slideMaster1.xml" Id="R5e68b1371bb1401c" /><Relationship Type="http://schemas.openxmlformats.org/officeDocument/2006/relationships/notesMaster" Target="/ppt/notesMasters/notesMaster1.xml" Id="Rf5b9265a752b41e0" /><Relationship Type="http://schemas.openxmlformats.org/officeDocument/2006/relationships/presProps" Target="/ppt/presProps.xml" Id="R8c9e81cd493d46f4" /><Relationship Type="http://schemas.openxmlformats.org/officeDocument/2006/relationships/tableStyles" Target="/ppt/tableStyles.xml" Id="Rafcfae6f3dff4997" /><Relationship Type="http://schemas.openxmlformats.org/officeDocument/2006/relationships/slide" Target="/ppt/slides/slide1.xml" Id="R9a6a8041108f4813" /><Relationship Type="http://schemas.openxmlformats.org/officeDocument/2006/relationships/slide" Target="/ppt/slides/slide2.xml" Id="Rac98623228e2437c" /><Relationship Type="http://schemas.openxmlformats.org/officeDocument/2006/relationships/slide" Target="/ppt/slides/slide3.xml" Id="Rf3e935bfb3214366" /><Relationship Type="http://schemas.openxmlformats.org/officeDocument/2006/relationships/slide" Target="/ppt/slides/slide4.xml" Id="R93b4486f0c2b4760" /><Relationship Type="http://schemas.openxmlformats.org/officeDocument/2006/relationships/slide" Target="/ppt/slides/slide5.xml" Id="Rca238ac2d71f4be4" /><Relationship Type="http://schemas.openxmlformats.org/officeDocument/2006/relationships/slide" Target="/ppt/slides/slide6.xml" Id="Rd22f425f8aad4e17" /><Relationship Type="http://schemas.openxmlformats.org/officeDocument/2006/relationships/slide" Target="/ppt/slides/slide7.xml" Id="R6a71c2de25754bea" /><Relationship Type="http://schemas.openxmlformats.org/officeDocument/2006/relationships/slide" Target="/ppt/slides/slide8.xml" Id="Re4e06a456ee544e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2eac836d4794c1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fb34553b8fd4774" /><Relationship Type="http://schemas.openxmlformats.org/officeDocument/2006/relationships/notesMaster" Target="/ppt/notesMasters/notesMaster1.xml" Id="Ra018ac2ae5fd485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b924d08adcc473b" /><Relationship Type="http://schemas.openxmlformats.org/officeDocument/2006/relationships/notesMaster" Target="/ppt/notesMasters/notesMaster1.xml" Id="R1af79b648bc44ce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6c5a3f446224daf" /><Relationship Type="http://schemas.openxmlformats.org/officeDocument/2006/relationships/notesMaster" Target="/ppt/notesMasters/notesMaster1.xml" Id="Reb04eabda5cd44e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4e0edbfd58f45c7" /><Relationship Type="http://schemas.openxmlformats.org/officeDocument/2006/relationships/notesMaster" Target="/ppt/notesMasters/notesMaster1.xml" Id="R92bb414844b44c9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49173feeba6478e" /><Relationship Type="http://schemas.openxmlformats.org/officeDocument/2006/relationships/notesMaster" Target="/ppt/notesMasters/notesMaster1.xml" Id="R8b4fb42ccf9344b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10585220031485a" /><Relationship Type="http://schemas.openxmlformats.org/officeDocument/2006/relationships/notesMaster" Target="/ppt/notesMasters/notesMaster1.xml" Id="Ra6aec1769fab463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f4ae94029b446a0" /><Relationship Type="http://schemas.openxmlformats.org/officeDocument/2006/relationships/notesMaster" Target="/ppt/notesMasters/notesMaster1.xml" Id="R373ed74967e44a9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45f235c7f314852" /><Relationship Type="http://schemas.openxmlformats.org/officeDocument/2006/relationships/notesMaster" Target="/ppt/notesMasters/notesMaster1.xml" Id="R64d78b149a7d488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Logo: transparent outer-background derivative requested by Neil, from canonical clients/oceanides/assets/logo.jpg. Source and edit brief: company-profile/assets/generated-sources.json.</a:t>
            </a:r>
          </a:p>
          <a:p xmlns:a="http://schemas.openxmlformats.org/drawingml/2006/main">
            <a:r>
              <a:t>Service scope, Oceanides coordination and intended audience: user briefing in this chat.</a:t>
            </a:r>
          </a:p>
          <a:p xmlns:a="http://schemas.openxmlformats.org/drawingml/2006/main">
            <a:r>
              <a:t>Phone, email and address: user-supplied Facebook Page screenshot 1000040025.jpg; phone also explicitly confirmed by Neil.</a:t>
            </a:r>
          </a:p>
          <a:p xmlns:a="http://schemas.openxmlformats.org/drawingml/2006/main">
            <a:r>
              <a:t>Legal company name: workflows/oceanides_business_model.md, existing company records.</a:t>
            </a:r>
          </a:p>
          <a:p xmlns:a="http://schemas.openxmlformats.org/drawingml/2006/main">
            <a:r>
              <a:t>Design references: Apple 2025 Environmental Progress Report https://www.apple.com/environment/pdf/Apple_Environmental_Progress_Report_2025.pdf and OpenAI public Design Guidelines https://openai.com/brand/ ; profile-specific direction in clients/oceanides/DESIGN.md. No third-party brand marks used.</a:t>
            </a:r>
          </a:p>
          <a:p xmlns:a="http://schemas.openxmlformats.org/drawingml/2006/main">
            <a:r>
              <a:t>Septage treatment facility offer confirmed by Neil on 2026-10-01. Project scope, system details, capacity and maintenance requirements follow specialist assessment and the agreed proposal. No assertion of supplier accreditation, equipment ownership, licenses, project volume or maintenance-free operation.</a:t>
            </a:r>
          </a:p>
          <a:p xmlns:a="http://schemas.openxmlformats.org/drawingml/2006/main">
            <a:r>
              <a:t>Cover: AI-generated conceptual architecture, not a real project or engineering plan.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Logo: transparent outer-background derivative requested by Neil, from canonical clients/oceanides/assets/logo.jpg. Source and edit brief: company-profile/assets/generated-sources.json.</a:t>
            </a:r>
          </a:p>
          <a:p xmlns:a="http://schemas.openxmlformats.org/drawingml/2006/main">
            <a:r>
              <a:t>Service scope, Oceanides coordination and intended audience: user briefing in this chat.</a:t>
            </a:r>
          </a:p>
          <a:p xmlns:a="http://schemas.openxmlformats.org/drawingml/2006/main">
            <a:r>
              <a:t>Phone, email and address: user-supplied Facebook Page screenshot 1000040025.jpg; phone also explicitly confirmed by Neil.</a:t>
            </a:r>
          </a:p>
          <a:p xmlns:a="http://schemas.openxmlformats.org/drawingml/2006/main">
            <a:r>
              <a:t>Legal company name: workflows/oceanides_business_model.md, existing company records.</a:t>
            </a:r>
          </a:p>
          <a:p xmlns:a="http://schemas.openxmlformats.org/drawingml/2006/main">
            <a:r>
              <a:t>Design references: Apple 2025 Environmental Progress Report https://www.apple.com/environment/pdf/Apple_Environmental_Progress_Report_2025.pdf and OpenAI public Design Guidelines https://openai.com/brand/ ; profile-specific direction in clients/oceanides/DESIGN.md. No third-party brand marks used.</a:t>
            </a:r>
          </a:p>
          <a:p xmlns:a="http://schemas.openxmlformats.org/drawingml/2006/main">
            <a:r>
              <a:t>Septage treatment facility offer confirmed by Neil on 2026-10-01. Project scope, system details, capacity and maintenance requirements follow specialist assessment and the agreed proposal. No assertion of supplier accreditation, equipment ownership, licenses, project volume or maintenance-free operation.</a:t>
            </a:r>
          </a:p>
          <a:p xmlns:a="http://schemas.openxmlformats.org/drawingml/2006/main">
            <a:r>
              <a:t>Oceanides remains your main contact from the initial inquiry to turnover. We coordinate the site assessment, quotation and service delivery, including specialist contractors where the work requires them.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Logo: transparent outer-background derivative requested by Neil, from canonical clients/oceanides/assets/logo.jpg. Source and edit brief: company-profile/assets/generated-sources.json.</a:t>
            </a:r>
          </a:p>
          <a:p xmlns:a="http://schemas.openxmlformats.org/drawingml/2006/main">
            <a:r>
              <a:t>Service scope, Oceanides coordination and intended audience: user briefing in this chat.</a:t>
            </a:r>
          </a:p>
          <a:p xmlns:a="http://schemas.openxmlformats.org/drawingml/2006/main">
            <a:r>
              <a:t>Phone, email and address: user-supplied Facebook Page screenshot 1000040025.jpg; phone also explicitly confirmed by Neil.</a:t>
            </a:r>
          </a:p>
          <a:p xmlns:a="http://schemas.openxmlformats.org/drawingml/2006/main">
            <a:r>
              <a:t>Legal company name: workflows/oceanides_business_model.md, existing company records.</a:t>
            </a:r>
          </a:p>
          <a:p xmlns:a="http://schemas.openxmlformats.org/drawingml/2006/main">
            <a:r>
              <a:t>Design references: Apple 2025 Environmental Progress Report https://www.apple.com/environment/pdf/Apple_Environmental_Progress_Report_2025.pdf and OpenAI public Design Guidelines https://openai.com/brand/ ; profile-specific direction in clients/oceanides/DESIGN.md. No third-party brand marks used.</a:t>
            </a:r>
          </a:p>
          <a:p xmlns:a="http://schemas.openxmlformats.org/drawingml/2006/main">
            <a:r>
              <a:t>Septage treatment facility offer confirmed by Neil on 2026-10-01. Project scope, system details, capacity and maintenance requirements follow specialist assessment and the agreed proposal. No assertion of supplier accreditation, equipment ownership, licenses, project volume or maintenance-free operation.</a:t>
            </a:r>
          </a:p>
          <a:p xmlns:a="http://schemas.openxmlformats.org/drawingml/2006/main">
            <a:r>
              <a:t>Service illustration: AI-generated fictional specialist, not an actual Oceanides employee or completed project.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Logo: transparent outer-background derivative requested by Neil, from canonical clients/oceanides/assets/logo.jpg. Source and edit brief: company-profile/assets/generated-sources.json.</a:t>
            </a:r>
          </a:p>
          <a:p xmlns:a="http://schemas.openxmlformats.org/drawingml/2006/main">
            <a:r>
              <a:t>Service scope, Oceanides coordination and intended audience: user briefing in this chat.</a:t>
            </a:r>
          </a:p>
          <a:p xmlns:a="http://schemas.openxmlformats.org/drawingml/2006/main">
            <a:r>
              <a:t>Phone, email and address: user-supplied Facebook Page screenshot 1000040025.jpg; phone also explicitly confirmed by Neil.</a:t>
            </a:r>
          </a:p>
          <a:p xmlns:a="http://schemas.openxmlformats.org/drawingml/2006/main">
            <a:r>
              <a:t>Legal company name: workflows/oceanides_business_model.md, existing company records.</a:t>
            </a:r>
          </a:p>
          <a:p xmlns:a="http://schemas.openxmlformats.org/drawingml/2006/main">
            <a:r>
              <a:t>Design references: Apple 2025 Environmental Progress Report https://www.apple.com/environment/pdf/Apple_Environmental_Progress_Report_2025.pdf and OpenAI public Design Guidelines https://openai.com/brand/ ; profile-specific direction in clients/oceanides/DESIGN.md. No third-party brand marks used.</a:t>
            </a:r>
          </a:p>
          <a:p xmlns:a="http://schemas.openxmlformats.org/drawingml/2006/main">
            <a:r>
              <a:t>Septage treatment facility offer confirmed by Neil on 2026-10-01. Project scope, system details, capacity and maintenance requirements follow specialist assessment and the agreed proposal. No assertion of supplier accreditation, equipment ownership, licenses, project volume or maintenance-free operation.</a:t>
            </a:r>
          </a:p>
          <a:p xmlns:a="http://schemas.openxmlformats.org/drawingml/2006/main">
            <a:r>
              <a:t>Actual matched job photos: clients/oceanides/assets/tb2-ba2-before.png and tb2-ba2-after.png. Neil confirmed same-site before/after on 2026-08-01; see client DESIGN.md and asset builder. Centered square frames preserve the tank opening.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Logo: transparent outer-background derivative requested by Neil, from canonical clients/oceanides/assets/logo.jpg. Source and edit brief: company-profile/assets/generated-sources.json.</a:t>
            </a:r>
          </a:p>
          <a:p xmlns:a="http://schemas.openxmlformats.org/drawingml/2006/main">
            <a:r>
              <a:t>Service scope, Oceanides coordination and intended audience: user briefing in this chat.</a:t>
            </a:r>
          </a:p>
          <a:p xmlns:a="http://schemas.openxmlformats.org/drawingml/2006/main">
            <a:r>
              <a:t>Phone, email and address: user-supplied Facebook Page screenshot 1000040025.jpg; phone also explicitly confirmed by Neil.</a:t>
            </a:r>
          </a:p>
          <a:p xmlns:a="http://schemas.openxmlformats.org/drawingml/2006/main">
            <a:r>
              <a:t>Legal company name: workflows/oceanides_business_model.md, existing company records.</a:t>
            </a:r>
          </a:p>
          <a:p xmlns:a="http://schemas.openxmlformats.org/drawingml/2006/main">
            <a:r>
              <a:t>Design references: Apple 2025 Environmental Progress Report https://www.apple.com/environment/pdf/Apple_Environmental_Progress_Report_2025.pdf and OpenAI public Design Guidelines https://openai.com/brand/ ; profile-specific direction in clients/oceanides/DESIGN.md. No third-party brand marks used.</a:t>
            </a:r>
          </a:p>
          <a:p xmlns:a="http://schemas.openxmlformats.org/drawingml/2006/main">
            <a:r>
              <a:t>Septage treatment facility offer confirmed by Neil on 2026-10-01. Project scope, system details, capacity and maintenance requirements follow specialist assessment and the agreed proposal. No assertion of supplier accreditation, equipment ownership, licenses, project volume or maintenance-free operation.</a:t>
            </a:r>
          </a:p>
          <a:p xmlns:a="http://schemas.openxmlformats.org/drawingml/2006/main">
            <a:r>
              <a:t>Septage treatment facility offer confirmed by Neil on 2026-10-01. Oceanides remains your main contact from the initial inquiry to turnover. We coordinate the site assessment, quotation and service delivery, including specialist contractors where the work requires them.</a:t>
            </a:r>
          </a:p>
          <a:p xmlns:a="http://schemas.openxmlformats.org/drawingml/2006/main">
            <a:r>
              <a:t>System details, capacity and maintenance requirements follow the agreed technical proposal.</a:t>
            </a:r>
          </a:p>
          <a:p xmlns:a="http://schemas.openxmlformats.org/drawingml/2006/main">
            <a:r>
              <a:t>No supplier, model, capacity, cost, performance or maintenance guarantee supplied.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Logo: transparent outer-background derivative requested by Neil, from canonical clients/oceanides/assets/logo.jpg. Source and edit brief: company-profile/assets/generated-sources.json.</a:t>
            </a:r>
          </a:p>
          <a:p xmlns:a="http://schemas.openxmlformats.org/drawingml/2006/main">
            <a:r>
              <a:t>Service scope, Oceanides coordination and intended audience: user briefing in this chat.</a:t>
            </a:r>
          </a:p>
          <a:p xmlns:a="http://schemas.openxmlformats.org/drawingml/2006/main">
            <a:r>
              <a:t>Phone, email and address: user-supplied Facebook Page screenshot 1000040025.jpg; phone also explicitly confirmed by Neil.</a:t>
            </a:r>
          </a:p>
          <a:p xmlns:a="http://schemas.openxmlformats.org/drawingml/2006/main">
            <a:r>
              <a:t>Legal company name: workflows/oceanides_business_model.md, existing company records.</a:t>
            </a:r>
          </a:p>
          <a:p xmlns:a="http://schemas.openxmlformats.org/drawingml/2006/main">
            <a:r>
              <a:t>Design references: Apple 2025 Environmental Progress Report https://www.apple.com/environment/pdf/Apple_Environmental_Progress_Report_2025.pdf and OpenAI public Design Guidelines https://openai.com/brand/ ; profile-specific direction in clients/oceanides/DESIGN.md. No third-party brand marks used.</a:t>
            </a:r>
          </a:p>
          <a:p xmlns:a="http://schemas.openxmlformats.org/drawingml/2006/main">
            <a:r>
              <a:t>Septage treatment facility offer confirmed by Neil on 2026-10-01. Project scope, system details, capacity and maintenance requirements follow specialist assessment and the agreed proposal. No assertion of supplier accreditation, equipment ownership, licenses, project volume or maintenance-free operation.</a:t>
            </a:r>
          </a:p>
          <a:p xmlns:a="http://schemas.openxmlformats.org/drawingml/2006/main">
            <a:r>
              <a:t>Service illustration: AI-generated fictional ceiling repair specialist, not a completed Oceanides project.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Logo: transparent outer-background derivative requested by Neil, from canonical clients/oceanides/assets/logo.jpg. Source and edit brief: company-profile/assets/generated-sources.json.</a:t>
            </a:r>
          </a:p>
          <a:p xmlns:a="http://schemas.openxmlformats.org/drawingml/2006/main">
            <a:r>
              <a:t>Service scope, Oceanides coordination and intended audience: user briefing in this chat.</a:t>
            </a:r>
          </a:p>
          <a:p xmlns:a="http://schemas.openxmlformats.org/drawingml/2006/main">
            <a:r>
              <a:t>Phone, email and address: user-supplied Facebook Page screenshot 1000040025.jpg; phone also explicitly confirmed by Neil.</a:t>
            </a:r>
          </a:p>
          <a:p xmlns:a="http://schemas.openxmlformats.org/drawingml/2006/main">
            <a:r>
              <a:t>Legal company name: workflows/oceanides_business_model.md, existing company records.</a:t>
            </a:r>
          </a:p>
          <a:p xmlns:a="http://schemas.openxmlformats.org/drawingml/2006/main">
            <a:r>
              <a:t>Design references: Apple 2025 Environmental Progress Report https://www.apple.com/environment/pdf/Apple_Environmental_Progress_Report_2025.pdf and OpenAI public Design Guidelines https://openai.com/brand/ ; profile-specific direction in clients/oceanides/DESIGN.md. No third-party brand marks used.</a:t>
            </a:r>
          </a:p>
          <a:p xmlns:a="http://schemas.openxmlformats.org/drawingml/2006/main">
            <a:r>
              <a:t>Septage treatment facility offer confirmed by Neil on 2026-10-01. Project scope, system details, capacity and maintenance requirements follow specialist assessment and the agreed proposal. No assertion of supplier accreditation, equipment ownership, licenses, project volume or maintenance-free operation.</a:t>
            </a:r>
          </a:p>
          <a:p xmlns:a="http://schemas.openxmlformats.org/drawingml/2006/main">
            <a:r>
              <a:t>Service illustration: AI-generated fictional specialist and localized treatment, not an actual Oceanides employee or completed project.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Logo: transparent outer-background derivative requested by Neil, from canonical clients/oceanides/assets/logo.jpg. Source and edit brief: company-profile/assets/generated-sources.json.</a:t>
            </a:r>
          </a:p>
          <a:p xmlns:a="http://schemas.openxmlformats.org/drawingml/2006/main">
            <a:r>
              <a:t>Service scope, Oceanides coordination and intended audience: user briefing in this chat.</a:t>
            </a:r>
          </a:p>
          <a:p xmlns:a="http://schemas.openxmlformats.org/drawingml/2006/main">
            <a:r>
              <a:t>Phone, email and address: user-supplied Facebook Page screenshot 1000040025.jpg; phone also explicitly confirmed by Neil.</a:t>
            </a:r>
          </a:p>
          <a:p xmlns:a="http://schemas.openxmlformats.org/drawingml/2006/main">
            <a:r>
              <a:t>Legal company name: workflows/oceanides_business_model.md, existing company records.</a:t>
            </a:r>
          </a:p>
          <a:p xmlns:a="http://schemas.openxmlformats.org/drawingml/2006/main">
            <a:r>
              <a:t>Design references: Apple 2025 Environmental Progress Report https://www.apple.com/environment/pdf/Apple_Environmental_Progress_Report_2025.pdf and OpenAI public Design Guidelines https://openai.com/brand/ ; profile-specific direction in clients/oceanides/DESIGN.md. No third-party brand marks used.</a:t>
            </a:r>
          </a:p>
          <a:p xmlns:a="http://schemas.openxmlformats.org/drawingml/2006/main">
            <a:r>
              <a:t>Septage treatment facility offer confirmed by Neil on 2026-10-01. Project scope, system details, capacity and maintenance requirements follow specialist assessment and the agreed proposal. No assertion of supplier accreditation, equipment ownership, licenses, project volume or maintenance-free operation.</a:t>
            </a:r>
          </a:p>
          <a:p xmlns:a="http://schemas.openxmlformats.org/drawingml/2006/main">
            <a:r>
              <a:t>Oceanides remains your main contact from the initial inquiry to turnover. We coordinate the site assessment, quotation and service delivery, including specialist contractors where the work requires them.</a:t>
            </a:r>
          </a:p>
          <a:p xmlns:a="http://schemas.openxmlformats.org/drawingml/2006/main">
            <a:r>
              <a:t>Final scope, pricing and scheduling depend on the site assessment and the agreed quotation.</a:t>
            </a:r>
          </a:p>
          <a:p xmlns:a="http://schemas.openxmlformats.org/drawingml/2006/main">
            <a:r>
              <a:t>Site assessment: Review the reported problem, work areas, site access and project requirements.</a:t>
            </a:r>
          </a:p>
          <a:p xmlns:a="http://schemas.openxmlformats.org/drawingml/2006/main">
            <a:r>
              <a:t>Written quotation: Define the proposed work and pricing. Confirm the scope with the client before scheduling.</a:t>
            </a:r>
          </a:p>
          <a:p xmlns:a="http://schemas.openxmlformats.org/drawingml/2006/main">
            <a:r>
              <a:t>Service coordination: Arrange the field team or specialist contractor and coordinate access with the client.</a:t>
            </a:r>
          </a:p>
          <a:p xmlns:a="http://schemas.openxmlformats.org/drawingml/2006/main">
            <a:r>
              <a:t>Turnover: Review the agreed work with the client and coordinate any follow-up within the project scope.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20da419589448e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4c25b8523cd44c4" /><Relationship Type="http://schemas.openxmlformats.org/officeDocument/2006/relationships/slideLayout" Target="/ppt/slideLayouts/slideLayout1.xml" Id="R4e6fb27cda324bf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e6fb27cda324bf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621a73e7474418" /><Relationship Type="http://schemas.openxmlformats.org/officeDocument/2006/relationships/image" Target="/ppt/media/image.png" Id="Rb4025a926df9406e" /><Relationship Type="http://schemas.openxmlformats.org/officeDocument/2006/relationships/image" Target="/ppt/media/image.jpeg" Id="R33f6c8087bf6424b" /><Relationship Type="http://schemas.openxmlformats.org/officeDocument/2006/relationships/notesSlide" Target="/ppt/notesSlides/notesSlide1.xml" Id="R23e7ca80dd8f43c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7538c856624e50" /><Relationship Type="http://schemas.openxmlformats.org/officeDocument/2006/relationships/notesSlide" Target="/ppt/notesSlides/notesSlide2.xml" Id="Rb1d969fdcde14f6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01b50bfbc845ba" /><Relationship Type="http://schemas.openxmlformats.org/officeDocument/2006/relationships/image" Target="/ppt/media/image2.jpeg" Id="R2f321f46169d420f" /><Relationship Type="http://schemas.openxmlformats.org/officeDocument/2006/relationships/notesSlide" Target="/ppt/notesSlides/notesSlide3.xml" Id="Rc06b66d9ec9841f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78c995ed054541" /><Relationship Type="http://schemas.openxmlformats.org/officeDocument/2006/relationships/image" Target="/ppt/media/image3.jpeg" Id="R531fa41cb5694622" /><Relationship Type="http://schemas.openxmlformats.org/officeDocument/2006/relationships/image" Target="/ppt/media/image4.jpeg" Id="Rd136891f10414bc7" /><Relationship Type="http://schemas.openxmlformats.org/officeDocument/2006/relationships/notesSlide" Target="/ppt/notesSlides/notesSlide4.xml" Id="Rdae062d84cbf427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5967570cb64530" /><Relationship Type="http://schemas.openxmlformats.org/officeDocument/2006/relationships/notesSlide" Target="/ppt/notesSlides/notesSlide5.xml" Id="R087b99faf8e246c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d6ae39c749453d" /><Relationship Type="http://schemas.openxmlformats.org/officeDocument/2006/relationships/image" Target="/ppt/media/image5.jpeg" Id="R29978e4cbbb2456e" /><Relationship Type="http://schemas.openxmlformats.org/officeDocument/2006/relationships/notesSlide" Target="/ppt/notesSlides/notesSlide6.xml" Id="R95bcb2c5cb17400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da2aa825464f1e" /><Relationship Type="http://schemas.openxmlformats.org/officeDocument/2006/relationships/image" Target="/ppt/media/image6.jpeg" Id="R02859d794fb14b4c" /><Relationship Type="http://schemas.openxmlformats.org/officeDocument/2006/relationships/notesSlide" Target="/ppt/notesSlides/notesSlide7.xml" Id="R5992c28e06144d1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41fdcab3a54bdc" /><Relationship Type="http://schemas.openxmlformats.org/officeDocument/2006/relationships/image" Target="/ppt/media/image2.png" Id="R94ee26f408ff4c31" /><Relationship Type="http://schemas.openxmlformats.org/officeDocument/2006/relationships/notesSlide" Target="/ppt/notesSlides/notesSlide8.xml" Id="Rdc8fe85f096f437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profile-1">
            <a:extLst xmlns:a="http://schemas.openxmlformats.org/drawingml/2006/main">
              <a:ext uri="{FF2B5EF4-FFF2-40B4-BE49-F238E27FC236}">
                <a16:creationId xmlns:a16="http://schemas.microsoft.com/office/drawing/2014/main" id="{2C2875E0-FC23-4D3D-A934-0AA60EC52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0"/>
            <a:ext cx="1371600" cy="1257300"/>
          </a:xfrm>
          <a:custGeom xmlns:a="http://schemas.openxmlformats.org/drawingml/2006/main">
            <a:pathLst>
              <a:path w="1371600" h="1257300">
                <a:moveTo>
                  <a:pt x="0" y="1162050"/>
                </a:moveTo>
                <a:lnTo>
                  <a:pt x="34290" y="1104674"/>
                </a:lnTo>
                <a:lnTo>
                  <a:pt x="68580" y="1048750"/>
                </a:lnTo>
                <a:lnTo>
                  <a:pt x="102870" y="994279"/>
                </a:lnTo>
                <a:lnTo>
                  <a:pt x="137160" y="941261"/>
                </a:lnTo>
                <a:lnTo>
                  <a:pt x="171450" y="889695"/>
                </a:lnTo>
                <a:lnTo>
                  <a:pt x="205740" y="839581"/>
                </a:lnTo>
                <a:lnTo>
                  <a:pt x="240030" y="790920"/>
                </a:lnTo>
                <a:lnTo>
                  <a:pt x="274320" y="743712"/>
                </a:lnTo>
                <a:lnTo>
                  <a:pt x="308610" y="697956"/>
                </a:lnTo>
                <a:lnTo>
                  <a:pt x="342900" y="653653"/>
                </a:lnTo>
                <a:lnTo>
                  <a:pt x="377190" y="610803"/>
                </a:lnTo>
                <a:lnTo>
                  <a:pt x="411480" y="569405"/>
                </a:lnTo>
                <a:lnTo>
                  <a:pt x="445770" y="529459"/>
                </a:lnTo>
                <a:lnTo>
                  <a:pt x="480060" y="490966"/>
                </a:lnTo>
                <a:lnTo>
                  <a:pt x="514350" y="453926"/>
                </a:lnTo>
                <a:lnTo>
                  <a:pt x="548640" y="418338"/>
                </a:lnTo>
                <a:lnTo>
                  <a:pt x="582930" y="384203"/>
                </a:lnTo>
                <a:lnTo>
                  <a:pt x="617220" y="351520"/>
                </a:lnTo>
                <a:lnTo>
                  <a:pt x="651510" y="320290"/>
                </a:lnTo>
                <a:lnTo>
                  <a:pt x="685800" y="290513"/>
                </a:lnTo>
                <a:lnTo>
                  <a:pt x="720090" y="262188"/>
                </a:lnTo>
                <a:lnTo>
                  <a:pt x="754380" y="235315"/>
                </a:lnTo>
                <a:lnTo>
                  <a:pt x="788670" y="209895"/>
                </a:lnTo>
                <a:lnTo>
                  <a:pt x="822960" y="185928"/>
                </a:lnTo>
                <a:lnTo>
                  <a:pt x="857250" y="163413"/>
                </a:lnTo>
                <a:lnTo>
                  <a:pt x="891540" y="142351"/>
                </a:lnTo>
                <a:lnTo>
                  <a:pt x="925830" y="122742"/>
                </a:lnTo>
                <a:lnTo>
                  <a:pt x="960120" y="104585"/>
                </a:lnTo>
                <a:lnTo>
                  <a:pt x="994410" y="87880"/>
                </a:lnTo>
                <a:lnTo>
                  <a:pt x="1028700" y="72628"/>
                </a:lnTo>
                <a:lnTo>
                  <a:pt x="1062990" y="58829"/>
                </a:lnTo>
                <a:lnTo>
                  <a:pt x="1097280" y="46482"/>
                </a:lnTo>
                <a:lnTo>
                  <a:pt x="1131570" y="35588"/>
                </a:lnTo>
                <a:lnTo>
                  <a:pt x="1165860" y="26146"/>
                </a:lnTo>
                <a:lnTo>
                  <a:pt x="1200150" y="18157"/>
                </a:lnTo>
                <a:lnTo>
                  <a:pt x="1234440" y="11620"/>
                </a:lnTo>
                <a:lnTo>
                  <a:pt x="1268730" y="6537"/>
                </a:lnTo>
                <a:lnTo>
                  <a:pt x="1303020" y="2905"/>
                </a:lnTo>
                <a:lnTo>
                  <a:pt x="1337310" y="726"/>
                </a:lnTo>
                <a:lnTo>
                  <a:pt x="1371600" y="0"/>
                </a:lnTo>
                <a:lnTo>
                  <a:pt x="1371600" y="28575"/>
                </a:lnTo>
                <a:lnTo>
                  <a:pt x="1337310" y="31543"/>
                </a:lnTo>
                <a:lnTo>
                  <a:pt x="1303020" y="35950"/>
                </a:lnTo>
                <a:lnTo>
                  <a:pt x="1268730" y="41782"/>
                </a:lnTo>
                <a:lnTo>
                  <a:pt x="1234440" y="49026"/>
                </a:lnTo>
                <a:lnTo>
                  <a:pt x="1200150" y="57667"/>
                </a:lnTo>
                <a:lnTo>
                  <a:pt x="1165860" y="67694"/>
                </a:lnTo>
                <a:lnTo>
                  <a:pt x="1131570" y="79093"/>
                </a:lnTo>
                <a:lnTo>
                  <a:pt x="1097280" y="91853"/>
                </a:lnTo>
                <a:lnTo>
                  <a:pt x="1062990" y="105962"/>
                </a:lnTo>
                <a:lnTo>
                  <a:pt x="1028700" y="121409"/>
                </a:lnTo>
                <a:lnTo>
                  <a:pt x="994410" y="138184"/>
                </a:lnTo>
                <a:lnTo>
                  <a:pt x="960120" y="156277"/>
                </a:lnTo>
                <a:lnTo>
                  <a:pt x="925830" y="175681"/>
                </a:lnTo>
                <a:lnTo>
                  <a:pt x="891540" y="196387"/>
                </a:lnTo>
                <a:lnTo>
                  <a:pt x="857250" y="218388"/>
                </a:lnTo>
                <a:lnTo>
                  <a:pt x="822960" y="241679"/>
                </a:lnTo>
                <a:lnTo>
                  <a:pt x="788670" y="266256"/>
                </a:lnTo>
                <a:lnTo>
                  <a:pt x="754380" y="292113"/>
                </a:lnTo>
                <a:lnTo>
                  <a:pt x="720090" y="319249"/>
                </a:lnTo>
                <a:lnTo>
                  <a:pt x="685800" y="347663"/>
                </a:lnTo>
                <a:lnTo>
                  <a:pt x="651510" y="377352"/>
                </a:lnTo>
                <a:lnTo>
                  <a:pt x="617220" y="408318"/>
                </a:lnTo>
                <a:lnTo>
                  <a:pt x="582930" y="440563"/>
                </a:lnTo>
                <a:lnTo>
                  <a:pt x="548640" y="474089"/>
                </a:lnTo>
                <a:lnTo>
                  <a:pt x="514350" y="508901"/>
                </a:lnTo>
                <a:lnTo>
                  <a:pt x="480060" y="545002"/>
                </a:lnTo>
                <a:lnTo>
                  <a:pt x="445770" y="582398"/>
                </a:lnTo>
                <a:lnTo>
                  <a:pt x="411480" y="621097"/>
                </a:lnTo>
                <a:lnTo>
                  <a:pt x="377190" y="661106"/>
                </a:lnTo>
                <a:lnTo>
                  <a:pt x="342900" y="702434"/>
                </a:lnTo>
                <a:lnTo>
                  <a:pt x="308610" y="745089"/>
                </a:lnTo>
                <a:lnTo>
                  <a:pt x="274320" y="789083"/>
                </a:lnTo>
                <a:lnTo>
                  <a:pt x="240030" y="834426"/>
                </a:lnTo>
                <a:lnTo>
                  <a:pt x="205740" y="881129"/>
                </a:lnTo>
                <a:lnTo>
                  <a:pt x="171450" y="929205"/>
                </a:lnTo>
                <a:lnTo>
                  <a:pt x="137160" y="978666"/>
                </a:lnTo>
                <a:lnTo>
                  <a:pt x="102870" y="1029525"/>
                </a:lnTo>
                <a:lnTo>
                  <a:pt x="68580" y="1081795"/>
                </a:lnTo>
                <a:lnTo>
                  <a:pt x="34290" y="1135491"/>
                </a:lnTo>
                <a:lnTo>
                  <a:pt x="0" y="1190625"/>
                </a:lnTo>
                <a:close/>
              </a:path>
            </a:pathLst>
          </a:custGeom>
          <a:solidFill xmlns:a="http://schemas.openxmlformats.org/drawingml/2006/main">
            <a:srgbClr val="E5EEF6"/>
          </a:solidFill>
          <a:ln xmlns:a="http://schemas.openxmlformats.org/drawingml/2006/main" w="0">
            <a:noFill/>
          </a:ln>
        </p:spPr>
      </p:sp>
      <p:sp>
        <p:nvSpPr>
          <p:cNvPr id="2" name="profile-2">
            <a:extLst xmlns:a="http://schemas.openxmlformats.org/drawingml/2006/main">
              <a:ext uri="{FF2B5EF4-FFF2-40B4-BE49-F238E27FC236}">
                <a16:creationId xmlns:a16="http://schemas.microsoft.com/office/drawing/2014/main" id="{35E1EE0E-307F-4FD5-80E1-1502CF2A4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0"/>
            <a:ext cx="1371600" cy="1257300"/>
          </a:xfrm>
          <a:custGeom xmlns:a="http://schemas.openxmlformats.org/drawingml/2006/main">
            <a:pathLst>
              <a:path w="1371600" h="1257300">
                <a:moveTo>
                  <a:pt x="0" y="1009650"/>
                </a:moveTo>
                <a:lnTo>
                  <a:pt x="34290" y="952274"/>
                </a:lnTo>
                <a:lnTo>
                  <a:pt x="68580" y="896350"/>
                </a:lnTo>
                <a:lnTo>
                  <a:pt x="102870" y="841879"/>
                </a:lnTo>
                <a:lnTo>
                  <a:pt x="137160" y="788861"/>
                </a:lnTo>
                <a:lnTo>
                  <a:pt x="171450" y="737295"/>
                </a:lnTo>
                <a:lnTo>
                  <a:pt x="205740" y="687181"/>
                </a:lnTo>
                <a:lnTo>
                  <a:pt x="240030" y="638520"/>
                </a:lnTo>
                <a:lnTo>
                  <a:pt x="274320" y="591312"/>
                </a:lnTo>
                <a:lnTo>
                  <a:pt x="308610" y="545556"/>
                </a:lnTo>
                <a:lnTo>
                  <a:pt x="342900" y="501253"/>
                </a:lnTo>
                <a:lnTo>
                  <a:pt x="377190" y="458403"/>
                </a:lnTo>
                <a:lnTo>
                  <a:pt x="411480" y="417004"/>
                </a:lnTo>
                <a:lnTo>
                  <a:pt x="445770" y="377059"/>
                </a:lnTo>
                <a:lnTo>
                  <a:pt x="480060" y="338566"/>
                </a:lnTo>
                <a:lnTo>
                  <a:pt x="514350" y="301526"/>
                </a:lnTo>
                <a:lnTo>
                  <a:pt x="548640" y="265938"/>
                </a:lnTo>
                <a:lnTo>
                  <a:pt x="582930" y="231803"/>
                </a:lnTo>
                <a:lnTo>
                  <a:pt x="617220" y="199120"/>
                </a:lnTo>
                <a:lnTo>
                  <a:pt x="651510" y="167890"/>
                </a:lnTo>
                <a:lnTo>
                  <a:pt x="685800" y="138113"/>
                </a:lnTo>
                <a:lnTo>
                  <a:pt x="720090" y="109788"/>
                </a:lnTo>
                <a:lnTo>
                  <a:pt x="754380" y="82915"/>
                </a:lnTo>
                <a:lnTo>
                  <a:pt x="788670" y="57495"/>
                </a:lnTo>
                <a:lnTo>
                  <a:pt x="822960" y="33528"/>
                </a:lnTo>
                <a:lnTo>
                  <a:pt x="857250" y="11013"/>
                </a:lnTo>
                <a:lnTo>
                  <a:pt x="891540" y="0"/>
                </a:lnTo>
                <a:lnTo>
                  <a:pt x="925830" y="0"/>
                </a:lnTo>
                <a:lnTo>
                  <a:pt x="960120" y="0"/>
                </a:lnTo>
                <a:lnTo>
                  <a:pt x="994410" y="0"/>
                </a:lnTo>
                <a:lnTo>
                  <a:pt x="1028700" y="0"/>
                </a:lnTo>
                <a:lnTo>
                  <a:pt x="1062990" y="0"/>
                </a:lnTo>
                <a:lnTo>
                  <a:pt x="1097280" y="0"/>
                </a:lnTo>
                <a:lnTo>
                  <a:pt x="1131570" y="0"/>
                </a:lnTo>
                <a:lnTo>
                  <a:pt x="1165860" y="0"/>
                </a:lnTo>
                <a:lnTo>
                  <a:pt x="1200150" y="0"/>
                </a:lnTo>
                <a:lnTo>
                  <a:pt x="1234440" y="0"/>
                </a:lnTo>
                <a:lnTo>
                  <a:pt x="1268730" y="0"/>
                </a:lnTo>
                <a:lnTo>
                  <a:pt x="1303020" y="0"/>
                </a:lnTo>
                <a:lnTo>
                  <a:pt x="1337310" y="0"/>
                </a:lnTo>
                <a:lnTo>
                  <a:pt x="1371600" y="0"/>
                </a:lnTo>
                <a:lnTo>
                  <a:pt x="1371600" y="28575"/>
                </a:lnTo>
                <a:lnTo>
                  <a:pt x="1337310" y="30817"/>
                </a:lnTo>
                <a:lnTo>
                  <a:pt x="1303020" y="33045"/>
                </a:lnTo>
                <a:lnTo>
                  <a:pt x="1268730" y="35246"/>
                </a:lnTo>
                <a:lnTo>
                  <a:pt x="1234440" y="37405"/>
                </a:lnTo>
                <a:lnTo>
                  <a:pt x="1200150" y="39510"/>
                </a:lnTo>
                <a:lnTo>
                  <a:pt x="1165860" y="41548"/>
                </a:lnTo>
                <a:lnTo>
                  <a:pt x="1131570" y="43505"/>
                </a:lnTo>
                <a:lnTo>
                  <a:pt x="1097280" y="45371"/>
                </a:lnTo>
                <a:lnTo>
                  <a:pt x="1062990" y="47133"/>
                </a:lnTo>
                <a:lnTo>
                  <a:pt x="1028700" y="48781"/>
                </a:lnTo>
                <a:lnTo>
                  <a:pt x="994410" y="50304"/>
                </a:lnTo>
                <a:lnTo>
                  <a:pt x="960120" y="51693"/>
                </a:lnTo>
                <a:lnTo>
                  <a:pt x="925830" y="52939"/>
                </a:lnTo>
                <a:lnTo>
                  <a:pt x="891540" y="54036"/>
                </a:lnTo>
                <a:lnTo>
                  <a:pt x="857250" y="65988"/>
                </a:lnTo>
                <a:lnTo>
                  <a:pt x="822960" y="89279"/>
                </a:lnTo>
                <a:lnTo>
                  <a:pt x="788670" y="113856"/>
                </a:lnTo>
                <a:lnTo>
                  <a:pt x="754380" y="139713"/>
                </a:lnTo>
                <a:lnTo>
                  <a:pt x="720090" y="166849"/>
                </a:lnTo>
                <a:lnTo>
                  <a:pt x="685800" y="195263"/>
                </a:lnTo>
                <a:lnTo>
                  <a:pt x="651510" y="224952"/>
                </a:lnTo>
                <a:lnTo>
                  <a:pt x="617220" y="255918"/>
                </a:lnTo>
                <a:lnTo>
                  <a:pt x="582930" y="288163"/>
                </a:lnTo>
                <a:lnTo>
                  <a:pt x="548640" y="321689"/>
                </a:lnTo>
                <a:lnTo>
                  <a:pt x="514350" y="356501"/>
                </a:lnTo>
                <a:lnTo>
                  <a:pt x="480060" y="392602"/>
                </a:lnTo>
                <a:lnTo>
                  <a:pt x="445770" y="429998"/>
                </a:lnTo>
                <a:lnTo>
                  <a:pt x="411480" y="468697"/>
                </a:lnTo>
                <a:lnTo>
                  <a:pt x="377190" y="508706"/>
                </a:lnTo>
                <a:lnTo>
                  <a:pt x="342900" y="550034"/>
                </a:lnTo>
                <a:lnTo>
                  <a:pt x="308610" y="592689"/>
                </a:lnTo>
                <a:lnTo>
                  <a:pt x="274320" y="636683"/>
                </a:lnTo>
                <a:lnTo>
                  <a:pt x="240030" y="682026"/>
                </a:lnTo>
                <a:lnTo>
                  <a:pt x="205740" y="728729"/>
                </a:lnTo>
                <a:lnTo>
                  <a:pt x="171450" y="776805"/>
                </a:lnTo>
                <a:lnTo>
                  <a:pt x="137160" y="826266"/>
                </a:lnTo>
                <a:lnTo>
                  <a:pt x="102870" y="877125"/>
                </a:lnTo>
                <a:lnTo>
                  <a:pt x="68580" y="929395"/>
                </a:lnTo>
                <a:lnTo>
                  <a:pt x="34290" y="983091"/>
                </a:lnTo>
                <a:lnTo>
                  <a:pt x="0" y="1038225"/>
                </a:lnTo>
                <a:close/>
              </a:path>
            </a:pathLst>
          </a:custGeom>
          <a:solidFill xmlns:a="http://schemas.openxmlformats.org/drawingml/2006/main">
            <a:srgbClr val="D7E6F2"/>
          </a:solidFill>
          <a:ln xmlns:a="http://schemas.openxmlformats.org/drawingml/2006/main" w="0">
            <a:noFill/>
          </a:ln>
        </p:spPr>
      </p:sp>
      <p:sp>
        <p:nvSpPr>
          <p:cNvPr id="3" name="profile-3">
            <a:extLst xmlns:a="http://schemas.openxmlformats.org/drawingml/2006/main">
              <a:ext uri="{FF2B5EF4-FFF2-40B4-BE49-F238E27FC236}">
                <a16:creationId xmlns:a16="http://schemas.microsoft.com/office/drawing/2014/main" id="{74E7E729-75F8-4BCF-9ED8-FB4E7D484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0"/>
            <a:ext cx="1371600" cy="1257300"/>
          </a:xfrm>
          <a:custGeom xmlns:a="http://schemas.openxmlformats.org/drawingml/2006/main">
            <a:pathLst>
              <a:path w="1371600" h="1257300">
                <a:moveTo>
                  <a:pt x="0" y="857250"/>
                </a:moveTo>
                <a:lnTo>
                  <a:pt x="34290" y="799874"/>
                </a:lnTo>
                <a:lnTo>
                  <a:pt x="68580" y="743950"/>
                </a:lnTo>
                <a:lnTo>
                  <a:pt x="102870" y="689479"/>
                </a:lnTo>
                <a:lnTo>
                  <a:pt x="137160" y="636461"/>
                </a:lnTo>
                <a:lnTo>
                  <a:pt x="171450" y="584895"/>
                </a:lnTo>
                <a:lnTo>
                  <a:pt x="205740" y="534781"/>
                </a:lnTo>
                <a:lnTo>
                  <a:pt x="240030" y="486120"/>
                </a:lnTo>
                <a:lnTo>
                  <a:pt x="274320" y="438912"/>
                </a:lnTo>
                <a:lnTo>
                  <a:pt x="308610" y="393156"/>
                </a:lnTo>
                <a:lnTo>
                  <a:pt x="342900" y="348853"/>
                </a:lnTo>
                <a:lnTo>
                  <a:pt x="377190" y="306003"/>
                </a:lnTo>
                <a:lnTo>
                  <a:pt x="411480" y="264604"/>
                </a:lnTo>
                <a:lnTo>
                  <a:pt x="445770" y="224659"/>
                </a:lnTo>
                <a:lnTo>
                  <a:pt x="480060" y="186166"/>
                </a:lnTo>
                <a:lnTo>
                  <a:pt x="514350" y="149126"/>
                </a:lnTo>
                <a:lnTo>
                  <a:pt x="548640" y="113538"/>
                </a:lnTo>
                <a:lnTo>
                  <a:pt x="582930" y="79403"/>
                </a:lnTo>
                <a:lnTo>
                  <a:pt x="617220" y="46720"/>
                </a:lnTo>
                <a:lnTo>
                  <a:pt x="651510" y="15490"/>
                </a:lnTo>
                <a:lnTo>
                  <a:pt x="685800" y="0"/>
                </a:lnTo>
                <a:lnTo>
                  <a:pt x="720090" y="0"/>
                </a:lnTo>
                <a:lnTo>
                  <a:pt x="754380" y="0"/>
                </a:lnTo>
                <a:lnTo>
                  <a:pt x="788670" y="0"/>
                </a:lnTo>
                <a:lnTo>
                  <a:pt x="822960" y="0"/>
                </a:lnTo>
                <a:lnTo>
                  <a:pt x="857250" y="0"/>
                </a:lnTo>
                <a:lnTo>
                  <a:pt x="891540" y="0"/>
                </a:lnTo>
                <a:lnTo>
                  <a:pt x="925830" y="0"/>
                </a:lnTo>
                <a:lnTo>
                  <a:pt x="960120" y="0"/>
                </a:lnTo>
                <a:lnTo>
                  <a:pt x="994410" y="0"/>
                </a:lnTo>
                <a:lnTo>
                  <a:pt x="1028700" y="0"/>
                </a:lnTo>
                <a:lnTo>
                  <a:pt x="1062990" y="0"/>
                </a:lnTo>
                <a:lnTo>
                  <a:pt x="1097280" y="0"/>
                </a:lnTo>
                <a:lnTo>
                  <a:pt x="1131570" y="0"/>
                </a:lnTo>
                <a:lnTo>
                  <a:pt x="1165860" y="0"/>
                </a:lnTo>
                <a:lnTo>
                  <a:pt x="1200150" y="0"/>
                </a:lnTo>
                <a:lnTo>
                  <a:pt x="1234440" y="0"/>
                </a:lnTo>
                <a:lnTo>
                  <a:pt x="1268730" y="0"/>
                </a:lnTo>
                <a:lnTo>
                  <a:pt x="1303020" y="0"/>
                </a:lnTo>
                <a:lnTo>
                  <a:pt x="1337310" y="0"/>
                </a:lnTo>
                <a:lnTo>
                  <a:pt x="1371600" y="0"/>
                </a:lnTo>
                <a:lnTo>
                  <a:pt x="1371600" y="28575"/>
                </a:lnTo>
                <a:lnTo>
                  <a:pt x="1337310" y="30817"/>
                </a:lnTo>
                <a:lnTo>
                  <a:pt x="1303020" y="33045"/>
                </a:lnTo>
                <a:lnTo>
                  <a:pt x="1268730" y="35246"/>
                </a:lnTo>
                <a:lnTo>
                  <a:pt x="1234440" y="37405"/>
                </a:lnTo>
                <a:lnTo>
                  <a:pt x="1200150" y="39510"/>
                </a:lnTo>
                <a:lnTo>
                  <a:pt x="1165860" y="41548"/>
                </a:lnTo>
                <a:lnTo>
                  <a:pt x="1131570" y="43505"/>
                </a:lnTo>
                <a:lnTo>
                  <a:pt x="1097280" y="45371"/>
                </a:lnTo>
                <a:lnTo>
                  <a:pt x="1062990" y="47133"/>
                </a:lnTo>
                <a:lnTo>
                  <a:pt x="1028700" y="48781"/>
                </a:lnTo>
                <a:lnTo>
                  <a:pt x="994410" y="50304"/>
                </a:lnTo>
                <a:lnTo>
                  <a:pt x="960120" y="51693"/>
                </a:lnTo>
                <a:lnTo>
                  <a:pt x="925830" y="52939"/>
                </a:lnTo>
                <a:lnTo>
                  <a:pt x="891540" y="54036"/>
                </a:lnTo>
                <a:lnTo>
                  <a:pt x="857250" y="54975"/>
                </a:lnTo>
                <a:lnTo>
                  <a:pt x="822960" y="55751"/>
                </a:lnTo>
                <a:lnTo>
                  <a:pt x="788670" y="56360"/>
                </a:lnTo>
                <a:lnTo>
                  <a:pt x="754380" y="56798"/>
                </a:lnTo>
                <a:lnTo>
                  <a:pt x="720090" y="57062"/>
                </a:lnTo>
                <a:lnTo>
                  <a:pt x="685800" y="57150"/>
                </a:lnTo>
                <a:lnTo>
                  <a:pt x="651510" y="72552"/>
                </a:lnTo>
                <a:lnTo>
                  <a:pt x="617220" y="103518"/>
                </a:lnTo>
                <a:lnTo>
                  <a:pt x="582930" y="135763"/>
                </a:lnTo>
                <a:lnTo>
                  <a:pt x="548640" y="169289"/>
                </a:lnTo>
                <a:lnTo>
                  <a:pt x="514350" y="204101"/>
                </a:lnTo>
                <a:lnTo>
                  <a:pt x="480060" y="240202"/>
                </a:lnTo>
                <a:lnTo>
                  <a:pt x="445770" y="277598"/>
                </a:lnTo>
                <a:lnTo>
                  <a:pt x="411480" y="316297"/>
                </a:lnTo>
                <a:lnTo>
                  <a:pt x="377190" y="356306"/>
                </a:lnTo>
                <a:lnTo>
                  <a:pt x="342900" y="397634"/>
                </a:lnTo>
                <a:lnTo>
                  <a:pt x="308610" y="440289"/>
                </a:lnTo>
                <a:lnTo>
                  <a:pt x="274320" y="484283"/>
                </a:lnTo>
                <a:lnTo>
                  <a:pt x="240030" y="529626"/>
                </a:lnTo>
                <a:lnTo>
                  <a:pt x="205740" y="576329"/>
                </a:lnTo>
                <a:lnTo>
                  <a:pt x="171450" y="624405"/>
                </a:lnTo>
                <a:lnTo>
                  <a:pt x="137160" y="673866"/>
                </a:lnTo>
                <a:lnTo>
                  <a:pt x="102870" y="724725"/>
                </a:lnTo>
                <a:lnTo>
                  <a:pt x="68580" y="776995"/>
                </a:lnTo>
                <a:lnTo>
                  <a:pt x="34290" y="830691"/>
                </a:lnTo>
                <a:lnTo>
                  <a:pt x="0" y="885825"/>
                </a:lnTo>
                <a:close/>
              </a:path>
            </a:pathLst>
          </a:custGeom>
          <a:solidFill xmlns:a="http://schemas.openxmlformats.org/drawingml/2006/main">
            <a:srgbClr val="BED5E8"/>
          </a:solidFill>
          <a:ln xmlns:a="http://schemas.openxmlformats.org/drawingml/2006/main" w="0">
            <a:noFill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025a926df9406e"/>
          <a:stretch xmlns:a="http://schemas.openxmlformats.org/drawingml/2006/main"/>
        </p:blipFill>
        <p:spPr>
          <a:xfrm xmlns:a="http://schemas.openxmlformats.org/drawingml/2006/main">
            <a:off x="685800" y="352425"/>
            <a:ext cx="952500" cy="952500"/>
          </a:xfrm>
          <a:prstGeom xmlns:a="http://schemas.openxmlformats.org/drawingml/2006/main" prst="rect">
            <a:avLst/>
          </a:prstGeom>
        </p:spPr>
      </p:pic>
      <p:sp>
        <p:nvSpPr>
          <p:cNvPr id="5" name="profile-4">
            <a:extLst xmlns:a="http://schemas.openxmlformats.org/drawingml/2006/main">
              <a:ext uri="{FF2B5EF4-FFF2-40B4-BE49-F238E27FC236}">
                <a16:creationId xmlns:a16="http://schemas.microsoft.com/office/drawing/2014/main" id="{9DBBE368-CC94-48D0-B0A1-F10FA29DA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5334000" cy="2914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Company profile</a:t>
            </a:r>
          </a:p>
        </p:txBody>
      </p:sp>
      <p:sp>
        <p:nvSpPr>
          <p:cNvPr id="6" name="profile-5">
            <a:extLst xmlns:a="http://schemas.openxmlformats.org/drawingml/2006/main">
              <a:ext uri="{FF2B5EF4-FFF2-40B4-BE49-F238E27FC236}">
                <a16:creationId xmlns:a16="http://schemas.microsoft.com/office/drawing/2014/main" id="{6060C061-2CDE-4EBA-8230-B0858941E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24075"/>
            <a:ext cx="5638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500" b="0">
                <a:solidFill>
                  <a:srgbClr val="1C63AD"/>
                </a:solidFill>
                <a:latin typeface="Segoe UI"/>
                <a:ea typeface="Segoe UI"/>
                <a:cs typeface="Segoe UI"/>
              </a:defRPr>
            </a:pPr>
            <a:r>
              <a:rPr sz="4500" b="0">
                <a:solidFill>
                  <a:srgbClr val="1C63AD"/>
                </a:solidFill>
                <a:latin typeface="Segoe UI"/>
                <a:ea typeface="Segoe UI"/>
                <a:cs typeface="Segoe UI"/>
              </a:rPr>
              <a:t>Property services</a:t>
            </a:r>
          </a:p>
        </p:txBody>
      </p:sp>
      <p:sp>
        <p:nvSpPr>
          <p:cNvPr id="7" name="profile-6">
            <a:extLst xmlns:a="http://schemas.openxmlformats.org/drawingml/2006/main">
              <a:ext uri="{FF2B5EF4-FFF2-40B4-BE49-F238E27FC236}">
                <a16:creationId xmlns:a16="http://schemas.microsoft.com/office/drawing/2014/main" id="{59990F91-D0BB-4257-8EC3-49BE3BC78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90825"/>
            <a:ext cx="5638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500" b="0">
                <a:solidFill>
                  <a:srgbClr val="1C63AD"/>
                </a:solidFill>
                <a:latin typeface="Segoe UI"/>
                <a:ea typeface="Segoe UI"/>
                <a:cs typeface="Segoe UI"/>
              </a:defRPr>
            </a:pPr>
            <a:r>
              <a:rPr sz="4500" b="0">
                <a:solidFill>
                  <a:srgbClr val="1C63AD"/>
                </a:solidFill>
                <a:latin typeface="Segoe UI"/>
                <a:ea typeface="Segoe UI"/>
                <a:cs typeface="Segoe UI"/>
              </a:rPr>
              <a:t>One point of contact</a:t>
            </a:r>
          </a:p>
        </p:txBody>
      </p:sp>
      <p:sp>
        <p:nvSpPr>
          <p:cNvPr id="8" name="profile-7">
            <a:extLst xmlns:a="http://schemas.openxmlformats.org/drawingml/2006/main">
              <a:ext uri="{FF2B5EF4-FFF2-40B4-BE49-F238E27FC236}">
                <a16:creationId xmlns:a16="http://schemas.microsoft.com/office/drawing/2014/main" id="{C70612F3-B770-4CB5-92DE-9AA4C8BA6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71950"/>
            <a:ext cx="523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Siphoning. Plumbing.</a:t>
            </a:r>
          </a:p>
        </p:txBody>
      </p:sp>
      <p:sp>
        <p:nvSpPr>
          <p:cNvPr id="9" name="profile-8">
            <a:extLst xmlns:a="http://schemas.openxmlformats.org/drawingml/2006/main">
              <a:ext uri="{FF2B5EF4-FFF2-40B4-BE49-F238E27FC236}">
                <a16:creationId xmlns:a16="http://schemas.microsoft.com/office/drawing/2014/main" id="{56580B00-D5C4-4A1A-9594-F11E79D43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33900"/>
            <a:ext cx="523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Renovation &amp; restoration.</a:t>
            </a:r>
          </a:p>
        </p:txBody>
      </p:sp>
      <p:sp>
        <p:nvSpPr>
          <p:cNvPr id="10" name="profile-9">
            <a:extLst xmlns:a="http://schemas.openxmlformats.org/drawingml/2006/main">
              <a:ext uri="{FF2B5EF4-FFF2-40B4-BE49-F238E27FC236}">
                <a16:creationId xmlns:a16="http://schemas.microsoft.com/office/drawing/2014/main" id="{77B9E7EF-19D6-42DF-9CBB-C2E8A7DCD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95850"/>
            <a:ext cx="523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Pest control.</a:t>
            </a:r>
          </a:p>
        </p:txBody>
      </p:sp>
      <p:sp>
        <p:nvSpPr>
          <p:cNvPr id="11" name="profile-10">
            <a:extLst xmlns:a="http://schemas.openxmlformats.org/drawingml/2006/main">
              <a:ext uri="{FF2B5EF4-FFF2-40B4-BE49-F238E27FC236}">
                <a16:creationId xmlns:a16="http://schemas.microsoft.com/office/drawing/2014/main" id="{9BE64513-01F7-41D5-9509-0A03120E6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57800"/>
            <a:ext cx="523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Septage treatment facility.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f6c8087bf6424b"/>
          <a:stretch xmlns:a="http://schemas.openxmlformats.org/drawingml/2006/main"/>
        </p:blipFill>
        <p:spPr>
          <a:xfrm xmlns:a="http://schemas.openxmlformats.org/drawingml/2006/main">
            <a:off x="6419850" y="1743075"/>
            <a:ext cx="5086350" cy="3390900"/>
          </a:xfrm>
          <a:prstGeom xmlns:a="http://schemas.openxmlformats.org/drawingml/2006/main" prst="rect">
            <a:avLst/>
          </a:prstGeom>
        </p:spPr>
      </p:pic>
      <p:sp>
        <p:nvSpPr>
          <p:cNvPr id="13" name="profile-11">
            <a:extLst xmlns:a="http://schemas.openxmlformats.org/drawingml/2006/main">
              <a:ext uri="{FF2B5EF4-FFF2-40B4-BE49-F238E27FC236}">
                <a16:creationId xmlns:a16="http://schemas.microsoft.com/office/drawing/2014/main" id="{D6AA6C14-5FBB-4440-A723-26E45A53C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362575"/>
            <a:ext cx="5086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AI-generated property-services concept</a:t>
            </a:r>
          </a:p>
        </p:txBody>
      </p:sp>
      <p:sp>
        <p:nvSpPr>
          <p:cNvPr id="14" name="profile-12">
            <a:extLst xmlns:a="http://schemas.openxmlformats.org/drawingml/2006/main">
              <a:ext uri="{FF2B5EF4-FFF2-40B4-BE49-F238E27FC236}">
                <a16:creationId xmlns:a16="http://schemas.microsoft.com/office/drawing/2014/main" id="{DE92A3BD-D453-4448-93FB-B57E39C96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48375"/>
            <a:ext cx="1082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Oceanides Plumbing Siphoning &amp; Pest Management Services OPC</a:t>
            </a:r>
          </a:p>
        </p:txBody>
      </p:sp>
      <p:sp>
        <p:nvSpPr>
          <p:cNvPr id="15" name="profile-13">
            <a:extLst xmlns:a="http://schemas.openxmlformats.org/drawingml/2006/main">
              <a:ext uri="{FF2B5EF4-FFF2-40B4-BE49-F238E27FC236}">
                <a16:creationId xmlns:a16="http://schemas.microsoft.com/office/drawing/2014/main" id="{FC0A68AD-37F2-4598-8E20-9BD63A210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572250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78535669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profile-14">
            <a:extLst xmlns:a="http://schemas.openxmlformats.org/drawingml/2006/main">
              <a:ext uri="{FF2B5EF4-FFF2-40B4-BE49-F238E27FC236}">
                <a16:creationId xmlns:a16="http://schemas.microsoft.com/office/drawing/2014/main" id="{A1A0A48B-B8AC-4C26-86CE-22D00CBBD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0"/>
            <a:ext cx="1371600" cy="1257300"/>
          </a:xfrm>
          <a:custGeom xmlns:a="http://schemas.openxmlformats.org/drawingml/2006/main">
            <a:pathLst>
              <a:path w="1371600" h="1257300">
                <a:moveTo>
                  <a:pt x="0" y="1162050"/>
                </a:moveTo>
                <a:lnTo>
                  <a:pt x="34290" y="1104674"/>
                </a:lnTo>
                <a:lnTo>
                  <a:pt x="68580" y="1048750"/>
                </a:lnTo>
                <a:lnTo>
                  <a:pt x="102870" y="994279"/>
                </a:lnTo>
                <a:lnTo>
                  <a:pt x="137160" y="941261"/>
                </a:lnTo>
                <a:lnTo>
                  <a:pt x="171450" y="889695"/>
                </a:lnTo>
                <a:lnTo>
                  <a:pt x="205740" y="839581"/>
                </a:lnTo>
                <a:lnTo>
                  <a:pt x="240030" y="790920"/>
                </a:lnTo>
                <a:lnTo>
                  <a:pt x="274320" y="743712"/>
                </a:lnTo>
                <a:lnTo>
                  <a:pt x="308610" y="697956"/>
                </a:lnTo>
                <a:lnTo>
                  <a:pt x="342900" y="653653"/>
                </a:lnTo>
                <a:lnTo>
                  <a:pt x="377190" y="610803"/>
                </a:lnTo>
                <a:lnTo>
                  <a:pt x="411480" y="569405"/>
                </a:lnTo>
                <a:lnTo>
                  <a:pt x="445770" y="529459"/>
                </a:lnTo>
                <a:lnTo>
                  <a:pt x="480060" y="490966"/>
                </a:lnTo>
                <a:lnTo>
                  <a:pt x="514350" y="453926"/>
                </a:lnTo>
                <a:lnTo>
                  <a:pt x="548640" y="418338"/>
                </a:lnTo>
                <a:lnTo>
                  <a:pt x="582930" y="384203"/>
                </a:lnTo>
                <a:lnTo>
                  <a:pt x="617220" y="351520"/>
                </a:lnTo>
                <a:lnTo>
                  <a:pt x="651510" y="320290"/>
                </a:lnTo>
                <a:lnTo>
                  <a:pt x="685800" y="290513"/>
                </a:lnTo>
                <a:lnTo>
                  <a:pt x="720090" y="262188"/>
                </a:lnTo>
                <a:lnTo>
                  <a:pt x="754380" y="235315"/>
                </a:lnTo>
                <a:lnTo>
                  <a:pt x="788670" y="209895"/>
                </a:lnTo>
                <a:lnTo>
                  <a:pt x="822960" y="185928"/>
                </a:lnTo>
                <a:lnTo>
                  <a:pt x="857250" y="163413"/>
                </a:lnTo>
                <a:lnTo>
                  <a:pt x="891540" y="142351"/>
                </a:lnTo>
                <a:lnTo>
                  <a:pt x="925830" y="122742"/>
                </a:lnTo>
                <a:lnTo>
                  <a:pt x="960120" y="104585"/>
                </a:lnTo>
                <a:lnTo>
                  <a:pt x="994410" y="87880"/>
                </a:lnTo>
                <a:lnTo>
                  <a:pt x="1028700" y="72628"/>
                </a:lnTo>
                <a:lnTo>
                  <a:pt x="1062990" y="58829"/>
                </a:lnTo>
                <a:lnTo>
                  <a:pt x="1097280" y="46482"/>
                </a:lnTo>
                <a:lnTo>
                  <a:pt x="1131570" y="35588"/>
                </a:lnTo>
                <a:lnTo>
                  <a:pt x="1165860" y="26146"/>
                </a:lnTo>
                <a:lnTo>
                  <a:pt x="1200150" y="18157"/>
                </a:lnTo>
                <a:lnTo>
                  <a:pt x="1234440" y="11620"/>
                </a:lnTo>
                <a:lnTo>
                  <a:pt x="1268730" y="6537"/>
                </a:lnTo>
                <a:lnTo>
                  <a:pt x="1303020" y="2905"/>
                </a:lnTo>
                <a:lnTo>
                  <a:pt x="1337310" y="726"/>
                </a:lnTo>
                <a:lnTo>
                  <a:pt x="1371600" y="0"/>
                </a:lnTo>
                <a:lnTo>
                  <a:pt x="1371600" y="28575"/>
                </a:lnTo>
                <a:lnTo>
                  <a:pt x="1337310" y="31543"/>
                </a:lnTo>
                <a:lnTo>
                  <a:pt x="1303020" y="35950"/>
                </a:lnTo>
                <a:lnTo>
                  <a:pt x="1268730" y="41782"/>
                </a:lnTo>
                <a:lnTo>
                  <a:pt x="1234440" y="49026"/>
                </a:lnTo>
                <a:lnTo>
                  <a:pt x="1200150" y="57667"/>
                </a:lnTo>
                <a:lnTo>
                  <a:pt x="1165860" y="67694"/>
                </a:lnTo>
                <a:lnTo>
                  <a:pt x="1131570" y="79093"/>
                </a:lnTo>
                <a:lnTo>
                  <a:pt x="1097280" y="91853"/>
                </a:lnTo>
                <a:lnTo>
                  <a:pt x="1062990" y="105962"/>
                </a:lnTo>
                <a:lnTo>
                  <a:pt x="1028700" y="121409"/>
                </a:lnTo>
                <a:lnTo>
                  <a:pt x="994410" y="138184"/>
                </a:lnTo>
                <a:lnTo>
                  <a:pt x="960120" y="156277"/>
                </a:lnTo>
                <a:lnTo>
                  <a:pt x="925830" y="175681"/>
                </a:lnTo>
                <a:lnTo>
                  <a:pt x="891540" y="196387"/>
                </a:lnTo>
                <a:lnTo>
                  <a:pt x="857250" y="218388"/>
                </a:lnTo>
                <a:lnTo>
                  <a:pt x="822960" y="241679"/>
                </a:lnTo>
                <a:lnTo>
                  <a:pt x="788670" y="266256"/>
                </a:lnTo>
                <a:lnTo>
                  <a:pt x="754380" y="292113"/>
                </a:lnTo>
                <a:lnTo>
                  <a:pt x="720090" y="319249"/>
                </a:lnTo>
                <a:lnTo>
                  <a:pt x="685800" y="347663"/>
                </a:lnTo>
                <a:lnTo>
                  <a:pt x="651510" y="377352"/>
                </a:lnTo>
                <a:lnTo>
                  <a:pt x="617220" y="408318"/>
                </a:lnTo>
                <a:lnTo>
                  <a:pt x="582930" y="440563"/>
                </a:lnTo>
                <a:lnTo>
                  <a:pt x="548640" y="474089"/>
                </a:lnTo>
                <a:lnTo>
                  <a:pt x="514350" y="508901"/>
                </a:lnTo>
                <a:lnTo>
                  <a:pt x="480060" y="545002"/>
                </a:lnTo>
                <a:lnTo>
                  <a:pt x="445770" y="582398"/>
                </a:lnTo>
                <a:lnTo>
                  <a:pt x="411480" y="621097"/>
                </a:lnTo>
                <a:lnTo>
                  <a:pt x="377190" y="661106"/>
                </a:lnTo>
                <a:lnTo>
                  <a:pt x="342900" y="702434"/>
                </a:lnTo>
                <a:lnTo>
                  <a:pt x="308610" y="745089"/>
                </a:lnTo>
                <a:lnTo>
                  <a:pt x="274320" y="789083"/>
                </a:lnTo>
                <a:lnTo>
                  <a:pt x="240030" y="834426"/>
                </a:lnTo>
                <a:lnTo>
                  <a:pt x="205740" y="881129"/>
                </a:lnTo>
                <a:lnTo>
                  <a:pt x="171450" y="929205"/>
                </a:lnTo>
                <a:lnTo>
                  <a:pt x="137160" y="978666"/>
                </a:lnTo>
                <a:lnTo>
                  <a:pt x="102870" y="1029525"/>
                </a:lnTo>
                <a:lnTo>
                  <a:pt x="68580" y="1081795"/>
                </a:lnTo>
                <a:lnTo>
                  <a:pt x="34290" y="1135491"/>
                </a:lnTo>
                <a:lnTo>
                  <a:pt x="0" y="1190625"/>
                </a:lnTo>
                <a:close/>
              </a:path>
            </a:pathLst>
          </a:custGeom>
          <a:solidFill xmlns:a="http://schemas.openxmlformats.org/drawingml/2006/main">
            <a:srgbClr val="E5EEF6"/>
          </a:solidFill>
          <a:ln xmlns:a="http://schemas.openxmlformats.org/drawingml/2006/main" w="0">
            <a:noFill/>
          </a:ln>
        </p:spPr>
      </p:sp>
      <p:sp>
        <p:nvSpPr>
          <p:cNvPr id="2" name="profile-15">
            <a:extLst xmlns:a="http://schemas.openxmlformats.org/drawingml/2006/main">
              <a:ext uri="{FF2B5EF4-FFF2-40B4-BE49-F238E27FC236}">
                <a16:creationId xmlns:a16="http://schemas.microsoft.com/office/drawing/2014/main" id="{D53F987A-A5D4-476D-BEC6-37B50CC34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0"/>
            <a:ext cx="1371600" cy="1257300"/>
          </a:xfrm>
          <a:custGeom xmlns:a="http://schemas.openxmlformats.org/drawingml/2006/main">
            <a:pathLst>
              <a:path w="1371600" h="1257300">
                <a:moveTo>
                  <a:pt x="0" y="1009650"/>
                </a:moveTo>
                <a:lnTo>
                  <a:pt x="34290" y="952274"/>
                </a:lnTo>
                <a:lnTo>
                  <a:pt x="68580" y="896350"/>
                </a:lnTo>
                <a:lnTo>
                  <a:pt x="102870" y="841879"/>
                </a:lnTo>
                <a:lnTo>
                  <a:pt x="137160" y="788861"/>
                </a:lnTo>
                <a:lnTo>
                  <a:pt x="171450" y="737295"/>
                </a:lnTo>
                <a:lnTo>
                  <a:pt x="205740" y="687181"/>
                </a:lnTo>
                <a:lnTo>
                  <a:pt x="240030" y="638520"/>
                </a:lnTo>
                <a:lnTo>
                  <a:pt x="274320" y="591312"/>
                </a:lnTo>
                <a:lnTo>
                  <a:pt x="308610" y="545556"/>
                </a:lnTo>
                <a:lnTo>
                  <a:pt x="342900" y="501253"/>
                </a:lnTo>
                <a:lnTo>
                  <a:pt x="377190" y="458403"/>
                </a:lnTo>
                <a:lnTo>
                  <a:pt x="411480" y="417004"/>
                </a:lnTo>
                <a:lnTo>
                  <a:pt x="445770" y="377059"/>
                </a:lnTo>
                <a:lnTo>
                  <a:pt x="480060" y="338566"/>
                </a:lnTo>
                <a:lnTo>
                  <a:pt x="514350" y="301526"/>
                </a:lnTo>
                <a:lnTo>
                  <a:pt x="548640" y="265938"/>
                </a:lnTo>
                <a:lnTo>
                  <a:pt x="582930" y="231803"/>
                </a:lnTo>
                <a:lnTo>
                  <a:pt x="617220" y="199120"/>
                </a:lnTo>
                <a:lnTo>
                  <a:pt x="651510" y="167890"/>
                </a:lnTo>
                <a:lnTo>
                  <a:pt x="685800" y="138113"/>
                </a:lnTo>
                <a:lnTo>
                  <a:pt x="720090" y="109788"/>
                </a:lnTo>
                <a:lnTo>
                  <a:pt x="754380" y="82915"/>
                </a:lnTo>
                <a:lnTo>
                  <a:pt x="788670" y="57495"/>
                </a:lnTo>
                <a:lnTo>
                  <a:pt x="822960" y="33528"/>
                </a:lnTo>
                <a:lnTo>
                  <a:pt x="857250" y="11013"/>
                </a:lnTo>
                <a:lnTo>
                  <a:pt x="891540" y="0"/>
                </a:lnTo>
                <a:lnTo>
                  <a:pt x="925830" y="0"/>
                </a:lnTo>
                <a:lnTo>
                  <a:pt x="960120" y="0"/>
                </a:lnTo>
                <a:lnTo>
                  <a:pt x="994410" y="0"/>
                </a:lnTo>
                <a:lnTo>
                  <a:pt x="1028700" y="0"/>
                </a:lnTo>
                <a:lnTo>
                  <a:pt x="1062990" y="0"/>
                </a:lnTo>
                <a:lnTo>
                  <a:pt x="1097280" y="0"/>
                </a:lnTo>
                <a:lnTo>
                  <a:pt x="1131570" y="0"/>
                </a:lnTo>
                <a:lnTo>
                  <a:pt x="1165860" y="0"/>
                </a:lnTo>
                <a:lnTo>
                  <a:pt x="1200150" y="0"/>
                </a:lnTo>
                <a:lnTo>
                  <a:pt x="1234440" y="0"/>
                </a:lnTo>
                <a:lnTo>
                  <a:pt x="1268730" y="0"/>
                </a:lnTo>
                <a:lnTo>
                  <a:pt x="1303020" y="0"/>
                </a:lnTo>
                <a:lnTo>
                  <a:pt x="1337310" y="0"/>
                </a:lnTo>
                <a:lnTo>
                  <a:pt x="1371600" y="0"/>
                </a:lnTo>
                <a:lnTo>
                  <a:pt x="1371600" y="28575"/>
                </a:lnTo>
                <a:lnTo>
                  <a:pt x="1337310" y="30817"/>
                </a:lnTo>
                <a:lnTo>
                  <a:pt x="1303020" y="33045"/>
                </a:lnTo>
                <a:lnTo>
                  <a:pt x="1268730" y="35246"/>
                </a:lnTo>
                <a:lnTo>
                  <a:pt x="1234440" y="37405"/>
                </a:lnTo>
                <a:lnTo>
                  <a:pt x="1200150" y="39510"/>
                </a:lnTo>
                <a:lnTo>
                  <a:pt x="1165860" y="41548"/>
                </a:lnTo>
                <a:lnTo>
                  <a:pt x="1131570" y="43505"/>
                </a:lnTo>
                <a:lnTo>
                  <a:pt x="1097280" y="45371"/>
                </a:lnTo>
                <a:lnTo>
                  <a:pt x="1062990" y="47133"/>
                </a:lnTo>
                <a:lnTo>
                  <a:pt x="1028700" y="48781"/>
                </a:lnTo>
                <a:lnTo>
                  <a:pt x="994410" y="50304"/>
                </a:lnTo>
                <a:lnTo>
                  <a:pt x="960120" y="51693"/>
                </a:lnTo>
                <a:lnTo>
                  <a:pt x="925830" y="52939"/>
                </a:lnTo>
                <a:lnTo>
                  <a:pt x="891540" y="54036"/>
                </a:lnTo>
                <a:lnTo>
                  <a:pt x="857250" y="65988"/>
                </a:lnTo>
                <a:lnTo>
                  <a:pt x="822960" y="89279"/>
                </a:lnTo>
                <a:lnTo>
                  <a:pt x="788670" y="113856"/>
                </a:lnTo>
                <a:lnTo>
                  <a:pt x="754380" y="139713"/>
                </a:lnTo>
                <a:lnTo>
                  <a:pt x="720090" y="166849"/>
                </a:lnTo>
                <a:lnTo>
                  <a:pt x="685800" y="195263"/>
                </a:lnTo>
                <a:lnTo>
                  <a:pt x="651510" y="224952"/>
                </a:lnTo>
                <a:lnTo>
                  <a:pt x="617220" y="255918"/>
                </a:lnTo>
                <a:lnTo>
                  <a:pt x="582930" y="288163"/>
                </a:lnTo>
                <a:lnTo>
                  <a:pt x="548640" y="321689"/>
                </a:lnTo>
                <a:lnTo>
                  <a:pt x="514350" y="356501"/>
                </a:lnTo>
                <a:lnTo>
                  <a:pt x="480060" y="392602"/>
                </a:lnTo>
                <a:lnTo>
                  <a:pt x="445770" y="429998"/>
                </a:lnTo>
                <a:lnTo>
                  <a:pt x="411480" y="468697"/>
                </a:lnTo>
                <a:lnTo>
                  <a:pt x="377190" y="508706"/>
                </a:lnTo>
                <a:lnTo>
                  <a:pt x="342900" y="550034"/>
                </a:lnTo>
                <a:lnTo>
                  <a:pt x="308610" y="592689"/>
                </a:lnTo>
                <a:lnTo>
                  <a:pt x="274320" y="636683"/>
                </a:lnTo>
                <a:lnTo>
                  <a:pt x="240030" y="682026"/>
                </a:lnTo>
                <a:lnTo>
                  <a:pt x="205740" y="728729"/>
                </a:lnTo>
                <a:lnTo>
                  <a:pt x="171450" y="776805"/>
                </a:lnTo>
                <a:lnTo>
                  <a:pt x="137160" y="826266"/>
                </a:lnTo>
                <a:lnTo>
                  <a:pt x="102870" y="877125"/>
                </a:lnTo>
                <a:lnTo>
                  <a:pt x="68580" y="929395"/>
                </a:lnTo>
                <a:lnTo>
                  <a:pt x="34290" y="983091"/>
                </a:lnTo>
                <a:lnTo>
                  <a:pt x="0" y="1038225"/>
                </a:lnTo>
                <a:close/>
              </a:path>
            </a:pathLst>
          </a:custGeom>
          <a:solidFill xmlns:a="http://schemas.openxmlformats.org/drawingml/2006/main">
            <a:srgbClr val="D7E6F2"/>
          </a:solidFill>
          <a:ln xmlns:a="http://schemas.openxmlformats.org/drawingml/2006/main" w="0">
            <a:noFill/>
          </a:ln>
        </p:spPr>
      </p:sp>
      <p:sp>
        <p:nvSpPr>
          <p:cNvPr id="3" name="profile-16">
            <a:extLst xmlns:a="http://schemas.openxmlformats.org/drawingml/2006/main">
              <a:ext uri="{FF2B5EF4-FFF2-40B4-BE49-F238E27FC236}">
                <a16:creationId xmlns:a16="http://schemas.microsoft.com/office/drawing/2014/main" id="{0B4E3820-A147-4055-849F-002767F83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0"/>
            <a:ext cx="1371600" cy="1257300"/>
          </a:xfrm>
          <a:custGeom xmlns:a="http://schemas.openxmlformats.org/drawingml/2006/main">
            <a:pathLst>
              <a:path w="1371600" h="1257300">
                <a:moveTo>
                  <a:pt x="0" y="857250"/>
                </a:moveTo>
                <a:lnTo>
                  <a:pt x="34290" y="799874"/>
                </a:lnTo>
                <a:lnTo>
                  <a:pt x="68580" y="743950"/>
                </a:lnTo>
                <a:lnTo>
                  <a:pt x="102870" y="689479"/>
                </a:lnTo>
                <a:lnTo>
                  <a:pt x="137160" y="636461"/>
                </a:lnTo>
                <a:lnTo>
                  <a:pt x="171450" y="584895"/>
                </a:lnTo>
                <a:lnTo>
                  <a:pt x="205740" y="534781"/>
                </a:lnTo>
                <a:lnTo>
                  <a:pt x="240030" y="486120"/>
                </a:lnTo>
                <a:lnTo>
                  <a:pt x="274320" y="438912"/>
                </a:lnTo>
                <a:lnTo>
                  <a:pt x="308610" y="393156"/>
                </a:lnTo>
                <a:lnTo>
                  <a:pt x="342900" y="348853"/>
                </a:lnTo>
                <a:lnTo>
                  <a:pt x="377190" y="306003"/>
                </a:lnTo>
                <a:lnTo>
                  <a:pt x="411480" y="264604"/>
                </a:lnTo>
                <a:lnTo>
                  <a:pt x="445770" y="224659"/>
                </a:lnTo>
                <a:lnTo>
                  <a:pt x="480060" y="186166"/>
                </a:lnTo>
                <a:lnTo>
                  <a:pt x="514350" y="149126"/>
                </a:lnTo>
                <a:lnTo>
                  <a:pt x="548640" y="113538"/>
                </a:lnTo>
                <a:lnTo>
                  <a:pt x="582930" y="79403"/>
                </a:lnTo>
                <a:lnTo>
                  <a:pt x="617220" y="46720"/>
                </a:lnTo>
                <a:lnTo>
                  <a:pt x="651510" y="15490"/>
                </a:lnTo>
                <a:lnTo>
                  <a:pt x="685800" y="0"/>
                </a:lnTo>
                <a:lnTo>
                  <a:pt x="720090" y="0"/>
                </a:lnTo>
                <a:lnTo>
                  <a:pt x="754380" y="0"/>
                </a:lnTo>
                <a:lnTo>
                  <a:pt x="788670" y="0"/>
                </a:lnTo>
                <a:lnTo>
                  <a:pt x="822960" y="0"/>
                </a:lnTo>
                <a:lnTo>
                  <a:pt x="857250" y="0"/>
                </a:lnTo>
                <a:lnTo>
                  <a:pt x="891540" y="0"/>
                </a:lnTo>
                <a:lnTo>
                  <a:pt x="925830" y="0"/>
                </a:lnTo>
                <a:lnTo>
                  <a:pt x="960120" y="0"/>
                </a:lnTo>
                <a:lnTo>
                  <a:pt x="994410" y="0"/>
                </a:lnTo>
                <a:lnTo>
                  <a:pt x="1028700" y="0"/>
                </a:lnTo>
                <a:lnTo>
                  <a:pt x="1062990" y="0"/>
                </a:lnTo>
                <a:lnTo>
                  <a:pt x="1097280" y="0"/>
                </a:lnTo>
                <a:lnTo>
                  <a:pt x="1131570" y="0"/>
                </a:lnTo>
                <a:lnTo>
                  <a:pt x="1165860" y="0"/>
                </a:lnTo>
                <a:lnTo>
                  <a:pt x="1200150" y="0"/>
                </a:lnTo>
                <a:lnTo>
                  <a:pt x="1234440" y="0"/>
                </a:lnTo>
                <a:lnTo>
                  <a:pt x="1268730" y="0"/>
                </a:lnTo>
                <a:lnTo>
                  <a:pt x="1303020" y="0"/>
                </a:lnTo>
                <a:lnTo>
                  <a:pt x="1337310" y="0"/>
                </a:lnTo>
                <a:lnTo>
                  <a:pt x="1371600" y="0"/>
                </a:lnTo>
                <a:lnTo>
                  <a:pt x="1371600" y="28575"/>
                </a:lnTo>
                <a:lnTo>
                  <a:pt x="1337310" y="30817"/>
                </a:lnTo>
                <a:lnTo>
                  <a:pt x="1303020" y="33045"/>
                </a:lnTo>
                <a:lnTo>
                  <a:pt x="1268730" y="35246"/>
                </a:lnTo>
                <a:lnTo>
                  <a:pt x="1234440" y="37405"/>
                </a:lnTo>
                <a:lnTo>
                  <a:pt x="1200150" y="39510"/>
                </a:lnTo>
                <a:lnTo>
                  <a:pt x="1165860" y="41548"/>
                </a:lnTo>
                <a:lnTo>
                  <a:pt x="1131570" y="43505"/>
                </a:lnTo>
                <a:lnTo>
                  <a:pt x="1097280" y="45371"/>
                </a:lnTo>
                <a:lnTo>
                  <a:pt x="1062990" y="47133"/>
                </a:lnTo>
                <a:lnTo>
                  <a:pt x="1028700" y="48781"/>
                </a:lnTo>
                <a:lnTo>
                  <a:pt x="994410" y="50304"/>
                </a:lnTo>
                <a:lnTo>
                  <a:pt x="960120" y="51693"/>
                </a:lnTo>
                <a:lnTo>
                  <a:pt x="925830" y="52939"/>
                </a:lnTo>
                <a:lnTo>
                  <a:pt x="891540" y="54036"/>
                </a:lnTo>
                <a:lnTo>
                  <a:pt x="857250" y="54975"/>
                </a:lnTo>
                <a:lnTo>
                  <a:pt x="822960" y="55751"/>
                </a:lnTo>
                <a:lnTo>
                  <a:pt x="788670" y="56360"/>
                </a:lnTo>
                <a:lnTo>
                  <a:pt x="754380" y="56798"/>
                </a:lnTo>
                <a:lnTo>
                  <a:pt x="720090" y="57062"/>
                </a:lnTo>
                <a:lnTo>
                  <a:pt x="685800" y="57150"/>
                </a:lnTo>
                <a:lnTo>
                  <a:pt x="651510" y="72552"/>
                </a:lnTo>
                <a:lnTo>
                  <a:pt x="617220" y="103518"/>
                </a:lnTo>
                <a:lnTo>
                  <a:pt x="582930" y="135763"/>
                </a:lnTo>
                <a:lnTo>
                  <a:pt x="548640" y="169289"/>
                </a:lnTo>
                <a:lnTo>
                  <a:pt x="514350" y="204101"/>
                </a:lnTo>
                <a:lnTo>
                  <a:pt x="480060" y="240202"/>
                </a:lnTo>
                <a:lnTo>
                  <a:pt x="445770" y="277598"/>
                </a:lnTo>
                <a:lnTo>
                  <a:pt x="411480" y="316297"/>
                </a:lnTo>
                <a:lnTo>
                  <a:pt x="377190" y="356306"/>
                </a:lnTo>
                <a:lnTo>
                  <a:pt x="342900" y="397634"/>
                </a:lnTo>
                <a:lnTo>
                  <a:pt x="308610" y="440289"/>
                </a:lnTo>
                <a:lnTo>
                  <a:pt x="274320" y="484283"/>
                </a:lnTo>
                <a:lnTo>
                  <a:pt x="240030" y="529626"/>
                </a:lnTo>
                <a:lnTo>
                  <a:pt x="205740" y="576329"/>
                </a:lnTo>
                <a:lnTo>
                  <a:pt x="171450" y="624405"/>
                </a:lnTo>
                <a:lnTo>
                  <a:pt x="137160" y="673866"/>
                </a:lnTo>
                <a:lnTo>
                  <a:pt x="102870" y="724725"/>
                </a:lnTo>
                <a:lnTo>
                  <a:pt x="68580" y="776995"/>
                </a:lnTo>
                <a:lnTo>
                  <a:pt x="34290" y="830691"/>
                </a:lnTo>
                <a:lnTo>
                  <a:pt x="0" y="885825"/>
                </a:lnTo>
                <a:close/>
              </a:path>
            </a:pathLst>
          </a:custGeom>
          <a:solidFill xmlns:a="http://schemas.openxmlformats.org/drawingml/2006/main">
            <a:srgbClr val="BED5E8"/>
          </a:solidFill>
          <a:ln xmlns:a="http://schemas.openxmlformats.org/drawingml/2006/main" w="0">
            <a:noFill/>
          </a:ln>
        </p:spPr>
      </p:sp>
      <p:sp>
        <p:nvSpPr>
          <p:cNvPr id="4" name="profile-17">
            <a:extLst xmlns:a="http://schemas.openxmlformats.org/drawingml/2006/main">
              <a:ext uri="{FF2B5EF4-FFF2-40B4-BE49-F238E27FC236}">
                <a16:creationId xmlns:a16="http://schemas.microsoft.com/office/drawing/2014/main" id="{3459C5AD-160C-4E9A-9919-4C85BEE19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12B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17212B"/>
                </a:solidFill>
                <a:latin typeface="Segoe UI"/>
                <a:ea typeface="Segoe UI"/>
                <a:cs typeface="Segoe UI"/>
              </a:rPr>
              <a:t>Oceanides</a:t>
            </a:r>
          </a:p>
        </p:txBody>
      </p:sp>
      <p:sp>
        <p:nvSpPr>
          <p:cNvPr id="5" name="profile-18">
            <a:extLst xmlns:a="http://schemas.openxmlformats.org/drawingml/2006/main">
              <a:ext uri="{FF2B5EF4-FFF2-40B4-BE49-F238E27FC236}">
                <a16:creationId xmlns:a16="http://schemas.microsoft.com/office/drawing/2014/main" id="{039BE549-9956-4E2D-85AC-FC3AE4509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71475"/>
            <a:ext cx="1981200" cy="2171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Company profile</a:t>
            </a:r>
          </a:p>
        </p:txBody>
      </p:sp>
      <p:sp>
        <p:nvSpPr>
          <p:cNvPr id="6" name="profile-19">
            <a:extLst xmlns:a="http://schemas.openxmlformats.org/drawingml/2006/main">
              <a:ext uri="{FF2B5EF4-FFF2-40B4-BE49-F238E27FC236}">
                <a16:creationId xmlns:a16="http://schemas.microsoft.com/office/drawing/2014/main" id="{A6B48CD8-59AE-4FE6-A9BF-698E1E6AE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1C63AD"/>
                </a:solidFill>
                <a:latin typeface="Segoe UI"/>
                <a:ea typeface="Segoe UI"/>
                <a:cs typeface="Segoe UI"/>
              </a:defRPr>
            </a:pPr>
            <a:r>
              <a:rPr sz="3600" b="0">
                <a:solidFill>
                  <a:srgbClr val="1C63AD"/>
                </a:solidFill>
                <a:latin typeface="Segoe UI"/>
                <a:ea typeface="Segoe UI"/>
                <a:cs typeface="Segoe UI"/>
              </a:rPr>
              <a:t>Services for the places you live and work</a:t>
            </a:r>
          </a:p>
        </p:txBody>
      </p:sp>
      <p:sp>
        <p:nvSpPr>
          <p:cNvPr id="7" name="profile-20">
            <a:extLst xmlns:a="http://schemas.openxmlformats.org/drawingml/2006/main">
              <a:ext uri="{FF2B5EF4-FFF2-40B4-BE49-F238E27FC236}">
                <a16:creationId xmlns:a16="http://schemas.microsoft.com/office/drawing/2014/main" id="{3CE74259-5146-417B-AE35-70DAD8F22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28800"/>
            <a:ext cx="10820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Oceanides coordinates property services for homes, condominiums and company facilities. Our</a:t>
            </a:r>
          </a:p>
        </p:txBody>
      </p:sp>
      <p:sp>
        <p:nvSpPr>
          <p:cNvPr id="8" name="profile-21">
            <a:extLst xmlns:a="http://schemas.openxmlformats.org/drawingml/2006/main">
              <a:ext uri="{FF2B5EF4-FFF2-40B4-BE49-F238E27FC236}">
                <a16:creationId xmlns:a16="http://schemas.microsoft.com/office/drawing/2014/main" id="{F18791ED-FB0F-4EF5-93E1-26909C5B6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10820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offering covers siphoning, plumbing, renovation and restoration, pest control and septage treatment</a:t>
            </a:r>
          </a:p>
        </p:txBody>
      </p:sp>
      <p:sp>
        <p:nvSpPr>
          <p:cNvPr id="9" name="profile-22">
            <a:extLst xmlns:a="http://schemas.openxmlformats.org/drawingml/2006/main">
              <a:ext uri="{FF2B5EF4-FFF2-40B4-BE49-F238E27FC236}">
                <a16:creationId xmlns:a16="http://schemas.microsoft.com/office/drawing/2014/main" id="{9DC5C986-9188-4272-9E69-F02C2FA57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14600"/>
            <a:ext cx="10820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facility projects.</a:t>
            </a:r>
          </a:p>
        </p:txBody>
      </p:sp>
      <p:sp>
        <p:nvSpPr>
          <p:cNvPr id="10" name="profile-23">
            <a:extLst xmlns:a="http://schemas.openxmlformats.org/drawingml/2006/main">
              <a:ext uri="{FF2B5EF4-FFF2-40B4-BE49-F238E27FC236}">
                <a16:creationId xmlns:a16="http://schemas.microsoft.com/office/drawing/2014/main" id="{CE30FC42-1FBE-4CBF-A072-6B0388EAF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86100"/>
            <a:ext cx="108204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9"/>
          </a:solidFill>
          <a:ln xmlns:a="http://schemas.openxmlformats.org/drawingml/2006/main" w="0">
            <a:noFill/>
          </a:ln>
        </p:spPr>
      </p:sp>
      <p:sp>
        <p:nvSpPr>
          <p:cNvPr id="11" name="profile-24">
            <a:extLst xmlns:a="http://schemas.openxmlformats.org/drawingml/2006/main">
              <a:ext uri="{FF2B5EF4-FFF2-40B4-BE49-F238E27FC236}">
                <a16:creationId xmlns:a16="http://schemas.microsoft.com/office/drawing/2014/main" id="{A8C58FAF-1F7B-498F-8A3A-0746DBD42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05175"/>
            <a:ext cx="4686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C63AD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1C63AD"/>
                </a:solidFill>
                <a:latin typeface="Segoe UI"/>
                <a:ea typeface="Segoe UI"/>
                <a:cs typeface="Segoe UI"/>
              </a:rPr>
              <a:t>Siphoning</a:t>
            </a:r>
          </a:p>
        </p:txBody>
      </p:sp>
      <p:sp>
        <p:nvSpPr>
          <p:cNvPr id="12" name="profile-25">
            <a:extLst xmlns:a="http://schemas.openxmlformats.org/drawingml/2006/main">
              <a:ext uri="{FF2B5EF4-FFF2-40B4-BE49-F238E27FC236}">
                <a16:creationId xmlns:a16="http://schemas.microsoft.com/office/drawing/2014/main" id="{EE1371FE-035A-499C-8F89-D14363A05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324225"/>
            <a:ext cx="5791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Septic tank siphoning and cleaning.</a:t>
            </a:r>
          </a:p>
        </p:txBody>
      </p:sp>
      <p:sp>
        <p:nvSpPr>
          <p:cNvPr id="13" name="profile-26">
            <a:extLst xmlns:a="http://schemas.openxmlformats.org/drawingml/2006/main">
              <a:ext uri="{FF2B5EF4-FFF2-40B4-BE49-F238E27FC236}">
                <a16:creationId xmlns:a16="http://schemas.microsoft.com/office/drawing/2014/main" id="{29BBDCE3-4714-4ED7-B640-C039CDAF6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24275"/>
            <a:ext cx="108204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9"/>
          </a:solidFill>
          <a:ln xmlns:a="http://schemas.openxmlformats.org/drawingml/2006/main" w="0">
            <a:noFill/>
          </a:ln>
        </p:spPr>
      </p:sp>
      <p:sp>
        <p:nvSpPr>
          <p:cNvPr id="14" name="profile-27">
            <a:extLst xmlns:a="http://schemas.openxmlformats.org/drawingml/2006/main">
              <a:ext uri="{FF2B5EF4-FFF2-40B4-BE49-F238E27FC236}">
                <a16:creationId xmlns:a16="http://schemas.microsoft.com/office/drawing/2014/main" id="{EB993B34-71CF-45A2-8889-E40F7DF55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4686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C63AD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1C63AD"/>
                </a:solidFill>
                <a:latin typeface="Segoe UI"/>
                <a:ea typeface="Segoe UI"/>
                <a:cs typeface="Segoe UI"/>
              </a:rPr>
              <a:t>Plumbing</a:t>
            </a:r>
          </a:p>
        </p:txBody>
      </p:sp>
      <p:sp>
        <p:nvSpPr>
          <p:cNvPr id="15" name="profile-28">
            <a:extLst xmlns:a="http://schemas.openxmlformats.org/drawingml/2006/main">
              <a:ext uri="{FF2B5EF4-FFF2-40B4-BE49-F238E27FC236}">
                <a16:creationId xmlns:a16="http://schemas.microsoft.com/office/drawing/2014/main" id="{54B12949-0AC6-4C63-BD03-23ABEA634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962400"/>
            <a:ext cx="5791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Drain declogging and pipe leak repairs.</a:t>
            </a:r>
          </a:p>
        </p:txBody>
      </p:sp>
      <p:sp>
        <p:nvSpPr>
          <p:cNvPr id="16" name="profile-29">
            <a:extLst xmlns:a="http://schemas.openxmlformats.org/drawingml/2006/main">
              <a:ext uri="{FF2B5EF4-FFF2-40B4-BE49-F238E27FC236}">
                <a16:creationId xmlns:a16="http://schemas.microsoft.com/office/drawing/2014/main" id="{F4B3839E-A861-4596-B6D2-C994CA481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62450"/>
            <a:ext cx="108204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9"/>
          </a:solidFill>
          <a:ln xmlns:a="http://schemas.openxmlformats.org/drawingml/2006/main" w="0">
            <a:noFill/>
          </a:ln>
        </p:spPr>
      </p:sp>
      <p:sp>
        <p:nvSpPr>
          <p:cNvPr id="17" name="profile-30">
            <a:extLst xmlns:a="http://schemas.openxmlformats.org/drawingml/2006/main">
              <a:ext uri="{FF2B5EF4-FFF2-40B4-BE49-F238E27FC236}">
                <a16:creationId xmlns:a16="http://schemas.microsoft.com/office/drawing/2014/main" id="{760150A9-1799-40FC-BA46-1B8840C9F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81525"/>
            <a:ext cx="4686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C63AD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1C63AD"/>
                </a:solidFill>
                <a:latin typeface="Segoe UI"/>
                <a:ea typeface="Segoe UI"/>
                <a:cs typeface="Segoe UI"/>
              </a:rPr>
              <a:t>Renovation &amp; restoration</a:t>
            </a:r>
          </a:p>
        </p:txBody>
      </p:sp>
      <p:sp>
        <p:nvSpPr>
          <p:cNvPr id="18" name="profile-31">
            <a:extLst xmlns:a="http://schemas.openxmlformats.org/drawingml/2006/main">
              <a:ext uri="{FF2B5EF4-FFF2-40B4-BE49-F238E27FC236}">
                <a16:creationId xmlns:a16="http://schemas.microsoft.com/office/drawing/2014/main" id="{BACBCB83-2915-4AF5-B2D5-CFD76DC1F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600575"/>
            <a:ext cx="5791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House and condominium repairs and improvements.</a:t>
            </a:r>
          </a:p>
        </p:txBody>
      </p:sp>
      <p:sp>
        <p:nvSpPr>
          <p:cNvPr id="19" name="profile-32">
            <a:extLst xmlns:a="http://schemas.openxmlformats.org/drawingml/2006/main">
              <a:ext uri="{FF2B5EF4-FFF2-40B4-BE49-F238E27FC236}">
                <a16:creationId xmlns:a16="http://schemas.microsoft.com/office/drawing/2014/main" id="{956B27BF-73E8-43F2-B0B9-2034B79D7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00625"/>
            <a:ext cx="108204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9"/>
          </a:solidFill>
          <a:ln xmlns:a="http://schemas.openxmlformats.org/drawingml/2006/main" w="0">
            <a:noFill/>
          </a:ln>
        </p:spPr>
      </p:sp>
      <p:sp>
        <p:nvSpPr>
          <p:cNvPr id="20" name="profile-33">
            <a:extLst xmlns:a="http://schemas.openxmlformats.org/drawingml/2006/main">
              <a:ext uri="{FF2B5EF4-FFF2-40B4-BE49-F238E27FC236}">
                <a16:creationId xmlns:a16="http://schemas.microsoft.com/office/drawing/2014/main" id="{9CC3F41E-2272-4AAA-8C20-E4730F93F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4686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C63AD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1C63AD"/>
                </a:solidFill>
                <a:latin typeface="Segoe UI"/>
                <a:ea typeface="Segoe UI"/>
                <a:cs typeface="Segoe UI"/>
              </a:rPr>
              <a:t>Pest control</a:t>
            </a:r>
          </a:p>
        </p:txBody>
      </p:sp>
      <p:sp>
        <p:nvSpPr>
          <p:cNvPr id="21" name="profile-34">
            <a:extLst xmlns:a="http://schemas.openxmlformats.org/drawingml/2006/main">
              <a:ext uri="{FF2B5EF4-FFF2-40B4-BE49-F238E27FC236}">
                <a16:creationId xmlns:a16="http://schemas.microsoft.com/office/drawing/2014/main" id="{A2E7D6EE-6357-4B7F-A33B-893673217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238750"/>
            <a:ext cx="5791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Site assessment, treatment scope and coordination.</a:t>
            </a:r>
          </a:p>
        </p:txBody>
      </p:sp>
      <p:sp>
        <p:nvSpPr>
          <p:cNvPr id="22" name="profile-35">
            <a:extLst xmlns:a="http://schemas.openxmlformats.org/drawingml/2006/main">
              <a:ext uri="{FF2B5EF4-FFF2-40B4-BE49-F238E27FC236}">
                <a16:creationId xmlns:a16="http://schemas.microsoft.com/office/drawing/2014/main" id="{2E517677-2D9B-4147-A485-A6654A27E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38800"/>
            <a:ext cx="108204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9"/>
          </a:solidFill>
          <a:ln xmlns:a="http://schemas.openxmlformats.org/drawingml/2006/main" w="0">
            <a:noFill/>
          </a:ln>
        </p:spPr>
      </p:sp>
      <p:sp>
        <p:nvSpPr>
          <p:cNvPr id="23" name="profile-36">
            <a:extLst xmlns:a="http://schemas.openxmlformats.org/drawingml/2006/main">
              <a:ext uri="{FF2B5EF4-FFF2-40B4-BE49-F238E27FC236}">
                <a16:creationId xmlns:a16="http://schemas.microsoft.com/office/drawing/2014/main" id="{376A0B86-6946-4648-BEA9-41CBDC97D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57875"/>
            <a:ext cx="4686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C63AD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1C63AD"/>
                </a:solidFill>
                <a:latin typeface="Segoe UI"/>
                <a:ea typeface="Segoe UI"/>
                <a:cs typeface="Segoe UI"/>
              </a:rPr>
              <a:t>Septage treatment facility</a:t>
            </a:r>
          </a:p>
        </p:txBody>
      </p:sp>
      <p:sp>
        <p:nvSpPr>
          <p:cNvPr id="24" name="profile-37">
            <a:extLst xmlns:a="http://schemas.openxmlformats.org/drawingml/2006/main">
              <a:ext uri="{FF2B5EF4-FFF2-40B4-BE49-F238E27FC236}">
                <a16:creationId xmlns:a16="http://schemas.microsoft.com/office/drawing/2014/main" id="{9A26E81B-49BC-4370-8F24-84D277808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876925"/>
            <a:ext cx="5791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Facility project assessment and coordination.</a:t>
            </a:r>
          </a:p>
        </p:txBody>
      </p:sp>
      <p:sp>
        <p:nvSpPr>
          <p:cNvPr id="25" name="profile-38">
            <a:extLst xmlns:a="http://schemas.openxmlformats.org/drawingml/2006/main">
              <a:ext uri="{FF2B5EF4-FFF2-40B4-BE49-F238E27FC236}">
                <a16:creationId xmlns:a16="http://schemas.microsoft.com/office/drawing/2014/main" id="{6D3A7EBA-BFD4-4668-B01F-F272F37D1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48425"/>
            <a:ext cx="108204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9"/>
          </a:solidFill>
          <a:ln xmlns:a="http://schemas.openxmlformats.org/drawingml/2006/main" w="0">
            <a:noFill/>
          </a:ln>
        </p:spPr>
      </p:sp>
      <p:sp>
        <p:nvSpPr>
          <p:cNvPr id="26" name="profile-39">
            <a:extLst xmlns:a="http://schemas.openxmlformats.org/drawingml/2006/main">
              <a:ext uri="{FF2B5EF4-FFF2-40B4-BE49-F238E27FC236}">
                <a16:creationId xmlns:a16="http://schemas.microsoft.com/office/drawing/2014/main" id="{10D259E0-BC20-4C93-8CEB-2DF707D59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Oceanides</a:t>
            </a:r>
          </a:p>
        </p:txBody>
      </p:sp>
      <p:sp>
        <p:nvSpPr>
          <p:cNvPr id="27" name="profile-40">
            <a:extLst xmlns:a="http://schemas.openxmlformats.org/drawingml/2006/main">
              <a:ext uri="{FF2B5EF4-FFF2-40B4-BE49-F238E27FC236}">
                <a16:creationId xmlns:a16="http://schemas.microsoft.com/office/drawing/2014/main" id="{2FA5F2D9-AABC-4A2F-BBF5-1D3B2B61A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572250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70985496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profile-41">
            <a:extLst xmlns:a="http://schemas.openxmlformats.org/drawingml/2006/main">
              <a:ext uri="{FF2B5EF4-FFF2-40B4-BE49-F238E27FC236}">
                <a16:creationId xmlns:a16="http://schemas.microsoft.com/office/drawing/2014/main" id="{0B997DBA-AF07-43C9-99F8-02CB5DBD7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0"/>
            <a:ext cx="1371600" cy="1257300"/>
          </a:xfrm>
          <a:custGeom xmlns:a="http://schemas.openxmlformats.org/drawingml/2006/main">
            <a:pathLst>
              <a:path w="1371600" h="1257300">
                <a:moveTo>
                  <a:pt x="0" y="1162050"/>
                </a:moveTo>
                <a:lnTo>
                  <a:pt x="34290" y="1104674"/>
                </a:lnTo>
                <a:lnTo>
                  <a:pt x="68580" y="1048750"/>
                </a:lnTo>
                <a:lnTo>
                  <a:pt x="102870" y="994279"/>
                </a:lnTo>
                <a:lnTo>
                  <a:pt x="137160" y="941261"/>
                </a:lnTo>
                <a:lnTo>
                  <a:pt x="171450" y="889695"/>
                </a:lnTo>
                <a:lnTo>
                  <a:pt x="205740" y="839581"/>
                </a:lnTo>
                <a:lnTo>
                  <a:pt x="240030" y="790920"/>
                </a:lnTo>
                <a:lnTo>
                  <a:pt x="274320" y="743712"/>
                </a:lnTo>
                <a:lnTo>
                  <a:pt x="308610" y="697956"/>
                </a:lnTo>
                <a:lnTo>
                  <a:pt x="342900" y="653653"/>
                </a:lnTo>
                <a:lnTo>
                  <a:pt x="377190" y="610803"/>
                </a:lnTo>
                <a:lnTo>
                  <a:pt x="411480" y="569405"/>
                </a:lnTo>
                <a:lnTo>
                  <a:pt x="445770" y="529459"/>
                </a:lnTo>
                <a:lnTo>
                  <a:pt x="480060" y="490966"/>
                </a:lnTo>
                <a:lnTo>
                  <a:pt x="514350" y="453926"/>
                </a:lnTo>
                <a:lnTo>
                  <a:pt x="548640" y="418338"/>
                </a:lnTo>
                <a:lnTo>
                  <a:pt x="582930" y="384203"/>
                </a:lnTo>
                <a:lnTo>
                  <a:pt x="617220" y="351520"/>
                </a:lnTo>
                <a:lnTo>
                  <a:pt x="651510" y="320290"/>
                </a:lnTo>
                <a:lnTo>
                  <a:pt x="685800" y="290513"/>
                </a:lnTo>
                <a:lnTo>
                  <a:pt x="720090" y="262188"/>
                </a:lnTo>
                <a:lnTo>
                  <a:pt x="754380" y="235315"/>
                </a:lnTo>
                <a:lnTo>
                  <a:pt x="788670" y="209895"/>
                </a:lnTo>
                <a:lnTo>
                  <a:pt x="822960" y="185928"/>
                </a:lnTo>
                <a:lnTo>
                  <a:pt x="857250" y="163413"/>
                </a:lnTo>
                <a:lnTo>
                  <a:pt x="891540" y="142351"/>
                </a:lnTo>
                <a:lnTo>
                  <a:pt x="925830" y="122742"/>
                </a:lnTo>
                <a:lnTo>
                  <a:pt x="960120" y="104585"/>
                </a:lnTo>
                <a:lnTo>
                  <a:pt x="994410" y="87880"/>
                </a:lnTo>
                <a:lnTo>
                  <a:pt x="1028700" y="72628"/>
                </a:lnTo>
                <a:lnTo>
                  <a:pt x="1062990" y="58829"/>
                </a:lnTo>
                <a:lnTo>
                  <a:pt x="1097280" y="46482"/>
                </a:lnTo>
                <a:lnTo>
                  <a:pt x="1131570" y="35588"/>
                </a:lnTo>
                <a:lnTo>
                  <a:pt x="1165860" y="26146"/>
                </a:lnTo>
                <a:lnTo>
                  <a:pt x="1200150" y="18157"/>
                </a:lnTo>
                <a:lnTo>
                  <a:pt x="1234440" y="11620"/>
                </a:lnTo>
                <a:lnTo>
                  <a:pt x="1268730" y="6537"/>
                </a:lnTo>
                <a:lnTo>
                  <a:pt x="1303020" y="2905"/>
                </a:lnTo>
                <a:lnTo>
                  <a:pt x="1337310" y="726"/>
                </a:lnTo>
                <a:lnTo>
                  <a:pt x="1371600" y="0"/>
                </a:lnTo>
                <a:lnTo>
                  <a:pt x="1371600" y="28575"/>
                </a:lnTo>
                <a:lnTo>
                  <a:pt x="1337310" y="31543"/>
                </a:lnTo>
                <a:lnTo>
                  <a:pt x="1303020" y="35950"/>
                </a:lnTo>
                <a:lnTo>
                  <a:pt x="1268730" y="41782"/>
                </a:lnTo>
                <a:lnTo>
                  <a:pt x="1234440" y="49026"/>
                </a:lnTo>
                <a:lnTo>
                  <a:pt x="1200150" y="57667"/>
                </a:lnTo>
                <a:lnTo>
                  <a:pt x="1165860" y="67694"/>
                </a:lnTo>
                <a:lnTo>
                  <a:pt x="1131570" y="79093"/>
                </a:lnTo>
                <a:lnTo>
                  <a:pt x="1097280" y="91853"/>
                </a:lnTo>
                <a:lnTo>
                  <a:pt x="1062990" y="105962"/>
                </a:lnTo>
                <a:lnTo>
                  <a:pt x="1028700" y="121409"/>
                </a:lnTo>
                <a:lnTo>
                  <a:pt x="994410" y="138184"/>
                </a:lnTo>
                <a:lnTo>
                  <a:pt x="960120" y="156277"/>
                </a:lnTo>
                <a:lnTo>
                  <a:pt x="925830" y="175681"/>
                </a:lnTo>
                <a:lnTo>
                  <a:pt x="891540" y="196387"/>
                </a:lnTo>
                <a:lnTo>
                  <a:pt x="857250" y="218388"/>
                </a:lnTo>
                <a:lnTo>
                  <a:pt x="822960" y="241679"/>
                </a:lnTo>
                <a:lnTo>
                  <a:pt x="788670" y="266256"/>
                </a:lnTo>
                <a:lnTo>
                  <a:pt x="754380" y="292113"/>
                </a:lnTo>
                <a:lnTo>
                  <a:pt x="720090" y="319249"/>
                </a:lnTo>
                <a:lnTo>
                  <a:pt x="685800" y="347663"/>
                </a:lnTo>
                <a:lnTo>
                  <a:pt x="651510" y="377352"/>
                </a:lnTo>
                <a:lnTo>
                  <a:pt x="617220" y="408318"/>
                </a:lnTo>
                <a:lnTo>
                  <a:pt x="582930" y="440563"/>
                </a:lnTo>
                <a:lnTo>
                  <a:pt x="548640" y="474089"/>
                </a:lnTo>
                <a:lnTo>
                  <a:pt x="514350" y="508901"/>
                </a:lnTo>
                <a:lnTo>
                  <a:pt x="480060" y="545002"/>
                </a:lnTo>
                <a:lnTo>
                  <a:pt x="445770" y="582398"/>
                </a:lnTo>
                <a:lnTo>
                  <a:pt x="411480" y="621097"/>
                </a:lnTo>
                <a:lnTo>
                  <a:pt x="377190" y="661106"/>
                </a:lnTo>
                <a:lnTo>
                  <a:pt x="342900" y="702434"/>
                </a:lnTo>
                <a:lnTo>
                  <a:pt x="308610" y="745089"/>
                </a:lnTo>
                <a:lnTo>
                  <a:pt x="274320" y="789083"/>
                </a:lnTo>
                <a:lnTo>
                  <a:pt x="240030" y="834426"/>
                </a:lnTo>
                <a:lnTo>
                  <a:pt x="205740" y="881129"/>
                </a:lnTo>
                <a:lnTo>
                  <a:pt x="171450" y="929205"/>
                </a:lnTo>
                <a:lnTo>
                  <a:pt x="137160" y="978666"/>
                </a:lnTo>
                <a:lnTo>
                  <a:pt x="102870" y="1029525"/>
                </a:lnTo>
                <a:lnTo>
                  <a:pt x="68580" y="1081795"/>
                </a:lnTo>
                <a:lnTo>
                  <a:pt x="34290" y="1135491"/>
                </a:lnTo>
                <a:lnTo>
                  <a:pt x="0" y="1190625"/>
                </a:lnTo>
                <a:close/>
              </a:path>
            </a:pathLst>
          </a:custGeom>
          <a:solidFill xmlns:a="http://schemas.openxmlformats.org/drawingml/2006/main">
            <a:srgbClr val="E5EEF6"/>
          </a:solidFill>
          <a:ln xmlns:a="http://schemas.openxmlformats.org/drawingml/2006/main" w="0">
            <a:noFill/>
          </a:ln>
        </p:spPr>
      </p:sp>
      <p:sp>
        <p:nvSpPr>
          <p:cNvPr id="2" name="profile-42">
            <a:extLst xmlns:a="http://schemas.openxmlformats.org/drawingml/2006/main">
              <a:ext uri="{FF2B5EF4-FFF2-40B4-BE49-F238E27FC236}">
                <a16:creationId xmlns:a16="http://schemas.microsoft.com/office/drawing/2014/main" id="{91D5F866-C749-4D42-9293-638B180C5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0"/>
            <a:ext cx="1371600" cy="1257300"/>
          </a:xfrm>
          <a:custGeom xmlns:a="http://schemas.openxmlformats.org/drawingml/2006/main">
            <a:pathLst>
              <a:path w="1371600" h="1257300">
                <a:moveTo>
                  <a:pt x="0" y="1009650"/>
                </a:moveTo>
                <a:lnTo>
                  <a:pt x="34290" y="952274"/>
                </a:lnTo>
                <a:lnTo>
                  <a:pt x="68580" y="896350"/>
                </a:lnTo>
                <a:lnTo>
                  <a:pt x="102870" y="841879"/>
                </a:lnTo>
                <a:lnTo>
                  <a:pt x="137160" y="788861"/>
                </a:lnTo>
                <a:lnTo>
                  <a:pt x="171450" y="737295"/>
                </a:lnTo>
                <a:lnTo>
                  <a:pt x="205740" y="687181"/>
                </a:lnTo>
                <a:lnTo>
                  <a:pt x="240030" y="638520"/>
                </a:lnTo>
                <a:lnTo>
                  <a:pt x="274320" y="591312"/>
                </a:lnTo>
                <a:lnTo>
                  <a:pt x="308610" y="545556"/>
                </a:lnTo>
                <a:lnTo>
                  <a:pt x="342900" y="501253"/>
                </a:lnTo>
                <a:lnTo>
                  <a:pt x="377190" y="458403"/>
                </a:lnTo>
                <a:lnTo>
                  <a:pt x="411480" y="417004"/>
                </a:lnTo>
                <a:lnTo>
                  <a:pt x="445770" y="377059"/>
                </a:lnTo>
                <a:lnTo>
                  <a:pt x="480060" y="338566"/>
                </a:lnTo>
                <a:lnTo>
                  <a:pt x="514350" y="301526"/>
                </a:lnTo>
                <a:lnTo>
                  <a:pt x="548640" y="265938"/>
                </a:lnTo>
                <a:lnTo>
                  <a:pt x="582930" y="231803"/>
                </a:lnTo>
                <a:lnTo>
                  <a:pt x="617220" y="199120"/>
                </a:lnTo>
                <a:lnTo>
                  <a:pt x="651510" y="167890"/>
                </a:lnTo>
                <a:lnTo>
                  <a:pt x="685800" y="138113"/>
                </a:lnTo>
                <a:lnTo>
                  <a:pt x="720090" y="109788"/>
                </a:lnTo>
                <a:lnTo>
                  <a:pt x="754380" y="82915"/>
                </a:lnTo>
                <a:lnTo>
                  <a:pt x="788670" y="57495"/>
                </a:lnTo>
                <a:lnTo>
                  <a:pt x="822960" y="33528"/>
                </a:lnTo>
                <a:lnTo>
                  <a:pt x="857250" y="11013"/>
                </a:lnTo>
                <a:lnTo>
                  <a:pt x="891540" y="0"/>
                </a:lnTo>
                <a:lnTo>
                  <a:pt x="925830" y="0"/>
                </a:lnTo>
                <a:lnTo>
                  <a:pt x="960120" y="0"/>
                </a:lnTo>
                <a:lnTo>
                  <a:pt x="994410" y="0"/>
                </a:lnTo>
                <a:lnTo>
                  <a:pt x="1028700" y="0"/>
                </a:lnTo>
                <a:lnTo>
                  <a:pt x="1062990" y="0"/>
                </a:lnTo>
                <a:lnTo>
                  <a:pt x="1097280" y="0"/>
                </a:lnTo>
                <a:lnTo>
                  <a:pt x="1131570" y="0"/>
                </a:lnTo>
                <a:lnTo>
                  <a:pt x="1165860" y="0"/>
                </a:lnTo>
                <a:lnTo>
                  <a:pt x="1200150" y="0"/>
                </a:lnTo>
                <a:lnTo>
                  <a:pt x="1234440" y="0"/>
                </a:lnTo>
                <a:lnTo>
                  <a:pt x="1268730" y="0"/>
                </a:lnTo>
                <a:lnTo>
                  <a:pt x="1303020" y="0"/>
                </a:lnTo>
                <a:lnTo>
                  <a:pt x="1337310" y="0"/>
                </a:lnTo>
                <a:lnTo>
                  <a:pt x="1371600" y="0"/>
                </a:lnTo>
                <a:lnTo>
                  <a:pt x="1371600" y="28575"/>
                </a:lnTo>
                <a:lnTo>
                  <a:pt x="1337310" y="30817"/>
                </a:lnTo>
                <a:lnTo>
                  <a:pt x="1303020" y="33045"/>
                </a:lnTo>
                <a:lnTo>
                  <a:pt x="1268730" y="35246"/>
                </a:lnTo>
                <a:lnTo>
                  <a:pt x="1234440" y="37405"/>
                </a:lnTo>
                <a:lnTo>
                  <a:pt x="1200150" y="39510"/>
                </a:lnTo>
                <a:lnTo>
                  <a:pt x="1165860" y="41548"/>
                </a:lnTo>
                <a:lnTo>
                  <a:pt x="1131570" y="43505"/>
                </a:lnTo>
                <a:lnTo>
                  <a:pt x="1097280" y="45371"/>
                </a:lnTo>
                <a:lnTo>
                  <a:pt x="1062990" y="47133"/>
                </a:lnTo>
                <a:lnTo>
                  <a:pt x="1028700" y="48781"/>
                </a:lnTo>
                <a:lnTo>
                  <a:pt x="994410" y="50304"/>
                </a:lnTo>
                <a:lnTo>
                  <a:pt x="960120" y="51693"/>
                </a:lnTo>
                <a:lnTo>
                  <a:pt x="925830" y="52939"/>
                </a:lnTo>
                <a:lnTo>
                  <a:pt x="891540" y="54036"/>
                </a:lnTo>
                <a:lnTo>
                  <a:pt x="857250" y="65988"/>
                </a:lnTo>
                <a:lnTo>
                  <a:pt x="822960" y="89279"/>
                </a:lnTo>
                <a:lnTo>
                  <a:pt x="788670" y="113856"/>
                </a:lnTo>
                <a:lnTo>
                  <a:pt x="754380" y="139713"/>
                </a:lnTo>
                <a:lnTo>
                  <a:pt x="720090" y="166849"/>
                </a:lnTo>
                <a:lnTo>
                  <a:pt x="685800" y="195263"/>
                </a:lnTo>
                <a:lnTo>
                  <a:pt x="651510" y="224952"/>
                </a:lnTo>
                <a:lnTo>
                  <a:pt x="617220" y="255918"/>
                </a:lnTo>
                <a:lnTo>
                  <a:pt x="582930" y="288163"/>
                </a:lnTo>
                <a:lnTo>
                  <a:pt x="548640" y="321689"/>
                </a:lnTo>
                <a:lnTo>
                  <a:pt x="514350" y="356501"/>
                </a:lnTo>
                <a:lnTo>
                  <a:pt x="480060" y="392602"/>
                </a:lnTo>
                <a:lnTo>
                  <a:pt x="445770" y="429998"/>
                </a:lnTo>
                <a:lnTo>
                  <a:pt x="411480" y="468697"/>
                </a:lnTo>
                <a:lnTo>
                  <a:pt x="377190" y="508706"/>
                </a:lnTo>
                <a:lnTo>
                  <a:pt x="342900" y="550034"/>
                </a:lnTo>
                <a:lnTo>
                  <a:pt x="308610" y="592689"/>
                </a:lnTo>
                <a:lnTo>
                  <a:pt x="274320" y="636683"/>
                </a:lnTo>
                <a:lnTo>
                  <a:pt x="240030" y="682026"/>
                </a:lnTo>
                <a:lnTo>
                  <a:pt x="205740" y="728729"/>
                </a:lnTo>
                <a:lnTo>
                  <a:pt x="171450" y="776805"/>
                </a:lnTo>
                <a:lnTo>
                  <a:pt x="137160" y="826266"/>
                </a:lnTo>
                <a:lnTo>
                  <a:pt x="102870" y="877125"/>
                </a:lnTo>
                <a:lnTo>
                  <a:pt x="68580" y="929395"/>
                </a:lnTo>
                <a:lnTo>
                  <a:pt x="34290" y="983091"/>
                </a:lnTo>
                <a:lnTo>
                  <a:pt x="0" y="1038225"/>
                </a:lnTo>
                <a:close/>
              </a:path>
            </a:pathLst>
          </a:custGeom>
          <a:solidFill xmlns:a="http://schemas.openxmlformats.org/drawingml/2006/main">
            <a:srgbClr val="D7E6F2"/>
          </a:solidFill>
          <a:ln xmlns:a="http://schemas.openxmlformats.org/drawingml/2006/main" w="0">
            <a:noFill/>
          </a:ln>
        </p:spPr>
      </p:sp>
      <p:sp>
        <p:nvSpPr>
          <p:cNvPr id="3" name="profile-43">
            <a:extLst xmlns:a="http://schemas.openxmlformats.org/drawingml/2006/main">
              <a:ext uri="{FF2B5EF4-FFF2-40B4-BE49-F238E27FC236}">
                <a16:creationId xmlns:a16="http://schemas.microsoft.com/office/drawing/2014/main" id="{294F890C-8379-41DE-8643-6E069E1C7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0"/>
            <a:ext cx="1371600" cy="1257300"/>
          </a:xfrm>
          <a:custGeom xmlns:a="http://schemas.openxmlformats.org/drawingml/2006/main">
            <a:pathLst>
              <a:path w="1371600" h="1257300">
                <a:moveTo>
                  <a:pt x="0" y="857250"/>
                </a:moveTo>
                <a:lnTo>
                  <a:pt x="34290" y="799874"/>
                </a:lnTo>
                <a:lnTo>
                  <a:pt x="68580" y="743950"/>
                </a:lnTo>
                <a:lnTo>
                  <a:pt x="102870" y="689479"/>
                </a:lnTo>
                <a:lnTo>
                  <a:pt x="137160" y="636461"/>
                </a:lnTo>
                <a:lnTo>
                  <a:pt x="171450" y="584895"/>
                </a:lnTo>
                <a:lnTo>
                  <a:pt x="205740" y="534781"/>
                </a:lnTo>
                <a:lnTo>
                  <a:pt x="240030" y="486120"/>
                </a:lnTo>
                <a:lnTo>
                  <a:pt x="274320" y="438912"/>
                </a:lnTo>
                <a:lnTo>
                  <a:pt x="308610" y="393156"/>
                </a:lnTo>
                <a:lnTo>
                  <a:pt x="342900" y="348853"/>
                </a:lnTo>
                <a:lnTo>
                  <a:pt x="377190" y="306003"/>
                </a:lnTo>
                <a:lnTo>
                  <a:pt x="411480" y="264604"/>
                </a:lnTo>
                <a:lnTo>
                  <a:pt x="445770" y="224659"/>
                </a:lnTo>
                <a:lnTo>
                  <a:pt x="480060" y="186166"/>
                </a:lnTo>
                <a:lnTo>
                  <a:pt x="514350" y="149126"/>
                </a:lnTo>
                <a:lnTo>
                  <a:pt x="548640" y="113538"/>
                </a:lnTo>
                <a:lnTo>
                  <a:pt x="582930" y="79403"/>
                </a:lnTo>
                <a:lnTo>
                  <a:pt x="617220" y="46720"/>
                </a:lnTo>
                <a:lnTo>
                  <a:pt x="651510" y="15490"/>
                </a:lnTo>
                <a:lnTo>
                  <a:pt x="685800" y="0"/>
                </a:lnTo>
                <a:lnTo>
                  <a:pt x="720090" y="0"/>
                </a:lnTo>
                <a:lnTo>
                  <a:pt x="754380" y="0"/>
                </a:lnTo>
                <a:lnTo>
                  <a:pt x="788670" y="0"/>
                </a:lnTo>
                <a:lnTo>
                  <a:pt x="822960" y="0"/>
                </a:lnTo>
                <a:lnTo>
                  <a:pt x="857250" y="0"/>
                </a:lnTo>
                <a:lnTo>
                  <a:pt x="891540" y="0"/>
                </a:lnTo>
                <a:lnTo>
                  <a:pt x="925830" y="0"/>
                </a:lnTo>
                <a:lnTo>
                  <a:pt x="960120" y="0"/>
                </a:lnTo>
                <a:lnTo>
                  <a:pt x="994410" y="0"/>
                </a:lnTo>
                <a:lnTo>
                  <a:pt x="1028700" y="0"/>
                </a:lnTo>
                <a:lnTo>
                  <a:pt x="1062990" y="0"/>
                </a:lnTo>
                <a:lnTo>
                  <a:pt x="1097280" y="0"/>
                </a:lnTo>
                <a:lnTo>
                  <a:pt x="1131570" y="0"/>
                </a:lnTo>
                <a:lnTo>
                  <a:pt x="1165860" y="0"/>
                </a:lnTo>
                <a:lnTo>
                  <a:pt x="1200150" y="0"/>
                </a:lnTo>
                <a:lnTo>
                  <a:pt x="1234440" y="0"/>
                </a:lnTo>
                <a:lnTo>
                  <a:pt x="1268730" y="0"/>
                </a:lnTo>
                <a:lnTo>
                  <a:pt x="1303020" y="0"/>
                </a:lnTo>
                <a:lnTo>
                  <a:pt x="1337310" y="0"/>
                </a:lnTo>
                <a:lnTo>
                  <a:pt x="1371600" y="0"/>
                </a:lnTo>
                <a:lnTo>
                  <a:pt x="1371600" y="28575"/>
                </a:lnTo>
                <a:lnTo>
                  <a:pt x="1337310" y="30817"/>
                </a:lnTo>
                <a:lnTo>
                  <a:pt x="1303020" y="33045"/>
                </a:lnTo>
                <a:lnTo>
                  <a:pt x="1268730" y="35246"/>
                </a:lnTo>
                <a:lnTo>
                  <a:pt x="1234440" y="37405"/>
                </a:lnTo>
                <a:lnTo>
                  <a:pt x="1200150" y="39510"/>
                </a:lnTo>
                <a:lnTo>
                  <a:pt x="1165860" y="41548"/>
                </a:lnTo>
                <a:lnTo>
                  <a:pt x="1131570" y="43505"/>
                </a:lnTo>
                <a:lnTo>
                  <a:pt x="1097280" y="45371"/>
                </a:lnTo>
                <a:lnTo>
                  <a:pt x="1062990" y="47133"/>
                </a:lnTo>
                <a:lnTo>
                  <a:pt x="1028700" y="48781"/>
                </a:lnTo>
                <a:lnTo>
                  <a:pt x="994410" y="50304"/>
                </a:lnTo>
                <a:lnTo>
                  <a:pt x="960120" y="51693"/>
                </a:lnTo>
                <a:lnTo>
                  <a:pt x="925830" y="52939"/>
                </a:lnTo>
                <a:lnTo>
                  <a:pt x="891540" y="54036"/>
                </a:lnTo>
                <a:lnTo>
                  <a:pt x="857250" y="54975"/>
                </a:lnTo>
                <a:lnTo>
                  <a:pt x="822960" y="55751"/>
                </a:lnTo>
                <a:lnTo>
                  <a:pt x="788670" y="56360"/>
                </a:lnTo>
                <a:lnTo>
                  <a:pt x="754380" y="56798"/>
                </a:lnTo>
                <a:lnTo>
                  <a:pt x="720090" y="57062"/>
                </a:lnTo>
                <a:lnTo>
                  <a:pt x="685800" y="57150"/>
                </a:lnTo>
                <a:lnTo>
                  <a:pt x="651510" y="72552"/>
                </a:lnTo>
                <a:lnTo>
                  <a:pt x="617220" y="103518"/>
                </a:lnTo>
                <a:lnTo>
                  <a:pt x="582930" y="135763"/>
                </a:lnTo>
                <a:lnTo>
                  <a:pt x="548640" y="169289"/>
                </a:lnTo>
                <a:lnTo>
                  <a:pt x="514350" y="204101"/>
                </a:lnTo>
                <a:lnTo>
                  <a:pt x="480060" y="240202"/>
                </a:lnTo>
                <a:lnTo>
                  <a:pt x="445770" y="277598"/>
                </a:lnTo>
                <a:lnTo>
                  <a:pt x="411480" y="316297"/>
                </a:lnTo>
                <a:lnTo>
                  <a:pt x="377190" y="356306"/>
                </a:lnTo>
                <a:lnTo>
                  <a:pt x="342900" y="397634"/>
                </a:lnTo>
                <a:lnTo>
                  <a:pt x="308610" y="440289"/>
                </a:lnTo>
                <a:lnTo>
                  <a:pt x="274320" y="484283"/>
                </a:lnTo>
                <a:lnTo>
                  <a:pt x="240030" y="529626"/>
                </a:lnTo>
                <a:lnTo>
                  <a:pt x="205740" y="576329"/>
                </a:lnTo>
                <a:lnTo>
                  <a:pt x="171450" y="624405"/>
                </a:lnTo>
                <a:lnTo>
                  <a:pt x="137160" y="673866"/>
                </a:lnTo>
                <a:lnTo>
                  <a:pt x="102870" y="724725"/>
                </a:lnTo>
                <a:lnTo>
                  <a:pt x="68580" y="776995"/>
                </a:lnTo>
                <a:lnTo>
                  <a:pt x="34290" y="830691"/>
                </a:lnTo>
                <a:lnTo>
                  <a:pt x="0" y="885825"/>
                </a:lnTo>
                <a:close/>
              </a:path>
            </a:pathLst>
          </a:custGeom>
          <a:solidFill xmlns:a="http://schemas.openxmlformats.org/drawingml/2006/main">
            <a:srgbClr val="BED5E8"/>
          </a:solidFill>
          <a:ln xmlns:a="http://schemas.openxmlformats.org/drawingml/2006/main" w="0">
            <a:noFill/>
          </a:ln>
        </p:spPr>
      </p:sp>
      <p:sp>
        <p:nvSpPr>
          <p:cNvPr id="4" name="profile-44">
            <a:extLst xmlns:a="http://schemas.openxmlformats.org/drawingml/2006/main">
              <a:ext uri="{FF2B5EF4-FFF2-40B4-BE49-F238E27FC236}">
                <a16:creationId xmlns:a16="http://schemas.microsoft.com/office/drawing/2014/main" id="{7417A20B-1C34-4AD9-BA2C-05614BB39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12B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17212B"/>
                </a:solidFill>
                <a:latin typeface="Segoe UI"/>
                <a:ea typeface="Segoe UI"/>
                <a:cs typeface="Segoe UI"/>
              </a:rPr>
              <a:t>Oceanides</a:t>
            </a:r>
          </a:p>
        </p:txBody>
      </p:sp>
      <p:sp>
        <p:nvSpPr>
          <p:cNvPr id="5" name="profile-45">
            <a:extLst xmlns:a="http://schemas.openxmlformats.org/drawingml/2006/main">
              <a:ext uri="{FF2B5EF4-FFF2-40B4-BE49-F238E27FC236}">
                <a16:creationId xmlns:a16="http://schemas.microsoft.com/office/drawing/2014/main" id="{A7457B69-B5C1-4116-9B45-CCC72C2BE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71475"/>
            <a:ext cx="1981200" cy="2171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Company profile</a:t>
            </a:r>
          </a:p>
        </p:txBody>
      </p:sp>
      <p:sp>
        <p:nvSpPr>
          <p:cNvPr id="6" name="profile-46">
            <a:extLst xmlns:a="http://schemas.openxmlformats.org/drawingml/2006/main">
              <a:ext uri="{FF2B5EF4-FFF2-40B4-BE49-F238E27FC236}">
                <a16:creationId xmlns:a16="http://schemas.microsoft.com/office/drawing/2014/main" id="{E148865D-C0A1-4B26-A34B-40F75556B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54673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200" b="0">
                <a:solidFill>
                  <a:srgbClr val="1C63AD"/>
                </a:solidFill>
                <a:latin typeface="Segoe UI"/>
                <a:ea typeface="Segoe UI"/>
                <a:cs typeface="Segoe UI"/>
              </a:defRPr>
            </a:pPr>
            <a:r>
              <a:rPr sz="4200" b="0">
                <a:solidFill>
                  <a:srgbClr val="1C63AD"/>
                </a:solidFill>
                <a:latin typeface="Segoe UI"/>
                <a:ea typeface="Segoe UI"/>
                <a:cs typeface="Segoe UI"/>
              </a:rPr>
              <a:t>Siphoning &amp;</a:t>
            </a:r>
          </a:p>
        </p:txBody>
      </p:sp>
      <p:sp>
        <p:nvSpPr>
          <p:cNvPr id="7" name="profile-47">
            <a:extLst xmlns:a="http://schemas.openxmlformats.org/drawingml/2006/main">
              <a:ext uri="{FF2B5EF4-FFF2-40B4-BE49-F238E27FC236}">
                <a16:creationId xmlns:a16="http://schemas.microsoft.com/office/drawing/2014/main" id="{5236FEDF-5F84-4267-A19B-30829E72D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54673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200" b="0">
                <a:solidFill>
                  <a:srgbClr val="1C63AD"/>
                </a:solidFill>
                <a:latin typeface="Segoe UI"/>
                <a:ea typeface="Segoe UI"/>
                <a:cs typeface="Segoe UI"/>
              </a:defRPr>
            </a:pPr>
            <a:r>
              <a:rPr sz="4200" b="0">
                <a:solidFill>
                  <a:srgbClr val="1C63AD"/>
                </a:solidFill>
                <a:latin typeface="Segoe UI"/>
                <a:ea typeface="Segoe UI"/>
                <a:cs typeface="Segoe UI"/>
              </a:rPr>
              <a:t>plumbing</a:t>
            </a:r>
          </a:p>
        </p:txBody>
      </p:sp>
      <p:sp>
        <p:nvSpPr>
          <p:cNvPr id="8" name="profile-48">
            <a:extLst xmlns:a="http://schemas.openxmlformats.org/drawingml/2006/main">
              <a:ext uri="{FF2B5EF4-FFF2-40B4-BE49-F238E27FC236}">
                <a16:creationId xmlns:a16="http://schemas.microsoft.com/office/drawing/2014/main" id="{8C836014-A7ED-4320-B1FB-FD6B71C2D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38425"/>
            <a:ext cx="5486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Septic tank services, drain declogging</a:t>
            </a:r>
          </a:p>
        </p:txBody>
      </p:sp>
      <p:sp>
        <p:nvSpPr>
          <p:cNvPr id="9" name="profile-49">
            <a:extLst xmlns:a="http://schemas.openxmlformats.org/drawingml/2006/main">
              <a:ext uri="{FF2B5EF4-FFF2-40B4-BE49-F238E27FC236}">
                <a16:creationId xmlns:a16="http://schemas.microsoft.com/office/drawing/2014/main" id="{E47F2642-BAD2-469F-9EAB-A3A1D934E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81325"/>
            <a:ext cx="5486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and plumbing repairs.</a:t>
            </a:r>
          </a:p>
        </p:txBody>
      </p:sp>
      <p:sp>
        <p:nvSpPr>
          <p:cNvPr id="10" name="profile-50">
            <a:extLst xmlns:a="http://schemas.openxmlformats.org/drawingml/2006/main">
              <a:ext uri="{FF2B5EF4-FFF2-40B4-BE49-F238E27FC236}">
                <a16:creationId xmlns:a16="http://schemas.microsoft.com/office/drawing/2014/main" id="{2263714C-BCFA-49B6-871B-445FB6CE9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43325"/>
            <a:ext cx="514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C63AD"/>
                </a:solidFill>
                <a:latin typeface="Segoe UI"/>
                <a:ea typeface="Segoe UI"/>
                <a:cs typeface="Segoe UI"/>
              </a:defRPr>
            </a:pPr>
            <a:r>
              <a:rPr sz="2025" b="1">
                <a:solidFill>
                  <a:srgbClr val="1C63AD"/>
                </a:solidFill>
                <a:latin typeface="Segoe UI"/>
                <a:ea typeface="Segoe UI"/>
                <a:cs typeface="Segoe UI"/>
              </a:rPr>
              <a:t>Service scope</a:t>
            </a:r>
          </a:p>
        </p:txBody>
      </p:sp>
      <p:sp>
        <p:nvSpPr>
          <p:cNvPr id="11" name="profile-51">
            <a:extLst xmlns:a="http://schemas.openxmlformats.org/drawingml/2006/main">
              <a:ext uri="{FF2B5EF4-FFF2-40B4-BE49-F238E27FC236}">
                <a16:creationId xmlns:a16="http://schemas.microsoft.com/office/drawing/2014/main" id="{5F96A176-C152-4894-BA62-54A6783A9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48150"/>
            <a:ext cx="5143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Septic tank siphoning</a:t>
            </a:r>
          </a:p>
        </p:txBody>
      </p:sp>
      <p:sp>
        <p:nvSpPr>
          <p:cNvPr id="12" name="profile-52">
            <a:extLst xmlns:a="http://schemas.openxmlformats.org/drawingml/2006/main">
              <a:ext uri="{FF2B5EF4-FFF2-40B4-BE49-F238E27FC236}">
                <a16:creationId xmlns:a16="http://schemas.microsoft.com/office/drawing/2014/main" id="{C015CA9B-EE73-4834-82D4-0C9DE92EC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57725"/>
            <a:ext cx="5143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Septic tank cleaning</a:t>
            </a:r>
          </a:p>
        </p:txBody>
      </p:sp>
      <p:sp>
        <p:nvSpPr>
          <p:cNvPr id="13" name="profile-53">
            <a:extLst xmlns:a="http://schemas.openxmlformats.org/drawingml/2006/main">
              <a:ext uri="{FF2B5EF4-FFF2-40B4-BE49-F238E27FC236}">
                <a16:creationId xmlns:a16="http://schemas.microsoft.com/office/drawing/2014/main" id="{57248EC9-5E78-4640-965C-19676286F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67300"/>
            <a:ext cx="5143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Drain declogging</a:t>
            </a:r>
          </a:p>
        </p:txBody>
      </p:sp>
      <p:sp>
        <p:nvSpPr>
          <p:cNvPr id="14" name="profile-54">
            <a:extLst xmlns:a="http://schemas.openxmlformats.org/drawingml/2006/main">
              <a:ext uri="{FF2B5EF4-FFF2-40B4-BE49-F238E27FC236}">
                <a16:creationId xmlns:a16="http://schemas.microsoft.com/office/drawing/2014/main" id="{45A65383-34DD-427C-AE9B-0B8723FC6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76875"/>
            <a:ext cx="5143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Pipe leak repairs</a:t>
            </a:r>
          </a:p>
        </p:txBody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321f46169d420f"/>
          <a:stretch xmlns:a="http://schemas.openxmlformats.org/drawingml/2006/main"/>
        </p:blipFill>
        <p:spPr>
          <a:xfrm xmlns:a="http://schemas.openxmlformats.org/drawingml/2006/main">
            <a:off x="6743700" y="1819275"/>
            <a:ext cx="4762500" cy="3175000"/>
          </a:xfrm>
          <a:prstGeom xmlns:a="http://schemas.openxmlformats.org/drawingml/2006/main" prst="rect">
            <a:avLst/>
          </a:prstGeom>
        </p:spPr>
      </p:pic>
      <p:sp>
        <p:nvSpPr>
          <p:cNvPr id="16" name="profile-55">
            <a:extLst xmlns:a="http://schemas.openxmlformats.org/drawingml/2006/main">
              <a:ext uri="{FF2B5EF4-FFF2-40B4-BE49-F238E27FC236}">
                <a16:creationId xmlns:a16="http://schemas.microsoft.com/office/drawing/2014/main" id="{69DEDA8F-E4B8-44B0-B910-F2C1B7AAE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2006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AI-generated service illustration</a:t>
            </a:r>
          </a:p>
        </p:txBody>
      </p:sp>
      <p:sp>
        <p:nvSpPr>
          <p:cNvPr id="17" name="profile-56">
            <a:extLst xmlns:a="http://schemas.openxmlformats.org/drawingml/2006/main">
              <a:ext uri="{FF2B5EF4-FFF2-40B4-BE49-F238E27FC236}">
                <a16:creationId xmlns:a16="http://schemas.microsoft.com/office/drawing/2014/main" id="{7CDF875C-A599-4EA6-AD59-D831DA18E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48375"/>
            <a:ext cx="1082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Scope follows site access and tank or pipe conditions.</a:t>
            </a:r>
          </a:p>
        </p:txBody>
      </p:sp>
      <p:sp>
        <p:nvSpPr>
          <p:cNvPr id="18" name="profile-57">
            <a:extLst xmlns:a="http://schemas.openxmlformats.org/drawingml/2006/main">
              <a:ext uri="{FF2B5EF4-FFF2-40B4-BE49-F238E27FC236}">
                <a16:creationId xmlns:a16="http://schemas.microsoft.com/office/drawing/2014/main" id="{A708A9D5-9D02-4900-8EAA-BC856EAD8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48425"/>
            <a:ext cx="108204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9"/>
          </a:solidFill>
          <a:ln xmlns:a="http://schemas.openxmlformats.org/drawingml/2006/main" w="0">
            <a:noFill/>
          </a:ln>
        </p:spPr>
      </p:sp>
      <p:sp>
        <p:nvSpPr>
          <p:cNvPr id="19" name="profile-58">
            <a:extLst xmlns:a="http://schemas.openxmlformats.org/drawingml/2006/main">
              <a:ext uri="{FF2B5EF4-FFF2-40B4-BE49-F238E27FC236}">
                <a16:creationId xmlns:a16="http://schemas.microsoft.com/office/drawing/2014/main" id="{2E61B51F-AB94-42E8-A8A8-DA6B3C4F9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Oceanides</a:t>
            </a:r>
          </a:p>
        </p:txBody>
      </p:sp>
      <p:sp>
        <p:nvSpPr>
          <p:cNvPr id="20" name="profile-59">
            <a:extLst xmlns:a="http://schemas.openxmlformats.org/drawingml/2006/main">
              <a:ext uri="{FF2B5EF4-FFF2-40B4-BE49-F238E27FC236}">
                <a16:creationId xmlns:a16="http://schemas.microsoft.com/office/drawing/2014/main" id="{E1807732-AE1D-4E6A-8FD5-F2864CEE7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572250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32949726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profile-60">
            <a:extLst xmlns:a="http://schemas.openxmlformats.org/drawingml/2006/main">
              <a:ext uri="{FF2B5EF4-FFF2-40B4-BE49-F238E27FC236}">
                <a16:creationId xmlns:a16="http://schemas.microsoft.com/office/drawing/2014/main" id="{A9E63390-10E7-435A-9CEF-A606EB718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0"/>
            <a:ext cx="1371600" cy="1257300"/>
          </a:xfrm>
          <a:custGeom xmlns:a="http://schemas.openxmlformats.org/drawingml/2006/main">
            <a:pathLst>
              <a:path w="1371600" h="1257300">
                <a:moveTo>
                  <a:pt x="0" y="1162050"/>
                </a:moveTo>
                <a:lnTo>
                  <a:pt x="34290" y="1104674"/>
                </a:lnTo>
                <a:lnTo>
                  <a:pt x="68580" y="1048750"/>
                </a:lnTo>
                <a:lnTo>
                  <a:pt x="102870" y="994279"/>
                </a:lnTo>
                <a:lnTo>
                  <a:pt x="137160" y="941261"/>
                </a:lnTo>
                <a:lnTo>
                  <a:pt x="171450" y="889695"/>
                </a:lnTo>
                <a:lnTo>
                  <a:pt x="205740" y="839581"/>
                </a:lnTo>
                <a:lnTo>
                  <a:pt x="240030" y="790920"/>
                </a:lnTo>
                <a:lnTo>
                  <a:pt x="274320" y="743712"/>
                </a:lnTo>
                <a:lnTo>
                  <a:pt x="308610" y="697956"/>
                </a:lnTo>
                <a:lnTo>
                  <a:pt x="342900" y="653653"/>
                </a:lnTo>
                <a:lnTo>
                  <a:pt x="377190" y="610803"/>
                </a:lnTo>
                <a:lnTo>
                  <a:pt x="411480" y="569405"/>
                </a:lnTo>
                <a:lnTo>
                  <a:pt x="445770" y="529459"/>
                </a:lnTo>
                <a:lnTo>
                  <a:pt x="480060" y="490966"/>
                </a:lnTo>
                <a:lnTo>
                  <a:pt x="514350" y="453926"/>
                </a:lnTo>
                <a:lnTo>
                  <a:pt x="548640" y="418338"/>
                </a:lnTo>
                <a:lnTo>
                  <a:pt x="582930" y="384203"/>
                </a:lnTo>
                <a:lnTo>
                  <a:pt x="617220" y="351520"/>
                </a:lnTo>
                <a:lnTo>
                  <a:pt x="651510" y="320290"/>
                </a:lnTo>
                <a:lnTo>
                  <a:pt x="685800" y="290513"/>
                </a:lnTo>
                <a:lnTo>
                  <a:pt x="720090" y="262188"/>
                </a:lnTo>
                <a:lnTo>
                  <a:pt x="754380" y="235315"/>
                </a:lnTo>
                <a:lnTo>
                  <a:pt x="788670" y="209895"/>
                </a:lnTo>
                <a:lnTo>
                  <a:pt x="822960" y="185928"/>
                </a:lnTo>
                <a:lnTo>
                  <a:pt x="857250" y="163413"/>
                </a:lnTo>
                <a:lnTo>
                  <a:pt x="891540" y="142351"/>
                </a:lnTo>
                <a:lnTo>
                  <a:pt x="925830" y="122742"/>
                </a:lnTo>
                <a:lnTo>
                  <a:pt x="960120" y="104585"/>
                </a:lnTo>
                <a:lnTo>
                  <a:pt x="994410" y="87880"/>
                </a:lnTo>
                <a:lnTo>
                  <a:pt x="1028700" y="72628"/>
                </a:lnTo>
                <a:lnTo>
                  <a:pt x="1062990" y="58829"/>
                </a:lnTo>
                <a:lnTo>
                  <a:pt x="1097280" y="46482"/>
                </a:lnTo>
                <a:lnTo>
                  <a:pt x="1131570" y="35588"/>
                </a:lnTo>
                <a:lnTo>
                  <a:pt x="1165860" y="26146"/>
                </a:lnTo>
                <a:lnTo>
                  <a:pt x="1200150" y="18157"/>
                </a:lnTo>
                <a:lnTo>
                  <a:pt x="1234440" y="11620"/>
                </a:lnTo>
                <a:lnTo>
                  <a:pt x="1268730" y="6537"/>
                </a:lnTo>
                <a:lnTo>
                  <a:pt x="1303020" y="2905"/>
                </a:lnTo>
                <a:lnTo>
                  <a:pt x="1337310" y="726"/>
                </a:lnTo>
                <a:lnTo>
                  <a:pt x="1371600" y="0"/>
                </a:lnTo>
                <a:lnTo>
                  <a:pt x="1371600" y="28575"/>
                </a:lnTo>
                <a:lnTo>
                  <a:pt x="1337310" y="31543"/>
                </a:lnTo>
                <a:lnTo>
                  <a:pt x="1303020" y="35950"/>
                </a:lnTo>
                <a:lnTo>
                  <a:pt x="1268730" y="41782"/>
                </a:lnTo>
                <a:lnTo>
                  <a:pt x="1234440" y="49026"/>
                </a:lnTo>
                <a:lnTo>
                  <a:pt x="1200150" y="57667"/>
                </a:lnTo>
                <a:lnTo>
                  <a:pt x="1165860" y="67694"/>
                </a:lnTo>
                <a:lnTo>
                  <a:pt x="1131570" y="79093"/>
                </a:lnTo>
                <a:lnTo>
                  <a:pt x="1097280" y="91853"/>
                </a:lnTo>
                <a:lnTo>
                  <a:pt x="1062990" y="105962"/>
                </a:lnTo>
                <a:lnTo>
                  <a:pt x="1028700" y="121409"/>
                </a:lnTo>
                <a:lnTo>
                  <a:pt x="994410" y="138184"/>
                </a:lnTo>
                <a:lnTo>
                  <a:pt x="960120" y="156277"/>
                </a:lnTo>
                <a:lnTo>
                  <a:pt x="925830" y="175681"/>
                </a:lnTo>
                <a:lnTo>
                  <a:pt x="891540" y="196387"/>
                </a:lnTo>
                <a:lnTo>
                  <a:pt x="857250" y="218388"/>
                </a:lnTo>
                <a:lnTo>
                  <a:pt x="822960" y="241679"/>
                </a:lnTo>
                <a:lnTo>
                  <a:pt x="788670" y="266256"/>
                </a:lnTo>
                <a:lnTo>
                  <a:pt x="754380" y="292113"/>
                </a:lnTo>
                <a:lnTo>
                  <a:pt x="720090" y="319249"/>
                </a:lnTo>
                <a:lnTo>
                  <a:pt x="685800" y="347663"/>
                </a:lnTo>
                <a:lnTo>
                  <a:pt x="651510" y="377352"/>
                </a:lnTo>
                <a:lnTo>
                  <a:pt x="617220" y="408318"/>
                </a:lnTo>
                <a:lnTo>
                  <a:pt x="582930" y="440563"/>
                </a:lnTo>
                <a:lnTo>
                  <a:pt x="548640" y="474089"/>
                </a:lnTo>
                <a:lnTo>
                  <a:pt x="514350" y="508901"/>
                </a:lnTo>
                <a:lnTo>
                  <a:pt x="480060" y="545002"/>
                </a:lnTo>
                <a:lnTo>
                  <a:pt x="445770" y="582398"/>
                </a:lnTo>
                <a:lnTo>
                  <a:pt x="411480" y="621097"/>
                </a:lnTo>
                <a:lnTo>
                  <a:pt x="377190" y="661106"/>
                </a:lnTo>
                <a:lnTo>
                  <a:pt x="342900" y="702434"/>
                </a:lnTo>
                <a:lnTo>
                  <a:pt x="308610" y="745089"/>
                </a:lnTo>
                <a:lnTo>
                  <a:pt x="274320" y="789083"/>
                </a:lnTo>
                <a:lnTo>
                  <a:pt x="240030" y="834426"/>
                </a:lnTo>
                <a:lnTo>
                  <a:pt x="205740" y="881129"/>
                </a:lnTo>
                <a:lnTo>
                  <a:pt x="171450" y="929205"/>
                </a:lnTo>
                <a:lnTo>
                  <a:pt x="137160" y="978666"/>
                </a:lnTo>
                <a:lnTo>
                  <a:pt x="102870" y="1029525"/>
                </a:lnTo>
                <a:lnTo>
                  <a:pt x="68580" y="1081795"/>
                </a:lnTo>
                <a:lnTo>
                  <a:pt x="34290" y="1135491"/>
                </a:lnTo>
                <a:lnTo>
                  <a:pt x="0" y="1190625"/>
                </a:lnTo>
                <a:close/>
              </a:path>
            </a:pathLst>
          </a:custGeom>
          <a:solidFill xmlns:a="http://schemas.openxmlformats.org/drawingml/2006/main">
            <a:srgbClr val="E5EEF6"/>
          </a:solidFill>
          <a:ln xmlns:a="http://schemas.openxmlformats.org/drawingml/2006/main" w="0">
            <a:noFill/>
          </a:ln>
        </p:spPr>
      </p:sp>
      <p:sp>
        <p:nvSpPr>
          <p:cNvPr id="2" name="profile-61">
            <a:extLst xmlns:a="http://schemas.openxmlformats.org/drawingml/2006/main">
              <a:ext uri="{FF2B5EF4-FFF2-40B4-BE49-F238E27FC236}">
                <a16:creationId xmlns:a16="http://schemas.microsoft.com/office/drawing/2014/main" id="{5C55DF29-3FD8-420D-8A40-9FF09273F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0"/>
            <a:ext cx="1371600" cy="1257300"/>
          </a:xfrm>
          <a:custGeom xmlns:a="http://schemas.openxmlformats.org/drawingml/2006/main">
            <a:pathLst>
              <a:path w="1371600" h="1257300">
                <a:moveTo>
                  <a:pt x="0" y="1009650"/>
                </a:moveTo>
                <a:lnTo>
                  <a:pt x="34290" y="952274"/>
                </a:lnTo>
                <a:lnTo>
                  <a:pt x="68580" y="896350"/>
                </a:lnTo>
                <a:lnTo>
                  <a:pt x="102870" y="841879"/>
                </a:lnTo>
                <a:lnTo>
                  <a:pt x="137160" y="788861"/>
                </a:lnTo>
                <a:lnTo>
                  <a:pt x="171450" y="737295"/>
                </a:lnTo>
                <a:lnTo>
                  <a:pt x="205740" y="687181"/>
                </a:lnTo>
                <a:lnTo>
                  <a:pt x="240030" y="638520"/>
                </a:lnTo>
                <a:lnTo>
                  <a:pt x="274320" y="591312"/>
                </a:lnTo>
                <a:lnTo>
                  <a:pt x="308610" y="545556"/>
                </a:lnTo>
                <a:lnTo>
                  <a:pt x="342900" y="501253"/>
                </a:lnTo>
                <a:lnTo>
                  <a:pt x="377190" y="458403"/>
                </a:lnTo>
                <a:lnTo>
                  <a:pt x="411480" y="417004"/>
                </a:lnTo>
                <a:lnTo>
                  <a:pt x="445770" y="377059"/>
                </a:lnTo>
                <a:lnTo>
                  <a:pt x="480060" y="338566"/>
                </a:lnTo>
                <a:lnTo>
                  <a:pt x="514350" y="301526"/>
                </a:lnTo>
                <a:lnTo>
                  <a:pt x="548640" y="265938"/>
                </a:lnTo>
                <a:lnTo>
                  <a:pt x="582930" y="231803"/>
                </a:lnTo>
                <a:lnTo>
                  <a:pt x="617220" y="199120"/>
                </a:lnTo>
                <a:lnTo>
                  <a:pt x="651510" y="167890"/>
                </a:lnTo>
                <a:lnTo>
                  <a:pt x="685800" y="138113"/>
                </a:lnTo>
                <a:lnTo>
                  <a:pt x="720090" y="109788"/>
                </a:lnTo>
                <a:lnTo>
                  <a:pt x="754380" y="82915"/>
                </a:lnTo>
                <a:lnTo>
                  <a:pt x="788670" y="57495"/>
                </a:lnTo>
                <a:lnTo>
                  <a:pt x="822960" y="33528"/>
                </a:lnTo>
                <a:lnTo>
                  <a:pt x="857250" y="11013"/>
                </a:lnTo>
                <a:lnTo>
                  <a:pt x="891540" y="0"/>
                </a:lnTo>
                <a:lnTo>
                  <a:pt x="925830" y="0"/>
                </a:lnTo>
                <a:lnTo>
                  <a:pt x="960120" y="0"/>
                </a:lnTo>
                <a:lnTo>
                  <a:pt x="994410" y="0"/>
                </a:lnTo>
                <a:lnTo>
                  <a:pt x="1028700" y="0"/>
                </a:lnTo>
                <a:lnTo>
                  <a:pt x="1062990" y="0"/>
                </a:lnTo>
                <a:lnTo>
                  <a:pt x="1097280" y="0"/>
                </a:lnTo>
                <a:lnTo>
                  <a:pt x="1131570" y="0"/>
                </a:lnTo>
                <a:lnTo>
                  <a:pt x="1165860" y="0"/>
                </a:lnTo>
                <a:lnTo>
                  <a:pt x="1200150" y="0"/>
                </a:lnTo>
                <a:lnTo>
                  <a:pt x="1234440" y="0"/>
                </a:lnTo>
                <a:lnTo>
                  <a:pt x="1268730" y="0"/>
                </a:lnTo>
                <a:lnTo>
                  <a:pt x="1303020" y="0"/>
                </a:lnTo>
                <a:lnTo>
                  <a:pt x="1337310" y="0"/>
                </a:lnTo>
                <a:lnTo>
                  <a:pt x="1371600" y="0"/>
                </a:lnTo>
                <a:lnTo>
                  <a:pt x="1371600" y="28575"/>
                </a:lnTo>
                <a:lnTo>
                  <a:pt x="1337310" y="30817"/>
                </a:lnTo>
                <a:lnTo>
                  <a:pt x="1303020" y="33045"/>
                </a:lnTo>
                <a:lnTo>
                  <a:pt x="1268730" y="35246"/>
                </a:lnTo>
                <a:lnTo>
                  <a:pt x="1234440" y="37405"/>
                </a:lnTo>
                <a:lnTo>
                  <a:pt x="1200150" y="39510"/>
                </a:lnTo>
                <a:lnTo>
                  <a:pt x="1165860" y="41548"/>
                </a:lnTo>
                <a:lnTo>
                  <a:pt x="1131570" y="43505"/>
                </a:lnTo>
                <a:lnTo>
                  <a:pt x="1097280" y="45371"/>
                </a:lnTo>
                <a:lnTo>
                  <a:pt x="1062990" y="47133"/>
                </a:lnTo>
                <a:lnTo>
                  <a:pt x="1028700" y="48781"/>
                </a:lnTo>
                <a:lnTo>
                  <a:pt x="994410" y="50304"/>
                </a:lnTo>
                <a:lnTo>
                  <a:pt x="960120" y="51693"/>
                </a:lnTo>
                <a:lnTo>
                  <a:pt x="925830" y="52939"/>
                </a:lnTo>
                <a:lnTo>
                  <a:pt x="891540" y="54036"/>
                </a:lnTo>
                <a:lnTo>
                  <a:pt x="857250" y="65988"/>
                </a:lnTo>
                <a:lnTo>
                  <a:pt x="822960" y="89279"/>
                </a:lnTo>
                <a:lnTo>
                  <a:pt x="788670" y="113856"/>
                </a:lnTo>
                <a:lnTo>
                  <a:pt x="754380" y="139713"/>
                </a:lnTo>
                <a:lnTo>
                  <a:pt x="720090" y="166849"/>
                </a:lnTo>
                <a:lnTo>
                  <a:pt x="685800" y="195263"/>
                </a:lnTo>
                <a:lnTo>
                  <a:pt x="651510" y="224952"/>
                </a:lnTo>
                <a:lnTo>
                  <a:pt x="617220" y="255918"/>
                </a:lnTo>
                <a:lnTo>
                  <a:pt x="582930" y="288163"/>
                </a:lnTo>
                <a:lnTo>
                  <a:pt x="548640" y="321689"/>
                </a:lnTo>
                <a:lnTo>
                  <a:pt x="514350" y="356501"/>
                </a:lnTo>
                <a:lnTo>
                  <a:pt x="480060" y="392602"/>
                </a:lnTo>
                <a:lnTo>
                  <a:pt x="445770" y="429998"/>
                </a:lnTo>
                <a:lnTo>
                  <a:pt x="411480" y="468697"/>
                </a:lnTo>
                <a:lnTo>
                  <a:pt x="377190" y="508706"/>
                </a:lnTo>
                <a:lnTo>
                  <a:pt x="342900" y="550034"/>
                </a:lnTo>
                <a:lnTo>
                  <a:pt x="308610" y="592689"/>
                </a:lnTo>
                <a:lnTo>
                  <a:pt x="274320" y="636683"/>
                </a:lnTo>
                <a:lnTo>
                  <a:pt x="240030" y="682026"/>
                </a:lnTo>
                <a:lnTo>
                  <a:pt x="205740" y="728729"/>
                </a:lnTo>
                <a:lnTo>
                  <a:pt x="171450" y="776805"/>
                </a:lnTo>
                <a:lnTo>
                  <a:pt x="137160" y="826266"/>
                </a:lnTo>
                <a:lnTo>
                  <a:pt x="102870" y="877125"/>
                </a:lnTo>
                <a:lnTo>
                  <a:pt x="68580" y="929395"/>
                </a:lnTo>
                <a:lnTo>
                  <a:pt x="34290" y="983091"/>
                </a:lnTo>
                <a:lnTo>
                  <a:pt x="0" y="1038225"/>
                </a:lnTo>
                <a:close/>
              </a:path>
            </a:pathLst>
          </a:custGeom>
          <a:solidFill xmlns:a="http://schemas.openxmlformats.org/drawingml/2006/main">
            <a:srgbClr val="D7E6F2"/>
          </a:solidFill>
          <a:ln xmlns:a="http://schemas.openxmlformats.org/drawingml/2006/main" w="0">
            <a:noFill/>
          </a:ln>
        </p:spPr>
      </p:sp>
      <p:sp>
        <p:nvSpPr>
          <p:cNvPr id="3" name="profile-62">
            <a:extLst xmlns:a="http://schemas.openxmlformats.org/drawingml/2006/main">
              <a:ext uri="{FF2B5EF4-FFF2-40B4-BE49-F238E27FC236}">
                <a16:creationId xmlns:a16="http://schemas.microsoft.com/office/drawing/2014/main" id="{816D3B74-C55E-4B9F-8483-BC2777823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0"/>
            <a:ext cx="1371600" cy="1257300"/>
          </a:xfrm>
          <a:custGeom xmlns:a="http://schemas.openxmlformats.org/drawingml/2006/main">
            <a:pathLst>
              <a:path w="1371600" h="1257300">
                <a:moveTo>
                  <a:pt x="0" y="857250"/>
                </a:moveTo>
                <a:lnTo>
                  <a:pt x="34290" y="799874"/>
                </a:lnTo>
                <a:lnTo>
                  <a:pt x="68580" y="743950"/>
                </a:lnTo>
                <a:lnTo>
                  <a:pt x="102870" y="689479"/>
                </a:lnTo>
                <a:lnTo>
                  <a:pt x="137160" y="636461"/>
                </a:lnTo>
                <a:lnTo>
                  <a:pt x="171450" y="584895"/>
                </a:lnTo>
                <a:lnTo>
                  <a:pt x="205740" y="534781"/>
                </a:lnTo>
                <a:lnTo>
                  <a:pt x="240030" y="486120"/>
                </a:lnTo>
                <a:lnTo>
                  <a:pt x="274320" y="438912"/>
                </a:lnTo>
                <a:lnTo>
                  <a:pt x="308610" y="393156"/>
                </a:lnTo>
                <a:lnTo>
                  <a:pt x="342900" y="348853"/>
                </a:lnTo>
                <a:lnTo>
                  <a:pt x="377190" y="306003"/>
                </a:lnTo>
                <a:lnTo>
                  <a:pt x="411480" y="264604"/>
                </a:lnTo>
                <a:lnTo>
                  <a:pt x="445770" y="224659"/>
                </a:lnTo>
                <a:lnTo>
                  <a:pt x="480060" y="186166"/>
                </a:lnTo>
                <a:lnTo>
                  <a:pt x="514350" y="149126"/>
                </a:lnTo>
                <a:lnTo>
                  <a:pt x="548640" y="113538"/>
                </a:lnTo>
                <a:lnTo>
                  <a:pt x="582930" y="79403"/>
                </a:lnTo>
                <a:lnTo>
                  <a:pt x="617220" y="46720"/>
                </a:lnTo>
                <a:lnTo>
                  <a:pt x="651510" y="15490"/>
                </a:lnTo>
                <a:lnTo>
                  <a:pt x="685800" y="0"/>
                </a:lnTo>
                <a:lnTo>
                  <a:pt x="720090" y="0"/>
                </a:lnTo>
                <a:lnTo>
                  <a:pt x="754380" y="0"/>
                </a:lnTo>
                <a:lnTo>
                  <a:pt x="788670" y="0"/>
                </a:lnTo>
                <a:lnTo>
                  <a:pt x="822960" y="0"/>
                </a:lnTo>
                <a:lnTo>
                  <a:pt x="857250" y="0"/>
                </a:lnTo>
                <a:lnTo>
                  <a:pt x="891540" y="0"/>
                </a:lnTo>
                <a:lnTo>
                  <a:pt x="925830" y="0"/>
                </a:lnTo>
                <a:lnTo>
                  <a:pt x="960120" y="0"/>
                </a:lnTo>
                <a:lnTo>
                  <a:pt x="994410" y="0"/>
                </a:lnTo>
                <a:lnTo>
                  <a:pt x="1028700" y="0"/>
                </a:lnTo>
                <a:lnTo>
                  <a:pt x="1062990" y="0"/>
                </a:lnTo>
                <a:lnTo>
                  <a:pt x="1097280" y="0"/>
                </a:lnTo>
                <a:lnTo>
                  <a:pt x="1131570" y="0"/>
                </a:lnTo>
                <a:lnTo>
                  <a:pt x="1165860" y="0"/>
                </a:lnTo>
                <a:lnTo>
                  <a:pt x="1200150" y="0"/>
                </a:lnTo>
                <a:lnTo>
                  <a:pt x="1234440" y="0"/>
                </a:lnTo>
                <a:lnTo>
                  <a:pt x="1268730" y="0"/>
                </a:lnTo>
                <a:lnTo>
                  <a:pt x="1303020" y="0"/>
                </a:lnTo>
                <a:lnTo>
                  <a:pt x="1337310" y="0"/>
                </a:lnTo>
                <a:lnTo>
                  <a:pt x="1371600" y="0"/>
                </a:lnTo>
                <a:lnTo>
                  <a:pt x="1371600" y="28575"/>
                </a:lnTo>
                <a:lnTo>
                  <a:pt x="1337310" y="30817"/>
                </a:lnTo>
                <a:lnTo>
                  <a:pt x="1303020" y="33045"/>
                </a:lnTo>
                <a:lnTo>
                  <a:pt x="1268730" y="35246"/>
                </a:lnTo>
                <a:lnTo>
                  <a:pt x="1234440" y="37405"/>
                </a:lnTo>
                <a:lnTo>
                  <a:pt x="1200150" y="39510"/>
                </a:lnTo>
                <a:lnTo>
                  <a:pt x="1165860" y="41548"/>
                </a:lnTo>
                <a:lnTo>
                  <a:pt x="1131570" y="43505"/>
                </a:lnTo>
                <a:lnTo>
                  <a:pt x="1097280" y="45371"/>
                </a:lnTo>
                <a:lnTo>
                  <a:pt x="1062990" y="47133"/>
                </a:lnTo>
                <a:lnTo>
                  <a:pt x="1028700" y="48781"/>
                </a:lnTo>
                <a:lnTo>
                  <a:pt x="994410" y="50304"/>
                </a:lnTo>
                <a:lnTo>
                  <a:pt x="960120" y="51693"/>
                </a:lnTo>
                <a:lnTo>
                  <a:pt x="925830" y="52939"/>
                </a:lnTo>
                <a:lnTo>
                  <a:pt x="891540" y="54036"/>
                </a:lnTo>
                <a:lnTo>
                  <a:pt x="857250" y="54975"/>
                </a:lnTo>
                <a:lnTo>
                  <a:pt x="822960" y="55751"/>
                </a:lnTo>
                <a:lnTo>
                  <a:pt x="788670" y="56360"/>
                </a:lnTo>
                <a:lnTo>
                  <a:pt x="754380" y="56798"/>
                </a:lnTo>
                <a:lnTo>
                  <a:pt x="720090" y="57062"/>
                </a:lnTo>
                <a:lnTo>
                  <a:pt x="685800" y="57150"/>
                </a:lnTo>
                <a:lnTo>
                  <a:pt x="651510" y="72552"/>
                </a:lnTo>
                <a:lnTo>
                  <a:pt x="617220" y="103518"/>
                </a:lnTo>
                <a:lnTo>
                  <a:pt x="582930" y="135763"/>
                </a:lnTo>
                <a:lnTo>
                  <a:pt x="548640" y="169289"/>
                </a:lnTo>
                <a:lnTo>
                  <a:pt x="514350" y="204101"/>
                </a:lnTo>
                <a:lnTo>
                  <a:pt x="480060" y="240202"/>
                </a:lnTo>
                <a:lnTo>
                  <a:pt x="445770" y="277598"/>
                </a:lnTo>
                <a:lnTo>
                  <a:pt x="411480" y="316297"/>
                </a:lnTo>
                <a:lnTo>
                  <a:pt x="377190" y="356306"/>
                </a:lnTo>
                <a:lnTo>
                  <a:pt x="342900" y="397634"/>
                </a:lnTo>
                <a:lnTo>
                  <a:pt x="308610" y="440289"/>
                </a:lnTo>
                <a:lnTo>
                  <a:pt x="274320" y="484283"/>
                </a:lnTo>
                <a:lnTo>
                  <a:pt x="240030" y="529626"/>
                </a:lnTo>
                <a:lnTo>
                  <a:pt x="205740" y="576329"/>
                </a:lnTo>
                <a:lnTo>
                  <a:pt x="171450" y="624405"/>
                </a:lnTo>
                <a:lnTo>
                  <a:pt x="137160" y="673866"/>
                </a:lnTo>
                <a:lnTo>
                  <a:pt x="102870" y="724725"/>
                </a:lnTo>
                <a:lnTo>
                  <a:pt x="68580" y="776995"/>
                </a:lnTo>
                <a:lnTo>
                  <a:pt x="34290" y="830691"/>
                </a:lnTo>
                <a:lnTo>
                  <a:pt x="0" y="885825"/>
                </a:lnTo>
                <a:close/>
              </a:path>
            </a:pathLst>
          </a:custGeom>
          <a:solidFill xmlns:a="http://schemas.openxmlformats.org/drawingml/2006/main">
            <a:srgbClr val="BED5E8"/>
          </a:solidFill>
          <a:ln xmlns:a="http://schemas.openxmlformats.org/drawingml/2006/main" w="0">
            <a:noFill/>
          </a:ln>
        </p:spPr>
      </p:sp>
      <p:sp>
        <p:nvSpPr>
          <p:cNvPr id="4" name="profile-63">
            <a:extLst xmlns:a="http://schemas.openxmlformats.org/drawingml/2006/main">
              <a:ext uri="{FF2B5EF4-FFF2-40B4-BE49-F238E27FC236}">
                <a16:creationId xmlns:a16="http://schemas.microsoft.com/office/drawing/2014/main" id="{4379BE3F-4787-4E1B-9356-7439B6EBE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12B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17212B"/>
                </a:solidFill>
                <a:latin typeface="Segoe UI"/>
                <a:ea typeface="Segoe UI"/>
                <a:cs typeface="Segoe UI"/>
              </a:rPr>
              <a:t>Oceanides</a:t>
            </a:r>
          </a:p>
        </p:txBody>
      </p:sp>
      <p:sp>
        <p:nvSpPr>
          <p:cNvPr id="5" name="profile-64">
            <a:extLst xmlns:a="http://schemas.openxmlformats.org/drawingml/2006/main">
              <a:ext uri="{FF2B5EF4-FFF2-40B4-BE49-F238E27FC236}">
                <a16:creationId xmlns:a16="http://schemas.microsoft.com/office/drawing/2014/main" id="{48FBAA9C-25DD-41B2-B122-9A6C00551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71475"/>
            <a:ext cx="1981200" cy="2171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Company profile</a:t>
            </a:r>
          </a:p>
        </p:txBody>
      </p:sp>
      <p:sp>
        <p:nvSpPr>
          <p:cNvPr id="6" name="profile-65">
            <a:extLst xmlns:a="http://schemas.openxmlformats.org/drawingml/2006/main">
              <a:ext uri="{FF2B5EF4-FFF2-40B4-BE49-F238E27FC236}">
                <a16:creationId xmlns:a16="http://schemas.microsoft.com/office/drawing/2014/main" id="{FA8A49BB-20E3-441C-95FD-2AAF7F1A5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38225"/>
            <a:ext cx="108204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0">
                <a:solidFill>
                  <a:srgbClr val="1C63AD"/>
                </a:solidFill>
                <a:latin typeface="Segoe UI"/>
                <a:ea typeface="Segoe UI"/>
                <a:cs typeface="Segoe UI"/>
              </a:defRPr>
            </a:pPr>
            <a:r>
              <a:rPr sz="3900" b="0">
                <a:solidFill>
                  <a:srgbClr val="1C63AD"/>
                </a:solidFill>
                <a:latin typeface="Segoe UI"/>
                <a:ea typeface="Segoe UI"/>
                <a:cs typeface="Segoe UI"/>
              </a:rPr>
              <a:t>Actual siphoning work</a:t>
            </a:r>
          </a:p>
        </p:txBody>
      </p:sp>
      <p:sp>
        <p:nvSpPr>
          <p:cNvPr id="7" name="profile-66">
            <a:extLst xmlns:a="http://schemas.openxmlformats.org/drawingml/2006/main">
              <a:ext uri="{FF2B5EF4-FFF2-40B4-BE49-F238E27FC236}">
                <a16:creationId xmlns:a16="http://schemas.microsoft.com/office/drawing/2014/main" id="{578948CD-B72E-44CD-8585-9BBC1A6D7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19275"/>
            <a:ext cx="108204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Same site before and after service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1fa41cb5694622"/>
          <a:srcRect xmlns:a="http://schemas.openxmlformats.org/drawingml/2006/main" l="0" t="16667" r="0" b="1666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485900" y="2295525"/>
            <a:ext cx="3810000" cy="3810000"/>
          </a:xfrm>
          <a:prstGeom xmlns:a="http://schemas.openxmlformats.org/drawingml/2006/main" prst="rect">
            <a:avLst/>
          </a:prstGeom>
        </p:spPr>
      </p:pic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36891f10414bc7"/>
          <a:srcRect xmlns:a="http://schemas.openxmlformats.org/drawingml/2006/main" l="0" t="16667" r="0" b="1666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96100" y="2295525"/>
            <a:ext cx="3810000" cy="3810000"/>
          </a:xfrm>
          <a:prstGeom xmlns:a="http://schemas.openxmlformats.org/drawingml/2006/main" prst="rect">
            <a:avLst/>
          </a:prstGeom>
        </p:spPr>
      </p:pic>
      <p:sp>
        <p:nvSpPr>
          <p:cNvPr id="10" name="profile-67">
            <a:extLst xmlns:a="http://schemas.openxmlformats.org/drawingml/2006/main">
              <a:ext uri="{FF2B5EF4-FFF2-40B4-BE49-F238E27FC236}">
                <a16:creationId xmlns:a16="http://schemas.microsoft.com/office/drawing/2014/main" id="{904F4A91-69D0-4487-8CF3-53FBDAF4E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6181725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Before service</a:t>
            </a:r>
          </a:p>
        </p:txBody>
      </p:sp>
      <p:sp>
        <p:nvSpPr>
          <p:cNvPr id="11" name="profile-68">
            <a:extLst xmlns:a="http://schemas.openxmlformats.org/drawingml/2006/main">
              <a:ext uri="{FF2B5EF4-FFF2-40B4-BE49-F238E27FC236}">
                <a16:creationId xmlns:a16="http://schemas.microsoft.com/office/drawing/2014/main" id="{5C26D88C-6E72-49A4-AD0F-9B5C818D2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6181725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After service</a:t>
            </a:r>
          </a:p>
        </p:txBody>
      </p:sp>
      <p:sp>
        <p:nvSpPr>
          <p:cNvPr id="12" name="profile-69">
            <a:extLst xmlns:a="http://schemas.openxmlformats.org/drawingml/2006/main">
              <a:ext uri="{FF2B5EF4-FFF2-40B4-BE49-F238E27FC236}">
                <a16:creationId xmlns:a16="http://schemas.microsoft.com/office/drawing/2014/main" id="{EADA77E7-34E6-4986-A7C6-DDB3AD9E9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48425"/>
            <a:ext cx="108204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9"/>
          </a:solidFill>
          <a:ln xmlns:a="http://schemas.openxmlformats.org/drawingml/2006/main" w="0">
            <a:noFill/>
          </a:ln>
        </p:spPr>
      </p:sp>
      <p:sp>
        <p:nvSpPr>
          <p:cNvPr id="13" name="profile-70">
            <a:extLst xmlns:a="http://schemas.openxmlformats.org/drawingml/2006/main">
              <a:ext uri="{FF2B5EF4-FFF2-40B4-BE49-F238E27FC236}">
                <a16:creationId xmlns:a16="http://schemas.microsoft.com/office/drawing/2014/main" id="{6DF8A3EF-26D7-420D-9587-0F8C1F436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Oceanides</a:t>
            </a:r>
          </a:p>
        </p:txBody>
      </p:sp>
      <p:sp>
        <p:nvSpPr>
          <p:cNvPr id="14" name="profile-71">
            <a:extLst xmlns:a="http://schemas.openxmlformats.org/drawingml/2006/main">
              <a:ext uri="{FF2B5EF4-FFF2-40B4-BE49-F238E27FC236}">
                <a16:creationId xmlns:a16="http://schemas.microsoft.com/office/drawing/2014/main" id="{EE50C43D-E5D0-4593-B55A-2EEA50229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572250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11526487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profile-72">
            <a:extLst xmlns:a="http://schemas.openxmlformats.org/drawingml/2006/main">
              <a:ext uri="{FF2B5EF4-FFF2-40B4-BE49-F238E27FC236}">
                <a16:creationId xmlns:a16="http://schemas.microsoft.com/office/drawing/2014/main" id="{25E5E660-A27A-4F56-833D-9C76F9685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0"/>
            <a:ext cx="1371600" cy="1257300"/>
          </a:xfrm>
          <a:custGeom xmlns:a="http://schemas.openxmlformats.org/drawingml/2006/main">
            <a:pathLst>
              <a:path w="1371600" h="1257300">
                <a:moveTo>
                  <a:pt x="0" y="1162050"/>
                </a:moveTo>
                <a:lnTo>
                  <a:pt x="34290" y="1104674"/>
                </a:lnTo>
                <a:lnTo>
                  <a:pt x="68580" y="1048750"/>
                </a:lnTo>
                <a:lnTo>
                  <a:pt x="102870" y="994279"/>
                </a:lnTo>
                <a:lnTo>
                  <a:pt x="137160" y="941261"/>
                </a:lnTo>
                <a:lnTo>
                  <a:pt x="171450" y="889695"/>
                </a:lnTo>
                <a:lnTo>
                  <a:pt x="205740" y="839581"/>
                </a:lnTo>
                <a:lnTo>
                  <a:pt x="240030" y="790920"/>
                </a:lnTo>
                <a:lnTo>
                  <a:pt x="274320" y="743712"/>
                </a:lnTo>
                <a:lnTo>
                  <a:pt x="308610" y="697956"/>
                </a:lnTo>
                <a:lnTo>
                  <a:pt x="342900" y="653653"/>
                </a:lnTo>
                <a:lnTo>
                  <a:pt x="377190" y="610803"/>
                </a:lnTo>
                <a:lnTo>
                  <a:pt x="411480" y="569405"/>
                </a:lnTo>
                <a:lnTo>
                  <a:pt x="445770" y="529459"/>
                </a:lnTo>
                <a:lnTo>
                  <a:pt x="480060" y="490966"/>
                </a:lnTo>
                <a:lnTo>
                  <a:pt x="514350" y="453926"/>
                </a:lnTo>
                <a:lnTo>
                  <a:pt x="548640" y="418338"/>
                </a:lnTo>
                <a:lnTo>
                  <a:pt x="582930" y="384203"/>
                </a:lnTo>
                <a:lnTo>
                  <a:pt x="617220" y="351520"/>
                </a:lnTo>
                <a:lnTo>
                  <a:pt x="651510" y="320290"/>
                </a:lnTo>
                <a:lnTo>
                  <a:pt x="685800" y="290513"/>
                </a:lnTo>
                <a:lnTo>
                  <a:pt x="720090" y="262188"/>
                </a:lnTo>
                <a:lnTo>
                  <a:pt x="754380" y="235315"/>
                </a:lnTo>
                <a:lnTo>
                  <a:pt x="788670" y="209895"/>
                </a:lnTo>
                <a:lnTo>
                  <a:pt x="822960" y="185928"/>
                </a:lnTo>
                <a:lnTo>
                  <a:pt x="857250" y="163413"/>
                </a:lnTo>
                <a:lnTo>
                  <a:pt x="891540" y="142351"/>
                </a:lnTo>
                <a:lnTo>
                  <a:pt x="925830" y="122742"/>
                </a:lnTo>
                <a:lnTo>
                  <a:pt x="960120" y="104585"/>
                </a:lnTo>
                <a:lnTo>
                  <a:pt x="994410" y="87880"/>
                </a:lnTo>
                <a:lnTo>
                  <a:pt x="1028700" y="72628"/>
                </a:lnTo>
                <a:lnTo>
                  <a:pt x="1062990" y="58829"/>
                </a:lnTo>
                <a:lnTo>
                  <a:pt x="1097280" y="46482"/>
                </a:lnTo>
                <a:lnTo>
                  <a:pt x="1131570" y="35588"/>
                </a:lnTo>
                <a:lnTo>
                  <a:pt x="1165860" y="26146"/>
                </a:lnTo>
                <a:lnTo>
                  <a:pt x="1200150" y="18157"/>
                </a:lnTo>
                <a:lnTo>
                  <a:pt x="1234440" y="11620"/>
                </a:lnTo>
                <a:lnTo>
                  <a:pt x="1268730" y="6537"/>
                </a:lnTo>
                <a:lnTo>
                  <a:pt x="1303020" y="2905"/>
                </a:lnTo>
                <a:lnTo>
                  <a:pt x="1337310" y="726"/>
                </a:lnTo>
                <a:lnTo>
                  <a:pt x="1371600" y="0"/>
                </a:lnTo>
                <a:lnTo>
                  <a:pt x="1371600" y="28575"/>
                </a:lnTo>
                <a:lnTo>
                  <a:pt x="1337310" y="31543"/>
                </a:lnTo>
                <a:lnTo>
                  <a:pt x="1303020" y="35950"/>
                </a:lnTo>
                <a:lnTo>
                  <a:pt x="1268730" y="41782"/>
                </a:lnTo>
                <a:lnTo>
                  <a:pt x="1234440" y="49026"/>
                </a:lnTo>
                <a:lnTo>
                  <a:pt x="1200150" y="57667"/>
                </a:lnTo>
                <a:lnTo>
                  <a:pt x="1165860" y="67694"/>
                </a:lnTo>
                <a:lnTo>
                  <a:pt x="1131570" y="79093"/>
                </a:lnTo>
                <a:lnTo>
                  <a:pt x="1097280" y="91853"/>
                </a:lnTo>
                <a:lnTo>
                  <a:pt x="1062990" y="105962"/>
                </a:lnTo>
                <a:lnTo>
                  <a:pt x="1028700" y="121409"/>
                </a:lnTo>
                <a:lnTo>
                  <a:pt x="994410" y="138184"/>
                </a:lnTo>
                <a:lnTo>
                  <a:pt x="960120" y="156277"/>
                </a:lnTo>
                <a:lnTo>
                  <a:pt x="925830" y="175681"/>
                </a:lnTo>
                <a:lnTo>
                  <a:pt x="891540" y="196387"/>
                </a:lnTo>
                <a:lnTo>
                  <a:pt x="857250" y="218388"/>
                </a:lnTo>
                <a:lnTo>
                  <a:pt x="822960" y="241679"/>
                </a:lnTo>
                <a:lnTo>
                  <a:pt x="788670" y="266256"/>
                </a:lnTo>
                <a:lnTo>
                  <a:pt x="754380" y="292113"/>
                </a:lnTo>
                <a:lnTo>
                  <a:pt x="720090" y="319249"/>
                </a:lnTo>
                <a:lnTo>
                  <a:pt x="685800" y="347663"/>
                </a:lnTo>
                <a:lnTo>
                  <a:pt x="651510" y="377352"/>
                </a:lnTo>
                <a:lnTo>
                  <a:pt x="617220" y="408318"/>
                </a:lnTo>
                <a:lnTo>
                  <a:pt x="582930" y="440563"/>
                </a:lnTo>
                <a:lnTo>
                  <a:pt x="548640" y="474089"/>
                </a:lnTo>
                <a:lnTo>
                  <a:pt x="514350" y="508901"/>
                </a:lnTo>
                <a:lnTo>
                  <a:pt x="480060" y="545002"/>
                </a:lnTo>
                <a:lnTo>
                  <a:pt x="445770" y="582398"/>
                </a:lnTo>
                <a:lnTo>
                  <a:pt x="411480" y="621097"/>
                </a:lnTo>
                <a:lnTo>
                  <a:pt x="377190" y="661106"/>
                </a:lnTo>
                <a:lnTo>
                  <a:pt x="342900" y="702434"/>
                </a:lnTo>
                <a:lnTo>
                  <a:pt x="308610" y="745089"/>
                </a:lnTo>
                <a:lnTo>
                  <a:pt x="274320" y="789083"/>
                </a:lnTo>
                <a:lnTo>
                  <a:pt x="240030" y="834426"/>
                </a:lnTo>
                <a:lnTo>
                  <a:pt x="205740" y="881129"/>
                </a:lnTo>
                <a:lnTo>
                  <a:pt x="171450" y="929205"/>
                </a:lnTo>
                <a:lnTo>
                  <a:pt x="137160" y="978666"/>
                </a:lnTo>
                <a:lnTo>
                  <a:pt x="102870" y="1029525"/>
                </a:lnTo>
                <a:lnTo>
                  <a:pt x="68580" y="1081795"/>
                </a:lnTo>
                <a:lnTo>
                  <a:pt x="34290" y="1135491"/>
                </a:lnTo>
                <a:lnTo>
                  <a:pt x="0" y="1190625"/>
                </a:lnTo>
                <a:close/>
              </a:path>
            </a:pathLst>
          </a:custGeom>
          <a:solidFill xmlns:a="http://schemas.openxmlformats.org/drawingml/2006/main">
            <a:srgbClr val="E5EEF6"/>
          </a:solidFill>
          <a:ln xmlns:a="http://schemas.openxmlformats.org/drawingml/2006/main" w="0">
            <a:noFill/>
          </a:ln>
        </p:spPr>
      </p:sp>
      <p:sp>
        <p:nvSpPr>
          <p:cNvPr id="2" name="profile-73">
            <a:extLst xmlns:a="http://schemas.openxmlformats.org/drawingml/2006/main">
              <a:ext uri="{FF2B5EF4-FFF2-40B4-BE49-F238E27FC236}">
                <a16:creationId xmlns:a16="http://schemas.microsoft.com/office/drawing/2014/main" id="{8B18F0CE-5130-4C51-ADBF-F38271BAF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0"/>
            <a:ext cx="1371600" cy="1257300"/>
          </a:xfrm>
          <a:custGeom xmlns:a="http://schemas.openxmlformats.org/drawingml/2006/main">
            <a:pathLst>
              <a:path w="1371600" h="1257300">
                <a:moveTo>
                  <a:pt x="0" y="1009650"/>
                </a:moveTo>
                <a:lnTo>
                  <a:pt x="34290" y="952274"/>
                </a:lnTo>
                <a:lnTo>
                  <a:pt x="68580" y="896350"/>
                </a:lnTo>
                <a:lnTo>
                  <a:pt x="102870" y="841879"/>
                </a:lnTo>
                <a:lnTo>
                  <a:pt x="137160" y="788861"/>
                </a:lnTo>
                <a:lnTo>
                  <a:pt x="171450" y="737295"/>
                </a:lnTo>
                <a:lnTo>
                  <a:pt x="205740" y="687181"/>
                </a:lnTo>
                <a:lnTo>
                  <a:pt x="240030" y="638520"/>
                </a:lnTo>
                <a:lnTo>
                  <a:pt x="274320" y="591312"/>
                </a:lnTo>
                <a:lnTo>
                  <a:pt x="308610" y="545556"/>
                </a:lnTo>
                <a:lnTo>
                  <a:pt x="342900" y="501253"/>
                </a:lnTo>
                <a:lnTo>
                  <a:pt x="377190" y="458403"/>
                </a:lnTo>
                <a:lnTo>
                  <a:pt x="411480" y="417004"/>
                </a:lnTo>
                <a:lnTo>
                  <a:pt x="445770" y="377059"/>
                </a:lnTo>
                <a:lnTo>
                  <a:pt x="480060" y="338566"/>
                </a:lnTo>
                <a:lnTo>
                  <a:pt x="514350" y="301526"/>
                </a:lnTo>
                <a:lnTo>
                  <a:pt x="548640" y="265938"/>
                </a:lnTo>
                <a:lnTo>
                  <a:pt x="582930" y="231803"/>
                </a:lnTo>
                <a:lnTo>
                  <a:pt x="617220" y="199120"/>
                </a:lnTo>
                <a:lnTo>
                  <a:pt x="651510" y="167890"/>
                </a:lnTo>
                <a:lnTo>
                  <a:pt x="685800" y="138113"/>
                </a:lnTo>
                <a:lnTo>
                  <a:pt x="720090" y="109788"/>
                </a:lnTo>
                <a:lnTo>
                  <a:pt x="754380" y="82915"/>
                </a:lnTo>
                <a:lnTo>
                  <a:pt x="788670" y="57495"/>
                </a:lnTo>
                <a:lnTo>
                  <a:pt x="822960" y="33528"/>
                </a:lnTo>
                <a:lnTo>
                  <a:pt x="857250" y="11013"/>
                </a:lnTo>
                <a:lnTo>
                  <a:pt x="891540" y="0"/>
                </a:lnTo>
                <a:lnTo>
                  <a:pt x="925830" y="0"/>
                </a:lnTo>
                <a:lnTo>
                  <a:pt x="960120" y="0"/>
                </a:lnTo>
                <a:lnTo>
                  <a:pt x="994410" y="0"/>
                </a:lnTo>
                <a:lnTo>
                  <a:pt x="1028700" y="0"/>
                </a:lnTo>
                <a:lnTo>
                  <a:pt x="1062990" y="0"/>
                </a:lnTo>
                <a:lnTo>
                  <a:pt x="1097280" y="0"/>
                </a:lnTo>
                <a:lnTo>
                  <a:pt x="1131570" y="0"/>
                </a:lnTo>
                <a:lnTo>
                  <a:pt x="1165860" y="0"/>
                </a:lnTo>
                <a:lnTo>
                  <a:pt x="1200150" y="0"/>
                </a:lnTo>
                <a:lnTo>
                  <a:pt x="1234440" y="0"/>
                </a:lnTo>
                <a:lnTo>
                  <a:pt x="1268730" y="0"/>
                </a:lnTo>
                <a:lnTo>
                  <a:pt x="1303020" y="0"/>
                </a:lnTo>
                <a:lnTo>
                  <a:pt x="1337310" y="0"/>
                </a:lnTo>
                <a:lnTo>
                  <a:pt x="1371600" y="0"/>
                </a:lnTo>
                <a:lnTo>
                  <a:pt x="1371600" y="28575"/>
                </a:lnTo>
                <a:lnTo>
                  <a:pt x="1337310" y="30817"/>
                </a:lnTo>
                <a:lnTo>
                  <a:pt x="1303020" y="33045"/>
                </a:lnTo>
                <a:lnTo>
                  <a:pt x="1268730" y="35246"/>
                </a:lnTo>
                <a:lnTo>
                  <a:pt x="1234440" y="37405"/>
                </a:lnTo>
                <a:lnTo>
                  <a:pt x="1200150" y="39510"/>
                </a:lnTo>
                <a:lnTo>
                  <a:pt x="1165860" y="41548"/>
                </a:lnTo>
                <a:lnTo>
                  <a:pt x="1131570" y="43505"/>
                </a:lnTo>
                <a:lnTo>
                  <a:pt x="1097280" y="45371"/>
                </a:lnTo>
                <a:lnTo>
                  <a:pt x="1062990" y="47133"/>
                </a:lnTo>
                <a:lnTo>
                  <a:pt x="1028700" y="48781"/>
                </a:lnTo>
                <a:lnTo>
                  <a:pt x="994410" y="50304"/>
                </a:lnTo>
                <a:lnTo>
                  <a:pt x="960120" y="51693"/>
                </a:lnTo>
                <a:lnTo>
                  <a:pt x="925830" y="52939"/>
                </a:lnTo>
                <a:lnTo>
                  <a:pt x="891540" y="54036"/>
                </a:lnTo>
                <a:lnTo>
                  <a:pt x="857250" y="65988"/>
                </a:lnTo>
                <a:lnTo>
                  <a:pt x="822960" y="89279"/>
                </a:lnTo>
                <a:lnTo>
                  <a:pt x="788670" y="113856"/>
                </a:lnTo>
                <a:lnTo>
                  <a:pt x="754380" y="139713"/>
                </a:lnTo>
                <a:lnTo>
                  <a:pt x="720090" y="166849"/>
                </a:lnTo>
                <a:lnTo>
                  <a:pt x="685800" y="195263"/>
                </a:lnTo>
                <a:lnTo>
                  <a:pt x="651510" y="224952"/>
                </a:lnTo>
                <a:lnTo>
                  <a:pt x="617220" y="255918"/>
                </a:lnTo>
                <a:lnTo>
                  <a:pt x="582930" y="288163"/>
                </a:lnTo>
                <a:lnTo>
                  <a:pt x="548640" y="321689"/>
                </a:lnTo>
                <a:lnTo>
                  <a:pt x="514350" y="356501"/>
                </a:lnTo>
                <a:lnTo>
                  <a:pt x="480060" y="392602"/>
                </a:lnTo>
                <a:lnTo>
                  <a:pt x="445770" y="429998"/>
                </a:lnTo>
                <a:lnTo>
                  <a:pt x="411480" y="468697"/>
                </a:lnTo>
                <a:lnTo>
                  <a:pt x="377190" y="508706"/>
                </a:lnTo>
                <a:lnTo>
                  <a:pt x="342900" y="550034"/>
                </a:lnTo>
                <a:lnTo>
                  <a:pt x="308610" y="592689"/>
                </a:lnTo>
                <a:lnTo>
                  <a:pt x="274320" y="636683"/>
                </a:lnTo>
                <a:lnTo>
                  <a:pt x="240030" y="682026"/>
                </a:lnTo>
                <a:lnTo>
                  <a:pt x="205740" y="728729"/>
                </a:lnTo>
                <a:lnTo>
                  <a:pt x="171450" y="776805"/>
                </a:lnTo>
                <a:lnTo>
                  <a:pt x="137160" y="826266"/>
                </a:lnTo>
                <a:lnTo>
                  <a:pt x="102870" y="877125"/>
                </a:lnTo>
                <a:lnTo>
                  <a:pt x="68580" y="929395"/>
                </a:lnTo>
                <a:lnTo>
                  <a:pt x="34290" y="983091"/>
                </a:lnTo>
                <a:lnTo>
                  <a:pt x="0" y="1038225"/>
                </a:lnTo>
                <a:close/>
              </a:path>
            </a:pathLst>
          </a:custGeom>
          <a:solidFill xmlns:a="http://schemas.openxmlformats.org/drawingml/2006/main">
            <a:srgbClr val="D7E6F2"/>
          </a:solidFill>
          <a:ln xmlns:a="http://schemas.openxmlformats.org/drawingml/2006/main" w="0">
            <a:noFill/>
          </a:ln>
        </p:spPr>
      </p:sp>
      <p:sp>
        <p:nvSpPr>
          <p:cNvPr id="3" name="profile-74">
            <a:extLst xmlns:a="http://schemas.openxmlformats.org/drawingml/2006/main">
              <a:ext uri="{FF2B5EF4-FFF2-40B4-BE49-F238E27FC236}">
                <a16:creationId xmlns:a16="http://schemas.microsoft.com/office/drawing/2014/main" id="{407F39C6-9F90-432B-B7CF-E4AA277AA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0"/>
            <a:ext cx="1371600" cy="1257300"/>
          </a:xfrm>
          <a:custGeom xmlns:a="http://schemas.openxmlformats.org/drawingml/2006/main">
            <a:pathLst>
              <a:path w="1371600" h="1257300">
                <a:moveTo>
                  <a:pt x="0" y="857250"/>
                </a:moveTo>
                <a:lnTo>
                  <a:pt x="34290" y="799874"/>
                </a:lnTo>
                <a:lnTo>
                  <a:pt x="68580" y="743950"/>
                </a:lnTo>
                <a:lnTo>
                  <a:pt x="102870" y="689479"/>
                </a:lnTo>
                <a:lnTo>
                  <a:pt x="137160" y="636461"/>
                </a:lnTo>
                <a:lnTo>
                  <a:pt x="171450" y="584895"/>
                </a:lnTo>
                <a:lnTo>
                  <a:pt x="205740" y="534781"/>
                </a:lnTo>
                <a:lnTo>
                  <a:pt x="240030" y="486120"/>
                </a:lnTo>
                <a:lnTo>
                  <a:pt x="274320" y="438912"/>
                </a:lnTo>
                <a:lnTo>
                  <a:pt x="308610" y="393156"/>
                </a:lnTo>
                <a:lnTo>
                  <a:pt x="342900" y="348853"/>
                </a:lnTo>
                <a:lnTo>
                  <a:pt x="377190" y="306003"/>
                </a:lnTo>
                <a:lnTo>
                  <a:pt x="411480" y="264604"/>
                </a:lnTo>
                <a:lnTo>
                  <a:pt x="445770" y="224659"/>
                </a:lnTo>
                <a:lnTo>
                  <a:pt x="480060" y="186166"/>
                </a:lnTo>
                <a:lnTo>
                  <a:pt x="514350" y="149126"/>
                </a:lnTo>
                <a:lnTo>
                  <a:pt x="548640" y="113538"/>
                </a:lnTo>
                <a:lnTo>
                  <a:pt x="582930" y="79403"/>
                </a:lnTo>
                <a:lnTo>
                  <a:pt x="617220" y="46720"/>
                </a:lnTo>
                <a:lnTo>
                  <a:pt x="651510" y="15490"/>
                </a:lnTo>
                <a:lnTo>
                  <a:pt x="685800" y="0"/>
                </a:lnTo>
                <a:lnTo>
                  <a:pt x="720090" y="0"/>
                </a:lnTo>
                <a:lnTo>
                  <a:pt x="754380" y="0"/>
                </a:lnTo>
                <a:lnTo>
                  <a:pt x="788670" y="0"/>
                </a:lnTo>
                <a:lnTo>
                  <a:pt x="822960" y="0"/>
                </a:lnTo>
                <a:lnTo>
                  <a:pt x="857250" y="0"/>
                </a:lnTo>
                <a:lnTo>
                  <a:pt x="891540" y="0"/>
                </a:lnTo>
                <a:lnTo>
                  <a:pt x="925830" y="0"/>
                </a:lnTo>
                <a:lnTo>
                  <a:pt x="960120" y="0"/>
                </a:lnTo>
                <a:lnTo>
                  <a:pt x="994410" y="0"/>
                </a:lnTo>
                <a:lnTo>
                  <a:pt x="1028700" y="0"/>
                </a:lnTo>
                <a:lnTo>
                  <a:pt x="1062990" y="0"/>
                </a:lnTo>
                <a:lnTo>
                  <a:pt x="1097280" y="0"/>
                </a:lnTo>
                <a:lnTo>
                  <a:pt x="1131570" y="0"/>
                </a:lnTo>
                <a:lnTo>
                  <a:pt x="1165860" y="0"/>
                </a:lnTo>
                <a:lnTo>
                  <a:pt x="1200150" y="0"/>
                </a:lnTo>
                <a:lnTo>
                  <a:pt x="1234440" y="0"/>
                </a:lnTo>
                <a:lnTo>
                  <a:pt x="1268730" y="0"/>
                </a:lnTo>
                <a:lnTo>
                  <a:pt x="1303020" y="0"/>
                </a:lnTo>
                <a:lnTo>
                  <a:pt x="1337310" y="0"/>
                </a:lnTo>
                <a:lnTo>
                  <a:pt x="1371600" y="0"/>
                </a:lnTo>
                <a:lnTo>
                  <a:pt x="1371600" y="28575"/>
                </a:lnTo>
                <a:lnTo>
                  <a:pt x="1337310" y="30817"/>
                </a:lnTo>
                <a:lnTo>
                  <a:pt x="1303020" y="33045"/>
                </a:lnTo>
                <a:lnTo>
                  <a:pt x="1268730" y="35246"/>
                </a:lnTo>
                <a:lnTo>
                  <a:pt x="1234440" y="37405"/>
                </a:lnTo>
                <a:lnTo>
                  <a:pt x="1200150" y="39510"/>
                </a:lnTo>
                <a:lnTo>
                  <a:pt x="1165860" y="41548"/>
                </a:lnTo>
                <a:lnTo>
                  <a:pt x="1131570" y="43505"/>
                </a:lnTo>
                <a:lnTo>
                  <a:pt x="1097280" y="45371"/>
                </a:lnTo>
                <a:lnTo>
                  <a:pt x="1062990" y="47133"/>
                </a:lnTo>
                <a:lnTo>
                  <a:pt x="1028700" y="48781"/>
                </a:lnTo>
                <a:lnTo>
                  <a:pt x="994410" y="50304"/>
                </a:lnTo>
                <a:lnTo>
                  <a:pt x="960120" y="51693"/>
                </a:lnTo>
                <a:lnTo>
                  <a:pt x="925830" y="52939"/>
                </a:lnTo>
                <a:lnTo>
                  <a:pt x="891540" y="54036"/>
                </a:lnTo>
                <a:lnTo>
                  <a:pt x="857250" y="54975"/>
                </a:lnTo>
                <a:lnTo>
                  <a:pt x="822960" y="55751"/>
                </a:lnTo>
                <a:lnTo>
                  <a:pt x="788670" y="56360"/>
                </a:lnTo>
                <a:lnTo>
                  <a:pt x="754380" y="56798"/>
                </a:lnTo>
                <a:lnTo>
                  <a:pt x="720090" y="57062"/>
                </a:lnTo>
                <a:lnTo>
                  <a:pt x="685800" y="57150"/>
                </a:lnTo>
                <a:lnTo>
                  <a:pt x="651510" y="72552"/>
                </a:lnTo>
                <a:lnTo>
                  <a:pt x="617220" y="103518"/>
                </a:lnTo>
                <a:lnTo>
                  <a:pt x="582930" y="135763"/>
                </a:lnTo>
                <a:lnTo>
                  <a:pt x="548640" y="169289"/>
                </a:lnTo>
                <a:lnTo>
                  <a:pt x="514350" y="204101"/>
                </a:lnTo>
                <a:lnTo>
                  <a:pt x="480060" y="240202"/>
                </a:lnTo>
                <a:lnTo>
                  <a:pt x="445770" y="277598"/>
                </a:lnTo>
                <a:lnTo>
                  <a:pt x="411480" y="316297"/>
                </a:lnTo>
                <a:lnTo>
                  <a:pt x="377190" y="356306"/>
                </a:lnTo>
                <a:lnTo>
                  <a:pt x="342900" y="397634"/>
                </a:lnTo>
                <a:lnTo>
                  <a:pt x="308610" y="440289"/>
                </a:lnTo>
                <a:lnTo>
                  <a:pt x="274320" y="484283"/>
                </a:lnTo>
                <a:lnTo>
                  <a:pt x="240030" y="529626"/>
                </a:lnTo>
                <a:lnTo>
                  <a:pt x="205740" y="576329"/>
                </a:lnTo>
                <a:lnTo>
                  <a:pt x="171450" y="624405"/>
                </a:lnTo>
                <a:lnTo>
                  <a:pt x="137160" y="673866"/>
                </a:lnTo>
                <a:lnTo>
                  <a:pt x="102870" y="724725"/>
                </a:lnTo>
                <a:lnTo>
                  <a:pt x="68580" y="776995"/>
                </a:lnTo>
                <a:lnTo>
                  <a:pt x="34290" y="830691"/>
                </a:lnTo>
                <a:lnTo>
                  <a:pt x="0" y="885825"/>
                </a:lnTo>
                <a:close/>
              </a:path>
            </a:pathLst>
          </a:custGeom>
          <a:solidFill xmlns:a="http://schemas.openxmlformats.org/drawingml/2006/main">
            <a:srgbClr val="BED5E8"/>
          </a:solidFill>
          <a:ln xmlns:a="http://schemas.openxmlformats.org/drawingml/2006/main" w="0">
            <a:noFill/>
          </a:ln>
        </p:spPr>
      </p:sp>
      <p:sp>
        <p:nvSpPr>
          <p:cNvPr id="4" name="profile-75">
            <a:extLst xmlns:a="http://schemas.openxmlformats.org/drawingml/2006/main">
              <a:ext uri="{FF2B5EF4-FFF2-40B4-BE49-F238E27FC236}">
                <a16:creationId xmlns:a16="http://schemas.microsoft.com/office/drawing/2014/main" id="{D8A9B836-8708-4FF9-B0B9-C213774E9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12B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17212B"/>
                </a:solidFill>
                <a:latin typeface="Segoe UI"/>
                <a:ea typeface="Segoe UI"/>
                <a:cs typeface="Segoe UI"/>
              </a:rPr>
              <a:t>Oceanides</a:t>
            </a:r>
          </a:p>
        </p:txBody>
      </p:sp>
      <p:sp>
        <p:nvSpPr>
          <p:cNvPr id="5" name="profile-76">
            <a:extLst xmlns:a="http://schemas.openxmlformats.org/drawingml/2006/main">
              <a:ext uri="{FF2B5EF4-FFF2-40B4-BE49-F238E27FC236}">
                <a16:creationId xmlns:a16="http://schemas.microsoft.com/office/drawing/2014/main" id="{1055E4B7-C903-41C6-B09F-DE5F709BE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71475"/>
            <a:ext cx="1981200" cy="2171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Company profile</a:t>
            </a:r>
          </a:p>
        </p:txBody>
      </p:sp>
      <p:sp>
        <p:nvSpPr>
          <p:cNvPr id="6" name="profile-77">
            <a:extLst xmlns:a="http://schemas.openxmlformats.org/drawingml/2006/main">
              <a:ext uri="{FF2B5EF4-FFF2-40B4-BE49-F238E27FC236}">
                <a16:creationId xmlns:a16="http://schemas.microsoft.com/office/drawing/2014/main" id="{D88A9AA3-9975-4563-BFCE-D9C2D1E4E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108204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200" b="0">
                <a:solidFill>
                  <a:srgbClr val="1C63AD"/>
                </a:solidFill>
                <a:latin typeface="Segoe UI"/>
                <a:ea typeface="Segoe UI"/>
                <a:cs typeface="Segoe UI"/>
              </a:defRPr>
            </a:pPr>
            <a:r>
              <a:rPr sz="4200" b="0">
                <a:solidFill>
                  <a:srgbClr val="1C63AD"/>
                </a:solidFill>
                <a:latin typeface="Segoe UI"/>
                <a:ea typeface="Segoe UI"/>
                <a:cs typeface="Segoe UI"/>
              </a:rPr>
              <a:t>Septage treatment</a:t>
            </a:r>
          </a:p>
        </p:txBody>
      </p:sp>
      <p:sp>
        <p:nvSpPr>
          <p:cNvPr id="7" name="profile-78">
            <a:extLst xmlns:a="http://schemas.openxmlformats.org/drawingml/2006/main">
              <a:ext uri="{FF2B5EF4-FFF2-40B4-BE49-F238E27FC236}">
                <a16:creationId xmlns:a16="http://schemas.microsoft.com/office/drawing/2014/main" id="{C2E36EB8-39BB-446F-80F6-5145E6BC0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66875"/>
            <a:ext cx="108204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200" b="0">
                <a:solidFill>
                  <a:srgbClr val="1C63AD"/>
                </a:solidFill>
                <a:latin typeface="Segoe UI"/>
                <a:ea typeface="Segoe UI"/>
                <a:cs typeface="Segoe UI"/>
              </a:defRPr>
            </a:pPr>
            <a:r>
              <a:rPr sz="4200" b="0">
                <a:solidFill>
                  <a:srgbClr val="1C63AD"/>
                </a:solidFill>
                <a:latin typeface="Segoe UI"/>
                <a:ea typeface="Segoe UI"/>
                <a:cs typeface="Segoe UI"/>
              </a:rPr>
              <a:t>facility</a:t>
            </a:r>
          </a:p>
        </p:txBody>
      </p:sp>
      <p:sp>
        <p:nvSpPr>
          <p:cNvPr id="8" name="profile-79">
            <a:extLst xmlns:a="http://schemas.openxmlformats.org/drawingml/2006/main">
              <a:ext uri="{FF2B5EF4-FFF2-40B4-BE49-F238E27FC236}">
                <a16:creationId xmlns:a16="http://schemas.microsoft.com/office/drawing/2014/main" id="{4D0DD635-43B7-4E6D-9EE0-2A0214551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10820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Oceanides offers septage treatment facility projects, coordinating site assessment, the proposed</a:t>
            </a:r>
          </a:p>
        </p:txBody>
      </p:sp>
      <p:sp>
        <p:nvSpPr>
          <p:cNvPr id="9" name="profile-80">
            <a:extLst xmlns:a="http://schemas.openxmlformats.org/drawingml/2006/main">
              <a:ext uri="{FF2B5EF4-FFF2-40B4-BE49-F238E27FC236}">
                <a16:creationId xmlns:a16="http://schemas.microsoft.com/office/drawing/2014/main" id="{5A3FC491-80C9-48D0-9EE0-6A8C1372B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9900"/>
            <a:ext cx="10820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scope and specialist delivery.</a:t>
            </a:r>
          </a:p>
        </p:txBody>
      </p:sp>
      <p:sp>
        <p:nvSpPr>
          <p:cNvPr id="10" name="profile-81">
            <a:extLst xmlns:a="http://schemas.openxmlformats.org/drawingml/2006/main">
              <a:ext uri="{FF2B5EF4-FFF2-40B4-BE49-F238E27FC236}">
                <a16:creationId xmlns:a16="http://schemas.microsoft.com/office/drawing/2014/main" id="{2D1022D5-8AB1-4B59-A094-AF55F5523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67125"/>
            <a:ext cx="108204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9"/>
          </a:solidFill>
          <a:ln xmlns:a="http://schemas.openxmlformats.org/drawingml/2006/main" w="0">
            <a:noFill/>
          </a:ln>
        </p:spPr>
      </p:sp>
      <p:sp>
        <p:nvSpPr>
          <p:cNvPr id="11" name="profile-82">
            <a:extLst xmlns:a="http://schemas.openxmlformats.org/drawingml/2006/main">
              <a:ext uri="{FF2B5EF4-FFF2-40B4-BE49-F238E27FC236}">
                <a16:creationId xmlns:a16="http://schemas.microsoft.com/office/drawing/2014/main" id="{9B8BC647-C4CD-4FAB-A134-FDD0436D8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90975"/>
            <a:ext cx="381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C63AD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1C63AD"/>
                </a:solidFill>
                <a:latin typeface="Segoe UI"/>
                <a:ea typeface="Segoe UI"/>
                <a:cs typeface="Segoe UI"/>
              </a:rPr>
              <a:t>Site assessment</a:t>
            </a:r>
          </a:p>
        </p:txBody>
      </p:sp>
      <p:sp>
        <p:nvSpPr>
          <p:cNvPr id="12" name="profile-83">
            <a:extLst xmlns:a="http://schemas.openxmlformats.org/drawingml/2006/main">
              <a:ext uri="{FF2B5EF4-FFF2-40B4-BE49-F238E27FC236}">
                <a16:creationId xmlns:a16="http://schemas.microsoft.com/office/drawing/2014/main" id="{3CD4755E-B98C-4A20-8277-58DBBB812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029075"/>
            <a:ext cx="6743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Review the site requirements and project scope.</a:t>
            </a:r>
          </a:p>
        </p:txBody>
      </p:sp>
      <p:sp>
        <p:nvSpPr>
          <p:cNvPr id="13" name="profile-84">
            <a:extLst xmlns:a="http://schemas.openxmlformats.org/drawingml/2006/main">
              <a:ext uri="{FF2B5EF4-FFF2-40B4-BE49-F238E27FC236}">
                <a16:creationId xmlns:a16="http://schemas.microsoft.com/office/drawing/2014/main" id="{AAA5D3FE-93AD-4A74-A320-FD62F7C23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52975"/>
            <a:ext cx="381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C63AD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1C63AD"/>
                </a:solidFill>
                <a:latin typeface="Segoe UI"/>
                <a:ea typeface="Segoe UI"/>
                <a:cs typeface="Segoe UI"/>
              </a:rPr>
              <a:t>Scope &amp; quotation</a:t>
            </a:r>
          </a:p>
        </p:txBody>
      </p:sp>
      <p:sp>
        <p:nvSpPr>
          <p:cNvPr id="14" name="profile-85">
            <a:extLst xmlns:a="http://schemas.openxmlformats.org/drawingml/2006/main">
              <a:ext uri="{FF2B5EF4-FFF2-40B4-BE49-F238E27FC236}">
                <a16:creationId xmlns:a16="http://schemas.microsoft.com/office/drawing/2014/main" id="{B0C4D0A1-AE80-44DD-A5ED-05F5BDA10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791075"/>
            <a:ext cx="6743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Define the proposed facility and installation needs.</a:t>
            </a:r>
          </a:p>
        </p:txBody>
      </p:sp>
      <p:sp>
        <p:nvSpPr>
          <p:cNvPr id="15" name="profile-86">
            <a:extLst xmlns:a="http://schemas.openxmlformats.org/drawingml/2006/main">
              <a:ext uri="{FF2B5EF4-FFF2-40B4-BE49-F238E27FC236}">
                <a16:creationId xmlns:a16="http://schemas.microsoft.com/office/drawing/2014/main" id="{6BD951B3-B224-4703-8C7E-FA17B8E6A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14975"/>
            <a:ext cx="381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C63AD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1C63AD"/>
                </a:solidFill>
                <a:latin typeface="Segoe UI"/>
                <a:ea typeface="Segoe UI"/>
                <a:cs typeface="Segoe UI"/>
              </a:rPr>
              <a:t>Specialist coordination</a:t>
            </a:r>
          </a:p>
        </p:txBody>
      </p:sp>
      <p:sp>
        <p:nvSpPr>
          <p:cNvPr id="16" name="profile-87">
            <a:extLst xmlns:a="http://schemas.openxmlformats.org/drawingml/2006/main">
              <a:ext uri="{FF2B5EF4-FFF2-40B4-BE49-F238E27FC236}">
                <a16:creationId xmlns:a16="http://schemas.microsoft.com/office/drawing/2014/main" id="{E2964985-44F2-48E8-8152-A94CB8DF3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553075"/>
            <a:ext cx="6743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Coordinate specialist delivery through turnover.</a:t>
            </a:r>
          </a:p>
        </p:txBody>
      </p:sp>
      <p:sp>
        <p:nvSpPr>
          <p:cNvPr id="17" name="profile-88">
            <a:extLst xmlns:a="http://schemas.openxmlformats.org/drawingml/2006/main">
              <a:ext uri="{FF2B5EF4-FFF2-40B4-BE49-F238E27FC236}">
                <a16:creationId xmlns:a16="http://schemas.microsoft.com/office/drawing/2014/main" id="{498223C8-108B-41E0-98AB-301AD2601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48375"/>
            <a:ext cx="1082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System details, capacity and maintenance requirements follow the agreed technical proposal.</a:t>
            </a:r>
          </a:p>
        </p:txBody>
      </p:sp>
      <p:sp>
        <p:nvSpPr>
          <p:cNvPr id="18" name="profile-89">
            <a:extLst xmlns:a="http://schemas.openxmlformats.org/drawingml/2006/main">
              <a:ext uri="{FF2B5EF4-FFF2-40B4-BE49-F238E27FC236}">
                <a16:creationId xmlns:a16="http://schemas.microsoft.com/office/drawing/2014/main" id="{83077BF6-96CB-42D2-851B-200DCC114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48425"/>
            <a:ext cx="108204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9"/>
          </a:solidFill>
          <a:ln xmlns:a="http://schemas.openxmlformats.org/drawingml/2006/main" w="0">
            <a:noFill/>
          </a:ln>
        </p:spPr>
      </p:sp>
      <p:sp>
        <p:nvSpPr>
          <p:cNvPr id="19" name="profile-90">
            <a:extLst xmlns:a="http://schemas.openxmlformats.org/drawingml/2006/main">
              <a:ext uri="{FF2B5EF4-FFF2-40B4-BE49-F238E27FC236}">
                <a16:creationId xmlns:a16="http://schemas.microsoft.com/office/drawing/2014/main" id="{117DA57C-B38D-4710-A8E3-41CEDD681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Oceanides</a:t>
            </a:r>
          </a:p>
        </p:txBody>
      </p:sp>
      <p:sp>
        <p:nvSpPr>
          <p:cNvPr id="20" name="profile-91">
            <a:extLst xmlns:a="http://schemas.openxmlformats.org/drawingml/2006/main">
              <a:ext uri="{FF2B5EF4-FFF2-40B4-BE49-F238E27FC236}">
                <a16:creationId xmlns:a16="http://schemas.microsoft.com/office/drawing/2014/main" id="{1732070A-AE69-4CE6-BC48-360BCB350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572250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372995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profile-92">
            <a:extLst xmlns:a="http://schemas.openxmlformats.org/drawingml/2006/main">
              <a:ext uri="{FF2B5EF4-FFF2-40B4-BE49-F238E27FC236}">
                <a16:creationId xmlns:a16="http://schemas.microsoft.com/office/drawing/2014/main" id="{F3054070-2A13-46F1-BBB5-C1CAA5AD6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0"/>
            <a:ext cx="1371600" cy="1257300"/>
          </a:xfrm>
          <a:custGeom xmlns:a="http://schemas.openxmlformats.org/drawingml/2006/main">
            <a:pathLst>
              <a:path w="1371600" h="1257300">
                <a:moveTo>
                  <a:pt x="0" y="1162050"/>
                </a:moveTo>
                <a:lnTo>
                  <a:pt x="34290" y="1104674"/>
                </a:lnTo>
                <a:lnTo>
                  <a:pt x="68580" y="1048750"/>
                </a:lnTo>
                <a:lnTo>
                  <a:pt x="102870" y="994279"/>
                </a:lnTo>
                <a:lnTo>
                  <a:pt x="137160" y="941261"/>
                </a:lnTo>
                <a:lnTo>
                  <a:pt x="171450" y="889695"/>
                </a:lnTo>
                <a:lnTo>
                  <a:pt x="205740" y="839581"/>
                </a:lnTo>
                <a:lnTo>
                  <a:pt x="240030" y="790920"/>
                </a:lnTo>
                <a:lnTo>
                  <a:pt x="274320" y="743712"/>
                </a:lnTo>
                <a:lnTo>
                  <a:pt x="308610" y="697956"/>
                </a:lnTo>
                <a:lnTo>
                  <a:pt x="342900" y="653653"/>
                </a:lnTo>
                <a:lnTo>
                  <a:pt x="377190" y="610803"/>
                </a:lnTo>
                <a:lnTo>
                  <a:pt x="411480" y="569405"/>
                </a:lnTo>
                <a:lnTo>
                  <a:pt x="445770" y="529459"/>
                </a:lnTo>
                <a:lnTo>
                  <a:pt x="480060" y="490966"/>
                </a:lnTo>
                <a:lnTo>
                  <a:pt x="514350" y="453926"/>
                </a:lnTo>
                <a:lnTo>
                  <a:pt x="548640" y="418338"/>
                </a:lnTo>
                <a:lnTo>
                  <a:pt x="582930" y="384203"/>
                </a:lnTo>
                <a:lnTo>
                  <a:pt x="617220" y="351520"/>
                </a:lnTo>
                <a:lnTo>
                  <a:pt x="651510" y="320290"/>
                </a:lnTo>
                <a:lnTo>
                  <a:pt x="685800" y="290513"/>
                </a:lnTo>
                <a:lnTo>
                  <a:pt x="720090" y="262188"/>
                </a:lnTo>
                <a:lnTo>
                  <a:pt x="754380" y="235315"/>
                </a:lnTo>
                <a:lnTo>
                  <a:pt x="788670" y="209895"/>
                </a:lnTo>
                <a:lnTo>
                  <a:pt x="822960" y="185928"/>
                </a:lnTo>
                <a:lnTo>
                  <a:pt x="857250" y="163413"/>
                </a:lnTo>
                <a:lnTo>
                  <a:pt x="891540" y="142351"/>
                </a:lnTo>
                <a:lnTo>
                  <a:pt x="925830" y="122742"/>
                </a:lnTo>
                <a:lnTo>
                  <a:pt x="960120" y="104585"/>
                </a:lnTo>
                <a:lnTo>
                  <a:pt x="994410" y="87880"/>
                </a:lnTo>
                <a:lnTo>
                  <a:pt x="1028700" y="72628"/>
                </a:lnTo>
                <a:lnTo>
                  <a:pt x="1062990" y="58829"/>
                </a:lnTo>
                <a:lnTo>
                  <a:pt x="1097280" y="46482"/>
                </a:lnTo>
                <a:lnTo>
                  <a:pt x="1131570" y="35588"/>
                </a:lnTo>
                <a:lnTo>
                  <a:pt x="1165860" y="26146"/>
                </a:lnTo>
                <a:lnTo>
                  <a:pt x="1200150" y="18157"/>
                </a:lnTo>
                <a:lnTo>
                  <a:pt x="1234440" y="11620"/>
                </a:lnTo>
                <a:lnTo>
                  <a:pt x="1268730" y="6537"/>
                </a:lnTo>
                <a:lnTo>
                  <a:pt x="1303020" y="2905"/>
                </a:lnTo>
                <a:lnTo>
                  <a:pt x="1337310" y="726"/>
                </a:lnTo>
                <a:lnTo>
                  <a:pt x="1371600" y="0"/>
                </a:lnTo>
                <a:lnTo>
                  <a:pt x="1371600" y="28575"/>
                </a:lnTo>
                <a:lnTo>
                  <a:pt x="1337310" y="31543"/>
                </a:lnTo>
                <a:lnTo>
                  <a:pt x="1303020" y="35950"/>
                </a:lnTo>
                <a:lnTo>
                  <a:pt x="1268730" y="41782"/>
                </a:lnTo>
                <a:lnTo>
                  <a:pt x="1234440" y="49026"/>
                </a:lnTo>
                <a:lnTo>
                  <a:pt x="1200150" y="57667"/>
                </a:lnTo>
                <a:lnTo>
                  <a:pt x="1165860" y="67694"/>
                </a:lnTo>
                <a:lnTo>
                  <a:pt x="1131570" y="79093"/>
                </a:lnTo>
                <a:lnTo>
                  <a:pt x="1097280" y="91853"/>
                </a:lnTo>
                <a:lnTo>
                  <a:pt x="1062990" y="105962"/>
                </a:lnTo>
                <a:lnTo>
                  <a:pt x="1028700" y="121409"/>
                </a:lnTo>
                <a:lnTo>
                  <a:pt x="994410" y="138184"/>
                </a:lnTo>
                <a:lnTo>
                  <a:pt x="960120" y="156277"/>
                </a:lnTo>
                <a:lnTo>
                  <a:pt x="925830" y="175681"/>
                </a:lnTo>
                <a:lnTo>
                  <a:pt x="891540" y="196387"/>
                </a:lnTo>
                <a:lnTo>
                  <a:pt x="857250" y="218388"/>
                </a:lnTo>
                <a:lnTo>
                  <a:pt x="822960" y="241679"/>
                </a:lnTo>
                <a:lnTo>
                  <a:pt x="788670" y="266256"/>
                </a:lnTo>
                <a:lnTo>
                  <a:pt x="754380" y="292113"/>
                </a:lnTo>
                <a:lnTo>
                  <a:pt x="720090" y="319249"/>
                </a:lnTo>
                <a:lnTo>
                  <a:pt x="685800" y="347663"/>
                </a:lnTo>
                <a:lnTo>
                  <a:pt x="651510" y="377352"/>
                </a:lnTo>
                <a:lnTo>
                  <a:pt x="617220" y="408318"/>
                </a:lnTo>
                <a:lnTo>
                  <a:pt x="582930" y="440563"/>
                </a:lnTo>
                <a:lnTo>
                  <a:pt x="548640" y="474089"/>
                </a:lnTo>
                <a:lnTo>
                  <a:pt x="514350" y="508901"/>
                </a:lnTo>
                <a:lnTo>
                  <a:pt x="480060" y="545002"/>
                </a:lnTo>
                <a:lnTo>
                  <a:pt x="445770" y="582398"/>
                </a:lnTo>
                <a:lnTo>
                  <a:pt x="411480" y="621097"/>
                </a:lnTo>
                <a:lnTo>
                  <a:pt x="377190" y="661106"/>
                </a:lnTo>
                <a:lnTo>
                  <a:pt x="342900" y="702434"/>
                </a:lnTo>
                <a:lnTo>
                  <a:pt x="308610" y="745089"/>
                </a:lnTo>
                <a:lnTo>
                  <a:pt x="274320" y="789083"/>
                </a:lnTo>
                <a:lnTo>
                  <a:pt x="240030" y="834426"/>
                </a:lnTo>
                <a:lnTo>
                  <a:pt x="205740" y="881129"/>
                </a:lnTo>
                <a:lnTo>
                  <a:pt x="171450" y="929205"/>
                </a:lnTo>
                <a:lnTo>
                  <a:pt x="137160" y="978666"/>
                </a:lnTo>
                <a:lnTo>
                  <a:pt x="102870" y="1029525"/>
                </a:lnTo>
                <a:lnTo>
                  <a:pt x="68580" y="1081795"/>
                </a:lnTo>
                <a:lnTo>
                  <a:pt x="34290" y="1135491"/>
                </a:lnTo>
                <a:lnTo>
                  <a:pt x="0" y="1190625"/>
                </a:lnTo>
                <a:close/>
              </a:path>
            </a:pathLst>
          </a:custGeom>
          <a:solidFill xmlns:a="http://schemas.openxmlformats.org/drawingml/2006/main">
            <a:srgbClr val="E5EEF6"/>
          </a:solidFill>
          <a:ln xmlns:a="http://schemas.openxmlformats.org/drawingml/2006/main" w="0">
            <a:noFill/>
          </a:ln>
        </p:spPr>
      </p:sp>
      <p:sp>
        <p:nvSpPr>
          <p:cNvPr id="2" name="profile-93">
            <a:extLst xmlns:a="http://schemas.openxmlformats.org/drawingml/2006/main">
              <a:ext uri="{FF2B5EF4-FFF2-40B4-BE49-F238E27FC236}">
                <a16:creationId xmlns:a16="http://schemas.microsoft.com/office/drawing/2014/main" id="{3B4624E2-1894-4A3B-B1FF-AA0F01602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0"/>
            <a:ext cx="1371600" cy="1257300"/>
          </a:xfrm>
          <a:custGeom xmlns:a="http://schemas.openxmlformats.org/drawingml/2006/main">
            <a:pathLst>
              <a:path w="1371600" h="1257300">
                <a:moveTo>
                  <a:pt x="0" y="1009650"/>
                </a:moveTo>
                <a:lnTo>
                  <a:pt x="34290" y="952274"/>
                </a:lnTo>
                <a:lnTo>
                  <a:pt x="68580" y="896350"/>
                </a:lnTo>
                <a:lnTo>
                  <a:pt x="102870" y="841879"/>
                </a:lnTo>
                <a:lnTo>
                  <a:pt x="137160" y="788861"/>
                </a:lnTo>
                <a:lnTo>
                  <a:pt x="171450" y="737295"/>
                </a:lnTo>
                <a:lnTo>
                  <a:pt x="205740" y="687181"/>
                </a:lnTo>
                <a:lnTo>
                  <a:pt x="240030" y="638520"/>
                </a:lnTo>
                <a:lnTo>
                  <a:pt x="274320" y="591312"/>
                </a:lnTo>
                <a:lnTo>
                  <a:pt x="308610" y="545556"/>
                </a:lnTo>
                <a:lnTo>
                  <a:pt x="342900" y="501253"/>
                </a:lnTo>
                <a:lnTo>
                  <a:pt x="377190" y="458403"/>
                </a:lnTo>
                <a:lnTo>
                  <a:pt x="411480" y="417004"/>
                </a:lnTo>
                <a:lnTo>
                  <a:pt x="445770" y="377059"/>
                </a:lnTo>
                <a:lnTo>
                  <a:pt x="480060" y="338566"/>
                </a:lnTo>
                <a:lnTo>
                  <a:pt x="514350" y="301526"/>
                </a:lnTo>
                <a:lnTo>
                  <a:pt x="548640" y="265938"/>
                </a:lnTo>
                <a:lnTo>
                  <a:pt x="582930" y="231803"/>
                </a:lnTo>
                <a:lnTo>
                  <a:pt x="617220" y="199120"/>
                </a:lnTo>
                <a:lnTo>
                  <a:pt x="651510" y="167890"/>
                </a:lnTo>
                <a:lnTo>
                  <a:pt x="685800" y="138113"/>
                </a:lnTo>
                <a:lnTo>
                  <a:pt x="720090" y="109788"/>
                </a:lnTo>
                <a:lnTo>
                  <a:pt x="754380" y="82915"/>
                </a:lnTo>
                <a:lnTo>
                  <a:pt x="788670" y="57495"/>
                </a:lnTo>
                <a:lnTo>
                  <a:pt x="822960" y="33528"/>
                </a:lnTo>
                <a:lnTo>
                  <a:pt x="857250" y="11013"/>
                </a:lnTo>
                <a:lnTo>
                  <a:pt x="891540" y="0"/>
                </a:lnTo>
                <a:lnTo>
                  <a:pt x="925830" y="0"/>
                </a:lnTo>
                <a:lnTo>
                  <a:pt x="960120" y="0"/>
                </a:lnTo>
                <a:lnTo>
                  <a:pt x="994410" y="0"/>
                </a:lnTo>
                <a:lnTo>
                  <a:pt x="1028700" y="0"/>
                </a:lnTo>
                <a:lnTo>
                  <a:pt x="1062990" y="0"/>
                </a:lnTo>
                <a:lnTo>
                  <a:pt x="1097280" y="0"/>
                </a:lnTo>
                <a:lnTo>
                  <a:pt x="1131570" y="0"/>
                </a:lnTo>
                <a:lnTo>
                  <a:pt x="1165860" y="0"/>
                </a:lnTo>
                <a:lnTo>
                  <a:pt x="1200150" y="0"/>
                </a:lnTo>
                <a:lnTo>
                  <a:pt x="1234440" y="0"/>
                </a:lnTo>
                <a:lnTo>
                  <a:pt x="1268730" y="0"/>
                </a:lnTo>
                <a:lnTo>
                  <a:pt x="1303020" y="0"/>
                </a:lnTo>
                <a:lnTo>
                  <a:pt x="1337310" y="0"/>
                </a:lnTo>
                <a:lnTo>
                  <a:pt x="1371600" y="0"/>
                </a:lnTo>
                <a:lnTo>
                  <a:pt x="1371600" y="28575"/>
                </a:lnTo>
                <a:lnTo>
                  <a:pt x="1337310" y="30817"/>
                </a:lnTo>
                <a:lnTo>
                  <a:pt x="1303020" y="33045"/>
                </a:lnTo>
                <a:lnTo>
                  <a:pt x="1268730" y="35246"/>
                </a:lnTo>
                <a:lnTo>
                  <a:pt x="1234440" y="37405"/>
                </a:lnTo>
                <a:lnTo>
                  <a:pt x="1200150" y="39510"/>
                </a:lnTo>
                <a:lnTo>
                  <a:pt x="1165860" y="41548"/>
                </a:lnTo>
                <a:lnTo>
                  <a:pt x="1131570" y="43505"/>
                </a:lnTo>
                <a:lnTo>
                  <a:pt x="1097280" y="45371"/>
                </a:lnTo>
                <a:lnTo>
                  <a:pt x="1062990" y="47133"/>
                </a:lnTo>
                <a:lnTo>
                  <a:pt x="1028700" y="48781"/>
                </a:lnTo>
                <a:lnTo>
                  <a:pt x="994410" y="50304"/>
                </a:lnTo>
                <a:lnTo>
                  <a:pt x="960120" y="51693"/>
                </a:lnTo>
                <a:lnTo>
                  <a:pt x="925830" y="52939"/>
                </a:lnTo>
                <a:lnTo>
                  <a:pt x="891540" y="54036"/>
                </a:lnTo>
                <a:lnTo>
                  <a:pt x="857250" y="65988"/>
                </a:lnTo>
                <a:lnTo>
                  <a:pt x="822960" y="89279"/>
                </a:lnTo>
                <a:lnTo>
                  <a:pt x="788670" y="113856"/>
                </a:lnTo>
                <a:lnTo>
                  <a:pt x="754380" y="139713"/>
                </a:lnTo>
                <a:lnTo>
                  <a:pt x="720090" y="166849"/>
                </a:lnTo>
                <a:lnTo>
                  <a:pt x="685800" y="195263"/>
                </a:lnTo>
                <a:lnTo>
                  <a:pt x="651510" y="224952"/>
                </a:lnTo>
                <a:lnTo>
                  <a:pt x="617220" y="255918"/>
                </a:lnTo>
                <a:lnTo>
                  <a:pt x="582930" y="288163"/>
                </a:lnTo>
                <a:lnTo>
                  <a:pt x="548640" y="321689"/>
                </a:lnTo>
                <a:lnTo>
                  <a:pt x="514350" y="356501"/>
                </a:lnTo>
                <a:lnTo>
                  <a:pt x="480060" y="392602"/>
                </a:lnTo>
                <a:lnTo>
                  <a:pt x="445770" y="429998"/>
                </a:lnTo>
                <a:lnTo>
                  <a:pt x="411480" y="468697"/>
                </a:lnTo>
                <a:lnTo>
                  <a:pt x="377190" y="508706"/>
                </a:lnTo>
                <a:lnTo>
                  <a:pt x="342900" y="550034"/>
                </a:lnTo>
                <a:lnTo>
                  <a:pt x="308610" y="592689"/>
                </a:lnTo>
                <a:lnTo>
                  <a:pt x="274320" y="636683"/>
                </a:lnTo>
                <a:lnTo>
                  <a:pt x="240030" y="682026"/>
                </a:lnTo>
                <a:lnTo>
                  <a:pt x="205740" y="728729"/>
                </a:lnTo>
                <a:lnTo>
                  <a:pt x="171450" y="776805"/>
                </a:lnTo>
                <a:lnTo>
                  <a:pt x="137160" y="826266"/>
                </a:lnTo>
                <a:lnTo>
                  <a:pt x="102870" y="877125"/>
                </a:lnTo>
                <a:lnTo>
                  <a:pt x="68580" y="929395"/>
                </a:lnTo>
                <a:lnTo>
                  <a:pt x="34290" y="983091"/>
                </a:lnTo>
                <a:lnTo>
                  <a:pt x="0" y="1038225"/>
                </a:lnTo>
                <a:close/>
              </a:path>
            </a:pathLst>
          </a:custGeom>
          <a:solidFill xmlns:a="http://schemas.openxmlformats.org/drawingml/2006/main">
            <a:srgbClr val="D7E6F2"/>
          </a:solidFill>
          <a:ln xmlns:a="http://schemas.openxmlformats.org/drawingml/2006/main" w="0">
            <a:noFill/>
          </a:ln>
        </p:spPr>
      </p:sp>
      <p:sp>
        <p:nvSpPr>
          <p:cNvPr id="3" name="profile-94">
            <a:extLst xmlns:a="http://schemas.openxmlformats.org/drawingml/2006/main">
              <a:ext uri="{FF2B5EF4-FFF2-40B4-BE49-F238E27FC236}">
                <a16:creationId xmlns:a16="http://schemas.microsoft.com/office/drawing/2014/main" id="{4409AB05-B580-477A-893F-98EC28F40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0"/>
            <a:ext cx="1371600" cy="1257300"/>
          </a:xfrm>
          <a:custGeom xmlns:a="http://schemas.openxmlformats.org/drawingml/2006/main">
            <a:pathLst>
              <a:path w="1371600" h="1257300">
                <a:moveTo>
                  <a:pt x="0" y="857250"/>
                </a:moveTo>
                <a:lnTo>
                  <a:pt x="34290" y="799874"/>
                </a:lnTo>
                <a:lnTo>
                  <a:pt x="68580" y="743950"/>
                </a:lnTo>
                <a:lnTo>
                  <a:pt x="102870" y="689479"/>
                </a:lnTo>
                <a:lnTo>
                  <a:pt x="137160" y="636461"/>
                </a:lnTo>
                <a:lnTo>
                  <a:pt x="171450" y="584895"/>
                </a:lnTo>
                <a:lnTo>
                  <a:pt x="205740" y="534781"/>
                </a:lnTo>
                <a:lnTo>
                  <a:pt x="240030" y="486120"/>
                </a:lnTo>
                <a:lnTo>
                  <a:pt x="274320" y="438912"/>
                </a:lnTo>
                <a:lnTo>
                  <a:pt x="308610" y="393156"/>
                </a:lnTo>
                <a:lnTo>
                  <a:pt x="342900" y="348853"/>
                </a:lnTo>
                <a:lnTo>
                  <a:pt x="377190" y="306003"/>
                </a:lnTo>
                <a:lnTo>
                  <a:pt x="411480" y="264604"/>
                </a:lnTo>
                <a:lnTo>
                  <a:pt x="445770" y="224659"/>
                </a:lnTo>
                <a:lnTo>
                  <a:pt x="480060" y="186166"/>
                </a:lnTo>
                <a:lnTo>
                  <a:pt x="514350" y="149126"/>
                </a:lnTo>
                <a:lnTo>
                  <a:pt x="548640" y="113538"/>
                </a:lnTo>
                <a:lnTo>
                  <a:pt x="582930" y="79403"/>
                </a:lnTo>
                <a:lnTo>
                  <a:pt x="617220" y="46720"/>
                </a:lnTo>
                <a:lnTo>
                  <a:pt x="651510" y="15490"/>
                </a:lnTo>
                <a:lnTo>
                  <a:pt x="685800" y="0"/>
                </a:lnTo>
                <a:lnTo>
                  <a:pt x="720090" y="0"/>
                </a:lnTo>
                <a:lnTo>
                  <a:pt x="754380" y="0"/>
                </a:lnTo>
                <a:lnTo>
                  <a:pt x="788670" y="0"/>
                </a:lnTo>
                <a:lnTo>
                  <a:pt x="822960" y="0"/>
                </a:lnTo>
                <a:lnTo>
                  <a:pt x="857250" y="0"/>
                </a:lnTo>
                <a:lnTo>
                  <a:pt x="891540" y="0"/>
                </a:lnTo>
                <a:lnTo>
                  <a:pt x="925830" y="0"/>
                </a:lnTo>
                <a:lnTo>
                  <a:pt x="960120" y="0"/>
                </a:lnTo>
                <a:lnTo>
                  <a:pt x="994410" y="0"/>
                </a:lnTo>
                <a:lnTo>
                  <a:pt x="1028700" y="0"/>
                </a:lnTo>
                <a:lnTo>
                  <a:pt x="1062990" y="0"/>
                </a:lnTo>
                <a:lnTo>
                  <a:pt x="1097280" y="0"/>
                </a:lnTo>
                <a:lnTo>
                  <a:pt x="1131570" y="0"/>
                </a:lnTo>
                <a:lnTo>
                  <a:pt x="1165860" y="0"/>
                </a:lnTo>
                <a:lnTo>
                  <a:pt x="1200150" y="0"/>
                </a:lnTo>
                <a:lnTo>
                  <a:pt x="1234440" y="0"/>
                </a:lnTo>
                <a:lnTo>
                  <a:pt x="1268730" y="0"/>
                </a:lnTo>
                <a:lnTo>
                  <a:pt x="1303020" y="0"/>
                </a:lnTo>
                <a:lnTo>
                  <a:pt x="1337310" y="0"/>
                </a:lnTo>
                <a:lnTo>
                  <a:pt x="1371600" y="0"/>
                </a:lnTo>
                <a:lnTo>
                  <a:pt x="1371600" y="28575"/>
                </a:lnTo>
                <a:lnTo>
                  <a:pt x="1337310" y="30817"/>
                </a:lnTo>
                <a:lnTo>
                  <a:pt x="1303020" y="33045"/>
                </a:lnTo>
                <a:lnTo>
                  <a:pt x="1268730" y="35246"/>
                </a:lnTo>
                <a:lnTo>
                  <a:pt x="1234440" y="37405"/>
                </a:lnTo>
                <a:lnTo>
                  <a:pt x="1200150" y="39510"/>
                </a:lnTo>
                <a:lnTo>
                  <a:pt x="1165860" y="41548"/>
                </a:lnTo>
                <a:lnTo>
                  <a:pt x="1131570" y="43505"/>
                </a:lnTo>
                <a:lnTo>
                  <a:pt x="1097280" y="45371"/>
                </a:lnTo>
                <a:lnTo>
                  <a:pt x="1062990" y="47133"/>
                </a:lnTo>
                <a:lnTo>
                  <a:pt x="1028700" y="48781"/>
                </a:lnTo>
                <a:lnTo>
                  <a:pt x="994410" y="50304"/>
                </a:lnTo>
                <a:lnTo>
                  <a:pt x="960120" y="51693"/>
                </a:lnTo>
                <a:lnTo>
                  <a:pt x="925830" y="52939"/>
                </a:lnTo>
                <a:lnTo>
                  <a:pt x="891540" y="54036"/>
                </a:lnTo>
                <a:lnTo>
                  <a:pt x="857250" y="54975"/>
                </a:lnTo>
                <a:lnTo>
                  <a:pt x="822960" y="55751"/>
                </a:lnTo>
                <a:lnTo>
                  <a:pt x="788670" y="56360"/>
                </a:lnTo>
                <a:lnTo>
                  <a:pt x="754380" y="56798"/>
                </a:lnTo>
                <a:lnTo>
                  <a:pt x="720090" y="57062"/>
                </a:lnTo>
                <a:lnTo>
                  <a:pt x="685800" y="57150"/>
                </a:lnTo>
                <a:lnTo>
                  <a:pt x="651510" y="72552"/>
                </a:lnTo>
                <a:lnTo>
                  <a:pt x="617220" y="103518"/>
                </a:lnTo>
                <a:lnTo>
                  <a:pt x="582930" y="135763"/>
                </a:lnTo>
                <a:lnTo>
                  <a:pt x="548640" y="169289"/>
                </a:lnTo>
                <a:lnTo>
                  <a:pt x="514350" y="204101"/>
                </a:lnTo>
                <a:lnTo>
                  <a:pt x="480060" y="240202"/>
                </a:lnTo>
                <a:lnTo>
                  <a:pt x="445770" y="277598"/>
                </a:lnTo>
                <a:lnTo>
                  <a:pt x="411480" y="316297"/>
                </a:lnTo>
                <a:lnTo>
                  <a:pt x="377190" y="356306"/>
                </a:lnTo>
                <a:lnTo>
                  <a:pt x="342900" y="397634"/>
                </a:lnTo>
                <a:lnTo>
                  <a:pt x="308610" y="440289"/>
                </a:lnTo>
                <a:lnTo>
                  <a:pt x="274320" y="484283"/>
                </a:lnTo>
                <a:lnTo>
                  <a:pt x="240030" y="529626"/>
                </a:lnTo>
                <a:lnTo>
                  <a:pt x="205740" y="576329"/>
                </a:lnTo>
                <a:lnTo>
                  <a:pt x="171450" y="624405"/>
                </a:lnTo>
                <a:lnTo>
                  <a:pt x="137160" y="673866"/>
                </a:lnTo>
                <a:lnTo>
                  <a:pt x="102870" y="724725"/>
                </a:lnTo>
                <a:lnTo>
                  <a:pt x="68580" y="776995"/>
                </a:lnTo>
                <a:lnTo>
                  <a:pt x="34290" y="830691"/>
                </a:lnTo>
                <a:lnTo>
                  <a:pt x="0" y="885825"/>
                </a:lnTo>
                <a:close/>
              </a:path>
            </a:pathLst>
          </a:custGeom>
          <a:solidFill xmlns:a="http://schemas.openxmlformats.org/drawingml/2006/main">
            <a:srgbClr val="BED5E8"/>
          </a:solidFill>
          <a:ln xmlns:a="http://schemas.openxmlformats.org/drawingml/2006/main" w="0">
            <a:noFill/>
          </a:ln>
        </p:spPr>
      </p:sp>
      <p:sp>
        <p:nvSpPr>
          <p:cNvPr id="4" name="profile-95">
            <a:extLst xmlns:a="http://schemas.openxmlformats.org/drawingml/2006/main">
              <a:ext uri="{FF2B5EF4-FFF2-40B4-BE49-F238E27FC236}">
                <a16:creationId xmlns:a16="http://schemas.microsoft.com/office/drawing/2014/main" id="{8AA7C7FF-E0F1-4C2D-AE3A-FEB866769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12B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17212B"/>
                </a:solidFill>
                <a:latin typeface="Segoe UI"/>
                <a:ea typeface="Segoe UI"/>
                <a:cs typeface="Segoe UI"/>
              </a:rPr>
              <a:t>Oceanides</a:t>
            </a:r>
          </a:p>
        </p:txBody>
      </p:sp>
      <p:sp>
        <p:nvSpPr>
          <p:cNvPr id="5" name="profile-96">
            <a:extLst xmlns:a="http://schemas.openxmlformats.org/drawingml/2006/main">
              <a:ext uri="{FF2B5EF4-FFF2-40B4-BE49-F238E27FC236}">
                <a16:creationId xmlns:a16="http://schemas.microsoft.com/office/drawing/2014/main" id="{A2B1D6BD-48BE-49EA-9C39-F16B3E9B0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71475"/>
            <a:ext cx="1981200" cy="2171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Company profile</a:t>
            </a:r>
          </a:p>
        </p:txBody>
      </p:sp>
      <p:sp>
        <p:nvSpPr>
          <p:cNvPr id="6" name="profile-97">
            <a:extLst xmlns:a="http://schemas.openxmlformats.org/drawingml/2006/main">
              <a:ext uri="{FF2B5EF4-FFF2-40B4-BE49-F238E27FC236}">
                <a16:creationId xmlns:a16="http://schemas.microsoft.com/office/drawing/2014/main" id="{3969F633-8668-460F-AB9B-0B6B84472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23950"/>
            <a:ext cx="51244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0">
                <a:solidFill>
                  <a:srgbClr val="1C63AD"/>
                </a:solidFill>
                <a:latin typeface="Segoe UI"/>
                <a:ea typeface="Segoe UI"/>
                <a:cs typeface="Segoe UI"/>
              </a:defRPr>
            </a:pPr>
            <a:r>
              <a:rPr sz="3900" b="0">
                <a:solidFill>
                  <a:srgbClr val="1C63AD"/>
                </a:solidFill>
                <a:latin typeface="Segoe UI"/>
                <a:ea typeface="Segoe UI"/>
                <a:cs typeface="Segoe UI"/>
              </a:rPr>
              <a:t>Renovation &amp;</a:t>
            </a:r>
          </a:p>
        </p:txBody>
      </p:sp>
      <p:sp>
        <p:nvSpPr>
          <p:cNvPr id="7" name="profile-98">
            <a:extLst xmlns:a="http://schemas.openxmlformats.org/drawingml/2006/main">
              <a:ext uri="{FF2B5EF4-FFF2-40B4-BE49-F238E27FC236}">
                <a16:creationId xmlns:a16="http://schemas.microsoft.com/office/drawing/2014/main" id="{5727F1B1-4942-499D-BBBA-A65F2E42A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04975"/>
            <a:ext cx="51244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0">
                <a:solidFill>
                  <a:srgbClr val="1C63AD"/>
                </a:solidFill>
                <a:latin typeface="Segoe UI"/>
                <a:ea typeface="Segoe UI"/>
                <a:cs typeface="Segoe UI"/>
              </a:defRPr>
            </a:pPr>
            <a:r>
              <a:rPr sz="3900" b="0">
                <a:solidFill>
                  <a:srgbClr val="1C63AD"/>
                </a:solidFill>
                <a:latin typeface="Segoe UI"/>
                <a:ea typeface="Segoe UI"/>
                <a:cs typeface="Segoe UI"/>
              </a:rPr>
              <a:t>restoration</a:t>
            </a:r>
          </a:p>
        </p:txBody>
      </p:sp>
      <p:sp>
        <p:nvSpPr>
          <p:cNvPr id="8" name="profile-99">
            <a:extLst xmlns:a="http://schemas.openxmlformats.org/drawingml/2006/main">
              <a:ext uri="{FF2B5EF4-FFF2-40B4-BE49-F238E27FC236}">
                <a16:creationId xmlns:a16="http://schemas.microsoft.com/office/drawing/2014/main" id="{7BF7D081-2FB6-409A-96A3-125060BBA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90800"/>
            <a:ext cx="504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Repair and improvement work for</a:t>
            </a:r>
          </a:p>
        </p:txBody>
      </p:sp>
      <p:sp>
        <p:nvSpPr>
          <p:cNvPr id="9" name="profile-100">
            <a:extLst xmlns:a="http://schemas.openxmlformats.org/drawingml/2006/main">
              <a:ext uri="{FF2B5EF4-FFF2-40B4-BE49-F238E27FC236}">
                <a16:creationId xmlns:a16="http://schemas.microsoft.com/office/drawing/2014/main" id="{C7254A96-7FBA-4BFB-AF0C-6FD09F1B7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33700"/>
            <a:ext cx="504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houses and condominiums.</a:t>
            </a:r>
          </a:p>
        </p:txBody>
      </p:sp>
      <p:sp>
        <p:nvSpPr>
          <p:cNvPr id="10" name="profile-101">
            <a:extLst xmlns:a="http://schemas.openxmlformats.org/drawingml/2006/main">
              <a:ext uri="{FF2B5EF4-FFF2-40B4-BE49-F238E27FC236}">
                <a16:creationId xmlns:a16="http://schemas.microsoft.com/office/drawing/2014/main" id="{8864E7FA-4E30-44AF-B4A8-6BBF4054A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290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C63AD"/>
                </a:solidFill>
                <a:latin typeface="Segoe UI"/>
                <a:ea typeface="Segoe UI"/>
                <a:cs typeface="Segoe UI"/>
              </a:defRPr>
            </a:pPr>
            <a:r>
              <a:rPr sz="1800" b="1">
                <a:solidFill>
                  <a:srgbClr val="1C63AD"/>
                </a:solidFill>
                <a:latin typeface="Segoe UI"/>
                <a:ea typeface="Segoe UI"/>
                <a:cs typeface="Segoe UI"/>
              </a:rPr>
              <a:t>Ceilings</a:t>
            </a:r>
          </a:p>
        </p:txBody>
      </p:sp>
      <p:sp>
        <p:nvSpPr>
          <p:cNvPr id="11" name="profile-102">
            <a:extLst xmlns:a="http://schemas.openxmlformats.org/drawingml/2006/main">
              <a:ext uri="{FF2B5EF4-FFF2-40B4-BE49-F238E27FC236}">
                <a16:creationId xmlns:a16="http://schemas.microsoft.com/office/drawing/2014/main" id="{EDE17DB5-38D4-44C9-AC38-A6788391F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38625"/>
            <a:ext cx="2476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Repair and</a:t>
            </a:r>
          </a:p>
        </p:txBody>
      </p:sp>
      <p:sp>
        <p:nvSpPr>
          <p:cNvPr id="12" name="profile-103">
            <a:extLst xmlns:a="http://schemas.openxmlformats.org/drawingml/2006/main">
              <a:ext uri="{FF2B5EF4-FFF2-40B4-BE49-F238E27FC236}">
                <a16:creationId xmlns:a16="http://schemas.microsoft.com/office/drawing/2014/main" id="{FBDC81ED-BE6B-4705-AB4F-D67EEFA3E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33900"/>
            <a:ext cx="2476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replacement</a:t>
            </a:r>
          </a:p>
        </p:txBody>
      </p:sp>
      <p:sp>
        <p:nvSpPr>
          <p:cNvPr id="13" name="profile-104">
            <a:extLst xmlns:a="http://schemas.openxmlformats.org/drawingml/2006/main">
              <a:ext uri="{FF2B5EF4-FFF2-40B4-BE49-F238E27FC236}">
                <a16:creationId xmlns:a16="http://schemas.microsoft.com/office/drawing/2014/main" id="{97D3CEE3-7BAF-4BED-ABB2-2B277B4C0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8290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C63AD"/>
                </a:solidFill>
                <a:latin typeface="Segoe UI"/>
                <a:ea typeface="Segoe UI"/>
                <a:cs typeface="Segoe UI"/>
              </a:defRPr>
            </a:pPr>
            <a:r>
              <a:rPr sz="1800" b="1">
                <a:solidFill>
                  <a:srgbClr val="1C63AD"/>
                </a:solidFill>
                <a:latin typeface="Segoe UI"/>
                <a:ea typeface="Segoe UI"/>
                <a:cs typeface="Segoe UI"/>
              </a:rPr>
              <a:t>Water protection</a:t>
            </a:r>
          </a:p>
        </p:txBody>
      </p:sp>
      <p:sp>
        <p:nvSpPr>
          <p:cNvPr id="14" name="profile-105">
            <a:extLst xmlns:a="http://schemas.openxmlformats.org/drawingml/2006/main">
              <a:ext uri="{FF2B5EF4-FFF2-40B4-BE49-F238E27FC236}">
                <a16:creationId xmlns:a16="http://schemas.microsoft.com/office/drawing/2014/main" id="{9AE6F718-FBC8-4C1D-A67F-89C0387B6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238625"/>
            <a:ext cx="2476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Roof leak repair</a:t>
            </a:r>
          </a:p>
        </p:txBody>
      </p:sp>
      <p:sp>
        <p:nvSpPr>
          <p:cNvPr id="15" name="profile-106">
            <a:extLst xmlns:a="http://schemas.openxmlformats.org/drawingml/2006/main">
              <a:ext uri="{FF2B5EF4-FFF2-40B4-BE49-F238E27FC236}">
                <a16:creationId xmlns:a16="http://schemas.microsoft.com/office/drawing/2014/main" id="{52D2B6E2-5C75-4C57-B9D5-02C75DDBC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533900"/>
            <a:ext cx="2476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and waterproofing</a:t>
            </a:r>
          </a:p>
        </p:txBody>
      </p:sp>
      <p:sp>
        <p:nvSpPr>
          <p:cNvPr id="16" name="profile-107">
            <a:extLst xmlns:a="http://schemas.openxmlformats.org/drawingml/2006/main">
              <a:ext uri="{FF2B5EF4-FFF2-40B4-BE49-F238E27FC236}">
                <a16:creationId xmlns:a16="http://schemas.microsoft.com/office/drawing/2014/main" id="{D4A6E71E-A439-4BDE-B488-1F8565584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054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C63AD"/>
                </a:solidFill>
                <a:latin typeface="Segoe UI"/>
                <a:ea typeface="Segoe UI"/>
                <a:cs typeface="Segoe UI"/>
              </a:defRPr>
            </a:pPr>
            <a:r>
              <a:rPr sz="1800" b="1">
                <a:solidFill>
                  <a:srgbClr val="1C63AD"/>
                </a:solidFill>
                <a:latin typeface="Segoe UI"/>
                <a:ea typeface="Segoe UI"/>
                <a:cs typeface="Segoe UI"/>
              </a:rPr>
              <a:t>Renovation</a:t>
            </a:r>
          </a:p>
        </p:txBody>
      </p:sp>
      <p:sp>
        <p:nvSpPr>
          <p:cNvPr id="17" name="profile-108">
            <a:extLst xmlns:a="http://schemas.openxmlformats.org/drawingml/2006/main">
              <a:ext uri="{FF2B5EF4-FFF2-40B4-BE49-F238E27FC236}">
                <a16:creationId xmlns:a16="http://schemas.microsoft.com/office/drawing/2014/main" id="{5C9BA952-C882-40A7-B0FC-EE6426889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14975"/>
            <a:ext cx="2476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Restoration of houses</a:t>
            </a:r>
          </a:p>
        </p:txBody>
      </p:sp>
      <p:sp>
        <p:nvSpPr>
          <p:cNvPr id="18" name="profile-109">
            <a:extLst xmlns:a="http://schemas.openxmlformats.org/drawingml/2006/main">
              <a:ext uri="{FF2B5EF4-FFF2-40B4-BE49-F238E27FC236}">
                <a16:creationId xmlns:a16="http://schemas.microsoft.com/office/drawing/2014/main" id="{B5C81DE5-813E-40A9-965C-EC076625D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2476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and condominiums</a:t>
            </a:r>
          </a:p>
        </p:txBody>
      </p:sp>
      <p:sp>
        <p:nvSpPr>
          <p:cNvPr id="19" name="profile-110">
            <a:extLst xmlns:a="http://schemas.openxmlformats.org/drawingml/2006/main">
              <a:ext uri="{FF2B5EF4-FFF2-40B4-BE49-F238E27FC236}">
                <a16:creationId xmlns:a16="http://schemas.microsoft.com/office/drawing/2014/main" id="{AE160AAD-0177-484E-BB87-AFB379A3A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1054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C63AD"/>
                </a:solidFill>
                <a:latin typeface="Segoe UI"/>
                <a:ea typeface="Segoe UI"/>
                <a:cs typeface="Segoe UI"/>
              </a:defRPr>
            </a:pPr>
            <a:r>
              <a:rPr sz="1800" b="1">
                <a:solidFill>
                  <a:srgbClr val="1C63AD"/>
                </a:solidFill>
                <a:latin typeface="Segoe UI"/>
                <a:ea typeface="Segoe UI"/>
                <a:cs typeface="Segoe UI"/>
              </a:rPr>
              <a:t>Cleaning</a:t>
            </a:r>
          </a:p>
        </p:txBody>
      </p:sp>
      <p:sp>
        <p:nvSpPr>
          <p:cNvPr id="20" name="profile-111">
            <a:extLst xmlns:a="http://schemas.openxmlformats.org/drawingml/2006/main">
              <a:ext uri="{FF2B5EF4-FFF2-40B4-BE49-F238E27FC236}">
                <a16:creationId xmlns:a16="http://schemas.microsoft.com/office/drawing/2014/main" id="{6D2AE305-EF7A-4A35-8F1A-C9022C148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514975"/>
            <a:ext cx="2476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House cleaning to</a:t>
            </a:r>
          </a:p>
        </p:txBody>
      </p:sp>
      <p:sp>
        <p:nvSpPr>
          <p:cNvPr id="21" name="profile-112">
            <a:extLst xmlns:a="http://schemas.openxmlformats.org/drawingml/2006/main">
              <a:ext uri="{FF2B5EF4-FFF2-40B4-BE49-F238E27FC236}">
                <a16:creationId xmlns:a16="http://schemas.microsoft.com/office/drawing/2014/main" id="{56D97536-603A-428D-9195-50D249D4B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810250"/>
            <a:ext cx="2476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agreed scope</a:t>
            </a:r>
          </a:p>
        </p:txBody>
      </p:sp>
      <p:pic>
        <p:nvPicPr>
          <p:cNvPr id="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978e4cbbb2456e"/>
          <a:stretch xmlns:a="http://schemas.openxmlformats.org/drawingml/2006/main"/>
        </p:blipFill>
        <p:spPr>
          <a:xfrm xmlns:a="http://schemas.openxmlformats.org/drawingml/2006/main">
            <a:off x="6096000" y="1714500"/>
            <a:ext cx="5410200" cy="3606800"/>
          </a:xfrm>
          <a:prstGeom xmlns:a="http://schemas.openxmlformats.org/drawingml/2006/main" prst="rect">
            <a:avLst/>
          </a:prstGeom>
        </p:spPr>
      </p:pic>
      <p:sp>
        <p:nvSpPr>
          <p:cNvPr id="23" name="profile-113">
            <a:extLst xmlns:a="http://schemas.openxmlformats.org/drawingml/2006/main">
              <a:ext uri="{FF2B5EF4-FFF2-40B4-BE49-F238E27FC236}">
                <a16:creationId xmlns:a16="http://schemas.microsoft.com/office/drawing/2014/main" id="{8C4E452A-63D1-4127-820E-CE330BD1E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514975"/>
            <a:ext cx="5410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AI-generated service illustration</a:t>
            </a:r>
          </a:p>
        </p:txBody>
      </p:sp>
      <p:sp>
        <p:nvSpPr>
          <p:cNvPr id="24" name="profile-114">
            <a:extLst xmlns:a="http://schemas.openxmlformats.org/drawingml/2006/main">
              <a:ext uri="{FF2B5EF4-FFF2-40B4-BE49-F238E27FC236}">
                <a16:creationId xmlns:a16="http://schemas.microsoft.com/office/drawing/2014/main" id="{6522E7A3-D4DB-46BD-94DB-0ABD4D7BA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48425"/>
            <a:ext cx="108204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9"/>
          </a:solidFill>
          <a:ln xmlns:a="http://schemas.openxmlformats.org/drawingml/2006/main" w="0">
            <a:noFill/>
          </a:ln>
        </p:spPr>
      </p:sp>
      <p:sp>
        <p:nvSpPr>
          <p:cNvPr id="25" name="profile-115">
            <a:extLst xmlns:a="http://schemas.openxmlformats.org/drawingml/2006/main">
              <a:ext uri="{FF2B5EF4-FFF2-40B4-BE49-F238E27FC236}">
                <a16:creationId xmlns:a16="http://schemas.microsoft.com/office/drawing/2014/main" id="{94524CCC-4FD9-4033-BE47-47BB6D6F9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Oceanides</a:t>
            </a:r>
          </a:p>
        </p:txBody>
      </p:sp>
      <p:sp>
        <p:nvSpPr>
          <p:cNvPr id="26" name="profile-116">
            <a:extLst xmlns:a="http://schemas.openxmlformats.org/drawingml/2006/main">
              <a:ext uri="{FF2B5EF4-FFF2-40B4-BE49-F238E27FC236}">
                <a16:creationId xmlns:a16="http://schemas.microsoft.com/office/drawing/2014/main" id="{FDF86D50-F95D-4083-9DC7-BBA792905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572250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5722152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profile-117">
            <a:extLst xmlns:a="http://schemas.openxmlformats.org/drawingml/2006/main">
              <a:ext uri="{FF2B5EF4-FFF2-40B4-BE49-F238E27FC236}">
                <a16:creationId xmlns:a16="http://schemas.microsoft.com/office/drawing/2014/main" id="{253552CE-A21F-4BCC-BC37-29CF0F61E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0"/>
            <a:ext cx="1371600" cy="1257300"/>
          </a:xfrm>
          <a:custGeom xmlns:a="http://schemas.openxmlformats.org/drawingml/2006/main">
            <a:pathLst>
              <a:path w="1371600" h="1257300">
                <a:moveTo>
                  <a:pt x="0" y="1162050"/>
                </a:moveTo>
                <a:lnTo>
                  <a:pt x="34290" y="1104674"/>
                </a:lnTo>
                <a:lnTo>
                  <a:pt x="68580" y="1048750"/>
                </a:lnTo>
                <a:lnTo>
                  <a:pt x="102870" y="994279"/>
                </a:lnTo>
                <a:lnTo>
                  <a:pt x="137160" y="941261"/>
                </a:lnTo>
                <a:lnTo>
                  <a:pt x="171450" y="889695"/>
                </a:lnTo>
                <a:lnTo>
                  <a:pt x="205740" y="839581"/>
                </a:lnTo>
                <a:lnTo>
                  <a:pt x="240030" y="790920"/>
                </a:lnTo>
                <a:lnTo>
                  <a:pt x="274320" y="743712"/>
                </a:lnTo>
                <a:lnTo>
                  <a:pt x="308610" y="697956"/>
                </a:lnTo>
                <a:lnTo>
                  <a:pt x="342900" y="653653"/>
                </a:lnTo>
                <a:lnTo>
                  <a:pt x="377190" y="610803"/>
                </a:lnTo>
                <a:lnTo>
                  <a:pt x="411480" y="569405"/>
                </a:lnTo>
                <a:lnTo>
                  <a:pt x="445770" y="529459"/>
                </a:lnTo>
                <a:lnTo>
                  <a:pt x="480060" y="490966"/>
                </a:lnTo>
                <a:lnTo>
                  <a:pt x="514350" y="453926"/>
                </a:lnTo>
                <a:lnTo>
                  <a:pt x="548640" y="418338"/>
                </a:lnTo>
                <a:lnTo>
                  <a:pt x="582930" y="384203"/>
                </a:lnTo>
                <a:lnTo>
                  <a:pt x="617220" y="351520"/>
                </a:lnTo>
                <a:lnTo>
                  <a:pt x="651510" y="320290"/>
                </a:lnTo>
                <a:lnTo>
                  <a:pt x="685800" y="290513"/>
                </a:lnTo>
                <a:lnTo>
                  <a:pt x="720090" y="262188"/>
                </a:lnTo>
                <a:lnTo>
                  <a:pt x="754380" y="235315"/>
                </a:lnTo>
                <a:lnTo>
                  <a:pt x="788670" y="209895"/>
                </a:lnTo>
                <a:lnTo>
                  <a:pt x="822960" y="185928"/>
                </a:lnTo>
                <a:lnTo>
                  <a:pt x="857250" y="163413"/>
                </a:lnTo>
                <a:lnTo>
                  <a:pt x="891540" y="142351"/>
                </a:lnTo>
                <a:lnTo>
                  <a:pt x="925830" y="122742"/>
                </a:lnTo>
                <a:lnTo>
                  <a:pt x="960120" y="104585"/>
                </a:lnTo>
                <a:lnTo>
                  <a:pt x="994410" y="87880"/>
                </a:lnTo>
                <a:lnTo>
                  <a:pt x="1028700" y="72628"/>
                </a:lnTo>
                <a:lnTo>
                  <a:pt x="1062990" y="58829"/>
                </a:lnTo>
                <a:lnTo>
                  <a:pt x="1097280" y="46482"/>
                </a:lnTo>
                <a:lnTo>
                  <a:pt x="1131570" y="35588"/>
                </a:lnTo>
                <a:lnTo>
                  <a:pt x="1165860" y="26146"/>
                </a:lnTo>
                <a:lnTo>
                  <a:pt x="1200150" y="18157"/>
                </a:lnTo>
                <a:lnTo>
                  <a:pt x="1234440" y="11620"/>
                </a:lnTo>
                <a:lnTo>
                  <a:pt x="1268730" y="6537"/>
                </a:lnTo>
                <a:lnTo>
                  <a:pt x="1303020" y="2905"/>
                </a:lnTo>
                <a:lnTo>
                  <a:pt x="1337310" y="726"/>
                </a:lnTo>
                <a:lnTo>
                  <a:pt x="1371600" y="0"/>
                </a:lnTo>
                <a:lnTo>
                  <a:pt x="1371600" y="28575"/>
                </a:lnTo>
                <a:lnTo>
                  <a:pt x="1337310" y="31543"/>
                </a:lnTo>
                <a:lnTo>
                  <a:pt x="1303020" y="35950"/>
                </a:lnTo>
                <a:lnTo>
                  <a:pt x="1268730" y="41782"/>
                </a:lnTo>
                <a:lnTo>
                  <a:pt x="1234440" y="49026"/>
                </a:lnTo>
                <a:lnTo>
                  <a:pt x="1200150" y="57667"/>
                </a:lnTo>
                <a:lnTo>
                  <a:pt x="1165860" y="67694"/>
                </a:lnTo>
                <a:lnTo>
                  <a:pt x="1131570" y="79093"/>
                </a:lnTo>
                <a:lnTo>
                  <a:pt x="1097280" y="91853"/>
                </a:lnTo>
                <a:lnTo>
                  <a:pt x="1062990" y="105962"/>
                </a:lnTo>
                <a:lnTo>
                  <a:pt x="1028700" y="121409"/>
                </a:lnTo>
                <a:lnTo>
                  <a:pt x="994410" y="138184"/>
                </a:lnTo>
                <a:lnTo>
                  <a:pt x="960120" y="156277"/>
                </a:lnTo>
                <a:lnTo>
                  <a:pt x="925830" y="175681"/>
                </a:lnTo>
                <a:lnTo>
                  <a:pt x="891540" y="196387"/>
                </a:lnTo>
                <a:lnTo>
                  <a:pt x="857250" y="218388"/>
                </a:lnTo>
                <a:lnTo>
                  <a:pt x="822960" y="241679"/>
                </a:lnTo>
                <a:lnTo>
                  <a:pt x="788670" y="266256"/>
                </a:lnTo>
                <a:lnTo>
                  <a:pt x="754380" y="292113"/>
                </a:lnTo>
                <a:lnTo>
                  <a:pt x="720090" y="319249"/>
                </a:lnTo>
                <a:lnTo>
                  <a:pt x="685800" y="347663"/>
                </a:lnTo>
                <a:lnTo>
                  <a:pt x="651510" y="377352"/>
                </a:lnTo>
                <a:lnTo>
                  <a:pt x="617220" y="408318"/>
                </a:lnTo>
                <a:lnTo>
                  <a:pt x="582930" y="440563"/>
                </a:lnTo>
                <a:lnTo>
                  <a:pt x="548640" y="474089"/>
                </a:lnTo>
                <a:lnTo>
                  <a:pt x="514350" y="508901"/>
                </a:lnTo>
                <a:lnTo>
                  <a:pt x="480060" y="545002"/>
                </a:lnTo>
                <a:lnTo>
                  <a:pt x="445770" y="582398"/>
                </a:lnTo>
                <a:lnTo>
                  <a:pt x="411480" y="621097"/>
                </a:lnTo>
                <a:lnTo>
                  <a:pt x="377190" y="661106"/>
                </a:lnTo>
                <a:lnTo>
                  <a:pt x="342900" y="702434"/>
                </a:lnTo>
                <a:lnTo>
                  <a:pt x="308610" y="745089"/>
                </a:lnTo>
                <a:lnTo>
                  <a:pt x="274320" y="789083"/>
                </a:lnTo>
                <a:lnTo>
                  <a:pt x="240030" y="834426"/>
                </a:lnTo>
                <a:lnTo>
                  <a:pt x="205740" y="881129"/>
                </a:lnTo>
                <a:lnTo>
                  <a:pt x="171450" y="929205"/>
                </a:lnTo>
                <a:lnTo>
                  <a:pt x="137160" y="978666"/>
                </a:lnTo>
                <a:lnTo>
                  <a:pt x="102870" y="1029525"/>
                </a:lnTo>
                <a:lnTo>
                  <a:pt x="68580" y="1081795"/>
                </a:lnTo>
                <a:lnTo>
                  <a:pt x="34290" y="1135491"/>
                </a:lnTo>
                <a:lnTo>
                  <a:pt x="0" y="1190625"/>
                </a:lnTo>
                <a:close/>
              </a:path>
            </a:pathLst>
          </a:custGeom>
          <a:solidFill xmlns:a="http://schemas.openxmlformats.org/drawingml/2006/main">
            <a:srgbClr val="E5EEF6"/>
          </a:solidFill>
          <a:ln xmlns:a="http://schemas.openxmlformats.org/drawingml/2006/main" w="0">
            <a:noFill/>
          </a:ln>
        </p:spPr>
      </p:sp>
      <p:sp>
        <p:nvSpPr>
          <p:cNvPr id="2" name="profile-118">
            <a:extLst xmlns:a="http://schemas.openxmlformats.org/drawingml/2006/main">
              <a:ext uri="{FF2B5EF4-FFF2-40B4-BE49-F238E27FC236}">
                <a16:creationId xmlns:a16="http://schemas.microsoft.com/office/drawing/2014/main" id="{796A1F31-935B-46CF-A364-1788313D0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0"/>
            <a:ext cx="1371600" cy="1257300"/>
          </a:xfrm>
          <a:custGeom xmlns:a="http://schemas.openxmlformats.org/drawingml/2006/main">
            <a:pathLst>
              <a:path w="1371600" h="1257300">
                <a:moveTo>
                  <a:pt x="0" y="1009650"/>
                </a:moveTo>
                <a:lnTo>
                  <a:pt x="34290" y="952274"/>
                </a:lnTo>
                <a:lnTo>
                  <a:pt x="68580" y="896350"/>
                </a:lnTo>
                <a:lnTo>
                  <a:pt x="102870" y="841879"/>
                </a:lnTo>
                <a:lnTo>
                  <a:pt x="137160" y="788861"/>
                </a:lnTo>
                <a:lnTo>
                  <a:pt x="171450" y="737295"/>
                </a:lnTo>
                <a:lnTo>
                  <a:pt x="205740" y="687181"/>
                </a:lnTo>
                <a:lnTo>
                  <a:pt x="240030" y="638520"/>
                </a:lnTo>
                <a:lnTo>
                  <a:pt x="274320" y="591312"/>
                </a:lnTo>
                <a:lnTo>
                  <a:pt x="308610" y="545556"/>
                </a:lnTo>
                <a:lnTo>
                  <a:pt x="342900" y="501253"/>
                </a:lnTo>
                <a:lnTo>
                  <a:pt x="377190" y="458403"/>
                </a:lnTo>
                <a:lnTo>
                  <a:pt x="411480" y="417004"/>
                </a:lnTo>
                <a:lnTo>
                  <a:pt x="445770" y="377059"/>
                </a:lnTo>
                <a:lnTo>
                  <a:pt x="480060" y="338566"/>
                </a:lnTo>
                <a:lnTo>
                  <a:pt x="514350" y="301526"/>
                </a:lnTo>
                <a:lnTo>
                  <a:pt x="548640" y="265938"/>
                </a:lnTo>
                <a:lnTo>
                  <a:pt x="582930" y="231803"/>
                </a:lnTo>
                <a:lnTo>
                  <a:pt x="617220" y="199120"/>
                </a:lnTo>
                <a:lnTo>
                  <a:pt x="651510" y="167890"/>
                </a:lnTo>
                <a:lnTo>
                  <a:pt x="685800" y="138113"/>
                </a:lnTo>
                <a:lnTo>
                  <a:pt x="720090" y="109788"/>
                </a:lnTo>
                <a:lnTo>
                  <a:pt x="754380" y="82915"/>
                </a:lnTo>
                <a:lnTo>
                  <a:pt x="788670" y="57495"/>
                </a:lnTo>
                <a:lnTo>
                  <a:pt x="822960" y="33528"/>
                </a:lnTo>
                <a:lnTo>
                  <a:pt x="857250" y="11013"/>
                </a:lnTo>
                <a:lnTo>
                  <a:pt x="891540" y="0"/>
                </a:lnTo>
                <a:lnTo>
                  <a:pt x="925830" y="0"/>
                </a:lnTo>
                <a:lnTo>
                  <a:pt x="960120" y="0"/>
                </a:lnTo>
                <a:lnTo>
                  <a:pt x="994410" y="0"/>
                </a:lnTo>
                <a:lnTo>
                  <a:pt x="1028700" y="0"/>
                </a:lnTo>
                <a:lnTo>
                  <a:pt x="1062990" y="0"/>
                </a:lnTo>
                <a:lnTo>
                  <a:pt x="1097280" y="0"/>
                </a:lnTo>
                <a:lnTo>
                  <a:pt x="1131570" y="0"/>
                </a:lnTo>
                <a:lnTo>
                  <a:pt x="1165860" y="0"/>
                </a:lnTo>
                <a:lnTo>
                  <a:pt x="1200150" y="0"/>
                </a:lnTo>
                <a:lnTo>
                  <a:pt x="1234440" y="0"/>
                </a:lnTo>
                <a:lnTo>
                  <a:pt x="1268730" y="0"/>
                </a:lnTo>
                <a:lnTo>
                  <a:pt x="1303020" y="0"/>
                </a:lnTo>
                <a:lnTo>
                  <a:pt x="1337310" y="0"/>
                </a:lnTo>
                <a:lnTo>
                  <a:pt x="1371600" y="0"/>
                </a:lnTo>
                <a:lnTo>
                  <a:pt x="1371600" y="28575"/>
                </a:lnTo>
                <a:lnTo>
                  <a:pt x="1337310" y="30817"/>
                </a:lnTo>
                <a:lnTo>
                  <a:pt x="1303020" y="33045"/>
                </a:lnTo>
                <a:lnTo>
                  <a:pt x="1268730" y="35246"/>
                </a:lnTo>
                <a:lnTo>
                  <a:pt x="1234440" y="37405"/>
                </a:lnTo>
                <a:lnTo>
                  <a:pt x="1200150" y="39510"/>
                </a:lnTo>
                <a:lnTo>
                  <a:pt x="1165860" y="41548"/>
                </a:lnTo>
                <a:lnTo>
                  <a:pt x="1131570" y="43505"/>
                </a:lnTo>
                <a:lnTo>
                  <a:pt x="1097280" y="45371"/>
                </a:lnTo>
                <a:lnTo>
                  <a:pt x="1062990" y="47133"/>
                </a:lnTo>
                <a:lnTo>
                  <a:pt x="1028700" y="48781"/>
                </a:lnTo>
                <a:lnTo>
                  <a:pt x="994410" y="50304"/>
                </a:lnTo>
                <a:lnTo>
                  <a:pt x="960120" y="51693"/>
                </a:lnTo>
                <a:lnTo>
                  <a:pt x="925830" y="52939"/>
                </a:lnTo>
                <a:lnTo>
                  <a:pt x="891540" y="54036"/>
                </a:lnTo>
                <a:lnTo>
                  <a:pt x="857250" y="65988"/>
                </a:lnTo>
                <a:lnTo>
                  <a:pt x="822960" y="89279"/>
                </a:lnTo>
                <a:lnTo>
                  <a:pt x="788670" y="113856"/>
                </a:lnTo>
                <a:lnTo>
                  <a:pt x="754380" y="139713"/>
                </a:lnTo>
                <a:lnTo>
                  <a:pt x="720090" y="166849"/>
                </a:lnTo>
                <a:lnTo>
                  <a:pt x="685800" y="195263"/>
                </a:lnTo>
                <a:lnTo>
                  <a:pt x="651510" y="224952"/>
                </a:lnTo>
                <a:lnTo>
                  <a:pt x="617220" y="255918"/>
                </a:lnTo>
                <a:lnTo>
                  <a:pt x="582930" y="288163"/>
                </a:lnTo>
                <a:lnTo>
                  <a:pt x="548640" y="321689"/>
                </a:lnTo>
                <a:lnTo>
                  <a:pt x="514350" y="356501"/>
                </a:lnTo>
                <a:lnTo>
                  <a:pt x="480060" y="392602"/>
                </a:lnTo>
                <a:lnTo>
                  <a:pt x="445770" y="429998"/>
                </a:lnTo>
                <a:lnTo>
                  <a:pt x="411480" y="468697"/>
                </a:lnTo>
                <a:lnTo>
                  <a:pt x="377190" y="508706"/>
                </a:lnTo>
                <a:lnTo>
                  <a:pt x="342900" y="550034"/>
                </a:lnTo>
                <a:lnTo>
                  <a:pt x="308610" y="592689"/>
                </a:lnTo>
                <a:lnTo>
                  <a:pt x="274320" y="636683"/>
                </a:lnTo>
                <a:lnTo>
                  <a:pt x="240030" y="682026"/>
                </a:lnTo>
                <a:lnTo>
                  <a:pt x="205740" y="728729"/>
                </a:lnTo>
                <a:lnTo>
                  <a:pt x="171450" y="776805"/>
                </a:lnTo>
                <a:lnTo>
                  <a:pt x="137160" y="826266"/>
                </a:lnTo>
                <a:lnTo>
                  <a:pt x="102870" y="877125"/>
                </a:lnTo>
                <a:lnTo>
                  <a:pt x="68580" y="929395"/>
                </a:lnTo>
                <a:lnTo>
                  <a:pt x="34290" y="983091"/>
                </a:lnTo>
                <a:lnTo>
                  <a:pt x="0" y="1038225"/>
                </a:lnTo>
                <a:close/>
              </a:path>
            </a:pathLst>
          </a:custGeom>
          <a:solidFill xmlns:a="http://schemas.openxmlformats.org/drawingml/2006/main">
            <a:srgbClr val="D7E6F2"/>
          </a:solidFill>
          <a:ln xmlns:a="http://schemas.openxmlformats.org/drawingml/2006/main" w="0">
            <a:noFill/>
          </a:ln>
        </p:spPr>
      </p:sp>
      <p:sp>
        <p:nvSpPr>
          <p:cNvPr id="3" name="profile-119">
            <a:extLst xmlns:a="http://schemas.openxmlformats.org/drawingml/2006/main">
              <a:ext uri="{FF2B5EF4-FFF2-40B4-BE49-F238E27FC236}">
                <a16:creationId xmlns:a16="http://schemas.microsoft.com/office/drawing/2014/main" id="{BEEF0C2D-F23A-4F2D-8D18-659EE2DFE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0"/>
            <a:ext cx="1371600" cy="1257300"/>
          </a:xfrm>
          <a:custGeom xmlns:a="http://schemas.openxmlformats.org/drawingml/2006/main">
            <a:pathLst>
              <a:path w="1371600" h="1257300">
                <a:moveTo>
                  <a:pt x="0" y="857250"/>
                </a:moveTo>
                <a:lnTo>
                  <a:pt x="34290" y="799874"/>
                </a:lnTo>
                <a:lnTo>
                  <a:pt x="68580" y="743950"/>
                </a:lnTo>
                <a:lnTo>
                  <a:pt x="102870" y="689479"/>
                </a:lnTo>
                <a:lnTo>
                  <a:pt x="137160" y="636461"/>
                </a:lnTo>
                <a:lnTo>
                  <a:pt x="171450" y="584895"/>
                </a:lnTo>
                <a:lnTo>
                  <a:pt x="205740" y="534781"/>
                </a:lnTo>
                <a:lnTo>
                  <a:pt x="240030" y="486120"/>
                </a:lnTo>
                <a:lnTo>
                  <a:pt x="274320" y="438912"/>
                </a:lnTo>
                <a:lnTo>
                  <a:pt x="308610" y="393156"/>
                </a:lnTo>
                <a:lnTo>
                  <a:pt x="342900" y="348853"/>
                </a:lnTo>
                <a:lnTo>
                  <a:pt x="377190" y="306003"/>
                </a:lnTo>
                <a:lnTo>
                  <a:pt x="411480" y="264604"/>
                </a:lnTo>
                <a:lnTo>
                  <a:pt x="445770" y="224659"/>
                </a:lnTo>
                <a:lnTo>
                  <a:pt x="480060" y="186166"/>
                </a:lnTo>
                <a:lnTo>
                  <a:pt x="514350" y="149126"/>
                </a:lnTo>
                <a:lnTo>
                  <a:pt x="548640" y="113538"/>
                </a:lnTo>
                <a:lnTo>
                  <a:pt x="582930" y="79403"/>
                </a:lnTo>
                <a:lnTo>
                  <a:pt x="617220" y="46720"/>
                </a:lnTo>
                <a:lnTo>
                  <a:pt x="651510" y="15490"/>
                </a:lnTo>
                <a:lnTo>
                  <a:pt x="685800" y="0"/>
                </a:lnTo>
                <a:lnTo>
                  <a:pt x="720090" y="0"/>
                </a:lnTo>
                <a:lnTo>
                  <a:pt x="754380" y="0"/>
                </a:lnTo>
                <a:lnTo>
                  <a:pt x="788670" y="0"/>
                </a:lnTo>
                <a:lnTo>
                  <a:pt x="822960" y="0"/>
                </a:lnTo>
                <a:lnTo>
                  <a:pt x="857250" y="0"/>
                </a:lnTo>
                <a:lnTo>
                  <a:pt x="891540" y="0"/>
                </a:lnTo>
                <a:lnTo>
                  <a:pt x="925830" y="0"/>
                </a:lnTo>
                <a:lnTo>
                  <a:pt x="960120" y="0"/>
                </a:lnTo>
                <a:lnTo>
                  <a:pt x="994410" y="0"/>
                </a:lnTo>
                <a:lnTo>
                  <a:pt x="1028700" y="0"/>
                </a:lnTo>
                <a:lnTo>
                  <a:pt x="1062990" y="0"/>
                </a:lnTo>
                <a:lnTo>
                  <a:pt x="1097280" y="0"/>
                </a:lnTo>
                <a:lnTo>
                  <a:pt x="1131570" y="0"/>
                </a:lnTo>
                <a:lnTo>
                  <a:pt x="1165860" y="0"/>
                </a:lnTo>
                <a:lnTo>
                  <a:pt x="1200150" y="0"/>
                </a:lnTo>
                <a:lnTo>
                  <a:pt x="1234440" y="0"/>
                </a:lnTo>
                <a:lnTo>
                  <a:pt x="1268730" y="0"/>
                </a:lnTo>
                <a:lnTo>
                  <a:pt x="1303020" y="0"/>
                </a:lnTo>
                <a:lnTo>
                  <a:pt x="1337310" y="0"/>
                </a:lnTo>
                <a:lnTo>
                  <a:pt x="1371600" y="0"/>
                </a:lnTo>
                <a:lnTo>
                  <a:pt x="1371600" y="28575"/>
                </a:lnTo>
                <a:lnTo>
                  <a:pt x="1337310" y="30817"/>
                </a:lnTo>
                <a:lnTo>
                  <a:pt x="1303020" y="33045"/>
                </a:lnTo>
                <a:lnTo>
                  <a:pt x="1268730" y="35246"/>
                </a:lnTo>
                <a:lnTo>
                  <a:pt x="1234440" y="37405"/>
                </a:lnTo>
                <a:lnTo>
                  <a:pt x="1200150" y="39510"/>
                </a:lnTo>
                <a:lnTo>
                  <a:pt x="1165860" y="41548"/>
                </a:lnTo>
                <a:lnTo>
                  <a:pt x="1131570" y="43505"/>
                </a:lnTo>
                <a:lnTo>
                  <a:pt x="1097280" y="45371"/>
                </a:lnTo>
                <a:lnTo>
                  <a:pt x="1062990" y="47133"/>
                </a:lnTo>
                <a:lnTo>
                  <a:pt x="1028700" y="48781"/>
                </a:lnTo>
                <a:lnTo>
                  <a:pt x="994410" y="50304"/>
                </a:lnTo>
                <a:lnTo>
                  <a:pt x="960120" y="51693"/>
                </a:lnTo>
                <a:lnTo>
                  <a:pt x="925830" y="52939"/>
                </a:lnTo>
                <a:lnTo>
                  <a:pt x="891540" y="54036"/>
                </a:lnTo>
                <a:lnTo>
                  <a:pt x="857250" y="54975"/>
                </a:lnTo>
                <a:lnTo>
                  <a:pt x="822960" y="55751"/>
                </a:lnTo>
                <a:lnTo>
                  <a:pt x="788670" y="56360"/>
                </a:lnTo>
                <a:lnTo>
                  <a:pt x="754380" y="56798"/>
                </a:lnTo>
                <a:lnTo>
                  <a:pt x="720090" y="57062"/>
                </a:lnTo>
                <a:lnTo>
                  <a:pt x="685800" y="57150"/>
                </a:lnTo>
                <a:lnTo>
                  <a:pt x="651510" y="72552"/>
                </a:lnTo>
                <a:lnTo>
                  <a:pt x="617220" y="103518"/>
                </a:lnTo>
                <a:lnTo>
                  <a:pt x="582930" y="135763"/>
                </a:lnTo>
                <a:lnTo>
                  <a:pt x="548640" y="169289"/>
                </a:lnTo>
                <a:lnTo>
                  <a:pt x="514350" y="204101"/>
                </a:lnTo>
                <a:lnTo>
                  <a:pt x="480060" y="240202"/>
                </a:lnTo>
                <a:lnTo>
                  <a:pt x="445770" y="277598"/>
                </a:lnTo>
                <a:lnTo>
                  <a:pt x="411480" y="316297"/>
                </a:lnTo>
                <a:lnTo>
                  <a:pt x="377190" y="356306"/>
                </a:lnTo>
                <a:lnTo>
                  <a:pt x="342900" y="397634"/>
                </a:lnTo>
                <a:lnTo>
                  <a:pt x="308610" y="440289"/>
                </a:lnTo>
                <a:lnTo>
                  <a:pt x="274320" y="484283"/>
                </a:lnTo>
                <a:lnTo>
                  <a:pt x="240030" y="529626"/>
                </a:lnTo>
                <a:lnTo>
                  <a:pt x="205740" y="576329"/>
                </a:lnTo>
                <a:lnTo>
                  <a:pt x="171450" y="624405"/>
                </a:lnTo>
                <a:lnTo>
                  <a:pt x="137160" y="673866"/>
                </a:lnTo>
                <a:lnTo>
                  <a:pt x="102870" y="724725"/>
                </a:lnTo>
                <a:lnTo>
                  <a:pt x="68580" y="776995"/>
                </a:lnTo>
                <a:lnTo>
                  <a:pt x="34290" y="830691"/>
                </a:lnTo>
                <a:lnTo>
                  <a:pt x="0" y="885825"/>
                </a:lnTo>
                <a:close/>
              </a:path>
            </a:pathLst>
          </a:custGeom>
          <a:solidFill xmlns:a="http://schemas.openxmlformats.org/drawingml/2006/main">
            <a:srgbClr val="BED5E8"/>
          </a:solidFill>
          <a:ln xmlns:a="http://schemas.openxmlformats.org/drawingml/2006/main" w="0">
            <a:noFill/>
          </a:ln>
        </p:spPr>
      </p:sp>
      <p:sp>
        <p:nvSpPr>
          <p:cNvPr id="4" name="profile-120">
            <a:extLst xmlns:a="http://schemas.openxmlformats.org/drawingml/2006/main">
              <a:ext uri="{FF2B5EF4-FFF2-40B4-BE49-F238E27FC236}">
                <a16:creationId xmlns:a16="http://schemas.microsoft.com/office/drawing/2014/main" id="{C506BE17-C2D1-4117-8372-B59E95146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12B"/>
                </a:solidFill>
                <a:latin typeface="Segoe UI"/>
                <a:ea typeface="Segoe UI"/>
                <a:cs typeface="Segoe UI"/>
              </a:defRPr>
            </a:pPr>
            <a:r>
              <a:rPr sz="1500" b="1">
                <a:solidFill>
                  <a:srgbClr val="17212B"/>
                </a:solidFill>
                <a:latin typeface="Segoe UI"/>
                <a:ea typeface="Segoe UI"/>
                <a:cs typeface="Segoe UI"/>
              </a:rPr>
              <a:t>Oceanides</a:t>
            </a:r>
          </a:p>
        </p:txBody>
      </p:sp>
      <p:sp>
        <p:nvSpPr>
          <p:cNvPr id="5" name="profile-121">
            <a:extLst xmlns:a="http://schemas.openxmlformats.org/drawingml/2006/main">
              <a:ext uri="{FF2B5EF4-FFF2-40B4-BE49-F238E27FC236}">
                <a16:creationId xmlns:a16="http://schemas.microsoft.com/office/drawing/2014/main" id="{E2F03475-FB21-4A2D-9C0C-281D9521A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71475"/>
            <a:ext cx="1981200" cy="2171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Company profile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859d794fb14b4c"/>
          <a:stretch xmlns:a="http://schemas.openxmlformats.org/drawingml/2006/main"/>
        </p:blipFill>
        <p:spPr>
          <a:xfrm xmlns:a="http://schemas.openxmlformats.org/drawingml/2006/main">
            <a:off x="685800" y="1343025"/>
            <a:ext cx="5943600" cy="3962400"/>
          </a:xfrm>
          <a:prstGeom xmlns:a="http://schemas.openxmlformats.org/drawingml/2006/main" prst="rect">
            <a:avLst/>
          </a:prstGeom>
        </p:spPr>
      </p:pic>
      <p:sp>
        <p:nvSpPr>
          <p:cNvPr id="7" name="profile-122">
            <a:extLst xmlns:a="http://schemas.openxmlformats.org/drawingml/2006/main">
              <a:ext uri="{FF2B5EF4-FFF2-40B4-BE49-F238E27FC236}">
                <a16:creationId xmlns:a16="http://schemas.microsoft.com/office/drawing/2014/main" id="{FA5AFD7D-48E5-4103-885B-529835EDB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86400"/>
            <a:ext cx="594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AI-generated service illustration</a:t>
            </a:r>
          </a:p>
        </p:txBody>
      </p:sp>
      <p:sp>
        <p:nvSpPr>
          <p:cNvPr id="8" name="profile-123">
            <a:extLst xmlns:a="http://schemas.openxmlformats.org/drawingml/2006/main">
              <a:ext uri="{FF2B5EF4-FFF2-40B4-BE49-F238E27FC236}">
                <a16:creationId xmlns:a16="http://schemas.microsoft.com/office/drawing/2014/main" id="{3186C189-D5B0-4BCC-9CCF-41C7B3610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1343025"/>
            <a:ext cx="42862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050" b="0">
                <a:solidFill>
                  <a:srgbClr val="1C63AD"/>
                </a:solidFill>
                <a:latin typeface="Segoe UI"/>
                <a:ea typeface="Segoe UI"/>
                <a:cs typeface="Segoe UI"/>
              </a:defRPr>
            </a:pPr>
            <a:r>
              <a:rPr sz="4050" b="0">
                <a:solidFill>
                  <a:srgbClr val="1C63AD"/>
                </a:solidFill>
                <a:latin typeface="Segoe UI"/>
                <a:ea typeface="Segoe UI"/>
                <a:cs typeface="Segoe UI"/>
              </a:rPr>
              <a:t>Pest control</a:t>
            </a:r>
          </a:p>
        </p:txBody>
      </p:sp>
      <p:sp>
        <p:nvSpPr>
          <p:cNvPr id="9" name="profile-124">
            <a:extLst xmlns:a="http://schemas.openxmlformats.org/drawingml/2006/main">
              <a:ext uri="{FF2B5EF4-FFF2-40B4-BE49-F238E27FC236}">
                <a16:creationId xmlns:a16="http://schemas.microsoft.com/office/drawing/2014/main" id="{3FF1BE83-089E-4105-B1E2-9CDD69ACE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247900"/>
            <a:ext cx="428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Pest control services based on an</a:t>
            </a:r>
          </a:p>
        </p:txBody>
      </p:sp>
      <p:sp>
        <p:nvSpPr>
          <p:cNvPr id="10" name="profile-125">
            <a:extLst xmlns:a="http://schemas.openxmlformats.org/drawingml/2006/main">
              <a:ext uri="{FF2B5EF4-FFF2-40B4-BE49-F238E27FC236}">
                <a16:creationId xmlns:a16="http://schemas.microsoft.com/office/drawing/2014/main" id="{32F29422-A3B2-44C0-A7DE-22BCAAB40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590800"/>
            <a:ext cx="428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assessment of the property and the pest</a:t>
            </a:r>
          </a:p>
        </p:txBody>
      </p:sp>
      <p:sp>
        <p:nvSpPr>
          <p:cNvPr id="11" name="profile-126">
            <a:extLst xmlns:a="http://schemas.openxmlformats.org/drawingml/2006/main">
              <a:ext uri="{FF2B5EF4-FFF2-40B4-BE49-F238E27FC236}">
                <a16:creationId xmlns:a16="http://schemas.microsoft.com/office/drawing/2014/main" id="{9FEB4BF2-5583-421B-92B4-48EBF4800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933700"/>
            <a:ext cx="428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concerns reported by the client.</a:t>
            </a:r>
          </a:p>
        </p:txBody>
      </p:sp>
      <p:sp>
        <p:nvSpPr>
          <p:cNvPr id="12" name="profile-127">
            <a:extLst xmlns:a="http://schemas.openxmlformats.org/drawingml/2006/main">
              <a:ext uri="{FF2B5EF4-FFF2-40B4-BE49-F238E27FC236}">
                <a16:creationId xmlns:a16="http://schemas.microsoft.com/office/drawing/2014/main" id="{F0461643-2B6E-43CE-A0E5-C737B40F5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952875"/>
            <a:ext cx="428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Assessment of pest activity</a:t>
            </a:r>
          </a:p>
        </p:txBody>
      </p:sp>
      <p:sp>
        <p:nvSpPr>
          <p:cNvPr id="13" name="profile-128">
            <a:extLst xmlns:a="http://schemas.openxmlformats.org/drawingml/2006/main">
              <a:ext uri="{FF2B5EF4-FFF2-40B4-BE49-F238E27FC236}">
                <a16:creationId xmlns:a16="http://schemas.microsoft.com/office/drawing/2014/main" id="{95C2D5D9-E438-4A12-ACB5-B93B71F9D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600575"/>
            <a:ext cx="428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Treatment scope based</a:t>
            </a:r>
          </a:p>
        </p:txBody>
      </p:sp>
      <p:sp>
        <p:nvSpPr>
          <p:cNvPr id="14" name="profile-129">
            <a:extLst xmlns:a="http://schemas.openxmlformats.org/drawingml/2006/main">
              <a:ext uri="{FF2B5EF4-FFF2-40B4-BE49-F238E27FC236}">
                <a16:creationId xmlns:a16="http://schemas.microsoft.com/office/drawing/2014/main" id="{1E450DD9-00FB-4562-8232-A6D46867B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914900"/>
            <a:ext cx="428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on site findings</a:t>
            </a:r>
          </a:p>
        </p:txBody>
      </p:sp>
      <p:sp>
        <p:nvSpPr>
          <p:cNvPr id="15" name="profile-130">
            <a:extLst xmlns:a="http://schemas.openxmlformats.org/drawingml/2006/main">
              <a:ext uri="{FF2B5EF4-FFF2-40B4-BE49-F238E27FC236}">
                <a16:creationId xmlns:a16="http://schemas.microsoft.com/office/drawing/2014/main" id="{29D62967-D945-41A1-BB82-D2C5164A0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5448300"/>
            <a:ext cx="428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Service scheduling and</a:t>
            </a:r>
          </a:p>
        </p:txBody>
      </p:sp>
      <p:sp>
        <p:nvSpPr>
          <p:cNvPr id="16" name="profile-131">
            <a:extLst xmlns:a="http://schemas.openxmlformats.org/drawingml/2006/main">
              <a:ext uri="{FF2B5EF4-FFF2-40B4-BE49-F238E27FC236}">
                <a16:creationId xmlns:a16="http://schemas.microsoft.com/office/drawing/2014/main" id="{2F7806E0-6B95-4074-A9C0-6B50E5ACB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5762625"/>
            <a:ext cx="428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12B"/>
                </a:solidFill>
                <a:latin typeface="Arial"/>
                <a:ea typeface="Arial"/>
                <a:cs typeface="Arial"/>
              </a:rPr>
              <a:t>contractor coordination</a:t>
            </a:r>
          </a:p>
        </p:txBody>
      </p:sp>
      <p:sp>
        <p:nvSpPr>
          <p:cNvPr id="17" name="profile-132">
            <a:extLst xmlns:a="http://schemas.openxmlformats.org/drawingml/2006/main">
              <a:ext uri="{FF2B5EF4-FFF2-40B4-BE49-F238E27FC236}">
                <a16:creationId xmlns:a16="http://schemas.microsoft.com/office/drawing/2014/main" id="{2F98CE33-17F0-4B14-80B3-2A6FEFEFF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48375"/>
            <a:ext cx="1082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Treatment and specialist requirements follow the site assessment.</a:t>
            </a:r>
          </a:p>
        </p:txBody>
      </p:sp>
      <p:sp>
        <p:nvSpPr>
          <p:cNvPr id="18" name="profile-133">
            <a:extLst xmlns:a="http://schemas.openxmlformats.org/drawingml/2006/main">
              <a:ext uri="{FF2B5EF4-FFF2-40B4-BE49-F238E27FC236}">
                <a16:creationId xmlns:a16="http://schemas.microsoft.com/office/drawing/2014/main" id="{C81F8CA1-C25F-416E-8DBA-4A8221375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48425"/>
            <a:ext cx="1082040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D9"/>
          </a:solidFill>
          <a:ln xmlns:a="http://schemas.openxmlformats.org/drawingml/2006/main" w="0">
            <a:noFill/>
          </a:ln>
        </p:spPr>
      </p:sp>
      <p:sp>
        <p:nvSpPr>
          <p:cNvPr id="19" name="profile-134">
            <a:extLst xmlns:a="http://schemas.openxmlformats.org/drawingml/2006/main">
              <a:ext uri="{FF2B5EF4-FFF2-40B4-BE49-F238E27FC236}">
                <a16:creationId xmlns:a16="http://schemas.microsoft.com/office/drawing/2014/main" id="{A34C5629-2994-4E0F-816B-D66A549D4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Oceanides</a:t>
            </a:r>
          </a:p>
        </p:txBody>
      </p:sp>
      <p:sp>
        <p:nvSpPr>
          <p:cNvPr id="20" name="profile-135">
            <a:extLst xmlns:a="http://schemas.openxmlformats.org/drawingml/2006/main">
              <a:ext uri="{FF2B5EF4-FFF2-40B4-BE49-F238E27FC236}">
                <a16:creationId xmlns:a16="http://schemas.microsoft.com/office/drawing/2014/main" id="{5008FED7-4460-4C0D-82E7-219EB8794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572250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3707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3707D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4334671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A1F4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profile-136">
            <a:extLst xmlns:a="http://schemas.openxmlformats.org/drawingml/2006/main">
              <a:ext uri="{FF2B5EF4-FFF2-40B4-BE49-F238E27FC236}">
                <a16:creationId xmlns:a16="http://schemas.microsoft.com/office/drawing/2014/main" id="{6576E881-CAEB-448B-95BF-11D8568D7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0"/>
            <a:ext cx="1371600" cy="1257300"/>
          </a:xfrm>
          <a:custGeom xmlns:a="http://schemas.openxmlformats.org/drawingml/2006/main">
            <a:pathLst>
              <a:path w="1371600" h="1257300">
                <a:moveTo>
                  <a:pt x="0" y="1162050"/>
                </a:moveTo>
                <a:lnTo>
                  <a:pt x="34290" y="1104674"/>
                </a:lnTo>
                <a:lnTo>
                  <a:pt x="68580" y="1048750"/>
                </a:lnTo>
                <a:lnTo>
                  <a:pt x="102870" y="994279"/>
                </a:lnTo>
                <a:lnTo>
                  <a:pt x="137160" y="941261"/>
                </a:lnTo>
                <a:lnTo>
                  <a:pt x="171450" y="889695"/>
                </a:lnTo>
                <a:lnTo>
                  <a:pt x="205740" y="839581"/>
                </a:lnTo>
                <a:lnTo>
                  <a:pt x="240030" y="790920"/>
                </a:lnTo>
                <a:lnTo>
                  <a:pt x="274320" y="743712"/>
                </a:lnTo>
                <a:lnTo>
                  <a:pt x="308610" y="697956"/>
                </a:lnTo>
                <a:lnTo>
                  <a:pt x="342900" y="653653"/>
                </a:lnTo>
                <a:lnTo>
                  <a:pt x="377190" y="610803"/>
                </a:lnTo>
                <a:lnTo>
                  <a:pt x="411480" y="569405"/>
                </a:lnTo>
                <a:lnTo>
                  <a:pt x="445770" y="529459"/>
                </a:lnTo>
                <a:lnTo>
                  <a:pt x="480060" y="490966"/>
                </a:lnTo>
                <a:lnTo>
                  <a:pt x="514350" y="453926"/>
                </a:lnTo>
                <a:lnTo>
                  <a:pt x="548640" y="418338"/>
                </a:lnTo>
                <a:lnTo>
                  <a:pt x="582930" y="384203"/>
                </a:lnTo>
                <a:lnTo>
                  <a:pt x="617220" y="351520"/>
                </a:lnTo>
                <a:lnTo>
                  <a:pt x="651510" y="320290"/>
                </a:lnTo>
                <a:lnTo>
                  <a:pt x="685800" y="290513"/>
                </a:lnTo>
                <a:lnTo>
                  <a:pt x="720090" y="262188"/>
                </a:lnTo>
                <a:lnTo>
                  <a:pt x="754380" y="235315"/>
                </a:lnTo>
                <a:lnTo>
                  <a:pt x="788670" y="209895"/>
                </a:lnTo>
                <a:lnTo>
                  <a:pt x="822960" y="185928"/>
                </a:lnTo>
                <a:lnTo>
                  <a:pt x="857250" y="163413"/>
                </a:lnTo>
                <a:lnTo>
                  <a:pt x="891540" y="142351"/>
                </a:lnTo>
                <a:lnTo>
                  <a:pt x="925830" y="122742"/>
                </a:lnTo>
                <a:lnTo>
                  <a:pt x="960120" y="104585"/>
                </a:lnTo>
                <a:lnTo>
                  <a:pt x="994410" y="87880"/>
                </a:lnTo>
                <a:lnTo>
                  <a:pt x="1028700" y="72628"/>
                </a:lnTo>
                <a:lnTo>
                  <a:pt x="1062990" y="58829"/>
                </a:lnTo>
                <a:lnTo>
                  <a:pt x="1097280" y="46482"/>
                </a:lnTo>
                <a:lnTo>
                  <a:pt x="1131570" y="35588"/>
                </a:lnTo>
                <a:lnTo>
                  <a:pt x="1165860" y="26146"/>
                </a:lnTo>
                <a:lnTo>
                  <a:pt x="1200150" y="18157"/>
                </a:lnTo>
                <a:lnTo>
                  <a:pt x="1234440" y="11620"/>
                </a:lnTo>
                <a:lnTo>
                  <a:pt x="1268730" y="6537"/>
                </a:lnTo>
                <a:lnTo>
                  <a:pt x="1303020" y="2905"/>
                </a:lnTo>
                <a:lnTo>
                  <a:pt x="1337310" y="726"/>
                </a:lnTo>
                <a:lnTo>
                  <a:pt x="1371600" y="0"/>
                </a:lnTo>
                <a:lnTo>
                  <a:pt x="1371600" y="28575"/>
                </a:lnTo>
                <a:lnTo>
                  <a:pt x="1337310" y="31543"/>
                </a:lnTo>
                <a:lnTo>
                  <a:pt x="1303020" y="35950"/>
                </a:lnTo>
                <a:lnTo>
                  <a:pt x="1268730" y="41782"/>
                </a:lnTo>
                <a:lnTo>
                  <a:pt x="1234440" y="49026"/>
                </a:lnTo>
                <a:lnTo>
                  <a:pt x="1200150" y="57667"/>
                </a:lnTo>
                <a:lnTo>
                  <a:pt x="1165860" y="67694"/>
                </a:lnTo>
                <a:lnTo>
                  <a:pt x="1131570" y="79093"/>
                </a:lnTo>
                <a:lnTo>
                  <a:pt x="1097280" y="91853"/>
                </a:lnTo>
                <a:lnTo>
                  <a:pt x="1062990" y="105962"/>
                </a:lnTo>
                <a:lnTo>
                  <a:pt x="1028700" y="121409"/>
                </a:lnTo>
                <a:lnTo>
                  <a:pt x="994410" y="138184"/>
                </a:lnTo>
                <a:lnTo>
                  <a:pt x="960120" y="156277"/>
                </a:lnTo>
                <a:lnTo>
                  <a:pt x="925830" y="175681"/>
                </a:lnTo>
                <a:lnTo>
                  <a:pt x="891540" y="196387"/>
                </a:lnTo>
                <a:lnTo>
                  <a:pt x="857250" y="218388"/>
                </a:lnTo>
                <a:lnTo>
                  <a:pt x="822960" y="241679"/>
                </a:lnTo>
                <a:lnTo>
                  <a:pt x="788670" y="266256"/>
                </a:lnTo>
                <a:lnTo>
                  <a:pt x="754380" y="292113"/>
                </a:lnTo>
                <a:lnTo>
                  <a:pt x="720090" y="319249"/>
                </a:lnTo>
                <a:lnTo>
                  <a:pt x="685800" y="347663"/>
                </a:lnTo>
                <a:lnTo>
                  <a:pt x="651510" y="377352"/>
                </a:lnTo>
                <a:lnTo>
                  <a:pt x="617220" y="408318"/>
                </a:lnTo>
                <a:lnTo>
                  <a:pt x="582930" y="440563"/>
                </a:lnTo>
                <a:lnTo>
                  <a:pt x="548640" y="474089"/>
                </a:lnTo>
                <a:lnTo>
                  <a:pt x="514350" y="508901"/>
                </a:lnTo>
                <a:lnTo>
                  <a:pt x="480060" y="545002"/>
                </a:lnTo>
                <a:lnTo>
                  <a:pt x="445770" y="582398"/>
                </a:lnTo>
                <a:lnTo>
                  <a:pt x="411480" y="621097"/>
                </a:lnTo>
                <a:lnTo>
                  <a:pt x="377190" y="661106"/>
                </a:lnTo>
                <a:lnTo>
                  <a:pt x="342900" y="702434"/>
                </a:lnTo>
                <a:lnTo>
                  <a:pt x="308610" y="745089"/>
                </a:lnTo>
                <a:lnTo>
                  <a:pt x="274320" y="789083"/>
                </a:lnTo>
                <a:lnTo>
                  <a:pt x="240030" y="834426"/>
                </a:lnTo>
                <a:lnTo>
                  <a:pt x="205740" y="881129"/>
                </a:lnTo>
                <a:lnTo>
                  <a:pt x="171450" y="929205"/>
                </a:lnTo>
                <a:lnTo>
                  <a:pt x="137160" y="978666"/>
                </a:lnTo>
                <a:lnTo>
                  <a:pt x="102870" y="1029525"/>
                </a:lnTo>
                <a:lnTo>
                  <a:pt x="68580" y="1081795"/>
                </a:lnTo>
                <a:lnTo>
                  <a:pt x="34290" y="1135491"/>
                </a:lnTo>
                <a:lnTo>
                  <a:pt x="0" y="1190625"/>
                </a:lnTo>
                <a:close/>
              </a:path>
            </a:pathLst>
          </a:custGeom>
          <a:solidFill xmlns:a="http://schemas.openxmlformats.org/drawingml/2006/main">
            <a:srgbClr val="10294D"/>
          </a:solidFill>
          <a:ln xmlns:a="http://schemas.openxmlformats.org/drawingml/2006/main" w="0">
            <a:noFill/>
          </a:ln>
        </p:spPr>
      </p:sp>
      <p:sp>
        <p:nvSpPr>
          <p:cNvPr id="2" name="profile-137">
            <a:extLst xmlns:a="http://schemas.openxmlformats.org/drawingml/2006/main">
              <a:ext uri="{FF2B5EF4-FFF2-40B4-BE49-F238E27FC236}">
                <a16:creationId xmlns:a16="http://schemas.microsoft.com/office/drawing/2014/main" id="{1CDCF66B-BB88-4EA6-AE4F-08154C230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0"/>
            <a:ext cx="1371600" cy="1257300"/>
          </a:xfrm>
          <a:custGeom xmlns:a="http://schemas.openxmlformats.org/drawingml/2006/main">
            <a:pathLst>
              <a:path w="1371600" h="1257300">
                <a:moveTo>
                  <a:pt x="0" y="1009650"/>
                </a:moveTo>
                <a:lnTo>
                  <a:pt x="34290" y="952274"/>
                </a:lnTo>
                <a:lnTo>
                  <a:pt x="68580" y="896350"/>
                </a:lnTo>
                <a:lnTo>
                  <a:pt x="102870" y="841879"/>
                </a:lnTo>
                <a:lnTo>
                  <a:pt x="137160" y="788861"/>
                </a:lnTo>
                <a:lnTo>
                  <a:pt x="171450" y="737295"/>
                </a:lnTo>
                <a:lnTo>
                  <a:pt x="205740" y="687181"/>
                </a:lnTo>
                <a:lnTo>
                  <a:pt x="240030" y="638520"/>
                </a:lnTo>
                <a:lnTo>
                  <a:pt x="274320" y="591312"/>
                </a:lnTo>
                <a:lnTo>
                  <a:pt x="308610" y="545556"/>
                </a:lnTo>
                <a:lnTo>
                  <a:pt x="342900" y="501253"/>
                </a:lnTo>
                <a:lnTo>
                  <a:pt x="377190" y="458403"/>
                </a:lnTo>
                <a:lnTo>
                  <a:pt x="411480" y="417004"/>
                </a:lnTo>
                <a:lnTo>
                  <a:pt x="445770" y="377059"/>
                </a:lnTo>
                <a:lnTo>
                  <a:pt x="480060" y="338566"/>
                </a:lnTo>
                <a:lnTo>
                  <a:pt x="514350" y="301526"/>
                </a:lnTo>
                <a:lnTo>
                  <a:pt x="548640" y="265938"/>
                </a:lnTo>
                <a:lnTo>
                  <a:pt x="582930" y="231803"/>
                </a:lnTo>
                <a:lnTo>
                  <a:pt x="617220" y="199120"/>
                </a:lnTo>
                <a:lnTo>
                  <a:pt x="651510" y="167890"/>
                </a:lnTo>
                <a:lnTo>
                  <a:pt x="685800" y="138113"/>
                </a:lnTo>
                <a:lnTo>
                  <a:pt x="720090" y="109788"/>
                </a:lnTo>
                <a:lnTo>
                  <a:pt x="754380" y="82915"/>
                </a:lnTo>
                <a:lnTo>
                  <a:pt x="788670" y="57495"/>
                </a:lnTo>
                <a:lnTo>
                  <a:pt x="822960" y="33528"/>
                </a:lnTo>
                <a:lnTo>
                  <a:pt x="857250" y="11013"/>
                </a:lnTo>
                <a:lnTo>
                  <a:pt x="891540" y="0"/>
                </a:lnTo>
                <a:lnTo>
                  <a:pt x="925830" y="0"/>
                </a:lnTo>
                <a:lnTo>
                  <a:pt x="960120" y="0"/>
                </a:lnTo>
                <a:lnTo>
                  <a:pt x="994410" y="0"/>
                </a:lnTo>
                <a:lnTo>
                  <a:pt x="1028700" y="0"/>
                </a:lnTo>
                <a:lnTo>
                  <a:pt x="1062990" y="0"/>
                </a:lnTo>
                <a:lnTo>
                  <a:pt x="1097280" y="0"/>
                </a:lnTo>
                <a:lnTo>
                  <a:pt x="1131570" y="0"/>
                </a:lnTo>
                <a:lnTo>
                  <a:pt x="1165860" y="0"/>
                </a:lnTo>
                <a:lnTo>
                  <a:pt x="1200150" y="0"/>
                </a:lnTo>
                <a:lnTo>
                  <a:pt x="1234440" y="0"/>
                </a:lnTo>
                <a:lnTo>
                  <a:pt x="1268730" y="0"/>
                </a:lnTo>
                <a:lnTo>
                  <a:pt x="1303020" y="0"/>
                </a:lnTo>
                <a:lnTo>
                  <a:pt x="1337310" y="0"/>
                </a:lnTo>
                <a:lnTo>
                  <a:pt x="1371600" y="0"/>
                </a:lnTo>
                <a:lnTo>
                  <a:pt x="1371600" y="28575"/>
                </a:lnTo>
                <a:lnTo>
                  <a:pt x="1337310" y="30817"/>
                </a:lnTo>
                <a:lnTo>
                  <a:pt x="1303020" y="33045"/>
                </a:lnTo>
                <a:lnTo>
                  <a:pt x="1268730" y="35246"/>
                </a:lnTo>
                <a:lnTo>
                  <a:pt x="1234440" y="37405"/>
                </a:lnTo>
                <a:lnTo>
                  <a:pt x="1200150" y="39510"/>
                </a:lnTo>
                <a:lnTo>
                  <a:pt x="1165860" y="41548"/>
                </a:lnTo>
                <a:lnTo>
                  <a:pt x="1131570" y="43505"/>
                </a:lnTo>
                <a:lnTo>
                  <a:pt x="1097280" y="45371"/>
                </a:lnTo>
                <a:lnTo>
                  <a:pt x="1062990" y="47133"/>
                </a:lnTo>
                <a:lnTo>
                  <a:pt x="1028700" y="48781"/>
                </a:lnTo>
                <a:lnTo>
                  <a:pt x="994410" y="50304"/>
                </a:lnTo>
                <a:lnTo>
                  <a:pt x="960120" y="51693"/>
                </a:lnTo>
                <a:lnTo>
                  <a:pt x="925830" y="52939"/>
                </a:lnTo>
                <a:lnTo>
                  <a:pt x="891540" y="54036"/>
                </a:lnTo>
                <a:lnTo>
                  <a:pt x="857250" y="65988"/>
                </a:lnTo>
                <a:lnTo>
                  <a:pt x="822960" y="89279"/>
                </a:lnTo>
                <a:lnTo>
                  <a:pt x="788670" y="113856"/>
                </a:lnTo>
                <a:lnTo>
                  <a:pt x="754380" y="139713"/>
                </a:lnTo>
                <a:lnTo>
                  <a:pt x="720090" y="166849"/>
                </a:lnTo>
                <a:lnTo>
                  <a:pt x="685800" y="195263"/>
                </a:lnTo>
                <a:lnTo>
                  <a:pt x="651510" y="224952"/>
                </a:lnTo>
                <a:lnTo>
                  <a:pt x="617220" y="255918"/>
                </a:lnTo>
                <a:lnTo>
                  <a:pt x="582930" y="288163"/>
                </a:lnTo>
                <a:lnTo>
                  <a:pt x="548640" y="321689"/>
                </a:lnTo>
                <a:lnTo>
                  <a:pt x="514350" y="356501"/>
                </a:lnTo>
                <a:lnTo>
                  <a:pt x="480060" y="392602"/>
                </a:lnTo>
                <a:lnTo>
                  <a:pt x="445770" y="429998"/>
                </a:lnTo>
                <a:lnTo>
                  <a:pt x="411480" y="468697"/>
                </a:lnTo>
                <a:lnTo>
                  <a:pt x="377190" y="508706"/>
                </a:lnTo>
                <a:lnTo>
                  <a:pt x="342900" y="550034"/>
                </a:lnTo>
                <a:lnTo>
                  <a:pt x="308610" y="592689"/>
                </a:lnTo>
                <a:lnTo>
                  <a:pt x="274320" y="636683"/>
                </a:lnTo>
                <a:lnTo>
                  <a:pt x="240030" y="682026"/>
                </a:lnTo>
                <a:lnTo>
                  <a:pt x="205740" y="728729"/>
                </a:lnTo>
                <a:lnTo>
                  <a:pt x="171450" y="776805"/>
                </a:lnTo>
                <a:lnTo>
                  <a:pt x="137160" y="826266"/>
                </a:lnTo>
                <a:lnTo>
                  <a:pt x="102870" y="877125"/>
                </a:lnTo>
                <a:lnTo>
                  <a:pt x="68580" y="929395"/>
                </a:lnTo>
                <a:lnTo>
                  <a:pt x="34290" y="983091"/>
                </a:lnTo>
                <a:lnTo>
                  <a:pt x="0" y="1038225"/>
                </a:lnTo>
                <a:close/>
              </a:path>
            </a:pathLst>
          </a:custGeom>
          <a:solidFill xmlns:a="http://schemas.openxmlformats.org/drawingml/2006/main">
            <a:srgbClr val="173759"/>
          </a:solidFill>
          <a:ln xmlns:a="http://schemas.openxmlformats.org/drawingml/2006/main" w="0">
            <a:noFill/>
          </a:ln>
        </p:spPr>
      </p:sp>
      <p:sp>
        <p:nvSpPr>
          <p:cNvPr id="3" name="profile-138">
            <a:extLst xmlns:a="http://schemas.openxmlformats.org/drawingml/2006/main">
              <a:ext uri="{FF2B5EF4-FFF2-40B4-BE49-F238E27FC236}">
                <a16:creationId xmlns:a16="http://schemas.microsoft.com/office/drawing/2014/main" id="{5041F55A-3EA7-4794-ADB1-C691538C6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0"/>
            <a:ext cx="1371600" cy="1257300"/>
          </a:xfrm>
          <a:custGeom xmlns:a="http://schemas.openxmlformats.org/drawingml/2006/main">
            <a:pathLst>
              <a:path w="1371600" h="1257300">
                <a:moveTo>
                  <a:pt x="0" y="857250"/>
                </a:moveTo>
                <a:lnTo>
                  <a:pt x="34290" y="799874"/>
                </a:lnTo>
                <a:lnTo>
                  <a:pt x="68580" y="743950"/>
                </a:lnTo>
                <a:lnTo>
                  <a:pt x="102870" y="689479"/>
                </a:lnTo>
                <a:lnTo>
                  <a:pt x="137160" y="636461"/>
                </a:lnTo>
                <a:lnTo>
                  <a:pt x="171450" y="584895"/>
                </a:lnTo>
                <a:lnTo>
                  <a:pt x="205740" y="534781"/>
                </a:lnTo>
                <a:lnTo>
                  <a:pt x="240030" y="486120"/>
                </a:lnTo>
                <a:lnTo>
                  <a:pt x="274320" y="438912"/>
                </a:lnTo>
                <a:lnTo>
                  <a:pt x="308610" y="393156"/>
                </a:lnTo>
                <a:lnTo>
                  <a:pt x="342900" y="348853"/>
                </a:lnTo>
                <a:lnTo>
                  <a:pt x="377190" y="306003"/>
                </a:lnTo>
                <a:lnTo>
                  <a:pt x="411480" y="264604"/>
                </a:lnTo>
                <a:lnTo>
                  <a:pt x="445770" y="224659"/>
                </a:lnTo>
                <a:lnTo>
                  <a:pt x="480060" y="186166"/>
                </a:lnTo>
                <a:lnTo>
                  <a:pt x="514350" y="149126"/>
                </a:lnTo>
                <a:lnTo>
                  <a:pt x="548640" y="113538"/>
                </a:lnTo>
                <a:lnTo>
                  <a:pt x="582930" y="79403"/>
                </a:lnTo>
                <a:lnTo>
                  <a:pt x="617220" y="46720"/>
                </a:lnTo>
                <a:lnTo>
                  <a:pt x="651510" y="15490"/>
                </a:lnTo>
                <a:lnTo>
                  <a:pt x="685800" y="0"/>
                </a:lnTo>
                <a:lnTo>
                  <a:pt x="720090" y="0"/>
                </a:lnTo>
                <a:lnTo>
                  <a:pt x="754380" y="0"/>
                </a:lnTo>
                <a:lnTo>
                  <a:pt x="788670" y="0"/>
                </a:lnTo>
                <a:lnTo>
                  <a:pt x="822960" y="0"/>
                </a:lnTo>
                <a:lnTo>
                  <a:pt x="857250" y="0"/>
                </a:lnTo>
                <a:lnTo>
                  <a:pt x="891540" y="0"/>
                </a:lnTo>
                <a:lnTo>
                  <a:pt x="925830" y="0"/>
                </a:lnTo>
                <a:lnTo>
                  <a:pt x="960120" y="0"/>
                </a:lnTo>
                <a:lnTo>
                  <a:pt x="994410" y="0"/>
                </a:lnTo>
                <a:lnTo>
                  <a:pt x="1028700" y="0"/>
                </a:lnTo>
                <a:lnTo>
                  <a:pt x="1062990" y="0"/>
                </a:lnTo>
                <a:lnTo>
                  <a:pt x="1097280" y="0"/>
                </a:lnTo>
                <a:lnTo>
                  <a:pt x="1131570" y="0"/>
                </a:lnTo>
                <a:lnTo>
                  <a:pt x="1165860" y="0"/>
                </a:lnTo>
                <a:lnTo>
                  <a:pt x="1200150" y="0"/>
                </a:lnTo>
                <a:lnTo>
                  <a:pt x="1234440" y="0"/>
                </a:lnTo>
                <a:lnTo>
                  <a:pt x="1268730" y="0"/>
                </a:lnTo>
                <a:lnTo>
                  <a:pt x="1303020" y="0"/>
                </a:lnTo>
                <a:lnTo>
                  <a:pt x="1337310" y="0"/>
                </a:lnTo>
                <a:lnTo>
                  <a:pt x="1371600" y="0"/>
                </a:lnTo>
                <a:lnTo>
                  <a:pt x="1371600" y="28575"/>
                </a:lnTo>
                <a:lnTo>
                  <a:pt x="1337310" y="30817"/>
                </a:lnTo>
                <a:lnTo>
                  <a:pt x="1303020" y="33045"/>
                </a:lnTo>
                <a:lnTo>
                  <a:pt x="1268730" y="35246"/>
                </a:lnTo>
                <a:lnTo>
                  <a:pt x="1234440" y="37405"/>
                </a:lnTo>
                <a:lnTo>
                  <a:pt x="1200150" y="39510"/>
                </a:lnTo>
                <a:lnTo>
                  <a:pt x="1165860" y="41548"/>
                </a:lnTo>
                <a:lnTo>
                  <a:pt x="1131570" y="43505"/>
                </a:lnTo>
                <a:lnTo>
                  <a:pt x="1097280" y="45371"/>
                </a:lnTo>
                <a:lnTo>
                  <a:pt x="1062990" y="47133"/>
                </a:lnTo>
                <a:lnTo>
                  <a:pt x="1028700" y="48781"/>
                </a:lnTo>
                <a:lnTo>
                  <a:pt x="994410" y="50304"/>
                </a:lnTo>
                <a:lnTo>
                  <a:pt x="960120" y="51693"/>
                </a:lnTo>
                <a:lnTo>
                  <a:pt x="925830" y="52939"/>
                </a:lnTo>
                <a:lnTo>
                  <a:pt x="891540" y="54036"/>
                </a:lnTo>
                <a:lnTo>
                  <a:pt x="857250" y="54975"/>
                </a:lnTo>
                <a:lnTo>
                  <a:pt x="822960" y="55751"/>
                </a:lnTo>
                <a:lnTo>
                  <a:pt x="788670" y="56360"/>
                </a:lnTo>
                <a:lnTo>
                  <a:pt x="754380" y="56798"/>
                </a:lnTo>
                <a:lnTo>
                  <a:pt x="720090" y="57062"/>
                </a:lnTo>
                <a:lnTo>
                  <a:pt x="685800" y="57150"/>
                </a:lnTo>
                <a:lnTo>
                  <a:pt x="651510" y="72552"/>
                </a:lnTo>
                <a:lnTo>
                  <a:pt x="617220" y="103518"/>
                </a:lnTo>
                <a:lnTo>
                  <a:pt x="582930" y="135763"/>
                </a:lnTo>
                <a:lnTo>
                  <a:pt x="548640" y="169289"/>
                </a:lnTo>
                <a:lnTo>
                  <a:pt x="514350" y="204101"/>
                </a:lnTo>
                <a:lnTo>
                  <a:pt x="480060" y="240202"/>
                </a:lnTo>
                <a:lnTo>
                  <a:pt x="445770" y="277598"/>
                </a:lnTo>
                <a:lnTo>
                  <a:pt x="411480" y="316297"/>
                </a:lnTo>
                <a:lnTo>
                  <a:pt x="377190" y="356306"/>
                </a:lnTo>
                <a:lnTo>
                  <a:pt x="342900" y="397634"/>
                </a:lnTo>
                <a:lnTo>
                  <a:pt x="308610" y="440289"/>
                </a:lnTo>
                <a:lnTo>
                  <a:pt x="274320" y="484283"/>
                </a:lnTo>
                <a:lnTo>
                  <a:pt x="240030" y="529626"/>
                </a:lnTo>
                <a:lnTo>
                  <a:pt x="205740" y="576329"/>
                </a:lnTo>
                <a:lnTo>
                  <a:pt x="171450" y="624405"/>
                </a:lnTo>
                <a:lnTo>
                  <a:pt x="137160" y="673866"/>
                </a:lnTo>
                <a:lnTo>
                  <a:pt x="102870" y="724725"/>
                </a:lnTo>
                <a:lnTo>
                  <a:pt x="68580" y="776995"/>
                </a:lnTo>
                <a:lnTo>
                  <a:pt x="34290" y="830691"/>
                </a:lnTo>
                <a:lnTo>
                  <a:pt x="0" y="885825"/>
                </a:lnTo>
                <a:close/>
              </a:path>
            </a:pathLst>
          </a:custGeom>
          <a:solidFill xmlns:a="http://schemas.openxmlformats.org/drawingml/2006/main">
            <a:srgbClr val="21486B"/>
          </a:solidFill>
          <a:ln xmlns:a="http://schemas.openxmlformats.org/drawingml/2006/main" w="0">
            <a:noFill/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ee26f408ff4c31"/>
          <a:stretch xmlns:a="http://schemas.openxmlformats.org/drawingml/2006/main"/>
        </p:blipFill>
        <p:spPr>
          <a:xfrm xmlns:a="http://schemas.openxmlformats.org/drawingml/2006/main">
            <a:off x="685800" y="352425"/>
            <a:ext cx="838200" cy="838200"/>
          </a:xfrm>
          <a:prstGeom xmlns:a="http://schemas.openxmlformats.org/drawingml/2006/main" prst="rect">
            <a:avLst/>
          </a:prstGeom>
        </p:spPr>
      </p:pic>
      <p:sp>
        <p:nvSpPr>
          <p:cNvPr id="5" name="profile-139">
            <a:extLst xmlns:a="http://schemas.openxmlformats.org/drawingml/2006/main">
              <a:ext uri="{FF2B5EF4-FFF2-40B4-BE49-F238E27FC236}">
                <a16:creationId xmlns:a16="http://schemas.microsoft.com/office/drawing/2014/main" id="{40CB36AD-2062-4688-A460-0D619FE60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95425"/>
            <a:ext cx="628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8DFE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D8DFE9"/>
                </a:solidFill>
                <a:latin typeface="Arial"/>
                <a:ea typeface="Arial"/>
                <a:cs typeface="Arial"/>
              </a:rPr>
              <a:t>Your next step</a:t>
            </a:r>
          </a:p>
        </p:txBody>
      </p:sp>
      <p:sp>
        <p:nvSpPr>
          <p:cNvPr id="6" name="profile-140">
            <a:extLst xmlns:a="http://schemas.openxmlformats.org/drawingml/2006/main">
              <a:ext uri="{FF2B5EF4-FFF2-40B4-BE49-F238E27FC236}">
                <a16:creationId xmlns:a16="http://schemas.microsoft.com/office/drawing/2014/main" id="{8159DB77-DA25-4FBB-BDBC-6F1AC941A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71675"/>
            <a:ext cx="657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050" b="0">
                <a:solidFill>
                  <a:srgbClr val="F7F7F2"/>
                </a:solidFill>
                <a:latin typeface="Segoe UI"/>
                <a:ea typeface="Segoe UI"/>
                <a:cs typeface="Segoe UI"/>
              </a:defRPr>
            </a:pPr>
            <a:r>
              <a:rPr sz="4050" b="0">
                <a:solidFill>
                  <a:srgbClr val="F7F7F2"/>
                </a:solidFill>
                <a:latin typeface="Segoe UI"/>
                <a:ea typeface="Segoe UI"/>
                <a:cs typeface="Segoe UI"/>
              </a:rPr>
              <a:t>Site assessment</a:t>
            </a:r>
          </a:p>
        </p:txBody>
      </p:sp>
      <p:sp>
        <p:nvSpPr>
          <p:cNvPr id="7" name="profile-141">
            <a:extLst xmlns:a="http://schemas.openxmlformats.org/drawingml/2006/main">
              <a:ext uri="{FF2B5EF4-FFF2-40B4-BE49-F238E27FC236}">
                <a16:creationId xmlns:a16="http://schemas.microsoft.com/office/drawing/2014/main" id="{55E85C6C-CF8E-49B6-B99D-0516B6781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657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050" b="0">
                <a:solidFill>
                  <a:srgbClr val="F7F7F2"/>
                </a:solidFill>
                <a:latin typeface="Segoe UI"/>
                <a:ea typeface="Segoe UI"/>
                <a:cs typeface="Segoe UI"/>
              </a:defRPr>
            </a:pPr>
            <a:r>
              <a:rPr sz="4050" b="0">
                <a:solidFill>
                  <a:srgbClr val="F7F7F2"/>
                </a:solidFill>
                <a:latin typeface="Segoe UI"/>
                <a:ea typeface="Segoe UI"/>
                <a:cs typeface="Segoe UI"/>
              </a:rPr>
              <a:t>Written quotation</a:t>
            </a:r>
          </a:p>
        </p:txBody>
      </p:sp>
      <p:sp>
        <p:nvSpPr>
          <p:cNvPr id="8" name="profile-142">
            <a:extLst xmlns:a="http://schemas.openxmlformats.org/drawingml/2006/main">
              <a:ext uri="{FF2B5EF4-FFF2-40B4-BE49-F238E27FC236}">
                <a16:creationId xmlns:a16="http://schemas.microsoft.com/office/drawing/2014/main" id="{5558C1D7-A451-4197-BAF9-C9B90D4E6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0"/>
            <a:ext cx="628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D8DFE9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D8DFE9"/>
                </a:solidFill>
                <a:latin typeface="Arial"/>
                <a:ea typeface="Arial"/>
                <a:cs typeface="Arial"/>
              </a:rPr>
              <a:t>Tell us the service, site location and</a:t>
            </a:r>
          </a:p>
        </p:txBody>
      </p:sp>
      <p:sp>
        <p:nvSpPr>
          <p:cNvPr id="9" name="profile-143">
            <a:extLst xmlns:a="http://schemas.openxmlformats.org/drawingml/2006/main">
              <a:ext uri="{FF2B5EF4-FFF2-40B4-BE49-F238E27FC236}">
                <a16:creationId xmlns:a16="http://schemas.microsoft.com/office/drawing/2014/main" id="{38DE8FD2-5F0E-4A49-BC84-443EC37B3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67150"/>
            <a:ext cx="628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D8DFE9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D8DFE9"/>
                </a:solidFill>
                <a:latin typeface="Arial"/>
                <a:ea typeface="Arial"/>
                <a:cs typeface="Arial"/>
              </a:rPr>
              <a:t>preferred inspection schedule.</a:t>
            </a:r>
          </a:p>
        </p:txBody>
      </p:sp>
      <p:sp>
        <p:nvSpPr>
          <p:cNvPr id="10" name="profile-144">
            <a:extLst xmlns:a="http://schemas.openxmlformats.org/drawingml/2006/main">
              <a:ext uri="{FF2B5EF4-FFF2-40B4-BE49-F238E27FC236}">
                <a16:creationId xmlns:a16="http://schemas.microsoft.com/office/drawing/2014/main" id="{E72DB82C-C558-4E7F-BB3B-6B32255FB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62450"/>
            <a:ext cx="657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0">
                <a:solidFill>
                  <a:srgbClr val="FFFFFF"/>
                </a:solidFill>
                <a:latin typeface="Segoe UI"/>
                <a:ea typeface="Segoe UI"/>
                <a:cs typeface="Segoe UI"/>
              </a:defRPr>
            </a:pPr>
            <a:r>
              <a:rPr sz="3600" b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0917 671 6383</a:t>
            </a:r>
          </a:p>
        </p:txBody>
      </p:sp>
      <p:sp>
        <p:nvSpPr>
          <p:cNvPr id="11" name="profile-145">
            <a:extLst xmlns:a="http://schemas.openxmlformats.org/drawingml/2006/main">
              <a:ext uri="{FF2B5EF4-FFF2-40B4-BE49-F238E27FC236}">
                <a16:creationId xmlns:a16="http://schemas.microsoft.com/office/drawing/2014/main" id="{60F1634C-A7E7-4166-B315-A025B4F27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57775"/>
            <a:ext cx="67627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D8DFE9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D8DFE9"/>
                </a:solidFill>
                <a:latin typeface="Arial"/>
                <a:ea typeface="Arial"/>
                <a:cs typeface="Arial"/>
              </a:rPr>
              <a:t>marketing@oceanidessepticandpest.com</a:t>
            </a:r>
          </a:p>
        </p:txBody>
      </p:sp>
      <p:sp>
        <p:nvSpPr>
          <p:cNvPr id="12" name="profile-146">
            <a:extLst xmlns:a="http://schemas.openxmlformats.org/drawingml/2006/main">
              <a:ext uri="{FF2B5EF4-FFF2-40B4-BE49-F238E27FC236}">
                <a16:creationId xmlns:a16="http://schemas.microsoft.com/office/drawing/2014/main" id="{771D5856-A018-49F6-9103-B64CC567A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86400"/>
            <a:ext cx="628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AABCD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ABCD3"/>
                </a:solidFill>
                <a:latin typeface="Arial"/>
                <a:ea typeface="Arial"/>
                <a:cs typeface="Arial"/>
              </a:rPr>
              <a:t>Globe</a:t>
            </a:r>
          </a:p>
        </p:txBody>
      </p:sp>
      <p:sp>
        <p:nvSpPr>
          <p:cNvPr id="13" name="profile-147">
            <a:extLst xmlns:a="http://schemas.openxmlformats.org/drawingml/2006/main">
              <a:ext uri="{FF2B5EF4-FFF2-40B4-BE49-F238E27FC236}">
                <a16:creationId xmlns:a16="http://schemas.microsoft.com/office/drawing/2014/main" id="{257D9C55-D1FF-4675-9F67-C1D6966D5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9775"/>
            <a:ext cx="685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8DFE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D8DFE9"/>
                </a:solidFill>
                <a:latin typeface="Arial"/>
                <a:ea typeface="Arial"/>
                <a:cs typeface="Arial"/>
              </a:rPr>
              <a:t>Tramo Street Corner Dandan, Pasay City, Philippines 1300</a:t>
            </a:r>
          </a:p>
        </p:txBody>
      </p:sp>
      <p:sp>
        <p:nvSpPr>
          <p:cNvPr id="14" name="profile-148">
            <a:extLst xmlns:a="http://schemas.openxmlformats.org/drawingml/2006/main">
              <a:ext uri="{FF2B5EF4-FFF2-40B4-BE49-F238E27FC236}">
                <a16:creationId xmlns:a16="http://schemas.microsoft.com/office/drawing/2014/main" id="{F33AB8F9-9DED-42D4-9A6C-5ABAC2DDD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514475"/>
            <a:ext cx="3562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7F7F2"/>
                </a:solidFill>
                <a:latin typeface="Segoe UI"/>
                <a:ea typeface="Segoe UI"/>
                <a:cs typeface="Segoe UI"/>
              </a:defRPr>
            </a:pPr>
            <a:r>
              <a:rPr sz="2100" b="1">
                <a:solidFill>
                  <a:srgbClr val="F7F7F2"/>
                </a:solidFill>
                <a:latin typeface="Segoe UI"/>
                <a:ea typeface="Segoe UI"/>
                <a:cs typeface="Segoe UI"/>
              </a:rPr>
              <a:t>Supplier accreditation</a:t>
            </a:r>
          </a:p>
        </p:txBody>
      </p:sp>
      <p:sp>
        <p:nvSpPr>
          <p:cNvPr id="15" name="profile-149">
            <a:extLst xmlns:a="http://schemas.openxmlformats.org/drawingml/2006/main">
              <a:ext uri="{FF2B5EF4-FFF2-40B4-BE49-F238E27FC236}">
                <a16:creationId xmlns:a16="http://schemas.microsoft.com/office/drawing/2014/main" id="{E47A386D-165F-4561-AD30-A0FF206EB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066925"/>
            <a:ext cx="35623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8DFE9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8DFE9"/>
                </a:solidFill>
                <a:latin typeface="Arial"/>
                <a:ea typeface="Arial"/>
                <a:cs typeface="Arial"/>
              </a:rPr>
              <a:t>Share your procurement</a:t>
            </a:r>
          </a:p>
        </p:txBody>
      </p:sp>
      <p:sp>
        <p:nvSpPr>
          <p:cNvPr id="16" name="profile-150">
            <a:extLst xmlns:a="http://schemas.openxmlformats.org/drawingml/2006/main">
              <a:ext uri="{FF2B5EF4-FFF2-40B4-BE49-F238E27FC236}">
                <a16:creationId xmlns:a16="http://schemas.microsoft.com/office/drawing/2014/main" id="{FB6EAC99-D447-4B7C-8107-D23BFADA7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400300"/>
            <a:ext cx="35623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8DFE9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8DFE9"/>
                </a:solidFill>
                <a:latin typeface="Arial"/>
                <a:ea typeface="Arial"/>
                <a:cs typeface="Arial"/>
              </a:rPr>
              <a:t>requirements. We can coordinate</a:t>
            </a:r>
          </a:p>
        </p:txBody>
      </p:sp>
      <p:sp>
        <p:nvSpPr>
          <p:cNvPr id="17" name="profile-151">
            <a:extLst xmlns:a="http://schemas.openxmlformats.org/drawingml/2006/main">
              <a:ext uri="{FF2B5EF4-FFF2-40B4-BE49-F238E27FC236}">
                <a16:creationId xmlns:a16="http://schemas.microsoft.com/office/drawing/2014/main" id="{7B8A750F-C464-4FB5-9B15-541AA93C3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733675"/>
            <a:ext cx="35623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8DFE9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8DFE9"/>
                </a:solidFill>
                <a:latin typeface="Arial"/>
                <a:ea typeface="Arial"/>
                <a:cs typeface="Arial"/>
              </a:rPr>
              <a:t>company documents and project</a:t>
            </a:r>
          </a:p>
        </p:txBody>
      </p:sp>
      <p:sp>
        <p:nvSpPr>
          <p:cNvPr id="18" name="profile-152">
            <a:extLst xmlns:a="http://schemas.openxmlformats.org/drawingml/2006/main">
              <a:ext uri="{FF2B5EF4-FFF2-40B4-BE49-F238E27FC236}">
                <a16:creationId xmlns:a16="http://schemas.microsoft.com/office/drawing/2014/main" id="{0D069CDC-A76A-4C64-96F3-D6D257E7D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067050"/>
            <a:ext cx="35623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8DFE9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D8DFE9"/>
                </a:solidFill>
                <a:latin typeface="Arial"/>
                <a:ea typeface="Arial"/>
                <a:cs typeface="Arial"/>
              </a:rPr>
              <a:t>information for your review.</a:t>
            </a:r>
          </a:p>
        </p:txBody>
      </p:sp>
      <p:sp>
        <p:nvSpPr>
          <p:cNvPr id="19" name="profile-153">
            <a:extLst xmlns:a="http://schemas.openxmlformats.org/drawingml/2006/main">
              <a:ext uri="{FF2B5EF4-FFF2-40B4-BE49-F238E27FC236}">
                <a16:creationId xmlns:a16="http://schemas.microsoft.com/office/drawing/2014/main" id="{BC2F9E68-127A-4E0B-A883-7B36192DC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867150"/>
            <a:ext cx="3562350" cy="6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D5F"/>
          </a:solidFill>
          <a:ln xmlns:a="http://schemas.openxmlformats.org/drawingml/2006/main" w="0">
            <a:noFill/>
          </a:ln>
        </p:spPr>
      </p:sp>
      <p:sp>
        <p:nvSpPr>
          <p:cNvPr id="20" name="profile-154">
            <a:extLst xmlns:a="http://schemas.openxmlformats.org/drawingml/2006/main">
              <a:ext uri="{FF2B5EF4-FFF2-40B4-BE49-F238E27FC236}">
                <a16:creationId xmlns:a16="http://schemas.microsoft.com/office/drawing/2014/main" id="{3EA8319D-D13A-4D2A-8072-4B43168E7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191000"/>
            <a:ext cx="35623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7F7F2"/>
                </a:solidFill>
                <a:latin typeface="Segoe UI"/>
                <a:ea typeface="Segoe UI"/>
                <a:cs typeface="Segoe UI"/>
              </a:defRPr>
            </a:pPr>
            <a:r>
              <a:rPr sz="1950" b="1">
                <a:solidFill>
                  <a:srgbClr val="F7F7F2"/>
                </a:solidFill>
                <a:latin typeface="Segoe UI"/>
                <a:ea typeface="Segoe UI"/>
                <a:cs typeface="Segoe UI"/>
              </a:rPr>
              <a:t>Site assessment</a:t>
            </a:r>
          </a:p>
        </p:txBody>
      </p:sp>
      <p:sp>
        <p:nvSpPr>
          <p:cNvPr id="21" name="profile-155">
            <a:extLst xmlns:a="http://schemas.openxmlformats.org/drawingml/2006/main">
              <a:ext uri="{FF2B5EF4-FFF2-40B4-BE49-F238E27FC236}">
                <a16:creationId xmlns:a16="http://schemas.microsoft.com/office/drawing/2014/main" id="{D4B9E351-4EC8-43C8-B31B-5A036A8B9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695825"/>
            <a:ext cx="35623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7F7F2"/>
                </a:solidFill>
                <a:latin typeface="Segoe UI"/>
                <a:ea typeface="Segoe UI"/>
                <a:cs typeface="Segoe UI"/>
              </a:defRPr>
            </a:pPr>
            <a:r>
              <a:rPr sz="1950" b="1">
                <a:solidFill>
                  <a:srgbClr val="F7F7F2"/>
                </a:solidFill>
                <a:latin typeface="Segoe UI"/>
                <a:ea typeface="Segoe UI"/>
                <a:cs typeface="Segoe UI"/>
              </a:rPr>
              <a:t>Written quotation</a:t>
            </a:r>
          </a:p>
        </p:txBody>
      </p:sp>
      <p:sp>
        <p:nvSpPr>
          <p:cNvPr id="22" name="profile-156">
            <a:extLst xmlns:a="http://schemas.openxmlformats.org/drawingml/2006/main">
              <a:ext uri="{FF2B5EF4-FFF2-40B4-BE49-F238E27FC236}">
                <a16:creationId xmlns:a16="http://schemas.microsoft.com/office/drawing/2014/main" id="{BF328998-514D-454A-8447-353C1C67F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5200650"/>
            <a:ext cx="35623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7F7F2"/>
                </a:solidFill>
                <a:latin typeface="Segoe UI"/>
                <a:ea typeface="Segoe UI"/>
                <a:cs typeface="Segoe UI"/>
              </a:defRPr>
            </a:pPr>
            <a:r>
              <a:rPr sz="1950" b="1">
                <a:solidFill>
                  <a:srgbClr val="F7F7F2"/>
                </a:solidFill>
                <a:latin typeface="Segoe UI"/>
                <a:ea typeface="Segoe UI"/>
                <a:cs typeface="Segoe UI"/>
              </a:rPr>
              <a:t>Service coordination</a:t>
            </a:r>
          </a:p>
        </p:txBody>
      </p:sp>
      <p:sp>
        <p:nvSpPr>
          <p:cNvPr id="23" name="profile-157">
            <a:extLst xmlns:a="http://schemas.openxmlformats.org/drawingml/2006/main">
              <a:ext uri="{FF2B5EF4-FFF2-40B4-BE49-F238E27FC236}">
                <a16:creationId xmlns:a16="http://schemas.microsoft.com/office/drawing/2014/main" id="{7C0A347B-AB9B-433C-A88B-764E33FBA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5705475"/>
            <a:ext cx="35623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7F7F2"/>
                </a:solidFill>
                <a:latin typeface="Segoe UI"/>
                <a:ea typeface="Segoe UI"/>
                <a:cs typeface="Segoe UI"/>
              </a:defRPr>
            </a:pPr>
            <a:r>
              <a:rPr sz="1950" b="1">
                <a:solidFill>
                  <a:srgbClr val="F7F7F2"/>
                </a:solidFill>
                <a:latin typeface="Segoe UI"/>
                <a:ea typeface="Segoe UI"/>
                <a:cs typeface="Segoe UI"/>
              </a:rPr>
              <a:t>Turnover</a:t>
            </a:r>
          </a:p>
        </p:txBody>
      </p:sp>
      <p:sp>
        <p:nvSpPr>
          <p:cNvPr id="24" name="profile-158">
            <a:extLst xmlns:a="http://schemas.openxmlformats.org/drawingml/2006/main">
              <a:ext uri="{FF2B5EF4-FFF2-40B4-BE49-F238E27FC236}">
                <a16:creationId xmlns:a16="http://schemas.microsoft.com/office/drawing/2014/main" id="{2F60CD6C-F0B9-4632-9BA0-BB0247CE4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108204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8DFE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8DFE9"/>
                </a:solidFill>
                <a:latin typeface="Arial"/>
                <a:ea typeface="Arial"/>
                <a:cs typeface="Arial"/>
              </a:rPr>
              <a:t>Oceanides Plumbing Siphoning &amp; Pest Management Services OPC</a:t>
            </a:r>
          </a:p>
        </p:txBody>
      </p:sp>
    </p:spTree>
    <p:extLst>
      <p:ext uri="{BB962C8B-B14F-4D97-AF65-F5344CB8AC3E}">
        <p14:creationId xmlns:p14="http://schemas.microsoft.com/office/powerpoint/2010/main" val="198609356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2026-10-01T14:59:24.3090000Z</dcterms:created>
  <dcterms:modified xsi:type="dcterms:W3CDTF">2026-10-01T14:59:24.3090000Z</dcterms:modified>
</coreProperties>
</file>