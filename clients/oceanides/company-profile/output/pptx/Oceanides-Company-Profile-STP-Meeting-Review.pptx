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mp4" ContentType="video/mp4"/>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8629a73f8447af" /><Relationship Type="http://schemas.openxmlformats.org/officeDocument/2006/relationships/extended-properties" Target="/docProps/app.xml" Id="Rbb62561796f54f4b" /><Relationship Type="http://schemas.openxmlformats.org/officeDocument/2006/relationships/officeDocument" Target="/ppt/presentation.xml" Id="R110d18fc9ffb41c4" /></Relationships>
</file>

<file path=ppt/presentation.xml><?xml version="1.0" encoding="utf-8"?>
<p:presentation xmlns:p="http://schemas.openxmlformats.org/presentationml/2006/main">
  <p:sldMasterIdLst>
    <p:sldMasterId xmlns:r="http://schemas.openxmlformats.org/officeDocument/2006/relationships" id="2147483648" r:id="R779d40128ef84c66"/>
  </p:sldMasterIdLst>
  <p:notesMasterIdLst>
    <p:notesMasterId xmlns:r="http://schemas.openxmlformats.org/officeDocument/2006/relationships" r:id="R5ff29f3ebcd14285"/>
  </p:notesMasterIdLst>
  <p:sldIdLst>
    <p:sldId xmlns:r="http://schemas.openxmlformats.org/officeDocument/2006/relationships" id="256" r:id="Rb30b58f0253e432a"/>
    <p:sldId xmlns:r="http://schemas.openxmlformats.org/officeDocument/2006/relationships" id="257" r:id="Ra61b974943344dfd"/>
    <p:sldId xmlns:r="http://schemas.openxmlformats.org/officeDocument/2006/relationships" id="258" r:id="R903196a1a5df4448"/>
    <p:sldId xmlns:r="http://schemas.openxmlformats.org/officeDocument/2006/relationships" id="259" r:id="R837a999b6128414d"/>
    <p:sldId xmlns:r="http://schemas.openxmlformats.org/officeDocument/2006/relationships" id="261" r:id="Rd33aa32d250e4a01"/>
    <p:sldId xmlns:r="http://schemas.openxmlformats.org/officeDocument/2006/relationships" id="262" r:id="Rd523898c732a4af8"/>
    <p:sldId xmlns:r="http://schemas.openxmlformats.org/officeDocument/2006/relationships" id="260" r:id="R03b76f3083604b52"/>
    <p:sldId xmlns:r="http://schemas.openxmlformats.org/officeDocument/2006/relationships" id="264" r:id="RmeetingVideo"/>
    <p:sldId xmlns:r="http://schemas.openxmlformats.org/officeDocument/2006/relationships" id="263" r:id="R6837af0e04f34d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f96f179091418a" /><Relationship Type="http://schemas.openxmlformats.org/officeDocument/2006/relationships/slideMaster" Target="/ppt/slideMasters/slideMaster1.xml" Id="R779d40128ef84c66" /><Relationship Type="http://schemas.openxmlformats.org/officeDocument/2006/relationships/notesMaster" Target="/ppt/notesMasters/notesMaster1.xml" Id="R5ff29f3ebcd14285" /><Relationship Type="http://schemas.openxmlformats.org/officeDocument/2006/relationships/presProps" Target="/ppt/presProps.xml" Id="R4a1a306001e94beb" /><Relationship Type="http://schemas.openxmlformats.org/officeDocument/2006/relationships/tableStyles" Target="/ppt/tableStyles.xml" Id="Rf67c6783030946bc" /><Relationship Type="http://schemas.openxmlformats.org/officeDocument/2006/relationships/slide" Target="/ppt/slides/slide1.xml" Id="Rb30b58f0253e432a" /><Relationship Type="http://schemas.openxmlformats.org/officeDocument/2006/relationships/slide" Target="/ppt/slides/slide2.xml" Id="Ra61b974943344dfd" /><Relationship Type="http://schemas.openxmlformats.org/officeDocument/2006/relationships/slide" Target="/ppt/slides/slide3.xml" Id="R903196a1a5df4448" /><Relationship Type="http://schemas.openxmlformats.org/officeDocument/2006/relationships/slide" Target="/ppt/slides/slide4.xml" Id="R837a999b6128414d" /><Relationship Type="http://schemas.openxmlformats.org/officeDocument/2006/relationships/slide" Target="/ppt/slides/slide5.xml" Id="R03b76f3083604b52" /><Relationship Type="http://schemas.openxmlformats.org/officeDocument/2006/relationships/slide" Target="/ppt/slides/slide6.xml" Id="Rd33aa32d250e4a01" /><Relationship Type="http://schemas.openxmlformats.org/officeDocument/2006/relationships/slide" Target="/ppt/slides/slide7.xml" Id="Rd523898c732a4af8" /><Relationship Type="http://schemas.openxmlformats.org/officeDocument/2006/relationships/slide" Target="/ppt/slides/slide8.xml" Id="R6837af0e04f34d3c" /><Relationship Type="http://schemas.openxmlformats.org/officeDocument/2006/relationships/slide" Target="/ppt/slides/slide9.xml" Id="RmeetingVideo"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de1ec6166f43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c01ef2d7e743bb" /><Relationship Type="http://schemas.openxmlformats.org/officeDocument/2006/relationships/notesMaster" Target="/ppt/notesMasters/notesMaster1.xml" Id="R56655a65865942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c05500d4724a23" /><Relationship Type="http://schemas.openxmlformats.org/officeDocument/2006/relationships/notesMaster" Target="/ppt/notesMasters/notesMaster1.xml" Id="R19d95b423c7c40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0081494b9c4058" /><Relationship Type="http://schemas.openxmlformats.org/officeDocument/2006/relationships/notesMaster" Target="/ppt/notesMasters/notesMaster1.xml" Id="R21ea1fd5c07246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1e81ae27bd4fcc" /><Relationship Type="http://schemas.openxmlformats.org/officeDocument/2006/relationships/notesMaster" Target="/ppt/notesMasters/notesMaster1.xml" Id="Rc9cbb4f70a6041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d3b444386749f8" /><Relationship Type="http://schemas.openxmlformats.org/officeDocument/2006/relationships/notesMaster" Target="/ppt/notesMasters/notesMaster1.xml" Id="R742ee114fa5641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fe094949ab4c34" /><Relationship Type="http://schemas.openxmlformats.org/officeDocument/2006/relationships/notesMaster" Target="/ppt/notesMasters/notesMaster1.xml" Id="Rc7369d540f5c4f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84d87136df4d90" /><Relationship Type="http://schemas.openxmlformats.org/officeDocument/2006/relationships/notesMaster" Target="/ppt/notesMasters/notesMaster1.xml" Id="R689747f642674b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77d6d7772549b2" /><Relationship Type="http://schemas.openxmlformats.org/officeDocument/2006/relationships/notesMaster" Target="/ppt/notesMasters/notesMaster1.xml" Id="Rda38f7e2b5ac4b76" /></Relationships>
</file>

<file path=ppt/notesSlides/_rels/notesSlide9.xml.rels><?xml version="1.0" encoding="UTF-8"?><Relationships xmlns="http://schemas.openxmlformats.org/package/2006/relationships"><Relationship Id="RmeetingSlide" Type="http://schemas.openxmlformats.org/officeDocument/2006/relationships/slide" Target="../slides/slide9.xml"/><Relationship Id="RmeetingNotesMaster"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Cover: AI-generated conceptual architecture, not a real project or engineering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Oceanides remains your main contact from the initial inquiry to turnover. We coordinate the site assessment, quotation and service delivery, including specialist contractors where the work requires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Service illustration: AI-generated fictional specialist, not an actual Oceanides employee or completed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Actual matched job photos: clients/oceanides/assets/tb2-ba2-before.png and tb2-ba2-after.png. Neil confirmed same-site before/after on 2026-08-01; see client DESIGN.md and asset builder. Centered square frames preserve the tank 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Neil clarified the offer on 2026-10-03: an on-site Sewage Treatment Plant (STP) for building wastewater. Oceanides remains your main contact from the initial inquiry to turnover. We coordinate the site assessment, quotation and service delivery, including specialist contractors where the work requires them.</a:t>
            </a:r>
          </a:p>
          <a:p xmlns:a="http://schemas.openxmlformats.org/drawingml/2006/main">
            <a:r>
              <a:t>System details, capacity and maintenance requirements follow the agreed technical proposal.</a:t>
            </a:r>
          </a:p>
          <a:p xmlns:a="http://schemas.openxmlformats.org/drawingml/2006/main">
            <a:r>
              <a:t>No supplier, model, capacity, cost, performance or maintenance guarantee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Service illustration: AI-generated fictional ceiling repair specialist, not a completed Oceanides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Service illustration: AI-generated fictional specialist and localized treatment, not an actual Oceanides employee or completed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Oceanides remains your main contact from the initial inquiry to turnover. We coordinate the site assessment, quotation and service delivery, including specialist contractors where the work requires them.</a:t>
            </a:r>
          </a:p>
          <a:p xmlns:a="http://schemas.openxmlformats.org/drawingml/2006/main">
            <a:r>
              <a:t>Final scope, pricing and scheduling depend on the site assessment and the agreed quotation.</a:t>
            </a:r>
          </a:p>
          <a:p xmlns:a="http://schemas.openxmlformats.org/drawingml/2006/main">
            <a:r>
              <a:t>Site assessment: Review the reported problem, work areas, site access and project requirements.</a:t>
            </a:r>
          </a:p>
          <a:p xmlns:a="http://schemas.openxmlformats.org/drawingml/2006/main">
            <a:r>
              <a:t>Written quotation: Define the proposed work and pricing. Confirm the scope with the client before scheduling.</a:t>
            </a:r>
          </a:p>
          <a:p xmlns:a="http://schemas.openxmlformats.org/drawingml/2006/main">
            <a:r>
              <a:t>Service coordination: Arrange the field team or specialist contractor and coordinate access with the client.</a:t>
            </a:r>
          </a:p>
          <a:p xmlns:a="http://schemas.openxmlformats.org/drawingml/2006/main">
            <a:r>
              <a:t>Turnover: Review the agreed work with the client and coordinate any follow-up within the project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playback: introduce this film as an illustration of how an on-site STP treats building wastewater.</a:t>
            </a:r>
          </a:p>
          <a:p xmlns:a="http://schemas.openxmlformats.org/drawingml/2006/main">
            <a:r>
              <a:t>Click the film to start. Use the native video controls to pause or replay when a client asks a question.</a:t>
            </a:r>
          </a:p>
          <a:p xmlns:a="http://schemas.openxmlformats.org/drawingml/2006/main">
            <a:r>
              <a:t>After the film: advance to the next slide and discuss a site assessment and written quotation.</a:t>
            </a:r>
          </a:p>
          <a:p xmlns:a="http://schemas.openxmlformats.org/drawingml/2006/main">
            <a:r>
              <a:t>Invite the client to share recent siphoning invoices and site conditions for assessment. Savings depend on the proposed system, outlet and operating costs. Sludge removal and equipment care remain part of the assessment.</a:t>
            </a:r>
          </a:p>
          <a:p xmlns:a="http://schemas.openxmlformats.org/drawingml/2006/main">
            <a:r>
              <a:t>The film depicts a general treatment process, not an exact supplier design or an Oceanides-owned facility.</a:t>
            </a:r>
          </a:p>
          <a:p xmlns:a="http://schemas.openxmlformats.org/drawingml/2006/main">
            <a:r>
              <a:t>https://www.youtube.com/watch?v=w_60iJEAf4c</a:t>
            </a:r>
          </a:p>
          <a:p xmlns:a="http://schemas.openxmlformats.org/drawingml/2006/main">
            <a:r>
              <a:t>https://www.epa.gov/npdes/peak-flows-sewage-treatment-plants</a:t>
            </a:r>
          </a:p>
          <a:p xmlns:a="http://schemas.openxmlformats.org/drawingml/2006/main">
            <a:r>
              <a:t>https://www.fujicleanusa.com/homeowners-faq</a:t>
            </a:r>
          </a:p>
          <a:p xmlns:a="http://schemas.openxmlformats.org/drawingml/2006/main">
            <a:r>
              <a:t>https://r7.emb.gov.ph/wp-content/uploads/2022/05/OPMS-DISCHARGE-PERMIT-Application-Guideline.pdf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364a0634b647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fef8a5208944f3" /><Relationship Type="http://schemas.openxmlformats.org/officeDocument/2006/relationships/slideLayout" Target="/ppt/slideLayouts/slideLayout1.xml" Id="Ra0b6c2d78cf145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b6c2d78cf145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e0a6d109d4e46f4" /><Relationship Type="http://schemas.openxmlformats.org/officeDocument/2006/relationships/image" Target="/ppt/media/image.png" Id="R5315ace264074663" /><Relationship Type="http://schemas.openxmlformats.org/officeDocument/2006/relationships/image" Target="/ppt/media/image.jpeg" Id="R1dab7e76e9da4da9" /><Relationship Type="http://schemas.openxmlformats.org/officeDocument/2006/relationships/notesSlide" Target="/ppt/notesSlides/notesSlide1.xml" Id="R7bbd6a5d49f543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67f85575014146" /><Relationship Type="http://schemas.openxmlformats.org/officeDocument/2006/relationships/notesSlide" Target="/ppt/notesSlides/notesSlide2.xml" Id="Red63d1a5dd6d45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50fc9253ab4f1d" /><Relationship Type="http://schemas.openxmlformats.org/officeDocument/2006/relationships/image" Target="/ppt/media/image2.jpeg" Id="R0c384bc2fc6841a7" /><Relationship Type="http://schemas.openxmlformats.org/officeDocument/2006/relationships/notesSlide" Target="/ppt/notesSlides/notesSlide3.xml" Id="R3aa007b01ea541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0fabfd11364ef0" /><Relationship Type="http://schemas.openxmlformats.org/officeDocument/2006/relationships/image" Target="/ppt/media/image3.jpeg" Id="R4bb68bc6ef144795" /><Relationship Type="http://schemas.openxmlformats.org/officeDocument/2006/relationships/image" Target="/ppt/media/image4.jpeg" Id="Re2a5f5eec34d4396" /><Relationship Type="http://schemas.openxmlformats.org/officeDocument/2006/relationships/notesSlide" Target="/ppt/notesSlides/notesSlide4.xml" Id="Rb2153c41c0f44f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fb7ce0983e4b37" /><Relationship Type="http://schemas.openxmlformats.org/officeDocument/2006/relationships/notesSlide" Target="/ppt/notesSlides/notesSlide5.xml" Id="Ra6e18338bac84a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5537f3d0064903" /><Relationship Type="http://schemas.openxmlformats.org/officeDocument/2006/relationships/image" Target="/ppt/media/image5.jpeg" Id="R5be7d4ff8ea24787" /><Relationship Type="http://schemas.openxmlformats.org/officeDocument/2006/relationships/notesSlide" Target="/ppt/notesSlides/notesSlide6.xml" Id="Rbe0ef08d508441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4678c36fc0442f" /><Relationship Type="http://schemas.openxmlformats.org/officeDocument/2006/relationships/image" Target="/ppt/media/image6.jpeg" Id="R90f5e43ceecc408b" /><Relationship Type="http://schemas.openxmlformats.org/officeDocument/2006/relationships/notesSlide" Target="/ppt/notesSlides/notesSlide7.xml" Id="Rfe8aedaa4ead41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cccc05ee1a4efe" /><Relationship Type="http://schemas.openxmlformats.org/officeDocument/2006/relationships/image" Target="/ppt/media/image2.png" Id="R8bf35237f5374700" /><Relationship Type="http://schemas.openxmlformats.org/officeDocument/2006/relationships/notesSlide" Target="/ppt/notesSlides/notesSlide8.xml" Id="Rbddf147cda6947d3" /></Relationships>
</file>

<file path=ppt/slides/_rels/slide9.xml.rels><?xml version="1.0" encoding="UTF-8"?><Relationships xmlns="http://schemas.openxmlformats.org/package/2006/relationships"><Relationship Id="rId1" Type="http://schemas.microsoft.com/office/2007/relationships/media" Target="../media/oceanides-stp-meeting.mp4"/><Relationship Id="rId2" Type="http://schemas.openxmlformats.org/officeDocument/2006/relationships/video" Target="../media/oceanides-stp-meeting.mp4"/><Relationship Id="rId3" Type="http://schemas.openxmlformats.org/officeDocument/2006/relationships/slideLayout" Target="../slideLayouts/slideLayout1.xml"/><Relationship Id="rId4" Type="http://schemas.openxmlformats.org/officeDocument/2006/relationships/notesSlide" Target="../notesSlides/notesSlide9.xml"/><Relationship Id="rId5" Type="http://schemas.openxmlformats.org/officeDocument/2006/relationships/image" Target="../media/oceanides-stp-meeting-poster.png"/></Relationships>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6" name="profile-1">
            <a:extLst xmlns:a="http://schemas.openxmlformats.org/drawingml/2006/main">
              <a:ext uri="{FF2B5EF4-FFF2-40B4-BE49-F238E27FC236}">
                <a16:creationId xmlns:a16="http://schemas.microsoft.com/office/drawing/2014/main" id="{C73CBCC7-636B-415D-9FC5-DF1C8527DE24}"/>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2">
            <a:extLst xmlns:a="http://schemas.openxmlformats.org/drawingml/2006/main">
              <a:ext uri="{FF2B5EF4-FFF2-40B4-BE49-F238E27FC236}">
                <a16:creationId xmlns:a16="http://schemas.microsoft.com/office/drawing/2014/main" id="{50A28C1E-35BC-4B6D-9804-7A2985959C48}"/>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3">
            <a:extLst xmlns:a="http://schemas.openxmlformats.org/drawingml/2006/main">
              <a:ext uri="{FF2B5EF4-FFF2-40B4-BE49-F238E27FC236}">
                <a16:creationId xmlns:a16="http://schemas.microsoft.com/office/drawing/2014/main" id="{BC1BE73C-F803-42FD-9648-ACABD03EA957}"/>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315ace264074663"/>
          <a:stretch xmlns:a="http://schemas.openxmlformats.org/drawingml/2006/main"/>
        </p:blipFill>
        <p:spPr>
          <a:xfrm xmlns:a="http://schemas.openxmlformats.org/drawingml/2006/main">
            <a:off x="685800" y="352425"/>
            <a:ext cx="952500" cy="952500"/>
          </a:xfrm>
          <a:prstGeom xmlns:a="http://schemas.openxmlformats.org/drawingml/2006/main" prst="rect">
            <a:avLst/>
          </a:prstGeom>
        </p:spPr>
      </p:pic>
      <p:sp>
        <p:nvSpPr>
          <p:cNvPr id="5" name="profile-4">
            <a:extLst xmlns:a="http://schemas.openxmlformats.org/drawingml/2006/main">
              <a:ext uri="{FF2B5EF4-FFF2-40B4-BE49-F238E27FC236}">
                <a16:creationId xmlns:a16="http://schemas.microsoft.com/office/drawing/2014/main" id="{3F53B3DC-9E67-4CE9-9293-9AE8DC69F314}"/>
              </a:ext>
            </a:extLst>
          </p:cNvPr>
          <p:cNvSpPr>
            <a:spLocks xmlns:a="http://schemas.openxmlformats.org/drawingml/2006/main" noGrp="1"/>
          </p:cNvSpPr>
          <p:nvPr/>
        </p:nvSpPr>
        <p:spPr>
          <a:xfrm xmlns:a="http://schemas.openxmlformats.org/drawingml/2006/main">
            <a:off x="685800" y="1657350"/>
            <a:ext cx="5334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3707D"/>
                </a:solidFill>
                <a:latin typeface="Arial"/>
                <a:ea typeface="Arial"/>
                <a:cs typeface="Arial"/>
              </a:defRPr>
            </a:pPr>
            <a:r>
              <a:rPr sz="1650" b="0">
                <a:solidFill>
                  <a:srgbClr val="63707D"/>
                </a:solidFill>
                <a:latin typeface="Arial"/>
                <a:ea typeface="Arial"/>
                <a:cs typeface="Arial"/>
              </a:rPr>
              <a:t>Company profile</a:t>
            </a:r>
          </a:p>
        </p:txBody>
      </p:sp>
      <p:sp>
        <p:nvSpPr>
          <p:cNvPr id="6" name="profile-5">
            <a:extLst xmlns:a="http://schemas.openxmlformats.org/drawingml/2006/main">
              <a:ext uri="{FF2B5EF4-FFF2-40B4-BE49-F238E27FC236}">
                <a16:creationId xmlns:a16="http://schemas.microsoft.com/office/drawing/2014/main" id="{F16613AF-282C-44F9-8146-D46A126A5C00}"/>
              </a:ext>
            </a:extLst>
          </p:cNvPr>
          <p:cNvSpPr>
            <a:spLocks xmlns:a="http://schemas.openxmlformats.org/drawingml/2006/main" noGrp="1"/>
          </p:cNvSpPr>
          <p:nvPr/>
        </p:nvSpPr>
        <p:spPr>
          <a:xfrm xmlns:a="http://schemas.openxmlformats.org/drawingml/2006/main">
            <a:off x="685800" y="2124075"/>
            <a:ext cx="5638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500" b="0">
                <a:solidFill>
                  <a:srgbClr val="1C63AD"/>
                </a:solidFill>
                <a:latin typeface="Segoe UI"/>
                <a:ea typeface="Segoe UI"/>
                <a:cs typeface="Segoe UI"/>
              </a:defRPr>
            </a:pPr>
            <a:r>
              <a:rPr sz="4500" b="0">
                <a:solidFill>
                  <a:srgbClr val="1C63AD"/>
                </a:solidFill>
                <a:latin typeface="Segoe UI"/>
                <a:ea typeface="Segoe UI"/>
                <a:cs typeface="Segoe UI"/>
              </a:rPr>
              <a:t>Property services</a:t>
            </a:r>
          </a:p>
        </p:txBody>
      </p:sp>
      <p:sp>
        <p:nvSpPr>
          <p:cNvPr id="7" name="profile-6">
            <a:extLst xmlns:a="http://schemas.openxmlformats.org/drawingml/2006/main">
              <a:ext uri="{FF2B5EF4-FFF2-40B4-BE49-F238E27FC236}">
                <a16:creationId xmlns:a16="http://schemas.microsoft.com/office/drawing/2014/main" id="{77D4693F-EEE9-4D1A-9A91-4440D4F83A7F}"/>
              </a:ext>
            </a:extLst>
          </p:cNvPr>
          <p:cNvSpPr>
            <a:spLocks xmlns:a="http://schemas.openxmlformats.org/drawingml/2006/main" noGrp="1"/>
          </p:cNvSpPr>
          <p:nvPr/>
        </p:nvSpPr>
        <p:spPr>
          <a:xfrm xmlns:a="http://schemas.openxmlformats.org/drawingml/2006/main">
            <a:off x="685800" y="2790825"/>
            <a:ext cx="5638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500" b="0">
                <a:solidFill>
                  <a:srgbClr val="1C63AD"/>
                </a:solidFill>
                <a:latin typeface="Segoe UI"/>
                <a:ea typeface="Segoe UI"/>
                <a:cs typeface="Segoe UI"/>
              </a:defRPr>
            </a:pPr>
            <a:r>
              <a:rPr sz="4500" b="0">
                <a:solidFill>
                  <a:srgbClr val="1C63AD"/>
                </a:solidFill>
                <a:latin typeface="Segoe UI"/>
                <a:ea typeface="Segoe UI"/>
                <a:cs typeface="Segoe UI"/>
              </a:rPr>
              <a:t>One point of contact</a:t>
            </a:r>
          </a:p>
        </p:txBody>
      </p:sp>
      <p:sp>
        <p:nvSpPr>
          <p:cNvPr id="8" name="profile-7">
            <a:extLst xmlns:a="http://schemas.openxmlformats.org/drawingml/2006/main">
              <a:ext uri="{FF2B5EF4-FFF2-40B4-BE49-F238E27FC236}">
                <a16:creationId xmlns:a16="http://schemas.microsoft.com/office/drawing/2014/main" id="{3C84C062-3974-4761-A1BE-119AEDABE7EE}"/>
              </a:ext>
            </a:extLst>
          </p:cNvPr>
          <p:cNvSpPr>
            <a:spLocks xmlns:a="http://schemas.openxmlformats.org/drawingml/2006/main" noGrp="1"/>
          </p:cNvSpPr>
          <p:nvPr/>
        </p:nvSpPr>
        <p:spPr>
          <a:xfrm xmlns:a="http://schemas.openxmlformats.org/drawingml/2006/main">
            <a:off x="685800" y="41719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Siphoning. Plumbing.</a:t>
            </a:r>
          </a:p>
        </p:txBody>
      </p:sp>
      <p:sp>
        <p:nvSpPr>
          <p:cNvPr id="9" name="profile-8">
            <a:extLst xmlns:a="http://schemas.openxmlformats.org/drawingml/2006/main">
              <a:ext uri="{FF2B5EF4-FFF2-40B4-BE49-F238E27FC236}">
                <a16:creationId xmlns:a16="http://schemas.microsoft.com/office/drawing/2014/main" id="{44C19DBB-1211-4630-A403-8C2FE10E7EF5}"/>
              </a:ext>
            </a:extLst>
          </p:cNvPr>
          <p:cNvSpPr>
            <a:spLocks xmlns:a="http://schemas.openxmlformats.org/drawingml/2006/main" noGrp="1"/>
          </p:cNvSpPr>
          <p:nvPr/>
        </p:nvSpPr>
        <p:spPr>
          <a:xfrm xmlns:a="http://schemas.openxmlformats.org/drawingml/2006/main">
            <a:off x="685800" y="45339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Renovation &amp; restoration.</a:t>
            </a:r>
          </a:p>
        </p:txBody>
      </p:sp>
      <p:sp>
        <p:nvSpPr>
          <p:cNvPr id="10" name="profile-9">
            <a:extLst xmlns:a="http://schemas.openxmlformats.org/drawingml/2006/main">
              <a:ext uri="{FF2B5EF4-FFF2-40B4-BE49-F238E27FC236}">
                <a16:creationId xmlns:a16="http://schemas.microsoft.com/office/drawing/2014/main" id="{04AFBA6E-010B-40FD-972E-C99048AB619C}"/>
              </a:ext>
            </a:extLst>
          </p:cNvPr>
          <p:cNvSpPr>
            <a:spLocks xmlns:a="http://schemas.openxmlformats.org/drawingml/2006/main" noGrp="1"/>
          </p:cNvSpPr>
          <p:nvPr/>
        </p:nvSpPr>
        <p:spPr>
          <a:xfrm xmlns:a="http://schemas.openxmlformats.org/drawingml/2006/main">
            <a:off x="685800" y="48958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Pest control.</a:t>
            </a:r>
          </a:p>
        </p:txBody>
      </p:sp>
      <p:sp>
        <p:nvSpPr>
          <p:cNvPr id="11" name="profile-10">
            <a:extLst xmlns:a="http://schemas.openxmlformats.org/drawingml/2006/main">
              <a:ext uri="{FF2B5EF4-FFF2-40B4-BE49-F238E27FC236}">
                <a16:creationId xmlns:a16="http://schemas.microsoft.com/office/drawing/2014/main" id="{5A7CA5C1-4EF4-4944-9003-F974F73C68F4}"/>
              </a:ext>
            </a:extLst>
          </p:cNvPr>
          <p:cNvSpPr>
            <a:spLocks xmlns:a="http://schemas.openxmlformats.org/drawingml/2006/main" noGrp="1"/>
          </p:cNvSpPr>
          <p:nvPr/>
        </p:nvSpPr>
        <p:spPr>
          <a:xfrm xmlns:a="http://schemas.openxmlformats.org/drawingml/2006/main">
            <a:off x="685800" y="52578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Sewage treatment plants (STP).</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dab7e76e9da4da9"/>
          <a:stretch xmlns:a="http://schemas.openxmlformats.org/drawingml/2006/main"/>
        </p:blipFill>
        <p:spPr>
          <a:xfrm xmlns:a="http://schemas.openxmlformats.org/drawingml/2006/main">
            <a:off x="6419850" y="1743075"/>
            <a:ext cx="5086350" cy="3390900"/>
          </a:xfrm>
          <a:prstGeom xmlns:a="http://schemas.openxmlformats.org/drawingml/2006/main" prst="rect">
            <a:avLst/>
          </a:prstGeom>
        </p:spPr>
      </p:pic>
      <p:sp>
        <p:nvSpPr>
          <p:cNvPr id="13" name="profile-11">
            <a:extLst xmlns:a="http://schemas.openxmlformats.org/drawingml/2006/main">
              <a:ext uri="{FF2B5EF4-FFF2-40B4-BE49-F238E27FC236}">
                <a16:creationId xmlns:a16="http://schemas.microsoft.com/office/drawing/2014/main" id="{7EF857A6-FDFE-4E92-BF6F-1EF2860B04EC}"/>
              </a:ext>
            </a:extLst>
          </p:cNvPr>
          <p:cNvSpPr>
            <a:spLocks xmlns:a="http://schemas.openxmlformats.org/drawingml/2006/main" noGrp="1"/>
          </p:cNvSpPr>
          <p:nvPr/>
        </p:nvSpPr>
        <p:spPr>
          <a:xfrm xmlns:a="http://schemas.openxmlformats.org/drawingml/2006/main">
            <a:off x="6419850" y="5362575"/>
            <a:ext cx="5086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AI-generated property-services concept</a:t>
            </a:r>
          </a:p>
        </p:txBody>
      </p:sp>
      <p:sp>
        <p:nvSpPr>
          <p:cNvPr id="14" name="profile-12">
            <a:extLst xmlns:a="http://schemas.openxmlformats.org/drawingml/2006/main">
              <a:ext uri="{FF2B5EF4-FFF2-40B4-BE49-F238E27FC236}">
                <a16:creationId xmlns:a16="http://schemas.microsoft.com/office/drawing/2014/main" id="{A2F7EEB7-5226-4B51-9554-61A446C47D4F}"/>
              </a:ext>
            </a:extLst>
          </p:cNvPr>
          <p:cNvSpPr>
            <a:spLocks xmlns:a="http://schemas.openxmlformats.org/drawingml/2006/main" noGrp="1"/>
          </p:cNvSpPr>
          <p:nvPr/>
        </p:nvSpPr>
        <p:spPr>
          <a:xfrm xmlns:a="http://schemas.openxmlformats.org/drawingml/2006/main">
            <a:off x="685800" y="604837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3707D"/>
                </a:solidFill>
                <a:latin typeface="Arial"/>
                <a:ea typeface="Arial"/>
                <a:cs typeface="Arial"/>
              </a:defRPr>
            </a:pPr>
            <a:r>
              <a:rPr sz="1350" b="0">
                <a:solidFill>
                  <a:srgbClr val="63707D"/>
                </a:solidFill>
                <a:latin typeface="Arial"/>
                <a:ea typeface="Arial"/>
                <a:cs typeface="Arial"/>
              </a:rPr>
              <a:t>Oceanides Plumbing Siphoning &amp; Pest Management Services OPC</a:t>
            </a:r>
          </a:p>
        </p:txBody>
      </p:sp>
      <p:sp>
        <p:nvSpPr>
          <p:cNvPr id="15" name="profile-13">
            <a:extLst xmlns:a="http://schemas.openxmlformats.org/drawingml/2006/main">
              <a:ext uri="{FF2B5EF4-FFF2-40B4-BE49-F238E27FC236}">
                <a16:creationId xmlns:a16="http://schemas.microsoft.com/office/drawing/2014/main" id="{476E7908-1C59-44EF-989A-31C5F9A0AC32}"/>
              </a:ext>
            </a:extLst>
          </p:cNvPr>
          <p:cNvSpPr>
            <a:spLocks xmlns:a="http://schemas.openxmlformats.org/drawingml/2006/main" noGrp="1"/>
          </p:cNvSpPr>
          <p:nvPr/>
        </p:nvSpPr>
        <p:spPr>
          <a:xfrm xmlns:a="http://schemas.openxmlformats.org/drawingml/2006/main">
            <a:off x="11220450" y="65722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01</a:t>
            </a:r>
          </a:p>
        </p:txBody>
      </p:sp>
    </p:spTree>
    <p:extLst>
      <p:ext uri="{BB962C8B-B14F-4D97-AF65-F5344CB8AC3E}">
        <p14:creationId xmlns:p14="http://schemas.microsoft.com/office/powerpoint/2010/main" val="1596278019"/>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28" name="profile-14">
            <a:extLst xmlns:a="http://schemas.openxmlformats.org/drawingml/2006/main">
              <a:ext uri="{FF2B5EF4-FFF2-40B4-BE49-F238E27FC236}">
                <a16:creationId xmlns:a16="http://schemas.microsoft.com/office/drawing/2014/main" id="{03B1FB05-5D55-4A79-9E33-152926FDBCA2}"/>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15">
            <a:extLst xmlns:a="http://schemas.openxmlformats.org/drawingml/2006/main">
              <a:ext uri="{FF2B5EF4-FFF2-40B4-BE49-F238E27FC236}">
                <a16:creationId xmlns:a16="http://schemas.microsoft.com/office/drawing/2014/main" id="{4AD5B6B4-17EF-41F1-8E12-3788AB4781E1}"/>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16">
            <a:extLst xmlns:a="http://schemas.openxmlformats.org/drawingml/2006/main">
              <a:ext uri="{FF2B5EF4-FFF2-40B4-BE49-F238E27FC236}">
                <a16:creationId xmlns:a16="http://schemas.microsoft.com/office/drawing/2014/main" id="{A0DAEB2D-910F-48B6-931E-DEB2EF1D10F9}"/>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17">
            <a:extLst xmlns:a="http://schemas.openxmlformats.org/drawingml/2006/main">
              <a:ext uri="{FF2B5EF4-FFF2-40B4-BE49-F238E27FC236}">
                <a16:creationId xmlns:a16="http://schemas.microsoft.com/office/drawing/2014/main" id="{49C1BD7E-A4B9-49CA-B59B-44E1DA601D5D}"/>
              </a:ext>
            </a:extLst>
          </p:cNvPr>
          <p:cNvSpPr>
            <a:spLocks xmlns:a="http://schemas.openxmlformats.org/drawingml/2006/main" noGrp="1"/>
          </p:cNvSpPr>
          <p:nvPr/>
        </p:nvSpPr>
        <p:spPr>
          <a:xfrm xmlns:a="http://schemas.openxmlformats.org/drawingml/2006/main">
            <a:off x="685800" y="3333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7212B"/>
                </a:solidFill>
                <a:latin typeface="Segoe UI"/>
                <a:ea typeface="Segoe UI"/>
                <a:cs typeface="Segoe UI"/>
              </a:defRPr>
            </a:pPr>
            <a:r>
              <a:rPr sz="1500" b="1">
                <a:solidFill>
                  <a:srgbClr val="17212B"/>
                </a:solidFill>
                <a:latin typeface="Segoe UI"/>
                <a:ea typeface="Segoe UI"/>
                <a:cs typeface="Segoe UI"/>
              </a:rPr>
              <a:t>Oceanides</a:t>
            </a:r>
          </a:p>
        </p:txBody>
      </p:sp>
      <p:sp>
        <p:nvSpPr>
          <p:cNvPr id="5" name="profile-18">
            <a:extLst xmlns:a="http://schemas.openxmlformats.org/drawingml/2006/main">
              <a:ext uri="{FF2B5EF4-FFF2-40B4-BE49-F238E27FC236}">
                <a16:creationId xmlns:a16="http://schemas.microsoft.com/office/drawing/2014/main" id="{270AA22F-FCB5-4E3E-8DA2-0CE6E5065578}"/>
              </a:ext>
            </a:extLst>
          </p:cNvPr>
          <p:cNvSpPr>
            <a:spLocks xmlns:a="http://schemas.openxmlformats.org/drawingml/2006/main" noGrp="1"/>
          </p:cNvSpPr>
          <p:nvPr/>
        </p:nvSpPr>
        <p:spPr>
          <a:xfrm xmlns:a="http://schemas.openxmlformats.org/drawingml/2006/main">
            <a:off x="9525000" y="371475"/>
            <a:ext cx="1981200"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Company profile</a:t>
            </a:r>
          </a:p>
        </p:txBody>
      </p:sp>
      <p:sp>
        <p:nvSpPr>
          <p:cNvPr id="6" name="profile-19">
            <a:extLst xmlns:a="http://schemas.openxmlformats.org/drawingml/2006/main">
              <a:ext uri="{FF2B5EF4-FFF2-40B4-BE49-F238E27FC236}">
                <a16:creationId xmlns:a16="http://schemas.microsoft.com/office/drawing/2014/main" id="{87864C17-AFB3-4072-9F92-CD9116985B9A}"/>
              </a:ext>
            </a:extLst>
          </p:cNvPr>
          <p:cNvSpPr>
            <a:spLocks xmlns:a="http://schemas.openxmlformats.org/drawingml/2006/main" noGrp="1"/>
          </p:cNvSpPr>
          <p:nvPr/>
        </p:nvSpPr>
        <p:spPr>
          <a:xfrm xmlns:a="http://schemas.openxmlformats.org/drawingml/2006/main">
            <a:off x="685800" y="10287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0">
                <a:solidFill>
                  <a:srgbClr val="1C63AD"/>
                </a:solidFill>
                <a:latin typeface="Segoe UI"/>
                <a:ea typeface="Segoe UI"/>
                <a:cs typeface="Segoe UI"/>
              </a:defRPr>
            </a:pPr>
            <a:r>
              <a:rPr sz="3600" b="0">
                <a:solidFill>
                  <a:srgbClr val="1C63AD"/>
                </a:solidFill>
                <a:latin typeface="Segoe UI"/>
                <a:ea typeface="Segoe UI"/>
                <a:cs typeface="Segoe UI"/>
              </a:rPr>
              <a:t>Services for the places you live and work</a:t>
            </a:r>
          </a:p>
        </p:txBody>
      </p:sp>
      <p:sp>
        <p:nvSpPr>
          <p:cNvPr id="7" name="profile-20">
            <a:extLst xmlns:a="http://schemas.openxmlformats.org/drawingml/2006/main">
              <a:ext uri="{FF2B5EF4-FFF2-40B4-BE49-F238E27FC236}">
                <a16:creationId xmlns:a16="http://schemas.microsoft.com/office/drawing/2014/main" id="{49E520A7-AFB9-4876-B590-70D0C39407D4}"/>
              </a:ext>
            </a:extLst>
          </p:cNvPr>
          <p:cNvSpPr>
            <a:spLocks xmlns:a="http://schemas.openxmlformats.org/drawingml/2006/main" noGrp="1"/>
          </p:cNvSpPr>
          <p:nvPr/>
        </p:nvSpPr>
        <p:spPr>
          <a:xfrm xmlns:a="http://schemas.openxmlformats.org/drawingml/2006/main">
            <a:off x="685800" y="18288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Oceanides coordinates property services for homes, condominiums and company facilities. Our</a:t>
            </a:r>
          </a:p>
        </p:txBody>
      </p:sp>
      <p:sp>
        <p:nvSpPr>
          <p:cNvPr id="8" name="profile-21">
            <a:extLst xmlns:a="http://schemas.openxmlformats.org/drawingml/2006/main">
              <a:ext uri="{FF2B5EF4-FFF2-40B4-BE49-F238E27FC236}">
                <a16:creationId xmlns:a16="http://schemas.microsoft.com/office/drawing/2014/main" id="{3259973F-9F6E-4E75-9977-66153E316408}"/>
              </a:ext>
            </a:extLst>
          </p:cNvPr>
          <p:cNvSpPr>
            <a:spLocks xmlns:a="http://schemas.openxmlformats.org/drawingml/2006/main" noGrp="1"/>
          </p:cNvSpPr>
          <p:nvPr/>
        </p:nvSpPr>
        <p:spPr>
          <a:xfrm xmlns:a="http://schemas.openxmlformats.org/drawingml/2006/main">
            <a:off x="685800" y="21717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offering covers siphoning, plumbing, renovation and restoration, pest control and sewage treatment</a:t>
            </a:r>
          </a:p>
        </p:txBody>
      </p:sp>
      <p:sp>
        <p:nvSpPr>
          <p:cNvPr id="9" name="profile-22">
            <a:extLst xmlns:a="http://schemas.openxmlformats.org/drawingml/2006/main">
              <a:ext uri="{FF2B5EF4-FFF2-40B4-BE49-F238E27FC236}">
                <a16:creationId xmlns:a16="http://schemas.microsoft.com/office/drawing/2014/main" id="{7A903B54-6C33-429D-881E-A688DF8A408D}"/>
              </a:ext>
            </a:extLst>
          </p:cNvPr>
          <p:cNvSpPr>
            <a:spLocks xmlns:a="http://schemas.openxmlformats.org/drawingml/2006/main" noGrp="1"/>
          </p:cNvSpPr>
          <p:nvPr/>
        </p:nvSpPr>
        <p:spPr>
          <a:xfrm xmlns:a="http://schemas.openxmlformats.org/drawingml/2006/main">
            <a:off x="685800" y="25146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plant (STP) projects.</a:t>
            </a:r>
          </a:p>
        </p:txBody>
      </p:sp>
      <p:sp>
        <p:nvSpPr>
          <p:cNvPr id="10" name="profile-23">
            <a:extLst xmlns:a="http://schemas.openxmlformats.org/drawingml/2006/main">
              <a:ext uri="{FF2B5EF4-FFF2-40B4-BE49-F238E27FC236}">
                <a16:creationId xmlns:a16="http://schemas.microsoft.com/office/drawing/2014/main" id="{0C55603B-EA1A-4A62-A59E-76862A78A1E3}"/>
              </a:ext>
            </a:extLst>
          </p:cNvPr>
          <p:cNvSpPr>
            <a:spLocks xmlns:a="http://schemas.openxmlformats.org/drawingml/2006/main" noGrp="1"/>
          </p:cNvSpPr>
          <p:nvPr/>
        </p:nvSpPr>
        <p:spPr>
          <a:xfrm xmlns:a="http://schemas.openxmlformats.org/drawingml/2006/main">
            <a:off x="685800" y="3086100"/>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1" name="profile-24">
            <a:extLst xmlns:a="http://schemas.openxmlformats.org/drawingml/2006/main">
              <a:ext uri="{FF2B5EF4-FFF2-40B4-BE49-F238E27FC236}">
                <a16:creationId xmlns:a16="http://schemas.microsoft.com/office/drawing/2014/main" id="{40C162C1-68C2-4961-A4C2-1E24E99A8A8F}"/>
              </a:ext>
            </a:extLst>
          </p:cNvPr>
          <p:cNvSpPr>
            <a:spLocks xmlns:a="http://schemas.openxmlformats.org/drawingml/2006/main" noGrp="1"/>
          </p:cNvSpPr>
          <p:nvPr/>
        </p:nvSpPr>
        <p:spPr>
          <a:xfrm xmlns:a="http://schemas.openxmlformats.org/drawingml/2006/main">
            <a:off x="685800" y="3305175"/>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Siphoning</a:t>
            </a:r>
          </a:p>
        </p:txBody>
      </p:sp>
      <p:sp>
        <p:nvSpPr>
          <p:cNvPr id="12" name="profile-25">
            <a:extLst xmlns:a="http://schemas.openxmlformats.org/drawingml/2006/main">
              <a:ext uri="{FF2B5EF4-FFF2-40B4-BE49-F238E27FC236}">
                <a16:creationId xmlns:a16="http://schemas.microsoft.com/office/drawing/2014/main" id="{A40AA5A3-B296-49F9-9B93-4C66E6EE5E71}"/>
              </a:ext>
            </a:extLst>
          </p:cNvPr>
          <p:cNvSpPr>
            <a:spLocks xmlns:a="http://schemas.openxmlformats.org/drawingml/2006/main" noGrp="1"/>
          </p:cNvSpPr>
          <p:nvPr/>
        </p:nvSpPr>
        <p:spPr>
          <a:xfrm xmlns:a="http://schemas.openxmlformats.org/drawingml/2006/main">
            <a:off x="5715000" y="3324225"/>
            <a:ext cx="579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Septic tank siphoning and cleaning.</a:t>
            </a:r>
          </a:p>
        </p:txBody>
      </p:sp>
      <p:sp>
        <p:nvSpPr>
          <p:cNvPr id="13" name="profile-26">
            <a:extLst xmlns:a="http://schemas.openxmlformats.org/drawingml/2006/main">
              <a:ext uri="{FF2B5EF4-FFF2-40B4-BE49-F238E27FC236}">
                <a16:creationId xmlns:a16="http://schemas.microsoft.com/office/drawing/2014/main" id="{D22D5DC0-A6C2-4E4E-A09A-614114C3421F}"/>
              </a:ext>
            </a:extLst>
          </p:cNvPr>
          <p:cNvSpPr>
            <a:spLocks xmlns:a="http://schemas.openxmlformats.org/drawingml/2006/main" noGrp="1"/>
          </p:cNvSpPr>
          <p:nvPr/>
        </p:nvSpPr>
        <p:spPr>
          <a:xfrm xmlns:a="http://schemas.openxmlformats.org/drawingml/2006/main">
            <a:off x="685800" y="372427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4" name="profile-27">
            <a:extLst xmlns:a="http://schemas.openxmlformats.org/drawingml/2006/main">
              <a:ext uri="{FF2B5EF4-FFF2-40B4-BE49-F238E27FC236}">
                <a16:creationId xmlns:a16="http://schemas.microsoft.com/office/drawing/2014/main" id="{BC6B12CE-9C67-4686-81DB-B6374EBA5B0F}"/>
              </a:ext>
            </a:extLst>
          </p:cNvPr>
          <p:cNvSpPr>
            <a:spLocks xmlns:a="http://schemas.openxmlformats.org/drawingml/2006/main" noGrp="1"/>
          </p:cNvSpPr>
          <p:nvPr/>
        </p:nvSpPr>
        <p:spPr>
          <a:xfrm xmlns:a="http://schemas.openxmlformats.org/drawingml/2006/main">
            <a:off x="685800" y="3943350"/>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Plumbing</a:t>
            </a:r>
          </a:p>
        </p:txBody>
      </p:sp>
      <p:sp>
        <p:nvSpPr>
          <p:cNvPr id="15" name="profile-28">
            <a:extLst xmlns:a="http://schemas.openxmlformats.org/drawingml/2006/main">
              <a:ext uri="{FF2B5EF4-FFF2-40B4-BE49-F238E27FC236}">
                <a16:creationId xmlns:a16="http://schemas.microsoft.com/office/drawing/2014/main" id="{82E34AAB-F01A-4D76-BCC2-5BEC2721B4CD}"/>
              </a:ext>
            </a:extLst>
          </p:cNvPr>
          <p:cNvSpPr>
            <a:spLocks xmlns:a="http://schemas.openxmlformats.org/drawingml/2006/main" noGrp="1"/>
          </p:cNvSpPr>
          <p:nvPr/>
        </p:nvSpPr>
        <p:spPr>
          <a:xfrm xmlns:a="http://schemas.openxmlformats.org/drawingml/2006/main">
            <a:off x="5715000" y="3962400"/>
            <a:ext cx="579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Drain declogging and pipe leak repairs.</a:t>
            </a:r>
          </a:p>
        </p:txBody>
      </p:sp>
      <p:sp>
        <p:nvSpPr>
          <p:cNvPr id="16" name="profile-29">
            <a:extLst xmlns:a="http://schemas.openxmlformats.org/drawingml/2006/main">
              <a:ext uri="{FF2B5EF4-FFF2-40B4-BE49-F238E27FC236}">
                <a16:creationId xmlns:a16="http://schemas.microsoft.com/office/drawing/2014/main" id="{B3A9248E-9BF7-435A-BCB3-63AD70398E57}"/>
              </a:ext>
            </a:extLst>
          </p:cNvPr>
          <p:cNvSpPr>
            <a:spLocks xmlns:a="http://schemas.openxmlformats.org/drawingml/2006/main" noGrp="1"/>
          </p:cNvSpPr>
          <p:nvPr/>
        </p:nvSpPr>
        <p:spPr>
          <a:xfrm xmlns:a="http://schemas.openxmlformats.org/drawingml/2006/main">
            <a:off x="685800" y="4362450"/>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7" name="profile-30">
            <a:extLst xmlns:a="http://schemas.openxmlformats.org/drawingml/2006/main">
              <a:ext uri="{FF2B5EF4-FFF2-40B4-BE49-F238E27FC236}">
                <a16:creationId xmlns:a16="http://schemas.microsoft.com/office/drawing/2014/main" id="{E929A839-7F0E-4CDD-8061-0733FE03DE6D}"/>
              </a:ext>
            </a:extLst>
          </p:cNvPr>
          <p:cNvSpPr>
            <a:spLocks xmlns:a="http://schemas.openxmlformats.org/drawingml/2006/main" noGrp="1"/>
          </p:cNvSpPr>
          <p:nvPr/>
        </p:nvSpPr>
        <p:spPr>
          <a:xfrm xmlns:a="http://schemas.openxmlformats.org/drawingml/2006/main">
            <a:off x="685800" y="4581525"/>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Renovation &amp; restoration</a:t>
            </a:r>
          </a:p>
        </p:txBody>
      </p:sp>
      <p:sp>
        <p:nvSpPr>
          <p:cNvPr id="18" name="profile-31">
            <a:extLst xmlns:a="http://schemas.openxmlformats.org/drawingml/2006/main">
              <a:ext uri="{FF2B5EF4-FFF2-40B4-BE49-F238E27FC236}">
                <a16:creationId xmlns:a16="http://schemas.microsoft.com/office/drawing/2014/main" id="{060855C7-B7E0-466D-9BC3-BF712597CCE4}"/>
              </a:ext>
            </a:extLst>
          </p:cNvPr>
          <p:cNvSpPr>
            <a:spLocks xmlns:a="http://schemas.openxmlformats.org/drawingml/2006/main" noGrp="1"/>
          </p:cNvSpPr>
          <p:nvPr/>
        </p:nvSpPr>
        <p:spPr>
          <a:xfrm xmlns:a="http://schemas.openxmlformats.org/drawingml/2006/main">
            <a:off x="5715000" y="4600575"/>
            <a:ext cx="579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House and condominium repairs and improvements.</a:t>
            </a:r>
          </a:p>
        </p:txBody>
      </p:sp>
      <p:sp>
        <p:nvSpPr>
          <p:cNvPr id="19" name="profile-32">
            <a:extLst xmlns:a="http://schemas.openxmlformats.org/drawingml/2006/main">
              <a:ext uri="{FF2B5EF4-FFF2-40B4-BE49-F238E27FC236}">
                <a16:creationId xmlns:a16="http://schemas.microsoft.com/office/drawing/2014/main" id="{8F239DB8-43AC-4F1C-91FB-CF87EA875BE9}"/>
              </a:ext>
            </a:extLst>
          </p:cNvPr>
          <p:cNvSpPr>
            <a:spLocks xmlns:a="http://schemas.openxmlformats.org/drawingml/2006/main" noGrp="1"/>
          </p:cNvSpPr>
          <p:nvPr/>
        </p:nvSpPr>
        <p:spPr>
          <a:xfrm xmlns:a="http://schemas.openxmlformats.org/drawingml/2006/main">
            <a:off x="685800" y="50006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20" name="profile-33">
            <a:extLst xmlns:a="http://schemas.openxmlformats.org/drawingml/2006/main">
              <a:ext uri="{FF2B5EF4-FFF2-40B4-BE49-F238E27FC236}">
                <a16:creationId xmlns:a16="http://schemas.microsoft.com/office/drawing/2014/main" id="{A71D5933-8579-4FD9-AD0A-304C615BEDD5}"/>
              </a:ext>
            </a:extLst>
          </p:cNvPr>
          <p:cNvSpPr>
            <a:spLocks xmlns:a="http://schemas.openxmlformats.org/drawingml/2006/main" noGrp="1"/>
          </p:cNvSpPr>
          <p:nvPr/>
        </p:nvSpPr>
        <p:spPr>
          <a:xfrm xmlns:a="http://schemas.openxmlformats.org/drawingml/2006/main">
            <a:off x="685800" y="5219700"/>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Pest control</a:t>
            </a:r>
          </a:p>
        </p:txBody>
      </p:sp>
      <p:sp>
        <p:nvSpPr>
          <p:cNvPr id="21" name="profile-34">
            <a:extLst xmlns:a="http://schemas.openxmlformats.org/drawingml/2006/main">
              <a:ext uri="{FF2B5EF4-FFF2-40B4-BE49-F238E27FC236}">
                <a16:creationId xmlns:a16="http://schemas.microsoft.com/office/drawing/2014/main" id="{C78D26E1-0705-489D-BE1B-69BFF740E6B1}"/>
              </a:ext>
            </a:extLst>
          </p:cNvPr>
          <p:cNvSpPr>
            <a:spLocks xmlns:a="http://schemas.openxmlformats.org/drawingml/2006/main" noGrp="1"/>
          </p:cNvSpPr>
          <p:nvPr/>
        </p:nvSpPr>
        <p:spPr>
          <a:xfrm xmlns:a="http://schemas.openxmlformats.org/drawingml/2006/main">
            <a:off x="5715000" y="5238750"/>
            <a:ext cx="579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Site assessment, treatment scope and coordination.</a:t>
            </a:r>
          </a:p>
        </p:txBody>
      </p:sp>
      <p:sp>
        <p:nvSpPr>
          <p:cNvPr id="22" name="profile-35">
            <a:extLst xmlns:a="http://schemas.openxmlformats.org/drawingml/2006/main">
              <a:ext uri="{FF2B5EF4-FFF2-40B4-BE49-F238E27FC236}">
                <a16:creationId xmlns:a16="http://schemas.microsoft.com/office/drawing/2014/main" id="{067E0A31-9710-4163-A39A-329822209975}"/>
              </a:ext>
            </a:extLst>
          </p:cNvPr>
          <p:cNvSpPr>
            <a:spLocks xmlns:a="http://schemas.openxmlformats.org/drawingml/2006/main" noGrp="1"/>
          </p:cNvSpPr>
          <p:nvPr/>
        </p:nvSpPr>
        <p:spPr>
          <a:xfrm xmlns:a="http://schemas.openxmlformats.org/drawingml/2006/main">
            <a:off x="685800" y="5638800"/>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23" name="profile-36">
            <a:extLst xmlns:a="http://schemas.openxmlformats.org/drawingml/2006/main">
              <a:ext uri="{FF2B5EF4-FFF2-40B4-BE49-F238E27FC236}">
                <a16:creationId xmlns:a16="http://schemas.microsoft.com/office/drawing/2014/main" id="{A3DFF817-ECBF-498F-B792-CCB0D27FB008}"/>
              </a:ext>
            </a:extLst>
          </p:cNvPr>
          <p:cNvSpPr>
            <a:spLocks xmlns:a="http://schemas.openxmlformats.org/drawingml/2006/main" noGrp="1"/>
          </p:cNvSpPr>
          <p:nvPr/>
        </p:nvSpPr>
        <p:spPr>
          <a:xfrm xmlns:a="http://schemas.openxmlformats.org/drawingml/2006/main">
            <a:off x="685800" y="5857875"/>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Sewage treatment plant (STP)</a:t>
            </a:r>
          </a:p>
        </p:txBody>
      </p:sp>
      <p:sp>
        <p:nvSpPr>
          <p:cNvPr id="24" name="profile-37">
            <a:extLst xmlns:a="http://schemas.openxmlformats.org/drawingml/2006/main">
              <a:ext uri="{FF2B5EF4-FFF2-40B4-BE49-F238E27FC236}">
                <a16:creationId xmlns:a16="http://schemas.microsoft.com/office/drawing/2014/main" id="{A6679F04-A075-42BD-B98A-5A8F6821DE69}"/>
              </a:ext>
            </a:extLst>
          </p:cNvPr>
          <p:cNvSpPr>
            <a:spLocks xmlns:a="http://schemas.openxmlformats.org/drawingml/2006/main" noGrp="1"/>
          </p:cNvSpPr>
          <p:nvPr/>
        </p:nvSpPr>
        <p:spPr>
          <a:xfrm xmlns:a="http://schemas.openxmlformats.org/drawingml/2006/main">
            <a:off x="5715000" y="5876925"/>
            <a:ext cx="579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Treatment of building wastewater on site.</a:t>
            </a:r>
          </a:p>
        </p:txBody>
      </p:sp>
      <p:sp>
        <p:nvSpPr>
          <p:cNvPr id="25" name="profile-38">
            <a:extLst xmlns:a="http://schemas.openxmlformats.org/drawingml/2006/main">
              <a:ext uri="{FF2B5EF4-FFF2-40B4-BE49-F238E27FC236}">
                <a16:creationId xmlns:a16="http://schemas.microsoft.com/office/drawing/2014/main" id="{2DD67D53-5C9C-44F5-A0B2-210F7351105E}"/>
              </a:ext>
            </a:extLst>
          </p:cNvPr>
          <p:cNvSpPr>
            <a:spLocks xmlns:a="http://schemas.openxmlformats.org/drawingml/2006/main" noGrp="1"/>
          </p:cNvSpPr>
          <p:nvPr/>
        </p:nvSpPr>
        <p:spPr>
          <a:xfrm xmlns:a="http://schemas.openxmlformats.org/drawingml/2006/main">
            <a:off x="685800" y="64484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26" name="profile-39">
            <a:extLst xmlns:a="http://schemas.openxmlformats.org/drawingml/2006/main">
              <a:ext uri="{FF2B5EF4-FFF2-40B4-BE49-F238E27FC236}">
                <a16:creationId xmlns:a16="http://schemas.microsoft.com/office/drawing/2014/main" id="{EC1E9232-D7A1-4CC7-B118-64B5CB09102C}"/>
              </a:ext>
            </a:extLst>
          </p:cNvPr>
          <p:cNvSpPr>
            <a:spLocks xmlns:a="http://schemas.openxmlformats.org/drawingml/2006/main" noGrp="1"/>
          </p:cNvSpPr>
          <p:nvPr/>
        </p:nvSpPr>
        <p:spPr>
          <a:xfrm xmlns:a="http://schemas.openxmlformats.org/drawingml/2006/main">
            <a:off x="685800" y="65722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Oceanides</a:t>
            </a:r>
          </a:p>
        </p:txBody>
      </p:sp>
      <p:sp>
        <p:nvSpPr>
          <p:cNvPr id="27" name="profile-40">
            <a:extLst xmlns:a="http://schemas.openxmlformats.org/drawingml/2006/main">
              <a:ext uri="{FF2B5EF4-FFF2-40B4-BE49-F238E27FC236}">
                <a16:creationId xmlns:a16="http://schemas.microsoft.com/office/drawing/2014/main" id="{03BD12DB-74C2-4FF3-B071-8CFF1BBA93BA}"/>
              </a:ext>
            </a:extLst>
          </p:cNvPr>
          <p:cNvSpPr>
            <a:spLocks xmlns:a="http://schemas.openxmlformats.org/drawingml/2006/main" noGrp="1"/>
          </p:cNvSpPr>
          <p:nvPr/>
        </p:nvSpPr>
        <p:spPr>
          <a:xfrm xmlns:a="http://schemas.openxmlformats.org/drawingml/2006/main">
            <a:off x="11220450" y="65722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02</a:t>
            </a:r>
          </a:p>
        </p:txBody>
      </p:sp>
    </p:spTree>
    <p:extLst>
      <p:ext uri="{BB962C8B-B14F-4D97-AF65-F5344CB8AC3E}">
        <p14:creationId xmlns:p14="http://schemas.microsoft.com/office/powerpoint/2010/main" val="778562937"/>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21" name="profile-41">
            <a:extLst xmlns:a="http://schemas.openxmlformats.org/drawingml/2006/main">
              <a:ext uri="{FF2B5EF4-FFF2-40B4-BE49-F238E27FC236}">
                <a16:creationId xmlns:a16="http://schemas.microsoft.com/office/drawing/2014/main" id="{FED8F785-2EDD-4D5E-AB8B-3605A7C42707}"/>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42">
            <a:extLst xmlns:a="http://schemas.openxmlformats.org/drawingml/2006/main">
              <a:ext uri="{FF2B5EF4-FFF2-40B4-BE49-F238E27FC236}">
                <a16:creationId xmlns:a16="http://schemas.microsoft.com/office/drawing/2014/main" id="{4EF682C8-A92C-4171-85F8-80D7306F46DA}"/>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43">
            <a:extLst xmlns:a="http://schemas.openxmlformats.org/drawingml/2006/main">
              <a:ext uri="{FF2B5EF4-FFF2-40B4-BE49-F238E27FC236}">
                <a16:creationId xmlns:a16="http://schemas.microsoft.com/office/drawing/2014/main" id="{F1949EB4-FB13-429E-AC70-FE3390EA1909}"/>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44">
            <a:extLst xmlns:a="http://schemas.openxmlformats.org/drawingml/2006/main">
              <a:ext uri="{FF2B5EF4-FFF2-40B4-BE49-F238E27FC236}">
                <a16:creationId xmlns:a16="http://schemas.microsoft.com/office/drawing/2014/main" id="{01DF330F-06F7-4637-B6C4-C7C513C07019}"/>
              </a:ext>
            </a:extLst>
          </p:cNvPr>
          <p:cNvSpPr>
            <a:spLocks xmlns:a="http://schemas.openxmlformats.org/drawingml/2006/main" noGrp="1"/>
          </p:cNvSpPr>
          <p:nvPr/>
        </p:nvSpPr>
        <p:spPr>
          <a:xfrm xmlns:a="http://schemas.openxmlformats.org/drawingml/2006/main">
            <a:off x="685800" y="3333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7212B"/>
                </a:solidFill>
                <a:latin typeface="Segoe UI"/>
                <a:ea typeface="Segoe UI"/>
                <a:cs typeface="Segoe UI"/>
              </a:defRPr>
            </a:pPr>
            <a:r>
              <a:rPr sz="1500" b="1">
                <a:solidFill>
                  <a:srgbClr val="17212B"/>
                </a:solidFill>
                <a:latin typeface="Segoe UI"/>
                <a:ea typeface="Segoe UI"/>
                <a:cs typeface="Segoe UI"/>
              </a:rPr>
              <a:t>Oceanides</a:t>
            </a:r>
          </a:p>
        </p:txBody>
      </p:sp>
      <p:sp>
        <p:nvSpPr>
          <p:cNvPr id="5" name="profile-45">
            <a:extLst xmlns:a="http://schemas.openxmlformats.org/drawingml/2006/main">
              <a:ext uri="{FF2B5EF4-FFF2-40B4-BE49-F238E27FC236}">
                <a16:creationId xmlns:a16="http://schemas.microsoft.com/office/drawing/2014/main" id="{8443F24D-D53D-4B63-B2CC-E060DF5605CF}"/>
              </a:ext>
            </a:extLst>
          </p:cNvPr>
          <p:cNvSpPr>
            <a:spLocks xmlns:a="http://schemas.openxmlformats.org/drawingml/2006/main" noGrp="1"/>
          </p:cNvSpPr>
          <p:nvPr/>
        </p:nvSpPr>
        <p:spPr>
          <a:xfrm xmlns:a="http://schemas.openxmlformats.org/drawingml/2006/main">
            <a:off x="9525000" y="371475"/>
            <a:ext cx="1981200"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Company profile</a:t>
            </a:r>
          </a:p>
        </p:txBody>
      </p:sp>
      <p:sp>
        <p:nvSpPr>
          <p:cNvPr id="6" name="profile-46">
            <a:extLst xmlns:a="http://schemas.openxmlformats.org/drawingml/2006/main">
              <a:ext uri="{FF2B5EF4-FFF2-40B4-BE49-F238E27FC236}">
                <a16:creationId xmlns:a16="http://schemas.microsoft.com/office/drawing/2014/main" id="{9372964B-3C7B-4D61-BF71-E876AA871B1F}"/>
              </a:ext>
            </a:extLst>
          </p:cNvPr>
          <p:cNvSpPr>
            <a:spLocks xmlns:a="http://schemas.openxmlformats.org/drawingml/2006/main" noGrp="1"/>
          </p:cNvSpPr>
          <p:nvPr/>
        </p:nvSpPr>
        <p:spPr>
          <a:xfrm xmlns:a="http://schemas.openxmlformats.org/drawingml/2006/main">
            <a:off x="685800" y="1123950"/>
            <a:ext cx="5467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200" b="0">
                <a:solidFill>
                  <a:srgbClr val="1C63AD"/>
                </a:solidFill>
                <a:latin typeface="Segoe UI"/>
                <a:ea typeface="Segoe UI"/>
                <a:cs typeface="Segoe UI"/>
              </a:defRPr>
            </a:pPr>
            <a:r>
              <a:rPr sz="4200" b="0">
                <a:solidFill>
                  <a:srgbClr val="1C63AD"/>
                </a:solidFill>
                <a:latin typeface="Segoe UI"/>
                <a:ea typeface="Segoe UI"/>
                <a:cs typeface="Segoe UI"/>
              </a:rPr>
              <a:t>Siphoning &amp;</a:t>
            </a:r>
          </a:p>
        </p:txBody>
      </p:sp>
      <p:sp>
        <p:nvSpPr>
          <p:cNvPr id="7" name="profile-47">
            <a:extLst xmlns:a="http://schemas.openxmlformats.org/drawingml/2006/main">
              <a:ext uri="{FF2B5EF4-FFF2-40B4-BE49-F238E27FC236}">
                <a16:creationId xmlns:a16="http://schemas.microsoft.com/office/drawing/2014/main" id="{4674430C-92E7-468B-8523-E87EF934BD50}"/>
              </a:ext>
            </a:extLst>
          </p:cNvPr>
          <p:cNvSpPr>
            <a:spLocks xmlns:a="http://schemas.openxmlformats.org/drawingml/2006/main" noGrp="1"/>
          </p:cNvSpPr>
          <p:nvPr/>
        </p:nvSpPr>
        <p:spPr>
          <a:xfrm xmlns:a="http://schemas.openxmlformats.org/drawingml/2006/main">
            <a:off x="685800" y="1733550"/>
            <a:ext cx="5467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200" b="0">
                <a:solidFill>
                  <a:srgbClr val="1C63AD"/>
                </a:solidFill>
                <a:latin typeface="Segoe UI"/>
                <a:ea typeface="Segoe UI"/>
                <a:cs typeface="Segoe UI"/>
              </a:defRPr>
            </a:pPr>
            <a:r>
              <a:rPr sz="4200" b="0">
                <a:solidFill>
                  <a:srgbClr val="1C63AD"/>
                </a:solidFill>
                <a:latin typeface="Segoe UI"/>
                <a:ea typeface="Segoe UI"/>
                <a:cs typeface="Segoe UI"/>
              </a:rPr>
              <a:t>plumbing</a:t>
            </a:r>
          </a:p>
        </p:txBody>
      </p:sp>
      <p:sp>
        <p:nvSpPr>
          <p:cNvPr id="8" name="profile-48">
            <a:extLst xmlns:a="http://schemas.openxmlformats.org/drawingml/2006/main">
              <a:ext uri="{FF2B5EF4-FFF2-40B4-BE49-F238E27FC236}">
                <a16:creationId xmlns:a16="http://schemas.microsoft.com/office/drawing/2014/main" id="{8B86C840-B446-49C7-ACE3-439F444545E3}"/>
              </a:ext>
            </a:extLst>
          </p:cNvPr>
          <p:cNvSpPr>
            <a:spLocks xmlns:a="http://schemas.openxmlformats.org/drawingml/2006/main" noGrp="1"/>
          </p:cNvSpPr>
          <p:nvPr/>
        </p:nvSpPr>
        <p:spPr>
          <a:xfrm xmlns:a="http://schemas.openxmlformats.org/drawingml/2006/main">
            <a:off x="685800" y="2638425"/>
            <a:ext cx="548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Septic tank services, drain declogging</a:t>
            </a:r>
          </a:p>
        </p:txBody>
      </p:sp>
      <p:sp>
        <p:nvSpPr>
          <p:cNvPr id="9" name="profile-49">
            <a:extLst xmlns:a="http://schemas.openxmlformats.org/drawingml/2006/main">
              <a:ext uri="{FF2B5EF4-FFF2-40B4-BE49-F238E27FC236}">
                <a16:creationId xmlns:a16="http://schemas.microsoft.com/office/drawing/2014/main" id="{8E973434-B606-48EF-9DA2-162BFA3807D9}"/>
              </a:ext>
            </a:extLst>
          </p:cNvPr>
          <p:cNvSpPr>
            <a:spLocks xmlns:a="http://schemas.openxmlformats.org/drawingml/2006/main" noGrp="1"/>
          </p:cNvSpPr>
          <p:nvPr/>
        </p:nvSpPr>
        <p:spPr>
          <a:xfrm xmlns:a="http://schemas.openxmlformats.org/drawingml/2006/main">
            <a:off x="685800" y="2981325"/>
            <a:ext cx="548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and plumbing repairs.</a:t>
            </a:r>
          </a:p>
        </p:txBody>
      </p:sp>
      <p:sp>
        <p:nvSpPr>
          <p:cNvPr id="10" name="profile-50">
            <a:extLst xmlns:a="http://schemas.openxmlformats.org/drawingml/2006/main">
              <a:ext uri="{FF2B5EF4-FFF2-40B4-BE49-F238E27FC236}">
                <a16:creationId xmlns:a16="http://schemas.microsoft.com/office/drawing/2014/main" id="{D2866FB4-7841-496D-BE25-783C98D6A369}"/>
              </a:ext>
            </a:extLst>
          </p:cNvPr>
          <p:cNvSpPr>
            <a:spLocks xmlns:a="http://schemas.openxmlformats.org/drawingml/2006/main" noGrp="1"/>
          </p:cNvSpPr>
          <p:nvPr/>
        </p:nvSpPr>
        <p:spPr>
          <a:xfrm xmlns:a="http://schemas.openxmlformats.org/drawingml/2006/main">
            <a:off x="685800" y="37433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C63AD"/>
                </a:solidFill>
                <a:latin typeface="Segoe UI"/>
                <a:ea typeface="Segoe UI"/>
                <a:cs typeface="Segoe UI"/>
              </a:defRPr>
            </a:pPr>
            <a:r>
              <a:rPr sz="2025" b="1">
                <a:solidFill>
                  <a:srgbClr val="1C63AD"/>
                </a:solidFill>
                <a:latin typeface="Segoe UI"/>
                <a:ea typeface="Segoe UI"/>
                <a:cs typeface="Segoe UI"/>
              </a:rPr>
              <a:t>Service scope</a:t>
            </a:r>
          </a:p>
        </p:txBody>
      </p:sp>
      <p:sp>
        <p:nvSpPr>
          <p:cNvPr id="11" name="profile-51">
            <a:extLst xmlns:a="http://schemas.openxmlformats.org/drawingml/2006/main">
              <a:ext uri="{FF2B5EF4-FFF2-40B4-BE49-F238E27FC236}">
                <a16:creationId xmlns:a16="http://schemas.microsoft.com/office/drawing/2014/main" id="{ED9D1966-13AF-4154-926D-72E0E89544BC}"/>
              </a:ext>
            </a:extLst>
          </p:cNvPr>
          <p:cNvSpPr>
            <a:spLocks xmlns:a="http://schemas.openxmlformats.org/drawingml/2006/main" noGrp="1"/>
          </p:cNvSpPr>
          <p:nvPr/>
        </p:nvSpPr>
        <p:spPr>
          <a:xfrm xmlns:a="http://schemas.openxmlformats.org/drawingml/2006/main">
            <a:off x="685800" y="42481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Septic tank siphoning</a:t>
            </a:r>
          </a:p>
        </p:txBody>
      </p:sp>
      <p:sp>
        <p:nvSpPr>
          <p:cNvPr id="12" name="profile-52">
            <a:extLst xmlns:a="http://schemas.openxmlformats.org/drawingml/2006/main">
              <a:ext uri="{FF2B5EF4-FFF2-40B4-BE49-F238E27FC236}">
                <a16:creationId xmlns:a16="http://schemas.microsoft.com/office/drawing/2014/main" id="{0CC4ED20-ADE5-4EAA-935D-FACCFEDC0BDF}"/>
              </a:ext>
            </a:extLst>
          </p:cNvPr>
          <p:cNvSpPr>
            <a:spLocks xmlns:a="http://schemas.openxmlformats.org/drawingml/2006/main" noGrp="1"/>
          </p:cNvSpPr>
          <p:nvPr/>
        </p:nvSpPr>
        <p:spPr>
          <a:xfrm xmlns:a="http://schemas.openxmlformats.org/drawingml/2006/main">
            <a:off x="685800" y="46577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Septic tank cleaning</a:t>
            </a:r>
          </a:p>
        </p:txBody>
      </p:sp>
      <p:sp>
        <p:nvSpPr>
          <p:cNvPr id="13" name="profile-53">
            <a:extLst xmlns:a="http://schemas.openxmlformats.org/drawingml/2006/main">
              <a:ext uri="{FF2B5EF4-FFF2-40B4-BE49-F238E27FC236}">
                <a16:creationId xmlns:a16="http://schemas.microsoft.com/office/drawing/2014/main" id="{C01B7DD0-B878-43B0-8B51-D6499E15DBF7}"/>
              </a:ext>
            </a:extLst>
          </p:cNvPr>
          <p:cNvSpPr>
            <a:spLocks xmlns:a="http://schemas.openxmlformats.org/drawingml/2006/main" noGrp="1"/>
          </p:cNvSpPr>
          <p:nvPr/>
        </p:nvSpPr>
        <p:spPr>
          <a:xfrm xmlns:a="http://schemas.openxmlformats.org/drawingml/2006/main">
            <a:off x="685800" y="50673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Drain declogging</a:t>
            </a:r>
          </a:p>
        </p:txBody>
      </p:sp>
      <p:sp>
        <p:nvSpPr>
          <p:cNvPr id="14" name="profile-54">
            <a:extLst xmlns:a="http://schemas.openxmlformats.org/drawingml/2006/main">
              <a:ext uri="{FF2B5EF4-FFF2-40B4-BE49-F238E27FC236}">
                <a16:creationId xmlns:a16="http://schemas.microsoft.com/office/drawing/2014/main" id="{AA0D6C4C-DFC5-40A8-8A43-DAB531FEE509}"/>
              </a:ext>
            </a:extLst>
          </p:cNvPr>
          <p:cNvSpPr>
            <a:spLocks xmlns:a="http://schemas.openxmlformats.org/drawingml/2006/main" noGrp="1"/>
          </p:cNvSpPr>
          <p:nvPr/>
        </p:nvSpPr>
        <p:spPr>
          <a:xfrm xmlns:a="http://schemas.openxmlformats.org/drawingml/2006/main">
            <a:off x="685800" y="54768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Pipe leak repairs</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c384bc2fc6841a7"/>
          <a:stretch xmlns:a="http://schemas.openxmlformats.org/drawingml/2006/main"/>
        </p:blipFill>
        <p:spPr>
          <a:xfrm xmlns:a="http://schemas.openxmlformats.org/drawingml/2006/main">
            <a:off x="6743700" y="1819275"/>
            <a:ext cx="4762500" cy="3175000"/>
          </a:xfrm>
          <a:prstGeom xmlns:a="http://schemas.openxmlformats.org/drawingml/2006/main" prst="rect">
            <a:avLst/>
          </a:prstGeom>
        </p:spPr>
      </p:pic>
      <p:sp>
        <p:nvSpPr>
          <p:cNvPr id="16" name="profile-55">
            <a:extLst xmlns:a="http://schemas.openxmlformats.org/drawingml/2006/main">
              <a:ext uri="{FF2B5EF4-FFF2-40B4-BE49-F238E27FC236}">
                <a16:creationId xmlns:a16="http://schemas.microsoft.com/office/drawing/2014/main" id="{FCFC036C-52B8-4145-812C-DE96AB1C5876}"/>
              </a:ext>
            </a:extLst>
          </p:cNvPr>
          <p:cNvSpPr>
            <a:spLocks xmlns:a="http://schemas.openxmlformats.org/drawingml/2006/main" noGrp="1"/>
          </p:cNvSpPr>
          <p:nvPr/>
        </p:nvSpPr>
        <p:spPr>
          <a:xfrm xmlns:a="http://schemas.openxmlformats.org/drawingml/2006/main">
            <a:off x="6743700" y="52006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AI-generated service illustration</a:t>
            </a:r>
          </a:p>
        </p:txBody>
      </p:sp>
      <p:sp>
        <p:nvSpPr>
          <p:cNvPr id="17" name="profile-56">
            <a:extLst xmlns:a="http://schemas.openxmlformats.org/drawingml/2006/main">
              <a:ext uri="{FF2B5EF4-FFF2-40B4-BE49-F238E27FC236}">
                <a16:creationId xmlns:a16="http://schemas.microsoft.com/office/drawing/2014/main" id="{61691FF0-2F1A-4FE5-A3A8-E0C0F3740DFC}"/>
              </a:ext>
            </a:extLst>
          </p:cNvPr>
          <p:cNvSpPr>
            <a:spLocks xmlns:a="http://schemas.openxmlformats.org/drawingml/2006/main" noGrp="1"/>
          </p:cNvSpPr>
          <p:nvPr/>
        </p:nvSpPr>
        <p:spPr>
          <a:xfrm xmlns:a="http://schemas.openxmlformats.org/drawingml/2006/main">
            <a:off x="685800" y="60483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63707D"/>
                </a:solidFill>
                <a:latin typeface="Arial"/>
                <a:ea typeface="Arial"/>
                <a:cs typeface="Arial"/>
              </a:defRPr>
            </a:pPr>
            <a:r>
              <a:rPr sz="1500" b="0">
                <a:solidFill>
                  <a:srgbClr val="63707D"/>
                </a:solidFill>
                <a:latin typeface="Arial"/>
                <a:ea typeface="Arial"/>
                <a:cs typeface="Arial"/>
              </a:rPr>
              <a:t>Scope follows site access and tank or pipe conditions.</a:t>
            </a:r>
          </a:p>
        </p:txBody>
      </p:sp>
      <p:sp>
        <p:nvSpPr>
          <p:cNvPr id="18" name="profile-57">
            <a:extLst xmlns:a="http://schemas.openxmlformats.org/drawingml/2006/main">
              <a:ext uri="{FF2B5EF4-FFF2-40B4-BE49-F238E27FC236}">
                <a16:creationId xmlns:a16="http://schemas.microsoft.com/office/drawing/2014/main" id="{3B31BE38-CF3B-4E25-8B38-FA081EFCBE05}"/>
              </a:ext>
            </a:extLst>
          </p:cNvPr>
          <p:cNvSpPr>
            <a:spLocks xmlns:a="http://schemas.openxmlformats.org/drawingml/2006/main" noGrp="1"/>
          </p:cNvSpPr>
          <p:nvPr/>
        </p:nvSpPr>
        <p:spPr>
          <a:xfrm xmlns:a="http://schemas.openxmlformats.org/drawingml/2006/main">
            <a:off x="685800" y="64484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9" name="profile-58">
            <a:extLst xmlns:a="http://schemas.openxmlformats.org/drawingml/2006/main">
              <a:ext uri="{FF2B5EF4-FFF2-40B4-BE49-F238E27FC236}">
                <a16:creationId xmlns:a16="http://schemas.microsoft.com/office/drawing/2014/main" id="{7B0C1C4D-8DDC-42B4-8A9E-F1208C749D44}"/>
              </a:ext>
            </a:extLst>
          </p:cNvPr>
          <p:cNvSpPr>
            <a:spLocks xmlns:a="http://schemas.openxmlformats.org/drawingml/2006/main" noGrp="1"/>
          </p:cNvSpPr>
          <p:nvPr/>
        </p:nvSpPr>
        <p:spPr>
          <a:xfrm xmlns:a="http://schemas.openxmlformats.org/drawingml/2006/main">
            <a:off x="685800" y="65722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Oceanides</a:t>
            </a:r>
          </a:p>
        </p:txBody>
      </p:sp>
      <p:sp>
        <p:nvSpPr>
          <p:cNvPr id="20" name="profile-59">
            <a:extLst xmlns:a="http://schemas.openxmlformats.org/drawingml/2006/main">
              <a:ext uri="{FF2B5EF4-FFF2-40B4-BE49-F238E27FC236}">
                <a16:creationId xmlns:a16="http://schemas.microsoft.com/office/drawing/2014/main" id="{48BE2B2D-FE55-461D-9190-8ADFAA4B4D2A}"/>
              </a:ext>
            </a:extLst>
          </p:cNvPr>
          <p:cNvSpPr>
            <a:spLocks xmlns:a="http://schemas.openxmlformats.org/drawingml/2006/main" noGrp="1"/>
          </p:cNvSpPr>
          <p:nvPr/>
        </p:nvSpPr>
        <p:spPr>
          <a:xfrm xmlns:a="http://schemas.openxmlformats.org/drawingml/2006/main">
            <a:off x="11220450" y="65722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03</a:t>
            </a:r>
          </a:p>
        </p:txBody>
      </p:sp>
    </p:spTree>
    <p:extLst>
      <p:ext uri="{BB962C8B-B14F-4D97-AF65-F5344CB8AC3E}">
        <p14:creationId xmlns:p14="http://schemas.microsoft.com/office/powerpoint/2010/main" val="1656189223"/>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profile-60">
            <a:extLst xmlns:a="http://schemas.openxmlformats.org/drawingml/2006/main">
              <a:ext uri="{FF2B5EF4-FFF2-40B4-BE49-F238E27FC236}">
                <a16:creationId xmlns:a16="http://schemas.microsoft.com/office/drawing/2014/main" id="{BBDA7A41-D3C4-4BCD-AFBB-AB13ABE666E3}"/>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61">
            <a:extLst xmlns:a="http://schemas.openxmlformats.org/drawingml/2006/main">
              <a:ext uri="{FF2B5EF4-FFF2-40B4-BE49-F238E27FC236}">
                <a16:creationId xmlns:a16="http://schemas.microsoft.com/office/drawing/2014/main" id="{B6D32AED-E1FD-4622-8726-B8DAADE289F7}"/>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62">
            <a:extLst xmlns:a="http://schemas.openxmlformats.org/drawingml/2006/main">
              <a:ext uri="{FF2B5EF4-FFF2-40B4-BE49-F238E27FC236}">
                <a16:creationId xmlns:a16="http://schemas.microsoft.com/office/drawing/2014/main" id="{66F7DF82-93F5-4A6B-B711-F6131AAE55B4}"/>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63">
            <a:extLst xmlns:a="http://schemas.openxmlformats.org/drawingml/2006/main">
              <a:ext uri="{FF2B5EF4-FFF2-40B4-BE49-F238E27FC236}">
                <a16:creationId xmlns:a16="http://schemas.microsoft.com/office/drawing/2014/main" id="{9C3ED71E-D9A2-4637-8FEF-7D46ED19C17D}"/>
              </a:ext>
            </a:extLst>
          </p:cNvPr>
          <p:cNvSpPr>
            <a:spLocks xmlns:a="http://schemas.openxmlformats.org/drawingml/2006/main" noGrp="1"/>
          </p:cNvSpPr>
          <p:nvPr/>
        </p:nvSpPr>
        <p:spPr>
          <a:xfrm xmlns:a="http://schemas.openxmlformats.org/drawingml/2006/main">
            <a:off x="685800" y="3333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7212B"/>
                </a:solidFill>
                <a:latin typeface="Segoe UI"/>
                <a:ea typeface="Segoe UI"/>
                <a:cs typeface="Segoe UI"/>
              </a:defRPr>
            </a:pPr>
            <a:r>
              <a:rPr sz="1500" b="1">
                <a:solidFill>
                  <a:srgbClr val="17212B"/>
                </a:solidFill>
                <a:latin typeface="Segoe UI"/>
                <a:ea typeface="Segoe UI"/>
                <a:cs typeface="Segoe UI"/>
              </a:rPr>
              <a:t>Oceanides</a:t>
            </a:r>
          </a:p>
        </p:txBody>
      </p:sp>
      <p:sp>
        <p:nvSpPr>
          <p:cNvPr id="5" name="profile-64">
            <a:extLst xmlns:a="http://schemas.openxmlformats.org/drawingml/2006/main">
              <a:ext uri="{FF2B5EF4-FFF2-40B4-BE49-F238E27FC236}">
                <a16:creationId xmlns:a16="http://schemas.microsoft.com/office/drawing/2014/main" id="{A10ABADA-1599-4D67-BCE2-ABFC9F1D8012}"/>
              </a:ext>
            </a:extLst>
          </p:cNvPr>
          <p:cNvSpPr>
            <a:spLocks xmlns:a="http://schemas.openxmlformats.org/drawingml/2006/main" noGrp="1"/>
          </p:cNvSpPr>
          <p:nvPr/>
        </p:nvSpPr>
        <p:spPr>
          <a:xfrm xmlns:a="http://schemas.openxmlformats.org/drawingml/2006/main">
            <a:off x="9525000" y="371475"/>
            <a:ext cx="1981200"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Company profile</a:t>
            </a:r>
          </a:p>
        </p:txBody>
      </p:sp>
      <p:sp>
        <p:nvSpPr>
          <p:cNvPr id="6" name="profile-65">
            <a:extLst xmlns:a="http://schemas.openxmlformats.org/drawingml/2006/main">
              <a:ext uri="{FF2B5EF4-FFF2-40B4-BE49-F238E27FC236}">
                <a16:creationId xmlns:a16="http://schemas.microsoft.com/office/drawing/2014/main" id="{54922053-C437-4534-859D-8E90A036BB94}"/>
              </a:ext>
            </a:extLst>
          </p:cNvPr>
          <p:cNvSpPr>
            <a:spLocks xmlns:a="http://schemas.openxmlformats.org/drawingml/2006/main" noGrp="1"/>
          </p:cNvSpPr>
          <p:nvPr/>
        </p:nvSpPr>
        <p:spPr>
          <a:xfrm xmlns:a="http://schemas.openxmlformats.org/drawingml/2006/main">
            <a:off x="685800" y="10382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00" b="0">
                <a:solidFill>
                  <a:srgbClr val="1C63AD"/>
                </a:solidFill>
                <a:latin typeface="Segoe UI"/>
                <a:ea typeface="Segoe UI"/>
                <a:cs typeface="Segoe UI"/>
              </a:defRPr>
            </a:pPr>
            <a:r>
              <a:rPr sz="3900" b="0">
                <a:solidFill>
                  <a:srgbClr val="1C63AD"/>
                </a:solidFill>
                <a:latin typeface="Segoe UI"/>
                <a:ea typeface="Segoe UI"/>
                <a:cs typeface="Segoe UI"/>
              </a:rPr>
              <a:t>Actual siphoning work</a:t>
            </a:r>
          </a:p>
        </p:txBody>
      </p:sp>
      <p:sp>
        <p:nvSpPr>
          <p:cNvPr id="7" name="profile-66">
            <a:extLst xmlns:a="http://schemas.openxmlformats.org/drawingml/2006/main">
              <a:ext uri="{FF2B5EF4-FFF2-40B4-BE49-F238E27FC236}">
                <a16:creationId xmlns:a16="http://schemas.microsoft.com/office/drawing/2014/main" id="{A6FC022E-9F05-469D-A417-5D74DB45CE73}"/>
              </a:ext>
            </a:extLst>
          </p:cNvPr>
          <p:cNvSpPr>
            <a:spLocks xmlns:a="http://schemas.openxmlformats.org/drawingml/2006/main" noGrp="1"/>
          </p:cNvSpPr>
          <p:nvPr/>
        </p:nvSpPr>
        <p:spPr>
          <a:xfrm xmlns:a="http://schemas.openxmlformats.org/drawingml/2006/main">
            <a:off x="685800" y="18192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Same site before and after service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bb68bc6ef144795"/>
          <a:srcRect xmlns:a="http://schemas.openxmlformats.org/drawingml/2006/main" l="0" t="16667" r="0" b="16667"/>
          <a:stretch xmlns:a="http://schemas.openxmlformats.org/drawingml/2006/main">
            <a:fillRect l="0" t="0" r="0" b="0"/>
          </a:stretch>
        </p:blipFill>
        <p:spPr>
          <a:xfrm xmlns:a="http://schemas.openxmlformats.org/drawingml/2006/main">
            <a:off x="1485900" y="2295525"/>
            <a:ext cx="3810000" cy="381000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2a5f5eec34d4396"/>
          <a:srcRect xmlns:a="http://schemas.openxmlformats.org/drawingml/2006/main" l="0" t="16667" r="0" b="16667"/>
          <a:stretch xmlns:a="http://schemas.openxmlformats.org/drawingml/2006/main">
            <a:fillRect l="0" t="0" r="0" b="0"/>
          </a:stretch>
        </p:blipFill>
        <p:spPr>
          <a:xfrm xmlns:a="http://schemas.openxmlformats.org/drawingml/2006/main">
            <a:off x="6896100" y="2295525"/>
            <a:ext cx="3810000" cy="3810000"/>
          </a:xfrm>
          <a:prstGeom xmlns:a="http://schemas.openxmlformats.org/drawingml/2006/main" prst="rect">
            <a:avLst/>
          </a:prstGeom>
        </p:spPr>
      </p:pic>
      <p:sp>
        <p:nvSpPr>
          <p:cNvPr id="10" name="profile-67">
            <a:extLst xmlns:a="http://schemas.openxmlformats.org/drawingml/2006/main">
              <a:ext uri="{FF2B5EF4-FFF2-40B4-BE49-F238E27FC236}">
                <a16:creationId xmlns:a16="http://schemas.microsoft.com/office/drawing/2014/main" id="{681FBB6B-9334-4A23-9D66-41F31FA87B8F}"/>
              </a:ext>
            </a:extLst>
          </p:cNvPr>
          <p:cNvSpPr>
            <a:spLocks xmlns:a="http://schemas.openxmlformats.org/drawingml/2006/main" noGrp="1"/>
          </p:cNvSpPr>
          <p:nvPr/>
        </p:nvSpPr>
        <p:spPr>
          <a:xfrm xmlns:a="http://schemas.openxmlformats.org/drawingml/2006/main">
            <a:off x="1485900" y="618172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3707D"/>
                </a:solidFill>
                <a:latin typeface="Arial"/>
                <a:ea typeface="Arial"/>
                <a:cs typeface="Arial"/>
              </a:defRPr>
            </a:pPr>
            <a:r>
              <a:rPr sz="1650" b="0">
                <a:solidFill>
                  <a:srgbClr val="63707D"/>
                </a:solidFill>
                <a:latin typeface="Arial"/>
                <a:ea typeface="Arial"/>
                <a:cs typeface="Arial"/>
              </a:rPr>
              <a:t>Before service</a:t>
            </a:r>
          </a:p>
        </p:txBody>
      </p:sp>
      <p:sp>
        <p:nvSpPr>
          <p:cNvPr id="11" name="profile-68">
            <a:extLst xmlns:a="http://schemas.openxmlformats.org/drawingml/2006/main">
              <a:ext uri="{FF2B5EF4-FFF2-40B4-BE49-F238E27FC236}">
                <a16:creationId xmlns:a16="http://schemas.microsoft.com/office/drawing/2014/main" id="{D051F888-DC76-4880-B300-62DCABFD755A}"/>
              </a:ext>
            </a:extLst>
          </p:cNvPr>
          <p:cNvSpPr>
            <a:spLocks xmlns:a="http://schemas.openxmlformats.org/drawingml/2006/main" noGrp="1"/>
          </p:cNvSpPr>
          <p:nvPr/>
        </p:nvSpPr>
        <p:spPr>
          <a:xfrm xmlns:a="http://schemas.openxmlformats.org/drawingml/2006/main">
            <a:off x="6896100" y="618172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3707D"/>
                </a:solidFill>
                <a:latin typeface="Arial"/>
                <a:ea typeface="Arial"/>
                <a:cs typeface="Arial"/>
              </a:defRPr>
            </a:pPr>
            <a:r>
              <a:rPr sz="1650" b="0">
                <a:solidFill>
                  <a:srgbClr val="63707D"/>
                </a:solidFill>
                <a:latin typeface="Arial"/>
                <a:ea typeface="Arial"/>
                <a:cs typeface="Arial"/>
              </a:rPr>
              <a:t>After service</a:t>
            </a:r>
          </a:p>
        </p:txBody>
      </p:sp>
      <p:sp>
        <p:nvSpPr>
          <p:cNvPr id="12" name="profile-69">
            <a:extLst xmlns:a="http://schemas.openxmlformats.org/drawingml/2006/main">
              <a:ext uri="{FF2B5EF4-FFF2-40B4-BE49-F238E27FC236}">
                <a16:creationId xmlns:a16="http://schemas.microsoft.com/office/drawing/2014/main" id="{682EB991-9190-4348-8DEE-E3E8BB165FAB}"/>
              </a:ext>
            </a:extLst>
          </p:cNvPr>
          <p:cNvSpPr>
            <a:spLocks xmlns:a="http://schemas.openxmlformats.org/drawingml/2006/main" noGrp="1"/>
          </p:cNvSpPr>
          <p:nvPr/>
        </p:nvSpPr>
        <p:spPr>
          <a:xfrm xmlns:a="http://schemas.openxmlformats.org/drawingml/2006/main">
            <a:off x="685800" y="64484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3" name="profile-70">
            <a:extLst xmlns:a="http://schemas.openxmlformats.org/drawingml/2006/main">
              <a:ext uri="{FF2B5EF4-FFF2-40B4-BE49-F238E27FC236}">
                <a16:creationId xmlns:a16="http://schemas.microsoft.com/office/drawing/2014/main" id="{1ECBA6AB-BBF8-43B1-A284-4D81DFFDCFCD}"/>
              </a:ext>
            </a:extLst>
          </p:cNvPr>
          <p:cNvSpPr>
            <a:spLocks xmlns:a="http://schemas.openxmlformats.org/drawingml/2006/main" noGrp="1"/>
          </p:cNvSpPr>
          <p:nvPr/>
        </p:nvSpPr>
        <p:spPr>
          <a:xfrm xmlns:a="http://schemas.openxmlformats.org/drawingml/2006/main">
            <a:off x="685800" y="65722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Oceanides</a:t>
            </a:r>
          </a:p>
        </p:txBody>
      </p:sp>
      <p:sp>
        <p:nvSpPr>
          <p:cNvPr id="14" name="profile-71">
            <a:extLst xmlns:a="http://schemas.openxmlformats.org/drawingml/2006/main">
              <a:ext uri="{FF2B5EF4-FFF2-40B4-BE49-F238E27FC236}">
                <a16:creationId xmlns:a16="http://schemas.microsoft.com/office/drawing/2014/main" id="{5FC458BF-A3A2-48AA-B78E-8B63CE7E7764}"/>
              </a:ext>
            </a:extLst>
          </p:cNvPr>
          <p:cNvSpPr>
            <a:spLocks xmlns:a="http://schemas.openxmlformats.org/drawingml/2006/main" noGrp="1"/>
          </p:cNvSpPr>
          <p:nvPr/>
        </p:nvSpPr>
        <p:spPr>
          <a:xfrm xmlns:a="http://schemas.openxmlformats.org/drawingml/2006/main">
            <a:off x="11220450" y="65722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04</a:t>
            </a:r>
          </a:p>
        </p:txBody>
      </p:sp>
    </p:spTree>
    <p:extLst>
      <p:ext uri="{BB962C8B-B14F-4D97-AF65-F5344CB8AC3E}">
        <p14:creationId xmlns:p14="http://schemas.microsoft.com/office/powerpoint/2010/main" val="2074842477"/>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21" name="profile-72">
            <a:extLst xmlns:a="http://schemas.openxmlformats.org/drawingml/2006/main">
              <a:ext uri="{FF2B5EF4-FFF2-40B4-BE49-F238E27FC236}">
                <a16:creationId xmlns:a16="http://schemas.microsoft.com/office/drawing/2014/main" id="{27D77170-A91D-4D24-9BF4-AE59ACA9D5CF}"/>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73">
            <a:extLst xmlns:a="http://schemas.openxmlformats.org/drawingml/2006/main">
              <a:ext uri="{FF2B5EF4-FFF2-40B4-BE49-F238E27FC236}">
                <a16:creationId xmlns:a16="http://schemas.microsoft.com/office/drawing/2014/main" id="{FAE5A56D-C556-4DB6-B783-81F5050B6C93}"/>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74">
            <a:extLst xmlns:a="http://schemas.openxmlformats.org/drawingml/2006/main">
              <a:ext uri="{FF2B5EF4-FFF2-40B4-BE49-F238E27FC236}">
                <a16:creationId xmlns:a16="http://schemas.microsoft.com/office/drawing/2014/main" id="{CF0E38BF-DCF1-48B2-AF0F-4D4A43294B18}"/>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75">
            <a:extLst xmlns:a="http://schemas.openxmlformats.org/drawingml/2006/main">
              <a:ext uri="{FF2B5EF4-FFF2-40B4-BE49-F238E27FC236}">
                <a16:creationId xmlns:a16="http://schemas.microsoft.com/office/drawing/2014/main" id="{A1E61F79-D31E-4728-A94B-0D8183496C51}"/>
              </a:ext>
            </a:extLst>
          </p:cNvPr>
          <p:cNvSpPr>
            <a:spLocks xmlns:a="http://schemas.openxmlformats.org/drawingml/2006/main" noGrp="1"/>
          </p:cNvSpPr>
          <p:nvPr/>
        </p:nvSpPr>
        <p:spPr>
          <a:xfrm xmlns:a="http://schemas.openxmlformats.org/drawingml/2006/main">
            <a:off x="685800" y="3333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7212B"/>
                </a:solidFill>
                <a:latin typeface="Segoe UI"/>
                <a:ea typeface="Segoe UI"/>
                <a:cs typeface="Segoe UI"/>
              </a:defRPr>
            </a:pPr>
            <a:r>
              <a:rPr sz="1500" b="1">
                <a:solidFill>
                  <a:srgbClr val="17212B"/>
                </a:solidFill>
                <a:latin typeface="Segoe UI"/>
                <a:ea typeface="Segoe UI"/>
                <a:cs typeface="Segoe UI"/>
              </a:rPr>
              <a:t>Oceanides</a:t>
            </a:r>
          </a:p>
        </p:txBody>
      </p:sp>
      <p:sp>
        <p:nvSpPr>
          <p:cNvPr id="5" name="profile-76">
            <a:extLst xmlns:a="http://schemas.openxmlformats.org/drawingml/2006/main">
              <a:ext uri="{FF2B5EF4-FFF2-40B4-BE49-F238E27FC236}">
                <a16:creationId xmlns:a16="http://schemas.microsoft.com/office/drawing/2014/main" id="{DF80C085-E347-4FE9-AA4C-AA7D64EBDDBF}"/>
              </a:ext>
            </a:extLst>
          </p:cNvPr>
          <p:cNvSpPr>
            <a:spLocks xmlns:a="http://schemas.openxmlformats.org/drawingml/2006/main" noGrp="1"/>
          </p:cNvSpPr>
          <p:nvPr/>
        </p:nvSpPr>
        <p:spPr>
          <a:xfrm xmlns:a="http://schemas.openxmlformats.org/drawingml/2006/main">
            <a:off x="9525000" y="371475"/>
            <a:ext cx="1981200"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Company profile</a:t>
            </a:r>
          </a:p>
        </p:txBody>
      </p:sp>
      <p:sp>
        <p:nvSpPr>
          <p:cNvPr id="6" name="profile-77">
            <a:extLst xmlns:a="http://schemas.openxmlformats.org/drawingml/2006/main">
              <a:ext uri="{FF2B5EF4-FFF2-40B4-BE49-F238E27FC236}">
                <a16:creationId xmlns:a16="http://schemas.microsoft.com/office/drawing/2014/main" id="{4FB5E8C7-B5E0-4280-A63C-651DFDFBA31E}"/>
              </a:ext>
            </a:extLst>
          </p:cNvPr>
          <p:cNvSpPr>
            <a:spLocks xmlns:a="http://schemas.openxmlformats.org/drawingml/2006/main" noGrp="1"/>
          </p:cNvSpPr>
          <p:nvPr/>
        </p:nvSpPr>
        <p:spPr>
          <a:xfrm xmlns:a="http://schemas.openxmlformats.org/drawingml/2006/main">
            <a:off x="685800" y="10477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200" b="0">
                <a:solidFill>
                  <a:srgbClr val="1C63AD"/>
                </a:solidFill>
                <a:latin typeface="Segoe UI"/>
                <a:ea typeface="Segoe UI"/>
                <a:cs typeface="Segoe UI"/>
              </a:defRPr>
            </a:pPr>
            <a:r>
              <a:rPr sz="4200" b="0">
                <a:solidFill>
                  <a:srgbClr val="1C63AD"/>
                </a:solidFill>
                <a:latin typeface="Segoe UI"/>
                <a:ea typeface="Segoe UI"/>
                <a:cs typeface="Segoe UI"/>
              </a:rPr>
              <a:t>Sewage treatment</a:t>
            </a:r>
          </a:p>
        </p:txBody>
      </p:sp>
      <p:sp>
        <p:nvSpPr>
          <p:cNvPr id="7" name="profile-78">
            <a:extLst xmlns:a="http://schemas.openxmlformats.org/drawingml/2006/main">
              <a:ext uri="{FF2B5EF4-FFF2-40B4-BE49-F238E27FC236}">
                <a16:creationId xmlns:a16="http://schemas.microsoft.com/office/drawing/2014/main" id="{DA035FEF-B223-4EC9-A129-D60A59D9B149}"/>
              </a:ext>
            </a:extLst>
          </p:cNvPr>
          <p:cNvSpPr>
            <a:spLocks xmlns:a="http://schemas.openxmlformats.org/drawingml/2006/main" noGrp="1"/>
          </p:cNvSpPr>
          <p:nvPr/>
        </p:nvSpPr>
        <p:spPr>
          <a:xfrm xmlns:a="http://schemas.openxmlformats.org/drawingml/2006/main">
            <a:off x="685800" y="16668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200" b="0">
                <a:solidFill>
                  <a:srgbClr val="1C63AD"/>
                </a:solidFill>
                <a:latin typeface="Segoe UI"/>
                <a:ea typeface="Segoe UI"/>
                <a:cs typeface="Segoe UI"/>
              </a:defRPr>
            </a:pPr>
            <a:r>
              <a:rPr sz="4200" b="0">
                <a:solidFill>
                  <a:srgbClr val="1C63AD"/>
                </a:solidFill>
                <a:latin typeface="Segoe UI"/>
                <a:ea typeface="Segoe UI"/>
                <a:cs typeface="Segoe UI"/>
              </a:rPr>
              <a:t>plant (STP)</a:t>
            </a:r>
          </a:p>
        </p:txBody>
      </p:sp>
      <p:sp>
        <p:nvSpPr>
          <p:cNvPr id="8" name="profile-79">
            <a:extLst xmlns:a="http://schemas.openxmlformats.org/drawingml/2006/main">
              <a:ext uri="{FF2B5EF4-FFF2-40B4-BE49-F238E27FC236}">
                <a16:creationId xmlns:a16="http://schemas.microsoft.com/office/drawing/2014/main" id="{F1F788DA-7C9B-41C4-B4D4-882FB747CDAF}"/>
              </a:ext>
            </a:extLst>
          </p:cNvPr>
          <p:cNvSpPr>
            <a:spLocks xmlns:a="http://schemas.openxmlformats.org/drawingml/2006/main" noGrp="1"/>
          </p:cNvSpPr>
          <p:nvPr/>
        </p:nvSpPr>
        <p:spPr>
          <a:xfrm xmlns:a="http://schemas.openxmlformats.org/drawingml/2006/main">
            <a:off x="685800" y="26670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Oceanides coordinates STP projects for treating building wastewater on site, with the system and</a:t>
            </a:r>
          </a:p>
        </p:txBody>
      </p:sp>
      <p:sp>
        <p:nvSpPr>
          <p:cNvPr id="9" name="profile-80">
            <a:extLst xmlns:a="http://schemas.openxmlformats.org/drawingml/2006/main">
              <a:ext uri="{FF2B5EF4-FFF2-40B4-BE49-F238E27FC236}">
                <a16:creationId xmlns:a16="http://schemas.microsoft.com/office/drawing/2014/main" id="{9B562174-5AC5-4C9B-8EFD-4029B87FFDAA}"/>
              </a:ext>
            </a:extLst>
          </p:cNvPr>
          <p:cNvSpPr>
            <a:spLocks xmlns:a="http://schemas.openxmlformats.org/drawingml/2006/main" noGrp="1"/>
          </p:cNvSpPr>
          <p:nvPr/>
        </p:nvSpPr>
        <p:spPr>
          <a:xfrm xmlns:a="http://schemas.openxmlformats.org/drawingml/2006/main">
            <a:off x="685800" y="30099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installation scope defined by specialist assessment.</a:t>
            </a:r>
          </a:p>
        </p:txBody>
      </p:sp>
      <p:sp>
        <p:nvSpPr>
          <p:cNvPr id="10" name="profile-81">
            <a:extLst xmlns:a="http://schemas.openxmlformats.org/drawingml/2006/main">
              <a:ext uri="{FF2B5EF4-FFF2-40B4-BE49-F238E27FC236}">
                <a16:creationId xmlns:a16="http://schemas.microsoft.com/office/drawing/2014/main" id="{6D188780-396C-4847-AAFB-6441EB7CB4EC}"/>
              </a:ext>
            </a:extLst>
          </p:cNvPr>
          <p:cNvSpPr>
            <a:spLocks xmlns:a="http://schemas.openxmlformats.org/drawingml/2006/main" noGrp="1"/>
          </p:cNvSpPr>
          <p:nvPr/>
        </p:nvSpPr>
        <p:spPr>
          <a:xfrm xmlns:a="http://schemas.openxmlformats.org/drawingml/2006/main">
            <a:off x="685800" y="36671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1" name="profile-82">
            <a:extLst xmlns:a="http://schemas.openxmlformats.org/drawingml/2006/main">
              <a:ext uri="{FF2B5EF4-FFF2-40B4-BE49-F238E27FC236}">
                <a16:creationId xmlns:a16="http://schemas.microsoft.com/office/drawing/2014/main" id="{ABE812BD-B15A-4196-ABAA-E9EDD4ADC437}"/>
              </a:ext>
            </a:extLst>
          </p:cNvPr>
          <p:cNvSpPr>
            <a:spLocks xmlns:a="http://schemas.openxmlformats.org/drawingml/2006/main" noGrp="1"/>
          </p:cNvSpPr>
          <p:nvPr/>
        </p:nvSpPr>
        <p:spPr>
          <a:xfrm xmlns:a="http://schemas.openxmlformats.org/drawingml/2006/main">
            <a:off x="685800" y="3990975"/>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Site assessment</a:t>
            </a:r>
          </a:p>
        </p:txBody>
      </p:sp>
      <p:sp>
        <p:nvSpPr>
          <p:cNvPr id="12" name="profile-83">
            <a:extLst xmlns:a="http://schemas.openxmlformats.org/drawingml/2006/main">
              <a:ext uri="{FF2B5EF4-FFF2-40B4-BE49-F238E27FC236}">
                <a16:creationId xmlns:a16="http://schemas.microsoft.com/office/drawing/2014/main" id="{6A35E548-F4CE-4AC9-9EDD-6CF746FD18E2}"/>
              </a:ext>
            </a:extLst>
          </p:cNvPr>
          <p:cNvSpPr>
            <a:spLocks xmlns:a="http://schemas.openxmlformats.org/drawingml/2006/main" noGrp="1"/>
          </p:cNvSpPr>
          <p:nvPr/>
        </p:nvSpPr>
        <p:spPr>
          <a:xfrm xmlns:a="http://schemas.openxmlformats.org/drawingml/2006/main">
            <a:off x="4762500" y="4029075"/>
            <a:ext cx="6743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Review wastewater flow, space and the proposed outlet.</a:t>
            </a:r>
          </a:p>
        </p:txBody>
      </p:sp>
      <p:sp>
        <p:nvSpPr>
          <p:cNvPr id="13" name="profile-84">
            <a:extLst xmlns:a="http://schemas.openxmlformats.org/drawingml/2006/main">
              <a:ext uri="{FF2B5EF4-FFF2-40B4-BE49-F238E27FC236}">
                <a16:creationId xmlns:a16="http://schemas.microsoft.com/office/drawing/2014/main" id="{5804ADCC-E977-4E03-9336-3C7A2BAA5BAD}"/>
              </a:ext>
            </a:extLst>
          </p:cNvPr>
          <p:cNvSpPr>
            <a:spLocks xmlns:a="http://schemas.openxmlformats.org/drawingml/2006/main" noGrp="1"/>
          </p:cNvSpPr>
          <p:nvPr/>
        </p:nvSpPr>
        <p:spPr>
          <a:xfrm xmlns:a="http://schemas.openxmlformats.org/drawingml/2006/main">
            <a:off x="685800" y="4752975"/>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Scope &amp; quotation</a:t>
            </a:r>
          </a:p>
        </p:txBody>
      </p:sp>
      <p:sp>
        <p:nvSpPr>
          <p:cNvPr id="14" name="profile-85">
            <a:extLst xmlns:a="http://schemas.openxmlformats.org/drawingml/2006/main">
              <a:ext uri="{FF2B5EF4-FFF2-40B4-BE49-F238E27FC236}">
                <a16:creationId xmlns:a16="http://schemas.microsoft.com/office/drawing/2014/main" id="{02B70FA5-A00F-455D-A09C-A84943D324A4}"/>
              </a:ext>
            </a:extLst>
          </p:cNvPr>
          <p:cNvSpPr>
            <a:spLocks xmlns:a="http://schemas.openxmlformats.org/drawingml/2006/main" noGrp="1"/>
          </p:cNvSpPr>
          <p:nvPr/>
        </p:nvSpPr>
        <p:spPr>
          <a:xfrm xmlns:a="http://schemas.openxmlformats.org/drawingml/2006/main">
            <a:off x="4762500" y="4791075"/>
            <a:ext cx="6743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Define the proposed system and installation needs.</a:t>
            </a:r>
          </a:p>
        </p:txBody>
      </p:sp>
      <p:sp>
        <p:nvSpPr>
          <p:cNvPr id="15" name="profile-86">
            <a:extLst xmlns:a="http://schemas.openxmlformats.org/drawingml/2006/main">
              <a:ext uri="{FF2B5EF4-FFF2-40B4-BE49-F238E27FC236}">
                <a16:creationId xmlns:a16="http://schemas.microsoft.com/office/drawing/2014/main" id="{03588E8B-F527-442F-832B-373E066C9168}"/>
              </a:ext>
            </a:extLst>
          </p:cNvPr>
          <p:cNvSpPr>
            <a:spLocks xmlns:a="http://schemas.openxmlformats.org/drawingml/2006/main" noGrp="1"/>
          </p:cNvSpPr>
          <p:nvPr/>
        </p:nvSpPr>
        <p:spPr>
          <a:xfrm xmlns:a="http://schemas.openxmlformats.org/drawingml/2006/main">
            <a:off x="685800" y="5514975"/>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Specialist coordination</a:t>
            </a:r>
          </a:p>
        </p:txBody>
      </p:sp>
      <p:sp>
        <p:nvSpPr>
          <p:cNvPr id="16" name="profile-87">
            <a:extLst xmlns:a="http://schemas.openxmlformats.org/drawingml/2006/main">
              <a:ext uri="{FF2B5EF4-FFF2-40B4-BE49-F238E27FC236}">
                <a16:creationId xmlns:a16="http://schemas.microsoft.com/office/drawing/2014/main" id="{EFDEDABD-F88E-4935-ABB7-83981C0DE54B}"/>
              </a:ext>
            </a:extLst>
          </p:cNvPr>
          <p:cNvSpPr>
            <a:spLocks xmlns:a="http://schemas.openxmlformats.org/drawingml/2006/main" noGrp="1"/>
          </p:cNvSpPr>
          <p:nvPr/>
        </p:nvSpPr>
        <p:spPr>
          <a:xfrm xmlns:a="http://schemas.openxmlformats.org/drawingml/2006/main">
            <a:off x="4762500" y="5553075"/>
            <a:ext cx="6743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Coordinate specialist delivery through turnover.</a:t>
            </a:r>
          </a:p>
        </p:txBody>
      </p:sp>
      <p:sp>
        <p:nvSpPr>
          <p:cNvPr id="17" name="profile-88">
            <a:extLst xmlns:a="http://schemas.openxmlformats.org/drawingml/2006/main">
              <a:ext uri="{FF2B5EF4-FFF2-40B4-BE49-F238E27FC236}">
                <a16:creationId xmlns:a16="http://schemas.microsoft.com/office/drawing/2014/main" id="{60DCD711-39AB-4772-A746-2FCA7FE9D353}"/>
              </a:ext>
            </a:extLst>
          </p:cNvPr>
          <p:cNvSpPr>
            <a:spLocks xmlns:a="http://schemas.openxmlformats.org/drawingml/2006/main" noGrp="1"/>
          </p:cNvSpPr>
          <p:nvPr/>
        </p:nvSpPr>
        <p:spPr>
          <a:xfrm xmlns:a="http://schemas.openxmlformats.org/drawingml/2006/main">
            <a:off x="685800" y="60483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System details, capacity and maintenance requirements follow the agreed technical proposal.</a:t>
            </a:r>
          </a:p>
        </p:txBody>
      </p:sp>
      <p:sp>
        <p:nvSpPr>
          <p:cNvPr id="18" name="profile-89">
            <a:extLst xmlns:a="http://schemas.openxmlformats.org/drawingml/2006/main">
              <a:ext uri="{FF2B5EF4-FFF2-40B4-BE49-F238E27FC236}">
                <a16:creationId xmlns:a16="http://schemas.microsoft.com/office/drawing/2014/main" id="{B7E1F2C9-BEC0-4F85-9CFF-066D07D61BED}"/>
              </a:ext>
            </a:extLst>
          </p:cNvPr>
          <p:cNvSpPr>
            <a:spLocks xmlns:a="http://schemas.openxmlformats.org/drawingml/2006/main" noGrp="1"/>
          </p:cNvSpPr>
          <p:nvPr/>
        </p:nvSpPr>
        <p:spPr>
          <a:xfrm xmlns:a="http://schemas.openxmlformats.org/drawingml/2006/main">
            <a:off x="685800" y="64484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9" name="profile-90">
            <a:extLst xmlns:a="http://schemas.openxmlformats.org/drawingml/2006/main">
              <a:ext uri="{FF2B5EF4-FFF2-40B4-BE49-F238E27FC236}">
                <a16:creationId xmlns:a16="http://schemas.microsoft.com/office/drawing/2014/main" id="{AD1F9FA4-5E03-4FEC-B241-963E8C297732}"/>
              </a:ext>
            </a:extLst>
          </p:cNvPr>
          <p:cNvSpPr>
            <a:spLocks xmlns:a="http://schemas.openxmlformats.org/drawingml/2006/main" noGrp="1"/>
          </p:cNvSpPr>
          <p:nvPr/>
        </p:nvSpPr>
        <p:spPr>
          <a:xfrm xmlns:a="http://schemas.openxmlformats.org/drawingml/2006/main">
            <a:off x="685800" y="65722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Oceanides</a:t>
            </a:r>
          </a:p>
        </p:txBody>
      </p:sp>
      <p:sp>
        <p:nvSpPr>
          <p:cNvPr id="20" name="profile-91">
            <a:extLst xmlns:a="http://schemas.openxmlformats.org/drawingml/2006/main">
              <a:ext uri="{FF2B5EF4-FFF2-40B4-BE49-F238E27FC236}">
                <a16:creationId xmlns:a16="http://schemas.microsoft.com/office/drawing/2014/main" id="{B4461258-3A85-4634-A5F4-DE932AA4E892}"/>
              </a:ext>
            </a:extLst>
          </p:cNvPr>
          <p:cNvSpPr>
            <a:spLocks xmlns:a="http://schemas.openxmlformats.org/drawingml/2006/main" noGrp="1"/>
          </p:cNvSpPr>
          <p:nvPr/>
        </p:nvSpPr>
        <p:spPr>
          <a:xfrm xmlns:a="http://schemas.openxmlformats.org/drawingml/2006/main">
            <a:off x="11220450" y="65722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07</a:t>
            </a:r>
          </a:p>
        </p:txBody>
      </p:sp>
    </p:spTree>
    <p:extLst>
      <p:ext uri="{BB962C8B-B14F-4D97-AF65-F5344CB8AC3E}">
        <p14:creationId xmlns:p14="http://schemas.microsoft.com/office/powerpoint/2010/main" val="1221182115"/>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27" name="profile-92">
            <a:extLst xmlns:a="http://schemas.openxmlformats.org/drawingml/2006/main">
              <a:ext uri="{FF2B5EF4-FFF2-40B4-BE49-F238E27FC236}">
                <a16:creationId xmlns:a16="http://schemas.microsoft.com/office/drawing/2014/main" id="{FAEDD558-A92C-43E4-A872-753CD53AB636}"/>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93">
            <a:extLst xmlns:a="http://schemas.openxmlformats.org/drawingml/2006/main">
              <a:ext uri="{FF2B5EF4-FFF2-40B4-BE49-F238E27FC236}">
                <a16:creationId xmlns:a16="http://schemas.microsoft.com/office/drawing/2014/main" id="{AA73A799-F9B2-4ACF-BA85-F3888EAD9B9A}"/>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94">
            <a:extLst xmlns:a="http://schemas.openxmlformats.org/drawingml/2006/main">
              <a:ext uri="{FF2B5EF4-FFF2-40B4-BE49-F238E27FC236}">
                <a16:creationId xmlns:a16="http://schemas.microsoft.com/office/drawing/2014/main" id="{7E692322-901C-4987-90F7-B46EEF841D9D}"/>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95">
            <a:extLst xmlns:a="http://schemas.openxmlformats.org/drawingml/2006/main">
              <a:ext uri="{FF2B5EF4-FFF2-40B4-BE49-F238E27FC236}">
                <a16:creationId xmlns:a16="http://schemas.microsoft.com/office/drawing/2014/main" id="{18EAFF64-CD65-4D08-AEAA-4C195CB66AA6}"/>
              </a:ext>
            </a:extLst>
          </p:cNvPr>
          <p:cNvSpPr>
            <a:spLocks xmlns:a="http://schemas.openxmlformats.org/drawingml/2006/main" noGrp="1"/>
          </p:cNvSpPr>
          <p:nvPr/>
        </p:nvSpPr>
        <p:spPr>
          <a:xfrm xmlns:a="http://schemas.openxmlformats.org/drawingml/2006/main">
            <a:off x="685800" y="3333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7212B"/>
                </a:solidFill>
                <a:latin typeface="Segoe UI"/>
                <a:ea typeface="Segoe UI"/>
                <a:cs typeface="Segoe UI"/>
              </a:defRPr>
            </a:pPr>
            <a:r>
              <a:rPr sz="1500" b="1">
                <a:solidFill>
                  <a:srgbClr val="17212B"/>
                </a:solidFill>
                <a:latin typeface="Segoe UI"/>
                <a:ea typeface="Segoe UI"/>
                <a:cs typeface="Segoe UI"/>
              </a:rPr>
              <a:t>Oceanides</a:t>
            </a:r>
          </a:p>
        </p:txBody>
      </p:sp>
      <p:sp>
        <p:nvSpPr>
          <p:cNvPr id="5" name="profile-96">
            <a:extLst xmlns:a="http://schemas.openxmlformats.org/drawingml/2006/main">
              <a:ext uri="{FF2B5EF4-FFF2-40B4-BE49-F238E27FC236}">
                <a16:creationId xmlns:a16="http://schemas.microsoft.com/office/drawing/2014/main" id="{84B969D6-BD85-4A5E-9C5A-E31D2C0219DB}"/>
              </a:ext>
            </a:extLst>
          </p:cNvPr>
          <p:cNvSpPr>
            <a:spLocks xmlns:a="http://schemas.openxmlformats.org/drawingml/2006/main" noGrp="1"/>
          </p:cNvSpPr>
          <p:nvPr/>
        </p:nvSpPr>
        <p:spPr>
          <a:xfrm xmlns:a="http://schemas.openxmlformats.org/drawingml/2006/main">
            <a:off x="9525000" y="371475"/>
            <a:ext cx="1981200"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Company profile</a:t>
            </a:r>
          </a:p>
        </p:txBody>
      </p:sp>
      <p:sp>
        <p:nvSpPr>
          <p:cNvPr id="6" name="profile-97">
            <a:extLst xmlns:a="http://schemas.openxmlformats.org/drawingml/2006/main">
              <a:ext uri="{FF2B5EF4-FFF2-40B4-BE49-F238E27FC236}">
                <a16:creationId xmlns:a16="http://schemas.microsoft.com/office/drawing/2014/main" id="{3DEA4659-59A7-4ACB-B9C0-0C9F611AF559}"/>
              </a:ext>
            </a:extLst>
          </p:cNvPr>
          <p:cNvSpPr>
            <a:spLocks xmlns:a="http://schemas.openxmlformats.org/drawingml/2006/main" noGrp="1"/>
          </p:cNvSpPr>
          <p:nvPr/>
        </p:nvSpPr>
        <p:spPr>
          <a:xfrm xmlns:a="http://schemas.openxmlformats.org/drawingml/2006/main">
            <a:off x="685800" y="1123950"/>
            <a:ext cx="51244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00" b="0">
                <a:solidFill>
                  <a:srgbClr val="1C63AD"/>
                </a:solidFill>
                <a:latin typeface="Segoe UI"/>
                <a:ea typeface="Segoe UI"/>
                <a:cs typeface="Segoe UI"/>
              </a:defRPr>
            </a:pPr>
            <a:r>
              <a:rPr sz="3900" b="0">
                <a:solidFill>
                  <a:srgbClr val="1C63AD"/>
                </a:solidFill>
                <a:latin typeface="Segoe UI"/>
                <a:ea typeface="Segoe UI"/>
                <a:cs typeface="Segoe UI"/>
              </a:rPr>
              <a:t>Renovation &amp;</a:t>
            </a:r>
          </a:p>
        </p:txBody>
      </p:sp>
      <p:sp>
        <p:nvSpPr>
          <p:cNvPr id="7" name="profile-98">
            <a:extLst xmlns:a="http://schemas.openxmlformats.org/drawingml/2006/main">
              <a:ext uri="{FF2B5EF4-FFF2-40B4-BE49-F238E27FC236}">
                <a16:creationId xmlns:a16="http://schemas.microsoft.com/office/drawing/2014/main" id="{CD9F4A09-678E-4E7C-BE16-C83A88B0BD34}"/>
              </a:ext>
            </a:extLst>
          </p:cNvPr>
          <p:cNvSpPr>
            <a:spLocks xmlns:a="http://schemas.openxmlformats.org/drawingml/2006/main" noGrp="1"/>
          </p:cNvSpPr>
          <p:nvPr/>
        </p:nvSpPr>
        <p:spPr>
          <a:xfrm xmlns:a="http://schemas.openxmlformats.org/drawingml/2006/main">
            <a:off x="685800" y="1704975"/>
            <a:ext cx="51244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00" b="0">
                <a:solidFill>
                  <a:srgbClr val="1C63AD"/>
                </a:solidFill>
                <a:latin typeface="Segoe UI"/>
                <a:ea typeface="Segoe UI"/>
                <a:cs typeface="Segoe UI"/>
              </a:defRPr>
            </a:pPr>
            <a:r>
              <a:rPr sz="3900" b="0">
                <a:solidFill>
                  <a:srgbClr val="1C63AD"/>
                </a:solidFill>
                <a:latin typeface="Segoe UI"/>
                <a:ea typeface="Segoe UI"/>
                <a:cs typeface="Segoe UI"/>
              </a:rPr>
              <a:t>restoration</a:t>
            </a:r>
          </a:p>
        </p:txBody>
      </p:sp>
      <p:sp>
        <p:nvSpPr>
          <p:cNvPr id="8" name="profile-99">
            <a:extLst xmlns:a="http://schemas.openxmlformats.org/drawingml/2006/main">
              <a:ext uri="{FF2B5EF4-FFF2-40B4-BE49-F238E27FC236}">
                <a16:creationId xmlns:a16="http://schemas.microsoft.com/office/drawing/2014/main" id="{C866FA32-7827-46D1-BAFF-A95CF8B94AD3}"/>
              </a:ext>
            </a:extLst>
          </p:cNvPr>
          <p:cNvSpPr>
            <a:spLocks xmlns:a="http://schemas.openxmlformats.org/drawingml/2006/main" noGrp="1"/>
          </p:cNvSpPr>
          <p:nvPr/>
        </p:nvSpPr>
        <p:spPr>
          <a:xfrm xmlns:a="http://schemas.openxmlformats.org/drawingml/2006/main">
            <a:off x="685800" y="259080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Repair and improvement work for</a:t>
            </a:r>
          </a:p>
        </p:txBody>
      </p:sp>
      <p:sp>
        <p:nvSpPr>
          <p:cNvPr id="9" name="profile-100">
            <a:extLst xmlns:a="http://schemas.openxmlformats.org/drawingml/2006/main">
              <a:ext uri="{FF2B5EF4-FFF2-40B4-BE49-F238E27FC236}">
                <a16:creationId xmlns:a16="http://schemas.microsoft.com/office/drawing/2014/main" id="{9F92A2E1-6C48-4FD2-8A99-282FCFFD6FC5}"/>
              </a:ext>
            </a:extLst>
          </p:cNvPr>
          <p:cNvSpPr>
            <a:spLocks xmlns:a="http://schemas.openxmlformats.org/drawingml/2006/main" noGrp="1"/>
          </p:cNvSpPr>
          <p:nvPr/>
        </p:nvSpPr>
        <p:spPr>
          <a:xfrm xmlns:a="http://schemas.openxmlformats.org/drawingml/2006/main">
            <a:off x="685800" y="293370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houses and condominiums.</a:t>
            </a:r>
          </a:p>
        </p:txBody>
      </p:sp>
      <p:sp>
        <p:nvSpPr>
          <p:cNvPr id="10" name="profile-101">
            <a:extLst xmlns:a="http://schemas.openxmlformats.org/drawingml/2006/main">
              <a:ext uri="{FF2B5EF4-FFF2-40B4-BE49-F238E27FC236}">
                <a16:creationId xmlns:a16="http://schemas.microsoft.com/office/drawing/2014/main" id="{B3ACB9F6-131F-4F35-9089-302F0C327AB2}"/>
              </a:ext>
            </a:extLst>
          </p:cNvPr>
          <p:cNvSpPr>
            <a:spLocks xmlns:a="http://schemas.openxmlformats.org/drawingml/2006/main" noGrp="1"/>
          </p:cNvSpPr>
          <p:nvPr/>
        </p:nvSpPr>
        <p:spPr>
          <a:xfrm xmlns:a="http://schemas.openxmlformats.org/drawingml/2006/main">
            <a:off x="685800" y="38290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Ceilings</a:t>
            </a:r>
          </a:p>
        </p:txBody>
      </p:sp>
      <p:sp>
        <p:nvSpPr>
          <p:cNvPr id="11" name="profile-102">
            <a:extLst xmlns:a="http://schemas.openxmlformats.org/drawingml/2006/main">
              <a:ext uri="{FF2B5EF4-FFF2-40B4-BE49-F238E27FC236}">
                <a16:creationId xmlns:a16="http://schemas.microsoft.com/office/drawing/2014/main" id="{DF3D221F-CC40-48C8-A72A-6B1B814F0778}"/>
              </a:ext>
            </a:extLst>
          </p:cNvPr>
          <p:cNvSpPr>
            <a:spLocks xmlns:a="http://schemas.openxmlformats.org/drawingml/2006/main" noGrp="1"/>
          </p:cNvSpPr>
          <p:nvPr/>
        </p:nvSpPr>
        <p:spPr>
          <a:xfrm xmlns:a="http://schemas.openxmlformats.org/drawingml/2006/main">
            <a:off x="685800" y="4238625"/>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Repair and</a:t>
            </a:r>
          </a:p>
        </p:txBody>
      </p:sp>
      <p:sp>
        <p:nvSpPr>
          <p:cNvPr id="12" name="profile-103">
            <a:extLst xmlns:a="http://schemas.openxmlformats.org/drawingml/2006/main">
              <a:ext uri="{FF2B5EF4-FFF2-40B4-BE49-F238E27FC236}">
                <a16:creationId xmlns:a16="http://schemas.microsoft.com/office/drawing/2014/main" id="{AEAD7CE1-5ABB-40C8-91DD-89ADA14B38D6}"/>
              </a:ext>
            </a:extLst>
          </p:cNvPr>
          <p:cNvSpPr>
            <a:spLocks xmlns:a="http://schemas.openxmlformats.org/drawingml/2006/main" noGrp="1"/>
          </p:cNvSpPr>
          <p:nvPr/>
        </p:nvSpPr>
        <p:spPr>
          <a:xfrm xmlns:a="http://schemas.openxmlformats.org/drawingml/2006/main">
            <a:off x="685800" y="4533900"/>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replacement</a:t>
            </a:r>
          </a:p>
        </p:txBody>
      </p:sp>
      <p:sp>
        <p:nvSpPr>
          <p:cNvPr id="13" name="profile-104">
            <a:extLst xmlns:a="http://schemas.openxmlformats.org/drawingml/2006/main">
              <a:ext uri="{FF2B5EF4-FFF2-40B4-BE49-F238E27FC236}">
                <a16:creationId xmlns:a16="http://schemas.microsoft.com/office/drawing/2014/main" id="{0E2A9197-DA6B-4F73-9F1C-7DDE4896B707}"/>
              </a:ext>
            </a:extLst>
          </p:cNvPr>
          <p:cNvSpPr>
            <a:spLocks xmlns:a="http://schemas.openxmlformats.org/drawingml/2006/main" noGrp="1"/>
          </p:cNvSpPr>
          <p:nvPr/>
        </p:nvSpPr>
        <p:spPr>
          <a:xfrm xmlns:a="http://schemas.openxmlformats.org/drawingml/2006/main">
            <a:off x="3333750" y="38290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Water protection</a:t>
            </a:r>
          </a:p>
        </p:txBody>
      </p:sp>
      <p:sp>
        <p:nvSpPr>
          <p:cNvPr id="14" name="profile-105">
            <a:extLst xmlns:a="http://schemas.openxmlformats.org/drawingml/2006/main">
              <a:ext uri="{FF2B5EF4-FFF2-40B4-BE49-F238E27FC236}">
                <a16:creationId xmlns:a16="http://schemas.microsoft.com/office/drawing/2014/main" id="{F35538D4-2D32-46FA-B415-64C91D1F2A23}"/>
              </a:ext>
            </a:extLst>
          </p:cNvPr>
          <p:cNvSpPr>
            <a:spLocks xmlns:a="http://schemas.openxmlformats.org/drawingml/2006/main" noGrp="1"/>
          </p:cNvSpPr>
          <p:nvPr/>
        </p:nvSpPr>
        <p:spPr>
          <a:xfrm xmlns:a="http://schemas.openxmlformats.org/drawingml/2006/main">
            <a:off x="3333750" y="4238625"/>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Roof leak repair</a:t>
            </a:r>
          </a:p>
        </p:txBody>
      </p:sp>
      <p:sp>
        <p:nvSpPr>
          <p:cNvPr id="15" name="profile-106">
            <a:extLst xmlns:a="http://schemas.openxmlformats.org/drawingml/2006/main">
              <a:ext uri="{FF2B5EF4-FFF2-40B4-BE49-F238E27FC236}">
                <a16:creationId xmlns:a16="http://schemas.microsoft.com/office/drawing/2014/main" id="{95B2C153-9490-4427-B139-30DAC98A2C6C}"/>
              </a:ext>
            </a:extLst>
          </p:cNvPr>
          <p:cNvSpPr>
            <a:spLocks xmlns:a="http://schemas.openxmlformats.org/drawingml/2006/main" noGrp="1"/>
          </p:cNvSpPr>
          <p:nvPr/>
        </p:nvSpPr>
        <p:spPr>
          <a:xfrm xmlns:a="http://schemas.openxmlformats.org/drawingml/2006/main">
            <a:off x="3333750" y="4533900"/>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and waterproofing</a:t>
            </a:r>
          </a:p>
        </p:txBody>
      </p:sp>
      <p:sp>
        <p:nvSpPr>
          <p:cNvPr id="16" name="profile-107">
            <a:extLst xmlns:a="http://schemas.openxmlformats.org/drawingml/2006/main">
              <a:ext uri="{FF2B5EF4-FFF2-40B4-BE49-F238E27FC236}">
                <a16:creationId xmlns:a16="http://schemas.microsoft.com/office/drawing/2014/main" id="{42242411-EC9A-4A16-8BE8-1AE2C4A065EB}"/>
              </a:ext>
            </a:extLst>
          </p:cNvPr>
          <p:cNvSpPr>
            <a:spLocks xmlns:a="http://schemas.openxmlformats.org/drawingml/2006/main" noGrp="1"/>
          </p:cNvSpPr>
          <p:nvPr/>
        </p:nvSpPr>
        <p:spPr>
          <a:xfrm xmlns:a="http://schemas.openxmlformats.org/drawingml/2006/main">
            <a:off x="685800" y="51054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Renovation</a:t>
            </a:r>
          </a:p>
        </p:txBody>
      </p:sp>
      <p:sp>
        <p:nvSpPr>
          <p:cNvPr id="17" name="profile-108">
            <a:extLst xmlns:a="http://schemas.openxmlformats.org/drawingml/2006/main">
              <a:ext uri="{FF2B5EF4-FFF2-40B4-BE49-F238E27FC236}">
                <a16:creationId xmlns:a16="http://schemas.microsoft.com/office/drawing/2014/main" id="{AF0AD028-75CF-482A-805D-3C9A79CB3DA5}"/>
              </a:ext>
            </a:extLst>
          </p:cNvPr>
          <p:cNvSpPr>
            <a:spLocks xmlns:a="http://schemas.openxmlformats.org/drawingml/2006/main" noGrp="1"/>
          </p:cNvSpPr>
          <p:nvPr/>
        </p:nvSpPr>
        <p:spPr>
          <a:xfrm xmlns:a="http://schemas.openxmlformats.org/drawingml/2006/main">
            <a:off x="685800" y="5514975"/>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Restoration of houses</a:t>
            </a:r>
          </a:p>
        </p:txBody>
      </p:sp>
      <p:sp>
        <p:nvSpPr>
          <p:cNvPr id="18" name="profile-109">
            <a:extLst xmlns:a="http://schemas.openxmlformats.org/drawingml/2006/main">
              <a:ext uri="{FF2B5EF4-FFF2-40B4-BE49-F238E27FC236}">
                <a16:creationId xmlns:a16="http://schemas.microsoft.com/office/drawing/2014/main" id="{5D435127-B1E8-445C-ACFA-B576B0D4447F}"/>
              </a:ext>
            </a:extLst>
          </p:cNvPr>
          <p:cNvSpPr>
            <a:spLocks xmlns:a="http://schemas.openxmlformats.org/drawingml/2006/main" noGrp="1"/>
          </p:cNvSpPr>
          <p:nvPr/>
        </p:nvSpPr>
        <p:spPr>
          <a:xfrm xmlns:a="http://schemas.openxmlformats.org/drawingml/2006/main">
            <a:off x="685800" y="5810250"/>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and condominiums</a:t>
            </a:r>
          </a:p>
        </p:txBody>
      </p:sp>
      <p:sp>
        <p:nvSpPr>
          <p:cNvPr id="19" name="profile-110">
            <a:extLst xmlns:a="http://schemas.openxmlformats.org/drawingml/2006/main">
              <a:ext uri="{FF2B5EF4-FFF2-40B4-BE49-F238E27FC236}">
                <a16:creationId xmlns:a16="http://schemas.microsoft.com/office/drawing/2014/main" id="{5F0D2837-AF95-4A80-A175-999B7562E398}"/>
              </a:ext>
            </a:extLst>
          </p:cNvPr>
          <p:cNvSpPr>
            <a:spLocks xmlns:a="http://schemas.openxmlformats.org/drawingml/2006/main" noGrp="1"/>
          </p:cNvSpPr>
          <p:nvPr/>
        </p:nvSpPr>
        <p:spPr>
          <a:xfrm xmlns:a="http://schemas.openxmlformats.org/drawingml/2006/main">
            <a:off x="3333750" y="51054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Cleaning</a:t>
            </a:r>
          </a:p>
        </p:txBody>
      </p:sp>
      <p:sp>
        <p:nvSpPr>
          <p:cNvPr id="20" name="profile-111">
            <a:extLst xmlns:a="http://schemas.openxmlformats.org/drawingml/2006/main">
              <a:ext uri="{FF2B5EF4-FFF2-40B4-BE49-F238E27FC236}">
                <a16:creationId xmlns:a16="http://schemas.microsoft.com/office/drawing/2014/main" id="{03274DF4-C971-40A7-9D3B-F7960DEFA82D}"/>
              </a:ext>
            </a:extLst>
          </p:cNvPr>
          <p:cNvSpPr>
            <a:spLocks xmlns:a="http://schemas.openxmlformats.org/drawingml/2006/main" noGrp="1"/>
          </p:cNvSpPr>
          <p:nvPr/>
        </p:nvSpPr>
        <p:spPr>
          <a:xfrm xmlns:a="http://schemas.openxmlformats.org/drawingml/2006/main">
            <a:off x="3333750" y="5514975"/>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House cleaning to</a:t>
            </a:r>
          </a:p>
        </p:txBody>
      </p:sp>
      <p:sp>
        <p:nvSpPr>
          <p:cNvPr id="21" name="profile-112">
            <a:extLst xmlns:a="http://schemas.openxmlformats.org/drawingml/2006/main">
              <a:ext uri="{FF2B5EF4-FFF2-40B4-BE49-F238E27FC236}">
                <a16:creationId xmlns:a16="http://schemas.microsoft.com/office/drawing/2014/main" id="{76868051-8268-420B-93C2-A3CEA4B240C9}"/>
              </a:ext>
            </a:extLst>
          </p:cNvPr>
          <p:cNvSpPr>
            <a:spLocks xmlns:a="http://schemas.openxmlformats.org/drawingml/2006/main" noGrp="1"/>
          </p:cNvSpPr>
          <p:nvPr/>
        </p:nvSpPr>
        <p:spPr>
          <a:xfrm xmlns:a="http://schemas.openxmlformats.org/drawingml/2006/main">
            <a:off x="3333750" y="5810250"/>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agreed scope</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5be7d4ff8ea24787"/>
          <a:stretch xmlns:a="http://schemas.openxmlformats.org/drawingml/2006/main"/>
        </p:blipFill>
        <p:spPr>
          <a:xfrm xmlns:a="http://schemas.openxmlformats.org/drawingml/2006/main">
            <a:off x="6096000" y="1714500"/>
            <a:ext cx="5410200" cy="3606800"/>
          </a:xfrm>
          <a:prstGeom xmlns:a="http://schemas.openxmlformats.org/drawingml/2006/main" prst="rect">
            <a:avLst/>
          </a:prstGeom>
        </p:spPr>
      </p:pic>
      <p:sp>
        <p:nvSpPr>
          <p:cNvPr id="23" name="profile-113">
            <a:extLst xmlns:a="http://schemas.openxmlformats.org/drawingml/2006/main">
              <a:ext uri="{FF2B5EF4-FFF2-40B4-BE49-F238E27FC236}">
                <a16:creationId xmlns:a16="http://schemas.microsoft.com/office/drawing/2014/main" id="{9661BF87-C60E-4140-9D56-2E4CDA145D37}"/>
              </a:ext>
            </a:extLst>
          </p:cNvPr>
          <p:cNvSpPr>
            <a:spLocks xmlns:a="http://schemas.openxmlformats.org/drawingml/2006/main" noGrp="1"/>
          </p:cNvSpPr>
          <p:nvPr/>
        </p:nvSpPr>
        <p:spPr>
          <a:xfrm xmlns:a="http://schemas.openxmlformats.org/drawingml/2006/main">
            <a:off x="6096000" y="5514975"/>
            <a:ext cx="541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AI-generated service illustration</a:t>
            </a:r>
          </a:p>
        </p:txBody>
      </p:sp>
      <p:sp>
        <p:nvSpPr>
          <p:cNvPr id="24" name="profile-114">
            <a:extLst xmlns:a="http://schemas.openxmlformats.org/drawingml/2006/main">
              <a:ext uri="{FF2B5EF4-FFF2-40B4-BE49-F238E27FC236}">
                <a16:creationId xmlns:a16="http://schemas.microsoft.com/office/drawing/2014/main" id="{BA481413-2F72-4B4A-BEA3-EFF313907A95}"/>
              </a:ext>
            </a:extLst>
          </p:cNvPr>
          <p:cNvSpPr>
            <a:spLocks xmlns:a="http://schemas.openxmlformats.org/drawingml/2006/main" noGrp="1"/>
          </p:cNvSpPr>
          <p:nvPr/>
        </p:nvSpPr>
        <p:spPr>
          <a:xfrm xmlns:a="http://schemas.openxmlformats.org/drawingml/2006/main">
            <a:off x="685800" y="64484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25" name="profile-115">
            <a:extLst xmlns:a="http://schemas.openxmlformats.org/drawingml/2006/main">
              <a:ext uri="{FF2B5EF4-FFF2-40B4-BE49-F238E27FC236}">
                <a16:creationId xmlns:a16="http://schemas.microsoft.com/office/drawing/2014/main" id="{92AC25A2-FBC4-48AA-B057-FC8C03D937E4}"/>
              </a:ext>
            </a:extLst>
          </p:cNvPr>
          <p:cNvSpPr>
            <a:spLocks xmlns:a="http://schemas.openxmlformats.org/drawingml/2006/main" noGrp="1"/>
          </p:cNvSpPr>
          <p:nvPr/>
        </p:nvSpPr>
        <p:spPr>
          <a:xfrm xmlns:a="http://schemas.openxmlformats.org/drawingml/2006/main">
            <a:off x="685800" y="65722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Oceanides</a:t>
            </a:r>
          </a:p>
        </p:txBody>
      </p:sp>
      <p:sp>
        <p:nvSpPr>
          <p:cNvPr id="26" name="profile-116">
            <a:extLst xmlns:a="http://schemas.openxmlformats.org/drawingml/2006/main">
              <a:ext uri="{FF2B5EF4-FFF2-40B4-BE49-F238E27FC236}">
                <a16:creationId xmlns:a16="http://schemas.microsoft.com/office/drawing/2014/main" id="{781DA8F1-7B25-4FDD-819C-EFF3DF6AA0F0}"/>
              </a:ext>
            </a:extLst>
          </p:cNvPr>
          <p:cNvSpPr>
            <a:spLocks xmlns:a="http://schemas.openxmlformats.org/drawingml/2006/main" noGrp="1"/>
          </p:cNvSpPr>
          <p:nvPr/>
        </p:nvSpPr>
        <p:spPr>
          <a:xfrm xmlns:a="http://schemas.openxmlformats.org/drawingml/2006/main">
            <a:off x="11220450" y="65722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05</a:t>
            </a:r>
          </a:p>
        </p:txBody>
      </p:sp>
    </p:spTree>
    <p:extLst>
      <p:ext uri="{BB962C8B-B14F-4D97-AF65-F5344CB8AC3E}">
        <p14:creationId xmlns:p14="http://schemas.microsoft.com/office/powerpoint/2010/main" val="2052991121"/>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21" name="profile-117">
            <a:extLst xmlns:a="http://schemas.openxmlformats.org/drawingml/2006/main">
              <a:ext uri="{FF2B5EF4-FFF2-40B4-BE49-F238E27FC236}">
                <a16:creationId xmlns:a16="http://schemas.microsoft.com/office/drawing/2014/main" id="{ABAF5317-CC16-4E2D-98FC-A8090F7706DE}"/>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118">
            <a:extLst xmlns:a="http://schemas.openxmlformats.org/drawingml/2006/main">
              <a:ext uri="{FF2B5EF4-FFF2-40B4-BE49-F238E27FC236}">
                <a16:creationId xmlns:a16="http://schemas.microsoft.com/office/drawing/2014/main" id="{4DA106DC-B11C-42EF-9A38-76F282D080DA}"/>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119">
            <a:extLst xmlns:a="http://schemas.openxmlformats.org/drawingml/2006/main">
              <a:ext uri="{FF2B5EF4-FFF2-40B4-BE49-F238E27FC236}">
                <a16:creationId xmlns:a16="http://schemas.microsoft.com/office/drawing/2014/main" id="{39C24EA8-E553-4FDF-81C4-1E383D617365}"/>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120">
            <a:extLst xmlns:a="http://schemas.openxmlformats.org/drawingml/2006/main">
              <a:ext uri="{FF2B5EF4-FFF2-40B4-BE49-F238E27FC236}">
                <a16:creationId xmlns:a16="http://schemas.microsoft.com/office/drawing/2014/main" id="{42937B98-D9BD-4DA1-A1C2-B2FE0F09429E}"/>
              </a:ext>
            </a:extLst>
          </p:cNvPr>
          <p:cNvSpPr>
            <a:spLocks xmlns:a="http://schemas.openxmlformats.org/drawingml/2006/main" noGrp="1"/>
          </p:cNvSpPr>
          <p:nvPr/>
        </p:nvSpPr>
        <p:spPr>
          <a:xfrm xmlns:a="http://schemas.openxmlformats.org/drawingml/2006/main">
            <a:off x="685800" y="3333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7212B"/>
                </a:solidFill>
                <a:latin typeface="Segoe UI"/>
                <a:ea typeface="Segoe UI"/>
                <a:cs typeface="Segoe UI"/>
              </a:defRPr>
            </a:pPr>
            <a:r>
              <a:rPr sz="1500" b="1">
                <a:solidFill>
                  <a:srgbClr val="17212B"/>
                </a:solidFill>
                <a:latin typeface="Segoe UI"/>
                <a:ea typeface="Segoe UI"/>
                <a:cs typeface="Segoe UI"/>
              </a:rPr>
              <a:t>Oceanides</a:t>
            </a:r>
          </a:p>
        </p:txBody>
      </p:sp>
      <p:sp>
        <p:nvSpPr>
          <p:cNvPr id="5" name="profile-121">
            <a:extLst xmlns:a="http://schemas.openxmlformats.org/drawingml/2006/main">
              <a:ext uri="{FF2B5EF4-FFF2-40B4-BE49-F238E27FC236}">
                <a16:creationId xmlns:a16="http://schemas.microsoft.com/office/drawing/2014/main" id="{DD1C023E-AC80-4BFE-85FD-703E95A0957B}"/>
              </a:ext>
            </a:extLst>
          </p:cNvPr>
          <p:cNvSpPr>
            <a:spLocks xmlns:a="http://schemas.openxmlformats.org/drawingml/2006/main" noGrp="1"/>
          </p:cNvSpPr>
          <p:nvPr/>
        </p:nvSpPr>
        <p:spPr>
          <a:xfrm xmlns:a="http://schemas.openxmlformats.org/drawingml/2006/main">
            <a:off x="9525000" y="371475"/>
            <a:ext cx="1981200"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Company profile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0f5e43ceecc408b"/>
          <a:stretch xmlns:a="http://schemas.openxmlformats.org/drawingml/2006/main"/>
        </p:blipFill>
        <p:spPr>
          <a:xfrm xmlns:a="http://schemas.openxmlformats.org/drawingml/2006/main">
            <a:off x="685800" y="1343025"/>
            <a:ext cx="5943600" cy="3962400"/>
          </a:xfrm>
          <a:prstGeom xmlns:a="http://schemas.openxmlformats.org/drawingml/2006/main" prst="rect">
            <a:avLst/>
          </a:prstGeom>
        </p:spPr>
      </p:pic>
      <p:sp>
        <p:nvSpPr>
          <p:cNvPr id="7" name="profile-122">
            <a:extLst xmlns:a="http://schemas.openxmlformats.org/drawingml/2006/main">
              <a:ext uri="{FF2B5EF4-FFF2-40B4-BE49-F238E27FC236}">
                <a16:creationId xmlns:a16="http://schemas.microsoft.com/office/drawing/2014/main" id="{D6DDC477-15AA-45E3-AC8F-74D15F36B5DF}"/>
              </a:ext>
            </a:extLst>
          </p:cNvPr>
          <p:cNvSpPr>
            <a:spLocks xmlns:a="http://schemas.openxmlformats.org/drawingml/2006/main" noGrp="1"/>
          </p:cNvSpPr>
          <p:nvPr/>
        </p:nvSpPr>
        <p:spPr>
          <a:xfrm xmlns:a="http://schemas.openxmlformats.org/drawingml/2006/main">
            <a:off x="685800" y="5486400"/>
            <a:ext cx="5943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AI-generated service illustration</a:t>
            </a:r>
          </a:p>
        </p:txBody>
      </p:sp>
      <p:sp>
        <p:nvSpPr>
          <p:cNvPr id="8" name="profile-123">
            <a:extLst xmlns:a="http://schemas.openxmlformats.org/drawingml/2006/main">
              <a:ext uri="{FF2B5EF4-FFF2-40B4-BE49-F238E27FC236}">
                <a16:creationId xmlns:a16="http://schemas.microsoft.com/office/drawing/2014/main" id="{BA16DBFE-63CF-473E-9A33-58B8BB2EAF4C}"/>
              </a:ext>
            </a:extLst>
          </p:cNvPr>
          <p:cNvSpPr>
            <a:spLocks xmlns:a="http://schemas.openxmlformats.org/drawingml/2006/main" noGrp="1"/>
          </p:cNvSpPr>
          <p:nvPr/>
        </p:nvSpPr>
        <p:spPr>
          <a:xfrm xmlns:a="http://schemas.openxmlformats.org/drawingml/2006/main">
            <a:off x="7219950" y="1343025"/>
            <a:ext cx="428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050" b="0">
                <a:solidFill>
                  <a:srgbClr val="1C63AD"/>
                </a:solidFill>
                <a:latin typeface="Segoe UI"/>
                <a:ea typeface="Segoe UI"/>
                <a:cs typeface="Segoe UI"/>
              </a:defRPr>
            </a:pPr>
            <a:r>
              <a:rPr sz="4050" b="0">
                <a:solidFill>
                  <a:srgbClr val="1C63AD"/>
                </a:solidFill>
                <a:latin typeface="Segoe UI"/>
                <a:ea typeface="Segoe UI"/>
                <a:cs typeface="Segoe UI"/>
              </a:rPr>
              <a:t>Pest control</a:t>
            </a:r>
          </a:p>
        </p:txBody>
      </p:sp>
      <p:sp>
        <p:nvSpPr>
          <p:cNvPr id="9" name="profile-124">
            <a:extLst xmlns:a="http://schemas.openxmlformats.org/drawingml/2006/main">
              <a:ext uri="{FF2B5EF4-FFF2-40B4-BE49-F238E27FC236}">
                <a16:creationId xmlns:a16="http://schemas.microsoft.com/office/drawing/2014/main" id="{F6012370-DC79-4F07-8564-531397AF2AB0}"/>
              </a:ext>
            </a:extLst>
          </p:cNvPr>
          <p:cNvSpPr>
            <a:spLocks xmlns:a="http://schemas.openxmlformats.org/drawingml/2006/main" noGrp="1"/>
          </p:cNvSpPr>
          <p:nvPr/>
        </p:nvSpPr>
        <p:spPr>
          <a:xfrm xmlns:a="http://schemas.openxmlformats.org/drawingml/2006/main">
            <a:off x="7219950" y="224790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Pest control services based on an</a:t>
            </a:r>
          </a:p>
        </p:txBody>
      </p:sp>
      <p:sp>
        <p:nvSpPr>
          <p:cNvPr id="10" name="profile-125">
            <a:extLst xmlns:a="http://schemas.openxmlformats.org/drawingml/2006/main">
              <a:ext uri="{FF2B5EF4-FFF2-40B4-BE49-F238E27FC236}">
                <a16:creationId xmlns:a16="http://schemas.microsoft.com/office/drawing/2014/main" id="{D1EB1904-36B0-4545-BF34-3D8F61DA1118}"/>
              </a:ext>
            </a:extLst>
          </p:cNvPr>
          <p:cNvSpPr>
            <a:spLocks xmlns:a="http://schemas.openxmlformats.org/drawingml/2006/main" noGrp="1"/>
          </p:cNvSpPr>
          <p:nvPr/>
        </p:nvSpPr>
        <p:spPr>
          <a:xfrm xmlns:a="http://schemas.openxmlformats.org/drawingml/2006/main">
            <a:off x="7219950" y="259080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assessment of the property and the pest</a:t>
            </a:r>
          </a:p>
        </p:txBody>
      </p:sp>
      <p:sp>
        <p:nvSpPr>
          <p:cNvPr id="11" name="profile-126">
            <a:extLst xmlns:a="http://schemas.openxmlformats.org/drawingml/2006/main">
              <a:ext uri="{FF2B5EF4-FFF2-40B4-BE49-F238E27FC236}">
                <a16:creationId xmlns:a16="http://schemas.microsoft.com/office/drawing/2014/main" id="{6FD6DE3D-869A-4B73-9884-31B6E869799D}"/>
              </a:ext>
            </a:extLst>
          </p:cNvPr>
          <p:cNvSpPr>
            <a:spLocks xmlns:a="http://schemas.openxmlformats.org/drawingml/2006/main" noGrp="1"/>
          </p:cNvSpPr>
          <p:nvPr/>
        </p:nvSpPr>
        <p:spPr>
          <a:xfrm xmlns:a="http://schemas.openxmlformats.org/drawingml/2006/main">
            <a:off x="7219950" y="293370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concerns reported by the client.</a:t>
            </a:r>
          </a:p>
        </p:txBody>
      </p:sp>
      <p:sp>
        <p:nvSpPr>
          <p:cNvPr id="12" name="profile-127">
            <a:extLst xmlns:a="http://schemas.openxmlformats.org/drawingml/2006/main">
              <a:ext uri="{FF2B5EF4-FFF2-40B4-BE49-F238E27FC236}">
                <a16:creationId xmlns:a16="http://schemas.microsoft.com/office/drawing/2014/main" id="{D4E8FB29-014F-4F79-BF83-E30F9CF3555A}"/>
              </a:ext>
            </a:extLst>
          </p:cNvPr>
          <p:cNvSpPr>
            <a:spLocks xmlns:a="http://schemas.openxmlformats.org/drawingml/2006/main" noGrp="1"/>
          </p:cNvSpPr>
          <p:nvPr/>
        </p:nvSpPr>
        <p:spPr>
          <a:xfrm xmlns:a="http://schemas.openxmlformats.org/drawingml/2006/main">
            <a:off x="7219950" y="39528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Assessment of pest activity</a:t>
            </a:r>
          </a:p>
        </p:txBody>
      </p:sp>
      <p:sp>
        <p:nvSpPr>
          <p:cNvPr id="13" name="profile-128">
            <a:extLst xmlns:a="http://schemas.openxmlformats.org/drawingml/2006/main">
              <a:ext uri="{FF2B5EF4-FFF2-40B4-BE49-F238E27FC236}">
                <a16:creationId xmlns:a16="http://schemas.microsoft.com/office/drawing/2014/main" id="{DC44D298-95F8-4926-A3A0-8DEE6D12FD0C}"/>
              </a:ext>
            </a:extLst>
          </p:cNvPr>
          <p:cNvSpPr>
            <a:spLocks xmlns:a="http://schemas.openxmlformats.org/drawingml/2006/main" noGrp="1"/>
          </p:cNvSpPr>
          <p:nvPr/>
        </p:nvSpPr>
        <p:spPr>
          <a:xfrm xmlns:a="http://schemas.openxmlformats.org/drawingml/2006/main">
            <a:off x="7219950" y="46005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Treatment scope based</a:t>
            </a:r>
          </a:p>
        </p:txBody>
      </p:sp>
      <p:sp>
        <p:nvSpPr>
          <p:cNvPr id="14" name="profile-129">
            <a:extLst xmlns:a="http://schemas.openxmlformats.org/drawingml/2006/main">
              <a:ext uri="{FF2B5EF4-FFF2-40B4-BE49-F238E27FC236}">
                <a16:creationId xmlns:a16="http://schemas.microsoft.com/office/drawing/2014/main" id="{8AB6A235-483E-43BB-9D5E-158F58AD866C}"/>
              </a:ext>
            </a:extLst>
          </p:cNvPr>
          <p:cNvSpPr>
            <a:spLocks xmlns:a="http://schemas.openxmlformats.org/drawingml/2006/main" noGrp="1"/>
          </p:cNvSpPr>
          <p:nvPr/>
        </p:nvSpPr>
        <p:spPr>
          <a:xfrm xmlns:a="http://schemas.openxmlformats.org/drawingml/2006/main">
            <a:off x="7219950" y="49149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on site findings</a:t>
            </a:r>
          </a:p>
        </p:txBody>
      </p:sp>
      <p:sp>
        <p:nvSpPr>
          <p:cNvPr id="15" name="profile-130">
            <a:extLst xmlns:a="http://schemas.openxmlformats.org/drawingml/2006/main">
              <a:ext uri="{FF2B5EF4-FFF2-40B4-BE49-F238E27FC236}">
                <a16:creationId xmlns:a16="http://schemas.microsoft.com/office/drawing/2014/main" id="{E5E0F90F-9B93-4F5D-B1A9-932F3FD8D74F}"/>
              </a:ext>
            </a:extLst>
          </p:cNvPr>
          <p:cNvSpPr>
            <a:spLocks xmlns:a="http://schemas.openxmlformats.org/drawingml/2006/main" noGrp="1"/>
          </p:cNvSpPr>
          <p:nvPr/>
        </p:nvSpPr>
        <p:spPr>
          <a:xfrm xmlns:a="http://schemas.openxmlformats.org/drawingml/2006/main">
            <a:off x="7219950" y="54483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Service scheduling and</a:t>
            </a:r>
          </a:p>
        </p:txBody>
      </p:sp>
      <p:sp>
        <p:nvSpPr>
          <p:cNvPr id="16" name="profile-131">
            <a:extLst xmlns:a="http://schemas.openxmlformats.org/drawingml/2006/main">
              <a:ext uri="{FF2B5EF4-FFF2-40B4-BE49-F238E27FC236}">
                <a16:creationId xmlns:a16="http://schemas.microsoft.com/office/drawing/2014/main" id="{EAB59181-917A-4FC9-BD64-EC0D7D86EF98}"/>
              </a:ext>
            </a:extLst>
          </p:cNvPr>
          <p:cNvSpPr>
            <a:spLocks xmlns:a="http://schemas.openxmlformats.org/drawingml/2006/main" noGrp="1"/>
          </p:cNvSpPr>
          <p:nvPr/>
        </p:nvSpPr>
        <p:spPr>
          <a:xfrm xmlns:a="http://schemas.openxmlformats.org/drawingml/2006/main">
            <a:off x="7219950" y="57626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contractor coordination</a:t>
            </a:r>
          </a:p>
        </p:txBody>
      </p:sp>
      <p:sp>
        <p:nvSpPr>
          <p:cNvPr id="17" name="profile-132">
            <a:extLst xmlns:a="http://schemas.openxmlformats.org/drawingml/2006/main">
              <a:ext uri="{FF2B5EF4-FFF2-40B4-BE49-F238E27FC236}">
                <a16:creationId xmlns:a16="http://schemas.microsoft.com/office/drawing/2014/main" id="{45FB3C90-F5F5-4587-9B94-D55AA52AB7DB}"/>
              </a:ext>
            </a:extLst>
          </p:cNvPr>
          <p:cNvSpPr>
            <a:spLocks xmlns:a="http://schemas.openxmlformats.org/drawingml/2006/main" noGrp="1"/>
          </p:cNvSpPr>
          <p:nvPr/>
        </p:nvSpPr>
        <p:spPr>
          <a:xfrm xmlns:a="http://schemas.openxmlformats.org/drawingml/2006/main">
            <a:off x="685800" y="60483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63707D"/>
                </a:solidFill>
                <a:latin typeface="Arial"/>
                <a:ea typeface="Arial"/>
                <a:cs typeface="Arial"/>
              </a:defRPr>
            </a:pPr>
            <a:r>
              <a:rPr sz="1500" b="0">
                <a:solidFill>
                  <a:srgbClr val="63707D"/>
                </a:solidFill>
                <a:latin typeface="Arial"/>
                <a:ea typeface="Arial"/>
                <a:cs typeface="Arial"/>
              </a:rPr>
              <a:t>Treatment and specialist requirements follow the site assessment.</a:t>
            </a:r>
          </a:p>
        </p:txBody>
      </p:sp>
      <p:sp>
        <p:nvSpPr>
          <p:cNvPr id="18" name="profile-133">
            <a:extLst xmlns:a="http://schemas.openxmlformats.org/drawingml/2006/main">
              <a:ext uri="{FF2B5EF4-FFF2-40B4-BE49-F238E27FC236}">
                <a16:creationId xmlns:a16="http://schemas.microsoft.com/office/drawing/2014/main" id="{B0481638-49F1-4373-93DA-DA44599048F6}"/>
              </a:ext>
            </a:extLst>
          </p:cNvPr>
          <p:cNvSpPr>
            <a:spLocks xmlns:a="http://schemas.openxmlformats.org/drawingml/2006/main" noGrp="1"/>
          </p:cNvSpPr>
          <p:nvPr/>
        </p:nvSpPr>
        <p:spPr>
          <a:xfrm xmlns:a="http://schemas.openxmlformats.org/drawingml/2006/main">
            <a:off x="685800" y="64484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9" name="profile-134">
            <a:extLst xmlns:a="http://schemas.openxmlformats.org/drawingml/2006/main">
              <a:ext uri="{FF2B5EF4-FFF2-40B4-BE49-F238E27FC236}">
                <a16:creationId xmlns:a16="http://schemas.microsoft.com/office/drawing/2014/main" id="{4649BFF3-48D8-424B-84B5-FB148C89DA6B}"/>
              </a:ext>
            </a:extLst>
          </p:cNvPr>
          <p:cNvSpPr>
            <a:spLocks xmlns:a="http://schemas.openxmlformats.org/drawingml/2006/main" noGrp="1"/>
          </p:cNvSpPr>
          <p:nvPr/>
        </p:nvSpPr>
        <p:spPr>
          <a:xfrm xmlns:a="http://schemas.openxmlformats.org/drawingml/2006/main">
            <a:off x="685800" y="65722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Oceanides</a:t>
            </a:r>
          </a:p>
        </p:txBody>
      </p:sp>
      <p:sp>
        <p:nvSpPr>
          <p:cNvPr id="20" name="profile-135">
            <a:extLst xmlns:a="http://schemas.openxmlformats.org/drawingml/2006/main">
              <a:ext uri="{FF2B5EF4-FFF2-40B4-BE49-F238E27FC236}">
                <a16:creationId xmlns:a16="http://schemas.microsoft.com/office/drawing/2014/main" id="{00C129D4-149A-4AC0-B81F-834E0E272F59}"/>
              </a:ext>
            </a:extLst>
          </p:cNvPr>
          <p:cNvSpPr>
            <a:spLocks xmlns:a="http://schemas.openxmlformats.org/drawingml/2006/main" noGrp="1"/>
          </p:cNvSpPr>
          <p:nvPr/>
        </p:nvSpPr>
        <p:spPr>
          <a:xfrm xmlns:a="http://schemas.openxmlformats.org/drawingml/2006/main">
            <a:off x="11220450" y="65722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06</a:t>
            </a:r>
          </a:p>
        </p:txBody>
      </p:sp>
    </p:spTree>
    <p:extLst>
      <p:ext uri="{BB962C8B-B14F-4D97-AF65-F5344CB8AC3E}">
        <p14:creationId xmlns:p14="http://schemas.microsoft.com/office/powerpoint/2010/main" val="1568039903"/>
      </p:ext>
    </p:extLst>
  </p:cSld>
</p:sld>
</file>

<file path=ppt/slides/slide8.xml><?xml version="1.0" encoding="utf-8"?>
<p:sld xmlns:p="http://schemas.openxmlformats.org/presentationml/2006/main">
  <p:cSld>
    <p:bg>
      <p:bgPr>
        <a:solidFill xmlns:a="http://schemas.openxmlformats.org/drawingml/2006/main">
          <a:srgbClr val="0A1F45"/>
        </a:solidFill>
      </p:bgPr>
    </p:bg>
    <p:spTree>
      <p:nvGrpSpPr>
        <p:cNvPr id="1" name=""/>
        <p:cNvGrpSpPr/>
        <p:nvPr/>
      </p:nvGrpSpPr>
      <p:grpSpPr>
        <a:xfrm xmlns:a="http://schemas.openxmlformats.org/drawingml/2006/main"/>
      </p:grpSpPr>
      <p:sp>
        <p:nvSpPr>
          <p:cNvPr id="25" name="profile-136">
            <a:extLst xmlns:a="http://schemas.openxmlformats.org/drawingml/2006/main">
              <a:ext uri="{FF2B5EF4-FFF2-40B4-BE49-F238E27FC236}">
                <a16:creationId xmlns:a16="http://schemas.microsoft.com/office/drawing/2014/main" id="{0B502D07-5124-474E-9DA8-A1EF1D52535B}"/>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10294D"/>
          </a:solidFill>
          <a:ln xmlns:a="http://schemas.openxmlformats.org/drawingml/2006/main" w="0">
            <a:noFill/>
          </a:ln>
        </p:spPr>
      </p:sp>
      <p:sp>
        <p:nvSpPr>
          <p:cNvPr id="2" name="profile-137">
            <a:extLst xmlns:a="http://schemas.openxmlformats.org/drawingml/2006/main">
              <a:ext uri="{FF2B5EF4-FFF2-40B4-BE49-F238E27FC236}">
                <a16:creationId xmlns:a16="http://schemas.microsoft.com/office/drawing/2014/main" id="{1D877B40-1AB2-4772-8160-4B87FCE93E9A}"/>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173759"/>
          </a:solidFill>
          <a:ln xmlns:a="http://schemas.openxmlformats.org/drawingml/2006/main" w="0">
            <a:noFill/>
          </a:ln>
        </p:spPr>
      </p:sp>
      <p:sp>
        <p:nvSpPr>
          <p:cNvPr id="3" name="profile-138">
            <a:extLst xmlns:a="http://schemas.openxmlformats.org/drawingml/2006/main">
              <a:ext uri="{FF2B5EF4-FFF2-40B4-BE49-F238E27FC236}">
                <a16:creationId xmlns:a16="http://schemas.microsoft.com/office/drawing/2014/main" id="{181AFD1A-5990-4DFE-89C3-6A02C7E7D604}"/>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21486B"/>
          </a:solidFill>
          <a:ln xmlns:a="http://schemas.openxmlformats.org/drawingml/2006/main" w="0">
            <a:no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bf35237f5374700"/>
          <a:stretch xmlns:a="http://schemas.openxmlformats.org/drawingml/2006/main"/>
        </p:blipFill>
        <p:spPr>
          <a:xfrm xmlns:a="http://schemas.openxmlformats.org/drawingml/2006/main">
            <a:off x="685800" y="352425"/>
            <a:ext cx="838200" cy="838200"/>
          </a:xfrm>
          <a:prstGeom xmlns:a="http://schemas.openxmlformats.org/drawingml/2006/main" prst="rect">
            <a:avLst/>
          </a:prstGeom>
        </p:spPr>
      </p:pic>
      <p:sp>
        <p:nvSpPr>
          <p:cNvPr id="5" name="profile-139">
            <a:extLst xmlns:a="http://schemas.openxmlformats.org/drawingml/2006/main">
              <a:ext uri="{FF2B5EF4-FFF2-40B4-BE49-F238E27FC236}">
                <a16:creationId xmlns:a16="http://schemas.microsoft.com/office/drawing/2014/main" id="{3A6BF4C7-9216-4216-940F-C8115BD33E17}"/>
              </a:ext>
            </a:extLst>
          </p:cNvPr>
          <p:cNvSpPr>
            <a:spLocks xmlns:a="http://schemas.openxmlformats.org/drawingml/2006/main" noGrp="1"/>
          </p:cNvSpPr>
          <p:nvPr/>
        </p:nvSpPr>
        <p:spPr>
          <a:xfrm xmlns:a="http://schemas.openxmlformats.org/drawingml/2006/main">
            <a:off x="685800" y="14954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D8DFE9"/>
                </a:solidFill>
                <a:latin typeface="Arial"/>
                <a:ea typeface="Arial"/>
                <a:cs typeface="Arial"/>
              </a:defRPr>
            </a:pPr>
            <a:r>
              <a:rPr sz="1650" b="0">
                <a:solidFill>
                  <a:srgbClr val="D8DFE9"/>
                </a:solidFill>
                <a:latin typeface="Arial"/>
                <a:ea typeface="Arial"/>
                <a:cs typeface="Arial"/>
              </a:rPr>
              <a:t>Your next step</a:t>
            </a:r>
          </a:p>
        </p:txBody>
      </p:sp>
      <p:sp>
        <p:nvSpPr>
          <p:cNvPr id="6" name="profile-140">
            <a:extLst xmlns:a="http://schemas.openxmlformats.org/drawingml/2006/main">
              <a:ext uri="{FF2B5EF4-FFF2-40B4-BE49-F238E27FC236}">
                <a16:creationId xmlns:a16="http://schemas.microsoft.com/office/drawing/2014/main" id="{614B3D33-942B-418B-9156-C04AD9032C13}"/>
              </a:ext>
            </a:extLst>
          </p:cNvPr>
          <p:cNvSpPr>
            <a:spLocks xmlns:a="http://schemas.openxmlformats.org/drawingml/2006/main" noGrp="1"/>
          </p:cNvSpPr>
          <p:nvPr/>
        </p:nvSpPr>
        <p:spPr>
          <a:xfrm xmlns:a="http://schemas.openxmlformats.org/drawingml/2006/main">
            <a:off x="685800" y="197167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050" b="0">
                <a:solidFill>
                  <a:srgbClr val="F7F7F2"/>
                </a:solidFill>
                <a:latin typeface="Segoe UI"/>
                <a:ea typeface="Segoe UI"/>
                <a:cs typeface="Segoe UI"/>
              </a:defRPr>
            </a:pPr>
            <a:r>
              <a:rPr sz="4050" b="0">
                <a:solidFill>
                  <a:srgbClr val="F7F7F2"/>
                </a:solidFill>
                <a:latin typeface="Segoe UI"/>
                <a:ea typeface="Segoe UI"/>
                <a:cs typeface="Segoe UI"/>
              </a:rPr>
              <a:t>Site assessment</a:t>
            </a:r>
          </a:p>
        </p:txBody>
      </p:sp>
      <p:sp>
        <p:nvSpPr>
          <p:cNvPr id="7" name="profile-141">
            <a:extLst xmlns:a="http://schemas.openxmlformats.org/drawingml/2006/main">
              <a:ext uri="{FF2B5EF4-FFF2-40B4-BE49-F238E27FC236}">
                <a16:creationId xmlns:a16="http://schemas.microsoft.com/office/drawing/2014/main" id="{94E7C61F-EC09-4076-9F4E-351E63F12E28}"/>
              </a:ext>
            </a:extLst>
          </p:cNvPr>
          <p:cNvSpPr>
            <a:spLocks xmlns:a="http://schemas.openxmlformats.org/drawingml/2006/main" noGrp="1"/>
          </p:cNvSpPr>
          <p:nvPr/>
        </p:nvSpPr>
        <p:spPr>
          <a:xfrm xmlns:a="http://schemas.openxmlformats.org/drawingml/2006/main">
            <a:off x="685800" y="257175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050" b="0">
                <a:solidFill>
                  <a:srgbClr val="F7F7F2"/>
                </a:solidFill>
                <a:latin typeface="Segoe UI"/>
                <a:ea typeface="Segoe UI"/>
                <a:cs typeface="Segoe UI"/>
              </a:defRPr>
            </a:pPr>
            <a:r>
              <a:rPr sz="4050" b="0">
                <a:solidFill>
                  <a:srgbClr val="F7F7F2"/>
                </a:solidFill>
                <a:latin typeface="Segoe UI"/>
                <a:ea typeface="Segoe UI"/>
                <a:cs typeface="Segoe UI"/>
              </a:rPr>
              <a:t>Written quotation</a:t>
            </a:r>
          </a:p>
        </p:txBody>
      </p:sp>
      <p:sp>
        <p:nvSpPr>
          <p:cNvPr id="8" name="profile-142">
            <a:extLst xmlns:a="http://schemas.openxmlformats.org/drawingml/2006/main">
              <a:ext uri="{FF2B5EF4-FFF2-40B4-BE49-F238E27FC236}">
                <a16:creationId xmlns:a16="http://schemas.microsoft.com/office/drawing/2014/main" id="{21032ED3-1BDC-4376-8FA6-F8D983833490}"/>
              </a:ext>
            </a:extLst>
          </p:cNvPr>
          <p:cNvSpPr>
            <a:spLocks xmlns:a="http://schemas.openxmlformats.org/drawingml/2006/main" noGrp="1"/>
          </p:cNvSpPr>
          <p:nvPr/>
        </p:nvSpPr>
        <p:spPr>
          <a:xfrm xmlns:a="http://schemas.openxmlformats.org/drawingml/2006/main">
            <a:off x="685800" y="3524250"/>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D8DFE9"/>
                </a:solidFill>
                <a:latin typeface="Arial"/>
                <a:ea typeface="Arial"/>
                <a:cs typeface="Arial"/>
              </a:defRPr>
            </a:pPr>
            <a:r>
              <a:rPr sz="1950" b="0">
                <a:solidFill>
                  <a:srgbClr val="D8DFE9"/>
                </a:solidFill>
                <a:latin typeface="Arial"/>
                <a:ea typeface="Arial"/>
                <a:cs typeface="Arial"/>
              </a:rPr>
              <a:t>Tell us the service, site location and</a:t>
            </a:r>
          </a:p>
        </p:txBody>
      </p:sp>
      <p:sp>
        <p:nvSpPr>
          <p:cNvPr id="9" name="profile-143">
            <a:extLst xmlns:a="http://schemas.openxmlformats.org/drawingml/2006/main">
              <a:ext uri="{FF2B5EF4-FFF2-40B4-BE49-F238E27FC236}">
                <a16:creationId xmlns:a16="http://schemas.microsoft.com/office/drawing/2014/main" id="{F3BD205A-D474-4D37-A266-44E765428A76}"/>
              </a:ext>
            </a:extLst>
          </p:cNvPr>
          <p:cNvSpPr>
            <a:spLocks xmlns:a="http://schemas.openxmlformats.org/drawingml/2006/main" noGrp="1"/>
          </p:cNvSpPr>
          <p:nvPr/>
        </p:nvSpPr>
        <p:spPr>
          <a:xfrm xmlns:a="http://schemas.openxmlformats.org/drawingml/2006/main">
            <a:off x="685800" y="3867150"/>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D8DFE9"/>
                </a:solidFill>
                <a:latin typeface="Arial"/>
                <a:ea typeface="Arial"/>
                <a:cs typeface="Arial"/>
              </a:defRPr>
            </a:pPr>
            <a:r>
              <a:rPr sz="1950" b="0">
                <a:solidFill>
                  <a:srgbClr val="D8DFE9"/>
                </a:solidFill>
                <a:latin typeface="Arial"/>
                <a:ea typeface="Arial"/>
                <a:cs typeface="Arial"/>
              </a:rPr>
              <a:t>preferred inspection schedule.</a:t>
            </a:r>
          </a:p>
        </p:txBody>
      </p:sp>
      <p:sp>
        <p:nvSpPr>
          <p:cNvPr id="10" name="profile-144">
            <a:extLst xmlns:a="http://schemas.openxmlformats.org/drawingml/2006/main">
              <a:ext uri="{FF2B5EF4-FFF2-40B4-BE49-F238E27FC236}">
                <a16:creationId xmlns:a16="http://schemas.microsoft.com/office/drawing/2014/main" id="{A7077F26-9F42-47FC-A982-7E6E2649574B}"/>
              </a:ext>
            </a:extLst>
          </p:cNvPr>
          <p:cNvSpPr>
            <a:spLocks xmlns:a="http://schemas.openxmlformats.org/drawingml/2006/main" noGrp="1"/>
          </p:cNvSpPr>
          <p:nvPr/>
        </p:nvSpPr>
        <p:spPr>
          <a:xfrm xmlns:a="http://schemas.openxmlformats.org/drawingml/2006/main">
            <a:off x="685800" y="4362450"/>
            <a:ext cx="657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0">
                <a:solidFill>
                  <a:srgbClr val="FFFFFF"/>
                </a:solidFill>
                <a:latin typeface="Segoe UI"/>
                <a:ea typeface="Segoe UI"/>
                <a:cs typeface="Segoe UI"/>
              </a:defRPr>
            </a:pPr>
            <a:r>
              <a:rPr sz="3600" b="0">
                <a:solidFill>
                  <a:srgbClr val="FFFFFF"/>
                </a:solidFill>
                <a:latin typeface="Segoe UI"/>
                <a:ea typeface="Segoe UI"/>
                <a:cs typeface="Segoe UI"/>
              </a:rPr>
              <a:t>0917 671 6383</a:t>
            </a:r>
          </a:p>
        </p:txBody>
      </p:sp>
      <p:sp>
        <p:nvSpPr>
          <p:cNvPr id="11" name="profile-145">
            <a:extLst xmlns:a="http://schemas.openxmlformats.org/drawingml/2006/main">
              <a:ext uri="{FF2B5EF4-FFF2-40B4-BE49-F238E27FC236}">
                <a16:creationId xmlns:a16="http://schemas.microsoft.com/office/drawing/2014/main" id="{0CB8D1CE-7035-42F7-AE5B-3B09A4441959}"/>
              </a:ext>
            </a:extLst>
          </p:cNvPr>
          <p:cNvSpPr>
            <a:spLocks xmlns:a="http://schemas.openxmlformats.org/drawingml/2006/main" noGrp="1"/>
          </p:cNvSpPr>
          <p:nvPr/>
        </p:nvSpPr>
        <p:spPr>
          <a:xfrm xmlns:a="http://schemas.openxmlformats.org/drawingml/2006/main">
            <a:off x="685800" y="5057775"/>
            <a:ext cx="676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D8DFE9"/>
                </a:solidFill>
                <a:latin typeface="Arial"/>
                <a:ea typeface="Arial"/>
                <a:cs typeface="Arial"/>
              </a:defRPr>
            </a:pPr>
            <a:r>
              <a:rPr sz="2025" b="0">
                <a:solidFill>
                  <a:srgbClr val="D8DFE9"/>
                </a:solidFill>
                <a:latin typeface="Arial"/>
                <a:ea typeface="Arial"/>
                <a:cs typeface="Arial"/>
              </a:rPr>
              <a:t>marketing@oceanidessepticandpest.com</a:t>
            </a:r>
          </a:p>
        </p:txBody>
      </p:sp>
      <p:sp>
        <p:nvSpPr>
          <p:cNvPr id="12" name="profile-146">
            <a:extLst xmlns:a="http://schemas.openxmlformats.org/drawingml/2006/main">
              <a:ext uri="{FF2B5EF4-FFF2-40B4-BE49-F238E27FC236}">
                <a16:creationId xmlns:a16="http://schemas.microsoft.com/office/drawing/2014/main" id="{595623DD-9145-4AE6-A0A4-4E668C4E0910}"/>
              </a:ext>
            </a:extLst>
          </p:cNvPr>
          <p:cNvSpPr>
            <a:spLocks xmlns:a="http://schemas.openxmlformats.org/drawingml/2006/main" noGrp="1"/>
          </p:cNvSpPr>
          <p:nvPr/>
        </p:nvSpPr>
        <p:spPr>
          <a:xfrm xmlns:a="http://schemas.openxmlformats.org/drawingml/2006/main">
            <a:off x="685800" y="5486400"/>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AABCD3"/>
                </a:solidFill>
                <a:latin typeface="Arial"/>
                <a:ea typeface="Arial"/>
                <a:cs typeface="Arial"/>
              </a:defRPr>
            </a:pPr>
            <a:r>
              <a:rPr sz="1500" b="0">
                <a:solidFill>
                  <a:srgbClr val="AABCD3"/>
                </a:solidFill>
                <a:latin typeface="Arial"/>
                <a:ea typeface="Arial"/>
                <a:cs typeface="Arial"/>
              </a:rPr>
              <a:t>Globe</a:t>
            </a:r>
          </a:p>
        </p:txBody>
      </p:sp>
      <p:sp>
        <p:nvSpPr>
          <p:cNvPr id="13" name="profile-147">
            <a:extLst xmlns:a="http://schemas.openxmlformats.org/drawingml/2006/main">
              <a:ext uri="{FF2B5EF4-FFF2-40B4-BE49-F238E27FC236}">
                <a16:creationId xmlns:a16="http://schemas.microsoft.com/office/drawing/2014/main" id="{40AE6672-0FB9-4792-A1A7-D61D6603D6A5}"/>
              </a:ext>
            </a:extLst>
          </p:cNvPr>
          <p:cNvSpPr>
            <a:spLocks xmlns:a="http://schemas.openxmlformats.org/drawingml/2006/main" noGrp="1"/>
          </p:cNvSpPr>
          <p:nvPr/>
        </p:nvSpPr>
        <p:spPr>
          <a:xfrm xmlns:a="http://schemas.openxmlformats.org/drawingml/2006/main">
            <a:off x="685800" y="5819775"/>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D8DFE9"/>
                </a:solidFill>
                <a:latin typeface="Arial"/>
                <a:ea typeface="Arial"/>
                <a:cs typeface="Arial"/>
              </a:defRPr>
            </a:pPr>
            <a:r>
              <a:rPr sz="1650" b="0">
                <a:solidFill>
                  <a:srgbClr val="D8DFE9"/>
                </a:solidFill>
                <a:latin typeface="Arial"/>
                <a:ea typeface="Arial"/>
                <a:cs typeface="Arial"/>
              </a:rPr>
              <a:t>Tramo Street Corner Dandan, Pasay City, Philippines 1300</a:t>
            </a:r>
          </a:p>
        </p:txBody>
      </p:sp>
      <p:sp>
        <p:nvSpPr>
          <p:cNvPr id="14" name="profile-148">
            <a:extLst xmlns:a="http://schemas.openxmlformats.org/drawingml/2006/main">
              <a:ext uri="{FF2B5EF4-FFF2-40B4-BE49-F238E27FC236}">
                <a16:creationId xmlns:a16="http://schemas.microsoft.com/office/drawing/2014/main" id="{2F5B113F-BC2B-4C05-BE6D-E4864888FD17}"/>
              </a:ext>
            </a:extLst>
          </p:cNvPr>
          <p:cNvSpPr>
            <a:spLocks xmlns:a="http://schemas.openxmlformats.org/drawingml/2006/main" noGrp="1"/>
          </p:cNvSpPr>
          <p:nvPr/>
        </p:nvSpPr>
        <p:spPr>
          <a:xfrm xmlns:a="http://schemas.openxmlformats.org/drawingml/2006/main">
            <a:off x="7943850" y="1514475"/>
            <a:ext cx="3562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F7F7F2"/>
                </a:solidFill>
                <a:latin typeface="Segoe UI"/>
                <a:ea typeface="Segoe UI"/>
                <a:cs typeface="Segoe UI"/>
              </a:defRPr>
            </a:pPr>
            <a:r>
              <a:rPr sz="2100" b="1">
                <a:solidFill>
                  <a:srgbClr val="F7F7F2"/>
                </a:solidFill>
                <a:latin typeface="Segoe UI"/>
                <a:ea typeface="Segoe UI"/>
                <a:cs typeface="Segoe UI"/>
              </a:rPr>
              <a:t>Supplier accreditation</a:t>
            </a:r>
          </a:p>
        </p:txBody>
      </p:sp>
      <p:sp>
        <p:nvSpPr>
          <p:cNvPr id="15" name="profile-149">
            <a:extLst xmlns:a="http://schemas.openxmlformats.org/drawingml/2006/main">
              <a:ext uri="{FF2B5EF4-FFF2-40B4-BE49-F238E27FC236}">
                <a16:creationId xmlns:a16="http://schemas.microsoft.com/office/drawing/2014/main" id="{4927347D-B342-4047-901D-53AC12053710}"/>
              </a:ext>
            </a:extLst>
          </p:cNvPr>
          <p:cNvSpPr>
            <a:spLocks xmlns:a="http://schemas.openxmlformats.org/drawingml/2006/main" noGrp="1"/>
          </p:cNvSpPr>
          <p:nvPr/>
        </p:nvSpPr>
        <p:spPr>
          <a:xfrm xmlns:a="http://schemas.openxmlformats.org/drawingml/2006/main">
            <a:off x="7943850" y="2066925"/>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D8DFE9"/>
                </a:solidFill>
                <a:latin typeface="Arial"/>
                <a:ea typeface="Arial"/>
                <a:cs typeface="Arial"/>
              </a:defRPr>
            </a:pPr>
            <a:r>
              <a:rPr sz="1800" b="0">
                <a:solidFill>
                  <a:srgbClr val="D8DFE9"/>
                </a:solidFill>
                <a:latin typeface="Arial"/>
                <a:ea typeface="Arial"/>
                <a:cs typeface="Arial"/>
              </a:rPr>
              <a:t>Share your procurement</a:t>
            </a:r>
          </a:p>
        </p:txBody>
      </p:sp>
      <p:sp>
        <p:nvSpPr>
          <p:cNvPr id="16" name="profile-150">
            <a:extLst xmlns:a="http://schemas.openxmlformats.org/drawingml/2006/main">
              <a:ext uri="{FF2B5EF4-FFF2-40B4-BE49-F238E27FC236}">
                <a16:creationId xmlns:a16="http://schemas.microsoft.com/office/drawing/2014/main" id="{62950884-7EA9-4E80-9D26-24CBC60EA1B9}"/>
              </a:ext>
            </a:extLst>
          </p:cNvPr>
          <p:cNvSpPr>
            <a:spLocks xmlns:a="http://schemas.openxmlformats.org/drawingml/2006/main" noGrp="1"/>
          </p:cNvSpPr>
          <p:nvPr/>
        </p:nvSpPr>
        <p:spPr>
          <a:xfrm xmlns:a="http://schemas.openxmlformats.org/drawingml/2006/main">
            <a:off x="7943850" y="2400300"/>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D8DFE9"/>
                </a:solidFill>
                <a:latin typeface="Arial"/>
                <a:ea typeface="Arial"/>
                <a:cs typeface="Arial"/>
              </a:defRPr>
            </a:pPr>
            <a:r>
              <a:rPr sz="1800" b="0">
                <a:solidFill>
                  <a:srgbClr val="D8DFE9"/>
                </a:solidFill>
                <a:latin typeface="Arial"/>
                <a:ea typeface="Arial"/>
                <a:cs typeface="Arial"/>
              </a:rPr>
              <a:t>requirements. We can coordinate</a:t>
            </a:r>
          </a:p>
        </p:txBody>
      </p:sp>
      <p:sp>
        <p:nvSpPr>
          <p:cNvPr id="17" name="profile-151">
            <a:extLst xmlns:a="http://schemas.openxmlformats.org/drawingml/2006/main">
              <a:ext uri="{FF2B5EF4-FFF2-40B4-BE49-F238E27FC236}">
                <a16:creationId xmlns:a16="http://schemas.microsoft.com/office/drawing/2014/main" id="{1BC019D5-214C-4906-B8E0-4454B719C26B}"/>
              </a:ext>
            </a:extLst>
          </p:cNvPr>
          <p:cNvSpPr>
            <a:spLocks xmlns:a="http://schemas.openxmlformats.org/drawingml/2006/main" noGrp="1"/>
          </p:cNvSpPr>
          <p:nvPr/>
        </p:nvSpPr>
        <p:spPr>
          <a:xfrm xmlns:a="http://schemas.openxmlformats.org/drawingml/2006/main">
            <a:off x="7943850" y="2733675"/>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D8DFE9"/>
                </a:solidFill>
                <a:latin typeface="Arial"/>
                <a:ea typeface="Arial"/>
                <a:cs typeface="Arial"/>
              </a:defRPr>
            </a:pPr>
            <a:r>
              <a:rPr sz="1800" b="0">
                <a:solidFill>
                  <a:srgbClr val="D8DFE9"/>
                </a:solidFill>
                <a:latin typeface="Arial"/>
                <a:ea typeface="Arial"/>
                <a:cs typeface="Arial"/>
              </a:rPr>
              <a:t>company documents and project</a:t>
            </a:r>
          </a:p>
        </p:txBody>
      </p:sp>
      <p:sp>
        <p:nvSpPr>
          <p:cNvPr id="18" name="profile-152">
            <a:extLst xmlns:a="http://schemas.openxmlformats.org/drawingml/2006/main">
              <a:ext uri="{FF2B5EF4-FFF2-40B4-BE49-F238E27FC236}">
                <a16:creationId xmlns:a16="http://schemas.microsoft.com/office/drawing/2014/main" id="{1B7FC93C-E7A7-4F0C-A619-A753CDF8F592}"/>
              </a:ext>
            </a:extLst>
          </p:cNvPr>
          <p:cNvSpPr>
            <a:spLocks xmlns:a="http://schemas.openxmlformats.org/drawingml/2006/main" noGrp="1"/>
          </p:cNvSpPr>
          <p:nvPr/>
        </p:nvSpPr>
        <p:spPr>
          <a:xfrm xmlns:a="http://schemas.openxmlformats.org/drawingml/2006/main">
            <a:off x="7943850" y="3067050"/>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D8DFE9"/>
                </a:solidFill>
                <a:latin typeface="Arial"/>
                <a:ea typeface="Arial"/>
                <a:cs typeface="Arial"/>
              </a:defRPr>
            </a:pPr>
            <a:r>
              <a:rPr sz="1800" b="0">
                <a:solidFill>
                  <a:srgbClr val="D8DFE9"/>
                </a:solidFill>
                <a:latin typeface="Arial"/>
                <a:ea typeface="Arial"/>
                <a:cs typeface="Arial"/>
              </a:rPr>
              <a:t>information for your review.</a:t>
            </a:r>
          </a:p>
        </p:txBody>
      </p:sp>
      <p:sp>
        <p:nvSpPr>
          <p:cNvPr id="19" name="profile-153">
            <a:extLst xmlns:a="http://schemas.openxmlformats.org/drawingml/2006/main">
              <a:ext uri="{FF2B5EF4-FFF2-40B4-BE49-F238E27FC236}">
                <a16:creationId xmlns:a16="http://schemas.microsoft.com/office/drawing/2014/main" id="{99EB7FF7-1A10-4ACB-9BCD-4ED67A95E414}"/>
              </a:ext>
            </a:extLst>
          </p:cNvPr>
          <p:cNvSpPr>
            <a:spLocks xmlns:a="http://schemas.openxmlformats.org/drawingml/2006/main" noGrp="1"/>
          </p:cNvSpPr>
          <p:nvPr/>
        </p:nvSpPr>
        <p:spPr>
          <a:xfrm xmlns:a="http://schemas.openxmlformats.org/drawingml/2006/main">
            <a:off x="7943850" y="3867150"/>
            <a:ext cx="3562350" cy="6668"/>
          </a:xfrm>
          <a:prstGeom xmlns:a="http://schemas.openxmlformats.org/drawingml/2006/main" prst="rect">
            <a:avLst/>
          </a:prstGeom>
          <a:solidFill xmlns:a="http://schemas.openxmlformats.org/drawingml/2006/main">
            <a:srgbClr val="263D5F"/>
          </a:solidFill>
          <a:ln xmlns:a="http://schemas.openxmlformats.org/drawingml/2006/main" w="0">
            <a:noFill/>
          </a:ln>
        </p:spPr>
      </p:sp>
      <p:sp>
        <p:nvSpPr>
          <p:cNvPr id="20" name="profile-154">
            <a:extLst xmlns:a="http://schemas.openxmlformats.org/drawingml/2006/main">
              <a:ext uri="{FF2B5EF4-FFF2-40B4-BE49-F238E27FC236}">
                <a16:creationId xmlns:a16="http://schemas.microsoft.com/office/drawing/2014/main" id="{02EFAD24-5241-4301-8B23-0274636FE59B}"/>
              </a:ext>
            </a:extLst>
          </p:cNvPr>
          <p:cNvSpPr>
            <a:spLocks xmlns:a="http://schemas.openxmlformats.org/drawingml/2006/main" noGrp="1"/>
          </p:cNvSpPr>
          <p:nvPr/>
        </p:nvSpPr>
        <p:spPr>
          <a:xfrm xmlns:a="http://schemas.openxmlformats.org/drawingml/2006/main">
            <a:off x="7943850" y="4191000"/>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7F7F2"/>
                </a:solidFill>
                <a:latin typeface="Segoe UI"/>
                <a:ea typeface="Segoe UI"/>
                <a:cs typeface="Segoe UI"/>
              </a:defRPr>
            </a:pPr>
            <a:r>
              <a:rPr sz="1950" b="1">
                <a:solidFill>
                  <a:srgbClr val="F7F7F2"/>
                </a:solidFill>
                <a:latin typeface="Segoe UI"/>
                <a:ea typeface="Segoe UI"/>
                <a:cs typeface="Segoe UI"/>
              </a:rPr>
              <a:t>Site assessment</a:t>
            </a:r>
          </a:p>
        </p:txBody>
      </p:sp>
      <p:sp>
        <p:nvSpPr>
          <p:cNvPr id="21" name="profile-155">
            <a:extLst xmlns:a="http://schemas.openxmlformats.org/drawingml/2006/main">
              <a:ext uri="{FF2B5EF4-FFF2-40B4-BE49-F238E27FC236}">
                <a16:creationId xmlns:a16="http://schemas.microsoft.com/office/drawing/2014/main" id="{1CE5D62B-3C85-4C26-8777-ABA08CF6D28D}"/>
              </a:ext>
            </a:extLst>
          </p:cNvPr>
          <p:cNvSpPr>
            <a:spLocks xmlns:a="http://schemas.openxmlformats.org/drawingml/2006/main" noGrp="1"/>
          </p:cNvSpPr>
          <p:nvPr/>
        </p:nvSpPr>
        <p:spPr>
          <a:xfrm xmlns:a="http://schemas.openxmlformats.org/drawingml/2006/main">
            <a:off x="7943850" y="4695825"/>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7F7F2"/>
                </a:solidFill>
                <a:latin typeface="Segoe UI"/>
                <a:ea typeface="Segoe UI"/>
                <a:cs typeface="Segoe UI"/>
              </a:defRPr>
            </a:pPr>
            <a:r>
              <a:rPr sz="1950" b="1">
                <a:solidFill>
                  <a:srgbClr val="F7F7F2"/>
                </a:solidFill>
                <a:latin typeface="Segoe UI"/>
                <a:ea typeface="Segoe UI"/>
                <a:cs typeface="Segoe UI"/>
              </a:rPr>
              <a:t>Written quotation</a:t>
            </a:r>
          </a:p>
        </p:txBody>
      </p:sp>
      <p:sp>
        <p:nvSpPr>
          <p:cNvPr id="22" name="profile-156">
            <a:extLst xmlns:a="http://schemas.openxmlformats.org/drawingml/2006/main">
              <a:ext uri="{FF2B5EF4-FFF2-40B4-BE49-F238E27FC236}">
                <a16:creationId xmlns:a16="http://schemas.microsoft.com/office/drawing/2014/main" id="{BC3309A7-40A4-4C5E-BB61-011C7F9868F9}"/>
              </a:ext>
            </a:extLst>
          </p:cNvPr>
          <p:cNvSpPr>
            <a:spLocks xmlns:a="http://schemas.openxmlformats.org/drawingml/2006/main" noGrp="1"/>
          </p:cNvSpPr>
          <p:nvPr/>
        </p:nvSpPr>
        <p:spPr>
          <a:xfrm xmlns:a="http://schemas.openxmlformats.org/drawingml/2006/main">
            <a:off x="7943850" y="5200650"/>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7F7F2"/>
                </a:solidFill>
                <a:latin typeface="Segoe UI"/>
                <a:ea typeface="Segoe UI"/>
                <a:cs typeface="Segoe UI"/>
              </a:defRPr>
            </a:pPr>
            <a:r>
              <a:rPr sz="1950" b="1">
                <a:solidFill>
                  <a:srgbClr val="F7F7F2"/>
                </a:solidFill>
                <a:latin typeface="Segoe UI"/>
                <a:ea typeface="Segoe UI"/>
                <a:cs typeface="Segoe UI"/>
              </a:rPr>
              <a:t>Service coordination</a:t>
            </a:r>
          </a:p>
        </p:txBody>
      </p:sp>
      <p:sp>
        <p:nvSpPr>
          <p:cNvPr id="23" name="profile-157">
            <a:extLst xmlns:a="http://schemas.openxmlformats.org/drawingml/2006/main">
              <a:ext uri="{FF2B5EF4-FFF2-40B4-BE49-F238E27FC236}">
                <a16:creationId xmlns:a16="http://schemas.microsoft.com/office/drawing/2014/main" id="{E84DAD83-EA5B-44B3-B9B1-2E9324962102}"/>
              </a:ext>
            </a:extLst>
          </p:cNvPr>
          <p:cNvSpPr>
            <a:spLocks xmlns:a="http://schemas.openxmlformats.org/drawingml/2006/main" noGrp="1"/>
          </p:cNvSpPr>
          <p:nvPr/>
        </p:nvSpPr>
        <p:spPr>
          <a:xfrm xmlns:a="http://schemas.openxmlformats.org/drawingml/2006/main">
            <a:off x="7943850" y="5705475"/>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7F7F2"/>
                </a:solidFill>
                <a:latin typeface="Segoe UI"/>
                <a:ea typeface="Segoe UI"/>
                <a:cs typeface="Segoe UI"/>
              </a:defRPr>
            </a:pPr>
            <a:r>
              <a:rPr sz="1950" b="1">
                <a:solidFill>
                  <a:srgbClr val="F7F7F2"/>
                </a:solidFill>
                <a:latin typeface="Segoe UI"/>
                <a:ea typeface="Segoe UI"/>
                <a:cs typeface="Segoe UI"/>
              </a:rPr>
              <a:t>Turnover</a:t>
            </a:r>
          </a:p>
        </p:txBody>
      </p:sp>
      <p:sp>
        <p:nvSpPr>
          <p:cNvPr id="24" name="profile-158">
            <a:extLst xmlns:a="http://schemas.openxmlformats.org/drawingml/2006/main">
              <a:ext uri="{FF2B5EF4-FFF2-40B4-BE49-F238E27FC236}">
                <a16:creationId xmlns:a16="http://schemas.microsoft.com/office/drawing/2014/main" id="{564FD508-F78C-4AFB-991D-7378D0446A3C}"/>
              </a:ext>
            </a:extLst>
          </p:cNvPr>
          <p:cNvSpPr>
            <a:spLocks xmlns:a="http://schemas.openxmlformats.org/drawingml/2006/main" noGrp="1"/>
          </p:cNvSpPr>
          <p:nvPr/>
        </p:nvSpPr>
        <p:spPr>
          <a:xfrm xmlns:a="http://schemas.openxmlformats.org/drawingml/2006/main">
            <a:off x="685800" y="655320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D8DFE9"/>
                </a:solidFill>
                <a:latin typeface="Arial"/>
                <a:ea typeface="Arial"/>
                <a:cs typeface="Arial"/>
              </a:defRPr>
            </a:pPr>
            <a:r>
              <a:rPr sz="1200" b="0">
                <a:solidFill>
                  <a:srgbClr val="D8DFE9"/>
                </a:solidFill>
                <a:latin typeface="Arial"/>
                <a:ea typeface="Arial"/>
                <a:cs typeface="Arial"/>
              </a:rPr>
              <a:t>Oceanides Plumbing Siphoning &amp; Pest Management Services OPC</a:t>
            </a:r>
          </a:p>
        </p:txBody>
      </p:sp>
    </p:spTree>
    <p:extLst>
      <p:ext uri="{BB962C8B-B14F-4D97-AF65-F5344CB8AC3E}">
        <p14:creationId xmlns:p14="http://schemas.microsoft.com/office/powerpoint/2010/main" val="122949952"/>
      </p:ext>
    </p:extLst>
  </p:cSld>
</p:sld>
</file>

<file path=ppt/slides/slide9.xml><?xml version="1.0" encoding="utf-8"?>
<p:sld xmlns:p="http://schemas.openxmlformats.org/presentationml/2006/main" xmlns:a="http://schemas.openxmlformats.org/drawingml/2006/main" xmlns:r="http://schemas.openxmlformats.org/officeDocument/2006/relationships">
  <p:cSld>
    <p:bg>
      <p:bgPr>
        <a:solidFill xmlns:a="http://schemas.openxmlformats.org/drawingml/2006/main">
          <a:srgbClr val="F7F7F2"/>
        </a:solidFill>
      </p:bgPr>
    </p:bg>
    <p:spTree>
      <p:nvGrpSpPr>
        <p:cNvPr id="1" name=""/>
        <p:cNvGrpSpPr/>
        <p:nvPr/>
      </p:nvGrpSpPr>
      <p:grpSpPr>
        <a:xfrm xmlns:a="http://schemas.openxmlformats.org/drawingml/2006/main"/>
      </p:grpSpPr>
      <p:pic>
        <p:nvPicPr>
          <p:cNvPr id="2" name="Oceanides STP film">
            <a:hlinkClick action="ppaction://media"/>
            <a:extLst>
              <a:ext uri="{FF2B5EF4-FFF2-40B4-BE49-F238E27FC236}">
                <a16:creationId xmlns:a16="http://schemas.microsoft.com/office/drawing/2014/main" id="{A8E16CF4-1592-80E3-DC5F-7D6C78098FA8}"/>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52775920"/>
      </p:ext>
    </p:extLst>
  </p:cSld>
  <p:timing>
    <p:tnLst>
      <p:par>
        <p:cTn id="1" dur="indefinite" restart="never" nodeType="tmRoot">
          <p:childTnLst>
            <p:video>
              <p:cMediaNode vol="80000">
                <p:cTn id="2" fill="remove" display="0">
                  <p:stCondLst>
                    <p:cond delay="indefinite"/>
                  </p:stCondLst>
                </p:cTn>
                <p:tgtEl>
                  <p:spTgt spid="2"/>
                </p:tgtEl>
              </p:cMediaNode>
            </p:video>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9</ap:Slides>
  <ap:Notes>9</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2026-10-03T05:08:00.3330000Z</dcterms:created>
  <dcterms:modified xsi:type="dcterms:W3CDTF">2026-10-03T05:08:00.3330000Z</dcterms:modified>
</coreProperties>
</file>