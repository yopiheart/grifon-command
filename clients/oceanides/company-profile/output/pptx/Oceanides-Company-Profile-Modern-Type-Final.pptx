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5d1f9fb0194d8d" /><Relationship Type="http://schemas.openxmlformats.org/officeDocument/2006/relationships/extended-properties" Target="/docProps/app.xml" Id="R7c4bda592b514ad1" /><Relationship Type="http://schemas.openxmlformats.org/officeDocument/2006/relationships/officeDocument" Target="/ppt/presentation.xml" Id="R85e0f1030ec143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ce0652583748dc"/>
  </p:sldMasterIdLst>
  <p:notesMasterIdLst>
    <p:notesMasterId xmlns:r="http://schemas.openxmlformats.org/officeDocument/2006/relationships" r:id="R3e46cb7d0bf5414b"/>
  </p:notesMasterIdLst>
  <p:sldIdLst>
    <p:sldId xmlns:r="http://schemas.openxmlformats.org/officeDocument/2006/relationships" id="256" r:id="R0a5f384f6e504a33"/>
    <p:sldId xmlns:r="http://schemas.openxmlformats.org/officeDocument/2006/relationships" id="257" r:id="R2a8fb349e3e84fde"/>
    <p:sldId xmlns:r="http://schemas.openxmlformats.org/officeDocument/2006/relationships" id="258" r:id="R3f83f04a9ac94fc7"/>
    <p:sldId xmlns:r="http://schemas.openxmlformats.org/officeDocument/2006/relationships" id="259" r:id="R64eb556e04de4ac0"/>
    <p:sldId xmlns:r="http://schemas.openxmlformats.org/officeDocument/2006/relationships" id="260" r:id="R1661276bdfdb4b7e"/>
    <p:sldId xmlns:r="http://schemas.openxmlformats.org/officeDocument/2006/relationships" id="261" r:id="R04ce738bf198471c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a736f3299d4889" /><Relationship Type="http://schemas.openxmlformats.org/officeDocument/2006/relationships/slideMaster" Target="/ppt/slideMasters/slideMaster1.xml" Id="R71ce0652583748dc" /><Relationship Type="http://schemas.openxmlformats.org/officeDocument/2006/relationships/notesMaster" Target="/ppt/notesMasters/notesMaster1.xml" Id="R3e46cb7d0bf5414b" /><Relationship Type="http://schemas.openxmlformats.org/officeDocument/2006/relationships/presProps" Target="/ppt/presProps.xml" Id="R4473a13667ba4921" /><Relationship Type="http://schemas.openxmlformats.org/officeDocument/2006/relationships/tableStyles" Target="/ppt/tableStyles.xml" Id="R6ea5efd6b79a4781" /><Relationship Type="http://schemas.openxmlformats.org/officeDocument/2006/relationships/slide" Target="/ppt/slides/slide1.xml" Id="R0a5f384f6e504a33" /><Relationship Type="http://schemas.openxmlformats.org/officeDocument/2006/relationships/slide" Target="/ppt/slides/slide2.xml" Id="R2a8fb349e3e84fde" /><Relationship Type="http://schemas.openxmlformats.org/officeDocument/2006/relationships/slide" Target="/ppt/slides/slide3.xml" Id="R3f83f04a9ac94fc7" /><Relationship Type="http://schemas.openxmlformats.org/officeDocument/2006/relationships/slide" Target="/ppt/slides/slide4.xml" Id="R64eb556e04de4ac0" /><Relationship Type="http://schemas.openxmlformats.org/officeDocument/2006/relationships/slide" Target="/ppt/slides/slide5.xml" Id="R1661276bdfdb4b7e" /><Relationship Type="http://schemas.openxmlformats.org/officeDocument/2006/relationships/slide" Target="/ppt/slides/slide6.xml" Id="R04ce738bf19847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fc2282517f40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b97353c05142c2" /><Relationship Type="http://schemas.openxmlformats.org/officeDocument/2006/relationships/notesMaster" Target="/ppt/notesMasters/notesMaster1.xml" Id="R37b903a6bd6e42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5c90c59ed74d3d" /><Relationship Type="http://schemas.openxmlformats.org/officeDocument/2006/relationships/notesMaster" Target="/ppt/notesMasters/notesMaster1.xml" Id="Rfa97f2d6c9e747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00c39fc4984f45" /><Relationship Type="http://schemas.openxmlformats.org/officeDocument/2006/relationships/notesMaster" Target="/ppt/notesMasters/notesMaster1.xml" Id="Rc5810e8ae53441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d15f6a50a745ad" /><Relationship Type="http://schemas.openxmlformats.org/officeDocument/2006/relationships/notesMaster" Target="/ppt/notesMasters/notesMaster1.xml" Id="Raa85b6626dd343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df0b1839034392" /><Relationship Type="http://schemas.openxmlformats.org/officeDocument/2006/relationships/notesMaster" Target="/ppt/notesMasters/notesMaster1.xml" Id="R8b97a0cd325441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d632c0be7c4cdc" /><Relationship Type="http://schemas.openxmlformats.org/officeDocument/2006/relationships/notesMaster" Target="/ppt/notesMasters/notesMaster1.xml" Id="R3c9123259f2340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Cover: AI-generated conceptual property cutaway, not a real project or engineering plan.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Matched before/after pair: clients/oceanides/assets/tb2-ba2-before.png and tb2-ba2-after.png. Neil confirmed real job photos on 2026-08-01; see client DESIGN.md and asset-builder source.Service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00e311c2c446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b731e0f5b84e8b" /><Relationship Type="http://schemas.openxmlformats.org/officeDocument/2006/relationships/slideLayout" Target="/ppt/slideLayouts/slideLayout1.xml" Id="R3aecb53875b14a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ecb53875b14a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2d69f752245cd" /><Relationship Type="http://schemas.openxmlformats.org/officeDocument/2006/relationships/image" Target="/ppt/media/image.png" Id="Rb15c3327e640489f" /><Relationship Type="http://schemas.openxmlformats.org/officeDocument/2006/relationships/image" Target="/ppt/media/image.jpeg" Id="Ra4cbf596b8084a67" /><Relationship Type="http://schemas.openxmlformats.org/officeDocument/2006/relationships/notesSlide" Target="/ppt/notesSlides/notesSlide1.xml" Id="R0f9bffca46264f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e77aecee84a75" /><Relationship Type="http://schemas.openxmlformats.org/officeDocument/2006/relationships/notesSlide" Target="/ppt/notesSlides/notesSlide2.xml" Id="R2408775bb1c14f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d31c59c914533" /><Relationship Type="http://schemas.openxmlformats.org/officeDocument/2006/relationships/image" Target="/ppt/media/image2.jpeg" Id="R14bf1fae2392488d" /><Relationship Type="http://schemas.openxmlformats.org/officeDocument/2006/relationships/image" Target="/ppt/media/image3.jpeg" Id="R26824ff939984075" /><Relationship Type="http://schemas.openxmlformats.org/officeDocument/2006/relationships/image" Target="/ppt/media/image4.jpeg" Id="R513c963ecc034533" /><Relationship Type="http://schemas.openxmlformats.org/officeDocument/2006/relationships/notesSlide" Target="/ppt/notesSlides/notesSlide3.xml" Id="Rdf0bd4891b8f46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56681ed22460e" /><Relationship Type="http://schemas.openxmlformats.org/officeDocument/2006/relationships/image" Target="/ppt/media/image5.jpeg" Id="Rca3c80b50ca348c0" /><Relationship Type="http://schemas.openxmlformats.org/officeDocument/2006/relationships/notesSlide" Target="/ppt/notesSlides/notesSlide4.xml" Id="R7f8cb88c67dc43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65d6ab85d456f" /><Relationship Type="http://schemas.openxmlformats.org/officeDocument/2006/relationships/image" Target="/ppt/media/image6.jpeg" Id="Ra246fd9ee265469d" /><Relationship Type="http://schemas.openxmlformats.org/officeDocument/2006/relationships/notesSlide" Target="/ppt/notesSlides/notesSlide5.xml" Id="Rb1241721317044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f4e9f07b24143" /><Relationship Type="http://schemas.openxmlformats.org/officeDocument/2006/relationships/image" Target="/ppt/media/image2.png" Id="Rc56c8e4fffa94836" /><Relationship Type="http://schemas.openxmlformats.org/officeDocument/2006/relationships/notesSlide" Target="/ppt/notesSlides/notesSlide6.xml" Id="R8f3b8ee6094844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rofile-1">
            <a:extLst xmlns:a="http://schemas.openxmlformats.org/drawingml/2006/main">
              <a:ext uri="{FF2B5EF4-FFF2-40B4-BE49-F238E27FC236}">
                <a16:creationId xmlns:a16="http://schemas.microsoft.com/office/drawing/2014/main" id="{B6D7407F-4FA0-4764-921C-F5A30DE1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2">
            <a:extLst xmlns:a="http://schemas.openxmlformats.org/drawingml/2006/main">
              <a:ext uri="{FF2B5EF4-FFF2-40B4-BE49-F238E27FC236}">
                <a16:creationId xmlns:a16="http://schemas.microsoft.com/office/drawing/2014/main" id="{70D5FC78-7453-4608-A59C-5812EE66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3">
            <a:extLst xmlns:a="http://schemas.openxmlformats.org/drawingml/2006/main">
              <a:ext uri="{FF2B5EF4-FFF2-40B4-BE49-F238E27FC236}">
                <a16:creationId xmlns:a16="http://schemas.microsoft.com/office/drawing/2014/main" id="{EB6A0864-5A5F-4E8C-AA20-42C815DE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c3327e640489f"/>
          <a:stretch xmlns:a="http://schemas.openxmlformats.org/drawingml/2006/main"/>
        </p:blipFill>
        <p:spPr>
          <a:xfrm xmlns:a="http://schemas.openxmlformats.org/drawingml/2006/main">
            <a:off x="609600" y="276225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5" name="profile-4">
            <a:extLst xmlns:a="http://schemas.openxmlformats.org/drawingml/2006/main">
              <a:ext uri="{FF2B5EF4-FFF2-40B4-BE49-F238E27FC236}">
                <a16:creationId xmlns:a16="http://schemas.microsoft.com/office/drawing/2014/main" id="{18284B18-17A0-4D9A-806B-7F888E1F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5">
            <a:extLst xmlns:a="http://schemas.openxmlformats.org/drawingml/2006/main">
              <a:ext uri="{FF2B5EF4-FFF2-40B4-BE49-F238E27FC236}">
                <a16:creationId xmlns:a16="http://schemas.microsoft.com/office/drawing/2014/main" id="{60B6CD01-05A3-4355-BAA3-E236CD48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34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575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Property services</a:t>
            </a:r>
          </a:p>
        </p:txBody>
      </p:sp>
      <p:sp>
        <p:nvSpPr>
          <p:cNvPr id="7" name="profile-6">
            <a:extLst xmlns:a="http://schemas.openxmlformats.org/drawingml/2006/main">
              <a:ext uri="{FF2B5EF4-FFF2-40B4-BE49-F238E27FC236}">
                <a16:creationId xmlns:a16="http://schemas.microsoft.com/office/drawing/2014/main" id="{C0E4E37F-25E7-47D6-A28B-F92BCE83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634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575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One point of contact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bf596b8084a67"/>
          <a:stretch xmlns:a="http://schemas.openxmlformats.org/drawingml/2006/main"/>
        </p:blipFill>
        <p:spPr>
          <a:xfrm xmlns:a="http://schemas.openxmlformats.org/drawingml/2006/main">
            <a:off x="0" y="3638550"/>
            <a:ext cx="7562850" cy="5041900"/>
          </a:xfrm>
          <a:prstGeom xmlns:a="http://schemas.openxmlformats.org/drawingml/2006/main" prst="rect">
            <a:avLst/>
          </a:prstGeom>
        </p:spPr>
      </p:pic>
      <p:sp>
        <p:nvSpPr>
          <p:cNvPr id="9" name="profile-7">
            <a:extLst xmlns:a="http://schemas.openxmlformats.org/drawingml/2006/main">
              <a:ext uri="{FF2B5EF4-FFF2-40B4-BE49-F238E27FC236}">
                <a16:creationId xmlns:a16="http://schemas.microsoft.com/office/drawing/2014/main" id="{E05369BF-738F-4686-AB6D-83E08261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82050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property-services concept</a:t>
            </a:r>
          </a:p>
        </p:txBody>
      </p:sp>
      <p:sp>
        <p:nvSpPr>
          <p:cNvPr id="10" name="profile-8">
            <a:extLst xmlns:a="http://schemas.openxmlformats.org/drawingml/2006/main">
              <a:ext uri="{FF2B5EF4-FFF2-40B4-BE49-F238E27FC236}">
                <a16:creationId xmlns:a16="http://schemas.microsoft.com/office/drawing/2014/main" id="{82E4D367-9320-4635-9BF4-F58126F1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77350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Siphoning. Plumbing. Renovation &amp; restoration. Pest control.</a:t>
            </a:r>
          </a:p>
        </p:txBody>
      </p:sp>
      <p:sp>
        <p:nvSpPr>
          <p:cNvPr id="11" name="profile-9">
            <a:extLst xmlns:a="http://schemas.openxmlformats.org/drawingml/2006/main">
              <a:ext uri="{FF2B5EF4-FFF2-40B4-BE49-F238E27FC236}">
                <a16:creationId xmlns:a16="http://schemas.microsoft.com/office/drawing/2014/main" id="{3B328791-8EF0-44BF-9293-E83F23AE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77400"/>
            <a:ext cx="63436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Plumbing Siphoning &amp; Pest Management Services OPC</a:t>
            </a:r>
          </a:p>
        </p:txBody>
      </p:sp>
      <p:sp>
        <p:nvSpPr>
          <p:cNvPr id="12" name="profile-10">
            <a:extLst xmlns:a="http://schemas.openxmlformats.org/drawingml/2006/main">
              <a:ext uri="{FF2B5EF4-FFF2-40B4-BE49-F238E27FC236}">
                <a16:creationId xmlns:a16="http://schemas.microsoft.com/office/drawing/2014/main" id="{E11FEE35-57A7-4544-9949-FFE6F434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3" name="profile-11">
            <a:extLst xmlns:a="http://schemas.openxmlformats.org/drawingml/2006/main">
              <a:ext uri="{FF2B5EF4-FFF2-40B4-BE49-F238E27FC236}">
                <a16:creationId xmlns:a16="http://schemas.microsoft.com/office/drawing/2014/main" id="{4487AB89-2F2C-47AD-A015-A6C7667E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14" name="profile-12">
            <a:extLst xmlns:a="http://schemas.openxmlformats.org/drawingml/2006/main">
              <a:ext uri="{FF2B5EF4-FFF2-40B4-BE49-F238E27FC236}">
                <a16:creationId xmlns:a16="http://schemas.microsoft.com/office/drawing/2014/main" id="{9F54690F-CA2A-41F5-A863-39D206E9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959327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rofile-13">
            <a:extLst xmlns:a="http://schemas.openxmlformats.org/drawingml/2006/main">
              <a:ext uri="{FF2B5EF4-FFF2-40B4-BE49-F238E27FC236}">
                <a16:creationId xmlns:a16="http://schemas.microsoft.com/office/drawing/2014/main" id="{102EC607-E517-49F2-9926-828E1ECE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14">
            <a:extLst xmlns:a="http://schemas.openxmlformats.org/drawingml/2006/main">
              <a:ext uri="{FF2B5EF4-FFF2-40B4-BE49-F238E27FC236}">
                <a16:creationId xmlns:a16="http://schemas.microsoft.com/office/drawing/2014/main" id="{C89D4DF4-E436-4668-98A3-A530C283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15">
            <a:extLst xmlns:a="http://schemas.openxmlformats.org/drawingml/2006/main">
              <a:ext uri="{FF2B5EF4-FFF2-40B4-BE49-F238E27FC236}">
                <a16:creationId xmlns:a16="http://schemas.microsoft.com/office/drawing/2014/main" id="{0F2CAD83-F890-4608-ABE6-AF3C97AF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16">
            <a:extLst xmlns:a="http://schemas.openxmlformats.org/drawingml/2006/main">
              <a:ext uri="{FF2B5EF4-FFF2-40B4-BE49-F238E27FC236}">
                <a16:creationId xmlns:a16="http://schemas.microsoft.com/office/drawing/2014/main" id="{4E7FD400-E2D4-4EB5-8468-1164EE8F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7">
            <a:extLst xmlns:a="http://schemas.openxmlformats.org/drawingml/2006/main">
              <a:ext uri="{FF2B5EF4-FFF2-40B4-BE49-F238E27FC236}">
                <a16:creationId xmlns:a16="http://schemas.microsoft.com/office/drawing/2014/main" id="{21E683AE-82DC-4BC2-86FE-57EF5B05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18">
            <a:extLst xmlns:a="http://schemas.openxmlformats.org/drawingml/2006/main">
              <a:ext uri="{FF2B5EF4-FFF2-40B4-BE49-F238E27FC236}">
                <a16:creationId xmlns:a16="http://schemas.microsoft.com/office/drawing/2014/main" id="{EE3D7468-0113-49FA-96F4-5FE44E52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634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Services for the places</a:t>
            </a:r>
          </a:p>
        </p:txBody>
      </p:sp>
      <p:sp>
        <p:nvSpPr>
          <p:cNvPr id="7" name="profile-19">
            <a:extLst xmlns:a="http://schemas.openxmlformats.org/drawingml/2006/main">
              <a:ext uri="{FF2B5EF4-FFF2-40B4-BE49-F238E27FC236}">
                <a16:creationId xmlns:a16="http://schemas.microsoft.com/office/drawing/2014/main" id="{3D447737-4111-4260-83D7-FC679715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34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you live and work</a:t>
            </a:r>
          </a:p>
        </p:txBody>
      </p:sp>
      <p:sp>
        <p:nvSpPr>
          <p:cNvPr id="8" name="profile-20">
            <a:extLst xmlns:a="http://schemas.openxmlformats.org/drawingml/2006/main">
              <a:ext uri="{FF2B5EF4-FFF2-40B4-BE49-F238E27FC236}">
                <a16:creationId xmlns:a16="http://schemas.microsoft.com/office/drawing/2014/main" id="{D2ADD915-3566-4F83-95B9-CE91A5EF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coordinates property services for homes, condominiums</a:t>
            </a:r>
          </a:p>
        </p:txBody>
      </p:sp>
      <p:sp>
        <p:nvSpPr>
          <p:cNvPr id="9" name="profile-21">
            <a:extLst xmlns:a="http://schemas.openxmlformats.org/drawingml/2006/main">
              <a:ext uri="{FF2B5EF4-FFF2-40B4-BE49-F238E27FC236}">
                <a16:creationId xmlns:a16="http://schemas.microsoft.com/office/drawing/2014/main" id="{E37BF2B8-CA5B-4F4D-BC8D-9E1B7B11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and company facilities. Our service offering covers siphoning,</a:t>
            </a:r>
          </a:p>
        </p:txBody>
      </p:sp>
      <p:sp>
        <p:nvSpPr>
          <p:cNvPr id="10" name="profile-22">
            <a:extLst xmlns:a="http://schemas.openxmlformats.org/drawingml/2006/main">
              <a:ext uri="{FF2B5EF4-FFF2-40B4-BE49-F238E27FC236}">
                <a16:creationId xmlns:a16="http://schemas.microsoft.com/office/drawing/2014/main" id="{BD95FFCB-3A27-4C3A-8913-1BF568A8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plumbing, renovation and restoration, and pest control.</a:t>
            </a:r>
          </a:p>
        </p:txBody>
      </p:sp>
      <p:sp>
        <p:nvSpPr>
          <p:cNvPr id="11" name="profile-23">
            <a:extLst xmlns:a="http://schemas.openxmlformats.org/drawingml/2006/main">
              <a:ext uri="{FF2B5EF4-FFF2-40B4-BE49-F238E27FC236}">
                <a16:creationId xmlns:a16="http://schemas.microsoft.com/office/drawing/2014/main" id="{F776889D-2B58-4C0B-8F6A-C1268BB0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2" name="profile-24">
            <a:extLst xmlns:a="http://schemas.openxmlformats.org/drawingml/2006/main">
              <a:ext uri="{FF2B5EF4-FFF2-40B4-BE49-F238E27FC236}">
                <a16:creationId xmlns:a16="http://schemas.microsoft.com/office/drawing/2014/main" id="{5D70D85A-9CB2-4EE3-BFD0-1E801EDB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Siphoning</a:t>
            </a:r>
          </a:p>
        </p:txBody>
      </p:sp>
      <p:sp>
        <p:nvSpPr>
          <p:cNvPr id="13" name="profile-25">
            <a:extLst xmlns:a="http://schemas.openxmlformats.org/drawingml/2006/main">
              <a:ext uri="{FF2B5EF4-FFF2-40B4-BE49-F238E27FC236}">
                <a16:creationId xmlns:a16="http://schemas.microsoft.com/office/drawing/2014/main" id="{43B69B8B-10FE-46D0-9AE0-4981D626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55295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Septic tank siphoning and cleaning.</a:t>
            </a:r>
          </a:p>
        </p:txBody>
      </p:sp>
      <p:sp>
        <p:nvSpPr>
          <p:cNvPr id="14" name="profile-26">
            <a:extLst xmlns:a="http://schemas.openxmlformats.org/drawingml/2006/main">
              <a:ext uri="{FF2B5EF4-FFF2-40B4-BE49-F238E27FC236}">
                <a16:creationId xmlns:a16="http://schemas.microsoft.com/office/drawing/2014/main" id="{A0077857-9274-4317-9CCE-90D3FE3B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5" name="profile-27">
            <a:extLst xmlns:a="http://schemas.openxmlformats.org/drawingml/2006/main">
              <a:ext uri="{FF2B5EF4-FFF2-40B4-BE49-F238E27FC236}">
                <a16:creationId xmlns:a16="http://schemas.microsoft.com/office/drawing/2014/main" id="{0EA16232-E789-4B87-8CCB-DA02B8F3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Plumbing</a:t>
            </a:r>
          </a:p>
        </p:txBody>
      </p:sp>
      <p:sp>
        <p:nvSpPr>
          <p:cNvPr id="16" name="profile-28">
            <a:extLst xmlns:a="http://schemas.openxmlformats.org/drawingml/2006/main">
              <a:ext uri="{FF2B5EF4-FFF2-40B4-BE49-F238E27FC236}">
                <a16:creationId xmlns:a16="http://schemas.microsoft.com/office/drawing/2014/main" id="{A77CE4C1-826A-451B-A918-9E717D3A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63880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Drain declogging and pipe leak repairs.</a:t>
            </a:r>
          </a:p>
        </p:txBody>
      </p:sp>
      <p:sp>
        <p:nvSpPr>
          <p:cNvPr id="17" name="profile-29">
            <a:extLst xmlns:a="http://schemas.openxmlformats.org/drawingml/2006/main">
              <a:ext uri="{FF2B5EF4-FFF2-40B4-BE49-F238E27FC236}">
                <a16:creationId xmlns:a16="http://schemas.microsoft.com/office/drawing/2014/main" id="{EFD5BB99-727C-48B0-B63A-95E14CBF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8" name="profile-30">
            <a:extLst xmlns:a="http://schemas.openxmlformats.org/drawingml/2006/main">
              <a:ext uri="{FF2B5EF4-FFF2-40B4-BE49-F238E27FC236}">
                <a16:creationId xmlns:a16="http://schemas.microsoft.com/office/drawing/2014/main" id="{F54C608C-E3C2-4E40-8E17-35818F23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1512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Renovation &amp;</a:t>
            </a:r>
          </a:p>
        </p:txBody>
      </p:sp>
      <p:sp>
        <p:nvSpPr>
          <p:cNvPr id="19" name="profile-31">
            <a:extLst xmlns:a="http://schemas.openxmlformats.org/drawingml/2006/main">
              <a:ext uri="{FF2B5EF4-FFF2-40B4-BE49-F238E27FC236}">
                <a16:creationId xmlns:a16="http://schemas.microsoft.com/office/drawing/2014/main" id="{EA06E6FC-0635-460F-9373-6FE05436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91350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restoration</a:t>
            </a:r>
          </a:p>
        </p:txBody>
      </p:sp>
      <p:sp>
        <p:nvSpPr>
          <p:cNvPr id="20" name="profile-32">
            <a:extLst xmlns:a="http://schemas.openxmlformats.org/drawingml/2006/main">
              <a:ext uri="{FF2B5EF4-FFF2-40B4-BE49-F238E27FC236}">
                <a16:creationId xmlns:a16="http://schemas.microsoft.com/office/drawing/2014/main" id="{BEAEFF87-98E6-457B-99ED-E4053058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72465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 and condominium repairs and</a:t>
            </a:r>
          </a:p>
        </p:txBody>
      </p:sp>
      <p:sp>
        <p:nvSpPr>
          <p:cNvPr id="21" name="profile-33">
            <a:extLst xmlns:a="http://schemas.openxmlformats.org/drawingml/2006/main">
              <a:ext uri="{FF2B5EF4-FFF2-40B4-BE49-F238E27FC236}">
                <a16:creationId xmlns:a16="http://schemas.microsoft.com/office/drawing/2014/main" id="{3FA9D806-5AA5-4B7B-BC42-49F58667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981825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improvements.</a:t>
            </a:r>
          </a:p>
        </p:txBody>
      </p:sp>
      <p:sp>
        <p:nvSpPr>
          <p:cNvPr id="22" name="profile-34">
            <a:extLst xmlns:a="http://schemas.openxmlformats.org/drawingml/2006/main">
              <a:ext uri="{FF2B5EF4-FFF2-40B4-BE49-F238E27FC236}">
                <a16:creationId xmlns:a16="http://schemas.microsoft.com/office/drawing/2014/main" id="{4E578307-DB5F-4521-BAE4-8E5B31E1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342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3" name="profile-35">
            <a:extLst xmlns:a="http://schemas.openxmlformats.org/drawingml/2006/main">
              <a:ext uri="{FF2B5EF4-FFF2-40B4-BE49-F238E27FC236}">
                <a16:creationId xmlns:a16="http://schemas.microsoft.com/office/drawing/2014/main" id="{DEA67F95-AC6D-468E-A508-947B87B7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0097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Pest control</a:t>
            </a:r>
          </a:p>
        </p:txBody>
      </p:sp>
      <p:sp>
        <p:nvSpPr>
          <p:cNvPr id="24" name="profile-36">
            <a:extLst xmlns:a="http://schemas.openxmlformats.org/drawingml/2006/main">
              <a:ext uri="{FF2B5EF4-FFF2-40B4-BE49-F238E27FC236}">
                <a16:creationId xmlns:a16="http://schemas.microsoft.com/office/drawing/2014/main" id="{80E26EA1-08E5-4C7E-88E8-5C99813C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781050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Site assessment, treatment scope and</a:t>
            </a:r>
          </a:p>
        </p:txBody>
      </p:sp>
      <p:sp>
        <p:nvSpPr>
          <p:cNvPr id="25" name="profile-37">
            <a:extLst xmlns:a="http://schemas.openxmlformats.org/drawingml/2006/main">
              <a:ext uri="{FF2B5EF4-FFF2-40B4-BE49-F238E27FC236}">
                <a16:creationId xmlns:a16="http://schemas.microsoft.com/office/drawing/2014/main" id="{B04A3A73-9A8A-4214-8A71-060D9E9B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8067675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service coordination.</a:t>
            </a:r>
          </a:p>
        </p:txBody>
      </p:sp>
      <p:sp>
        <p:nvSpPr>
          <p:cNvPr id="26" name="profile-38">
            <a:extLst xmlns:a="http://schemas.openxmlformats.org/drawingml/2006/main">
              <a:ext uri="{FF2B5EF4-FFF2-40B4-BE49-F238E27FC236}">
                <a16:creationId xmlns:a16="http://schemas.microsoft.com/office/drawing/2014/main" id="{C2C4D8A2-7248-490E-A6DA-1434BB98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201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7" name="profile-39">
            <a:extLst xmlns:a="http://schemas.openxmlformats.org/drawingml/2006/main">
              <a:ext uri="{FF2B5EF4-FFF2-40B4-BE49-F238E27FC236}">
                <a16:creationId xmlns:a16="http://schemas.microsoft.com/office/drawing/2014/main" id="{CA19F12C-80B3-4303-BD94-42523D2C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34450"/>
            <a:ext cx="63436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One contact through turnover</a:t>
            </a:r>
          </a:p>
        </p:txBody>
      </p:sp>
      <p:sp>
        <p:nvSpPr>
          <p:cNvPr id="28" name="profile-40">
            <a:extLst xmlns:a="http://schemas.openxmlformats.org/drawingml/2006/main">
              <a:ext uri="{FF2B5EF4-FFF2-40B4-BE49-F238E27FC236}">
                <a16:creationId xmlns:a16="http://schemas.microsoft.com/office/drawing/2014/main" id="{77AD55DB-45B6-47E7-93AE-A26B600F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0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coordinates assessment, quotation and delivery, including specialist</a:t>
            </a:r>
          </a:p>
        </p:txBody>
      </p:sp>
      <p:sp>
        <p:nvSpPr>
          <p:cNvPr id="29" name="profile-41">
            <a:extLst xmlns:a="http://schemas.openxmlformats.org/drawingml/2006/main">
              <a:ext uri="{FF2B5EF4-FFF2-40B4-BE49-F238E27FC236}">
                <a16:creationId xmlns:a16="http://schemas.microsoft.com/office/drawing/2014/main" id="{4398B364-02F5-4F8E-A5DC-365CC650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91675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contractors where required.</a:t>
            </a:r>
          </a:p>
        </p:txBody>
      </p:sp>
      <p:sp>
        <p:nvSpPr>
          <p:cNvPr id="30" name="profile-42">
            <a:extLst xmlns:a="http://schemas.openxmlformats.org/drawingml/2006/main">
              <a:ext uri="{FF2B5EF4-FFF2-40B4-BE49-F238E27FC236}">
                <a16:creationId xmlns:a16="http://schemas.microsoft.com/office/drawing/2014/main" id="{23F3E819-610B-427B-8E9A-C55F7B85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31" name="profile-43">
            <a:extLst xmlns:a="http://schemas.openxmlformats.org/drawingml/2006/main">
              <a:ext uri="{FF2B5EF4-FFF2-40B4-BE49-F238E27FC236}">
                <a16:creationId xmlns:a16="http://schemas.microsoft.com/office/drawing/2014/main" id="{76D23386-B1EB-4DB4-80BF-2BFAEC15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32" name="profile-44">
            <a:extLst xmlns:a="http://schemas.openxmlformats.org/drawingml/2006/main">
              <a:ext uri="{FF2B5EF4-FFF2-40B4-BE49-F238E27FC236}">
                <a16:creationId xmlns:a16="http://schemas.microsoft.com/office/drawing/2014/main" id="{3CBEDE53-D301-423C-A7F0-DBAFC2AF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1364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rofile-45">
            <a:extLst xmlns:a="http://schemas.openxmlformats.org/drawingml/2006/main">
              <a:ext uri="{FF2B5EF4-FFF2-40B4-BE49-F238E27FC236}">
                <a16:creationId xmlns:a16="http://schemas.microsoft.com/office/drawing/2014/main" id="{8D899F18-6985-44F4-9867-832F62EE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46">
            <a:extLst xmlns:a="http://schemas.openxmlformats.org/drawingml/2006/main">
              <a:ext uri="{FF2B5EF4-FFF2-40B4-BE49-F238E27FC236}">
                <a16:creationId xmlns:a16="http://schemas.microsoft.com/office/drawing/2014/main" id="{DC4DDE98-A424-4F08-9F93-E1BFDDB1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47">
            <a:extLst xmlns:a="http://schemas.openxmlformats.org/drawingml/2006/main">
              <a:ext uri="{FF2B5EF4-FFF2-40B4-BE49-F238E27FC236}">
                <a16:creationId xmlns:a16="http://schemas.microsoft.com/office/drawing/2014/main" id="{FC469C2E-D8E4-41CE-BE17-4C77151A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48">
            <a:extLst xmlns:a="http://schemas.openxmlformats.org/drawingml/2006/main">
              <a:ext uri="{FF2B5EF4-FFF2-40B4-BE49-F238E27FC236}">
                <a16:creationId xmlns:a16="http://schemas.microsoft.com/office/drawing/2014/main" id="{B13B4FA7-287A-4151-B000-03B15845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49">
            <a:extLst xmlns:a="http://schemas.openxmlformats.org/drawingml/2006/main">
              <a:ext uri="{FF2B5EF4-FFF2-40B4-BE49-F238E27FC236}">
                <a16:creationId xmlns:a16="http://schemas.microsoft.com/office/drawing/2014/main" id="{B325D502-AE73-4D24-A2A9-237581ED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50">
            <a:extLst xmlns:a="http://schemas.openxmlformats.org/drawingml/2006/main">
              <a:ext uri="{FF2B5EF4-FFF2-40B4-BE49-F238E27FC236}">
                <a16:creationId xmlns:a16="http://schemas.microsoft.com/office/drawing/2014/main" id="{6E79284F-25ED-4FF2-A5D8-4D1F83FB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Siphoning &amp;</a:t>
            </a:r>
          </a:p>
        </p:txBody>
      </p:sp>
      <p:sp>
        <p:nvSpPr>
          <p:cNvPr id="7" name="profile-51">
            <a:extLst xmlns:a="http://schemas.openxmlformats.org/drawingml/2006/main">
              <a:ext uri="{FF2B5EF4-FFF2-40B4-BE49-F238E27FC236}">
                <a16:creationId xmlns:a16="http://schemas.microsoft.com/office/drawing/2014/main" id="{BEC2D376-C1FC-4B55-B55D-6E536DAD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plumbing</a:t>
            </a:r>
          </a:p>
        </p:txBody>
      </p:sp>
      <p:sp>
        <p:nvSpPr>
          <p:cNvPr id="8" name="profile-52">
            <a:extLst xmlns:a="http://schemas.openxmlformats.org/drawingml/2006/main">
              <a:ext uri="{FF2B5EF4-FFF2-40B4-BE49-F238E27FC236}">
                <a16:creationId xmlns:a16="http://schemas.microsoft.com/office/drawing/2014/main" id="{40CC6889-A77F-4C85-85F7-869CA195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Septic tank services, drain declogging and plumbing repairs.</a:t>
            </a:r>
          </a:p>
        </p:txBody>
      </p:sp>
      <p:sp>
        <p:nvSpPr>
          <p:cNvPr id="9" name="profile-53">
            <a:extLst xmlns:a="http://schemas.openxmlformats.org/drawingml/2006/main">
              <a:ext uri="{FF2B5EF4-FFF2-40B4-BE49-F238E27FC236}">
                <a16:creationId xmlns:a16="http://schemas.microsoft.com/office/drawing/2014/main" id="{F3595B61-DB5E-4E22-8606-D9AC2DD8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6479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Service scope</a:t>
            </a:r>
          </a:p>
        </p:txBody>
      </p:sp>
      <p:sp>
        <p:nvSpPr>
          <p:cNvPr id="10" name="profile-54">
            <a:extLst xmlns:a="http://schemas.openxmlformats.org/drawingml/2006/main">
              <a:ext uri="{FF2B5EF4-FFF2-40B4-BE49-F238E27FC236}">
                <a16:creationId xmlns:a16="http://schemas.microsoft.com/office/drawing/2014/main" id="{DA7D8C92-0D40-4219-83E8-92FE635B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siphoning</a:t>
            </a:r>
          </a:p>
        </p:txBody>
      </p:sp>
      <p:sp>
        <p:nvSpPr>
          <p:cNvPr id="11" name="profile-55">
            <a:extLst xmlns:a="http://schemas.openxmlformats.org/drawingml/2006/main">
              <a:ext uri="{FF2B5EF4-FFF2-40B4-BE49-F238E27FC236}">
                <a16:creationId xmlns:a16="http://schemas.microsoft.com/office/drawing/2014/main" id="{CA2877A3-474A-46B9-B23B-8F3BB417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cleaning</a:t>
            </a:r>
          </a:p>
        </p:txBody>
      </p:sp>
      <p:sp>
        <p:nvSpPr>
          <p:cNvPr id="12" name="profile-56">
            <a:extLst xmlns:a="http://schemas.openxmlformats.org/drawingml/2006/main">
              <a:ext uri="{FF2B5EF4-FFF2-40B4-BE49-F238E27FC236}">
                <a16:creationId xmlns:a16="http://schemas.microsoft.com/office/drawing/2014/main" id="{8ABF08ED-47D4-4364-BEF0-29CEB7FA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Drain declogging</a:t>
            </a:r>
          </a:p>
        </p:txBody>
      </p:sp>
      <p:sp>
        <p:nvSpPr>
          <p:cNvPr id="13" name="profile-57">
            <a:extLst xmlns:a="http://schemas.openxmlformats.org/drawingml/2006/main">
              <a:ext uri="{FF2B5EF4-FFF2-40B4-BE49-F238E27FC236}">
                <a16:creationId xmlns:a16="http://schemas.microsoft.com/office/drawing/2014/main" id="{8A0036E3-855C-499F-AF98-1E9BDBDA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Pipe leak repairs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f1fae2392488d"/>
          <a:stretch xmlns:a="http://schemas.openxmlformats.org/drawingml/2006/main"/>
        </p:blipFill>
        <p:spPr>
          <a:xfrm xmlns:a="http://schemas.openxmlformats.org/drawingml/2006/main">
            <a:off x="3543300" y="3648075"/>
            <a:ext cx="3409950" cy="2273300"/>
          </a:xfrm>
          <a:prstGeom xmlns:a="http://schemas.openxmlformats.org/drawingml/2006/main" prst="rect">
            <a:avLst/>
          </a:prstGeom>
        </p:spPr>
      </p:pic>
      <p:sp>
        <p:nvSpPr>
          <p:cNvPr id="15" name="profile-58">
            <a:extLst xmlns:a="http://schemas.openxmlformats.org/drawingml/2006/main">
              <a:ext uri="{FF2B5EF4-FFF2-40B4-BE49-F238E27FC236}">
                <a16:creationId xmlns:a16="http://schemas.microsoft.com/office/drawing/2014/main" id="{BFD5DB32-7639-4C7C-B2A2-FD2FB687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076950"/>
            <a:ext cx="3409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16" name="profile-59">
            <a:extLst xmlns:a="http://schemas.openxmlformats.org/drawingml/2006/main">
              <a:ext uri="{FF2B5EF4-FFF2-40B4-BE49-F238E27FC236}">
                <a16:creationId xmlns:a16="http://schemas.microsoft.com/office/drawing/2014/main" id="{542B38B7-3D27-478C-84C7-7427003D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7" name="profile-60">
            <a:extLst xmlns:a="http://schemas.openxmlformats.org/drawingml/2006/main">
              <a:ext uri="{FF2B5EF4-FFF2-40B4-BE49-F238E27FC236}">
                <a16:creationId xmlns:a16="http://schemas.microsoft.com/office/drawing/2014/main" id="{FD720EDB-93DA-4ABC-8E1D-F3D63C80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67525"/>
            <a:ext cx="634365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Actual siphoning work</a:t>
            </a:r>
          </a:p>
        </p:txBody>
      </p:sp>
      <p:sp>
        <p:nvSpPr>
          <p:cNvPr id="18" name="profile-61">
            <a:extLst xmlns:a="http://schemas.openxmlformats.org/drawingml/2006/main">
              <a:ext uri="{FF2B5EF4-FFF2-40B4-BE49-F238E27FC236}">
                <a16:creationId xmlns:a16="http://schemas.microsoft.com/office/drawing/2014/main" id="{4A40961A-88DE-40EE-BF1C-1BEDD720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34365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Same site before and after service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24ff939984075"/>
          <a:srcRect xmlns:a="http://schemas.openxmlformats.org/drawingml/2006/main" l="0" t="31186" r="0" b="31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7629525"/>
            <a:ext cx="3105150" cy="1752600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c963ecc034533"/>
          <a:srcRect xmlns:a="http://schemas.openxmlformats.org/drawingml/2006/main" l="0" t="31186" r="0" b="31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8100" y="7629525"/>
            <a:ext cx="3105150" cy="1752600"/>
          </a:xfrm>
          <a:prstGeom xmlns:a="http://schemas.openxmlformats.org/drawingml/2006/main" prst="rect">
            <a:avLst/>
          </a:prstGeom>
        </p:spPr>
      </p:pic>
      <p:sp>
        <p:nvSpPr>
          <p:cNvPr id="21" name="profile-62">
            <a:extLst xmlns:a="http://schemas.openxmlformats.org/drawingml/2006/main">
              <a:ext uri="{FF2B5EF4-FFF2-40B4-BE49-F238E27FC236}">
                <a16:creationId xmlns:a16="http://schemas.microsoft.com/office/drawing/2014/main" id="{3BAC80D6-42A5-4578-BA07-5F96A057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15475"/>
            <a:ext cx="31051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Before service</a:t>
            </a:r>
          </a:p>
        </p:txBody>
      </p:sp>
      <p:sp>
        <p:nvSpPr>
          <p:cNvPr id="22" name="profile-63">
            <a:extLst xmlns:a="http://schemas.openxmlformats.org/drawingml/2006/main">
              <a:ext uri="{FF2B5EF4-FFF2-40B4-BE49-F238E27FC236}">
                <a16:creationId xmlns:a16="http://schemas.microsoft.com/office/drawing/2014/main" id="{A831FB60-6021-4880-BBD5-F44AC60C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9515475"/>
            <a:ext cx="31051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After service</a:t>
            </a:r>
          </a:p>
        </p:txBody>
      </p:sp>
      <p:sp>
        <p:nvSpPr>
          <p:cNvPr id="23" name="profile-64">
            <a:extLst xmlns:a="http://schemas.openxmlformats.org/drawingml/2006/main">
              <a:ext uri="{FF2B5EF4-FFF2-40B4-BE49-F238E27FC236}">
                <a16:creationId xmlns:a16="http://schemas.microsoft.com/office/drawing/2014/main" id="{742660B6-355F-4232-A586-F87F5AF6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0"/>
            <a:ext cx="63436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Scope follows site access and tank or pipe conditions.</a:t>
            </a:r>
          </a:p>
        </p:txBody>
      </p:sp>
      <p:sp>
        <p:nvSpPr>
          <p:cNvPr id="24" name="profile-65">
            <a:extLst xmlns:a="http://schemas.openxmlformats.org/drawingml/2006/main">
              <a:ext uri="{FF2B5EF4-FFF2-40B4-BE49-F238E27FC236}">
                <a16:creationId xmlns:a16="http://schemas.microsoft.com/office/drawing/2014/main" id="{87B07C2F-7A24-4E5B-88A7-9B9B9A48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5" name="profile-66">
            <a:extLst xmlns:a="http://schemas.openxmlformats.org/drawingml/2006/main">
              <a:ext uri="{FF2B5EF4-FFF2-40B4-BE49-F238E27FC236}">
                <a16:creationId xmlns:a16="http://schemas.microsoft.com/office/drawing/2014/main" id="{5C7D0451-5EB9-4C3C-9A2C-804FE4D3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6" name="profile-67">
            <a:extLst xmlns:a="http://schemas.openxmlformats.org/drawingml/2006/main">
              <a:ext uri="{FF2B5EF4-FFF2-40B4-BE49-F238E27FC236}">
                <a16:creationId xmlns:a16="http://schemas.microsoft.com/office/drawing/2014/main" id="{96F84BCF-DA71-4142-AFDA-132E5B03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667272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rofile-68">
            <a:extLst xmlns:a="http://schemas.openxmlformats.org/drawingml/2006/main">
              <a:ext uri="{FF2B5EF4-FFF2-40B4-BE49-F238E27FC236}">
                <a16:creationId xmlns:a16="http://schemas.microsoft.com/office/drawing/2014/main" id="{ED5CFA41-11A3-445A-BBB4-BC47F33B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69">
            <a:extLst xmlns:a="http://schemas.openxmlformats.org/drawingml/2006/main">
              <a:ext uri="{FF2B5EF4-FFF2-40B4-BE49-F238E27FC236}">
                <a16:creationId xmlns:a16="http://schemas.microsoft.com/office/drawing/2014/main" id="{A422C68A-9084-490F-9D4C-A75CC049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70">
            <a:extLst xmlns:a="http://schemas.openxmlformats.org/drawingml/2006/main">
              <a:ext uri="{FF2B5EF4-FFF2-40B4-BE49-F238E27FC236}">
                <a16:creationId xmlns:a16="http://schemas.microsoft.com/office/drawing/2014/main" id="{75595AF5-C33A-48C0-86F1-1CE80934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71">
            <a:extLst xmlns:a="http://schemas.openxmlformats.org/drawingml/2006/main">
              <a:ext uri="{FF2B5EF4-FFF2-40B4-BE49-F238E27FC236}">
                <a16:creationId xmlns:a16="http://schemas.microsoft.com/office/drawing/2014/main" id="{48FA7D58-C1B0-4574-9419-082BAF6D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72">
            <a:extLst xmlns:a="http://schemas.openxmlformats.org/drawingml/2006/main">
              <a:ext uri="{FF2B5EF4-FFF2-40B4-BE49-F238E27FC236}">
                <a16:creationId xmlns:a16="http://schemas.microsoft.com/office/drawing/2014/main" id="{EDBF2A99-5AAE-4C10-977A-449FA757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73">
            <a:extLst xmlns:a="http://schemas.openxmlformats.org/drawingml/2006/main">
              <a:ext uri="{FF2B5EF4-FFF2-40B4-BE49-F238E27FC236}">
                <a16:creationId xmlns:a16="http://schemas.microsoft.com/office/drawing/2014/main" id="{39C3819D-5395-4B3F-BD49-10F099FB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Renovation &amp;</a:t>
            </a:r>
          </a:p>
        </p:txBody>
      </p:sp>
      <p:sp>
        <p:nvSpPr>
          <p:cNvPr id="7" name="profile-74">
            <a:extLst xmlns:a="http://schemas.openxmlformats.org/drawingml/2006/main">
              <a:ext uri="{FF2B5EF4-FFF2-40B4-BE49-F238E27FC236}">
                <a16:creationId xmlns:a16="http://schemas.microsoft.com/office/drawing/2014/main" id="{68C08C39-FEB6-4F92-8F46-A7BC9BC4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restoration</a:t>
            </a:r>
          </a:p>
        </p:txBody>
      </p:sp>
      <p:sp>
        <p:nvSpPr>
          <p:cNvPr id="8" name="profile-75">
            <a:extLst xmlns:a="http://schemas.openxmlformats.org/drawingml/2006/main">
              <a:ext uri="{FF2B5EF4-FFF2-40B4-BE49-F238E27FC236}">
                <a16:creationId xmlns:a16="http://schemas.microsoft.com/office/drawing/2014/main" id="{8DC586B1-B5BE-40EA-AFDF-ADE17F00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Repair and improvement work for houses and condominiums.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c80b50ca348c0"/>
          <a:stretch xmlns:a="http://schemas.openxmlformats.org/drawingml/2006/main"/>
        </p:blipFill>
        <p:spPr>
          <a:xfrm xmlns:a="http://schemas.openxmlformats.org/drawingml/2006/main">
            <a:off x="609600" y="3419475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0" name="profile-76">
            <a:extLst xmlns:a="http://schemas.openxmlformats.org/drawingml/2006/main">
              <a:ext uri="{FF2B5EF4-FFF2-40B4-BE49-F238E27FC236}">
                <a16:creationId xmlns:a16="http://schemas.microsoft.com/office/drawing/2014/main" id="{CCDDAC98-A4D6-4C90-9DD8-D5FD0A1F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72400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11" name="profile-77">
            <a:extLst xmlns:a="http://schemas.openxmlformats.org/drawingml/2006/main">
              <a:ext uri="{FF2B5EF4-FFF2-40B4-BE49-F238E27FC236}">
                <a16:creationId xmlns:a16="http://schemas.microsoft.com/office/drawing/2014/main" id="{3D482CE6-86E6-457B-9596-3FF4C644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010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Ceilings</a:t>
            </a:r>
          </a:p>
        </p:txBody>
      </p:sp>
      <p:sp>
        <p:nvSpPr>
          <p:cNvPr id="12" name="profile-78">
            <a:extLst xmlns:a="http://schemas.openxmlformats.org/drawingml/2006/main">
              <a:ext uri="{FF2B5EF4-FFF2-40B4-BE49-F238E27FC236}">
                <a16:creationId xmlns:a16="http://schemas.microsoft.com/office/drawing/2014/main" id="{3CD600DA-351F-4822-87AC-6A0645D6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53450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Repair and replacement</a:t>
            </a:r>
          </a:p>
        </p:txBody>
      </p:sp>
      <p:sp>
        <p:nvSpPr>
          <p:cNvPr id="13" name="profile-79">
            <a:extLst xmlns:a="http://schemas.openxmlformats.org/drawingml/2006/main">
              <a:ext uri="{FF2B5EF4-FFF2-40B4-BE49-F238E27FC236}">
                <a16:creationId xmlns:a16="http://schemas.microsoft.com/office/drawing/2014/main" id="{DBD52C8E-6898-4CA5-BB83-653C82D4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2010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Water protection</a:t>
            </a:r>
          </a:p>
        </p:txBody>
      </p:sp>
      <p:sp>
        <p:nvSpPr>
          <p:cNvPr id="14" name="profile-80">
            <a:extLst xmlns:a="http://schemas.openxmlformats.org/drawingml/2006/main">
              <a:ext uri="{FF2B5EF4-FFF2-40B4-BE49-F238E27FC236}">
                <a16:creationId xmlns:a16="http://schemas.microsoft.com/office/drawing/2014/main" id="{CFA5A43A-1EC4-4A47-9F3D-E5C729B8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553450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Roof leak repair and waterproofing</a:t>
            </a:r>
          </a:p>
        </p:txBody>
      </p:sp>
      <p:sp>
        <p:nvSpPr>
          <p:cNvPr id="15" name="profile-81">
            <a:extLst xmlns:a="http://schemas.openxmlformats.org/drawingml/2006/main">
              <a:ext uri="{FF2B5EF4-FFF2-40B4-BE49-F238E27FC236}">
                <a16:creationId xmlns:a16="http://schemas.microsoft.com/office/drawing/2014/main" id="{AF3A6D4D-6AB4-490E-AB86-46684A30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297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Renovation &amp; restoration</a:t>
            </a:r>
          </a:p>
        </p:txBody>
      </p:sp>
      <p:sp>
        <p:nvSpPr>
          <p:cNvPr id="16" name="profile-82">
            <a:extLst xmlns:a="http://schemas.openxmlformats.org/drawingml/2006/main">
              <a:ext uri="{FF2B5EF4-FFF2-40B4-BE49-F238E27FC236}">
                <a16:creationId xmlns:a16="http://schemas.microsoft.com/office/drawing/2014/main" id="{4704BA05-FF75-4673-A290-51D8AB24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82125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Houses and condominiums</a:t>
            </a:r>
          </a:p>
        </p:txBody>
      </p:sp>
      <p:sp>
        <p:nvSpPr>
          <p:cNvPr id="17" name="profile-83">
            <a:extLst xmlns:a="http://schemas.openxmlformats.org/drawingml/2006/main">
              <a:ext uri="{FF2B5EF4-FFF2-40B4-BE49-F238E27FC236}">
                <a16:creationId xmlns:a16="http://schemas.microsoft.com/office/drawing/2014/main" id="{BB22AF52-B1C1-4A87-B62A-3A82243E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0297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Cleaning</a:t>
            </a:r>
          </a:p>
        </p:txBody>
      </p:sp>
      <p:sp>
        <p:nvSpPr>
          <p:cNvPr id="18" name="profile-84">
            <a:extLst xmlns:a="http://schemas.openxmlformats.org/drawingml/2006/main">
              <a:ext uri="{FF2B5EF4-FFF2-40B4-BE49-F238E27FC236}">
                <a16:creationId xmlns:a16="http://schemas.microsoft.com/office/drawing/2014/main" id="{53A60B75-2F58-4FE4-82CC-7F860E0E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382125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 cleaning to agreed scope</a:t>
            </a:r>
          </a:p>
        </p:txBody>
      </p:sp>
      <p:sp>
        <p:nvSpPr>
          <p:cNvPr id="19" name="profile-85">
            <a:extLst xmlns:a="http://schemas.openxmlformats.org/drawingml/2006/main">
              <a:ext uri="{FF2B5EF4-FFF2-40B4-BE49-F238E27FC236}">
                <a16:creationId xmlns:a16="http://schemas.microsoft.com/office/drawing/2014/main" id="{841B22D3-5C95-4F6C-9012-C3A49A8B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0" name="profile-86">
            <a:extLst xmlns:a="http://schemas.openxmlformats.org/drawingml/2006/main">
              <a:ext uri="{FF2B5EF4-FFF2-40B4-BE49-F238E27FC236}">
                <a16:creationId xmlns:a16="http://schemas.microsoft.com/office/drawing/2014/main" id="{045B42B9-AC39-4BE4-999C-353531AC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1" name="profile-87">
            <a:extLst xmlns:a="http://schemas.openxmlformats.org/drawingml/2006/main">
              <a:ext uri="{FF2B5EF4-FFF2-40B4-BE49-F238E27FC236}">
                <a16:creationId xmlns:a16="http://schemas.microsoft.com/office/drawing/2014/main" id="{9352C98E-5FEC-4990-A66D-F2C4C8AB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489659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rofile-88">
            <a:extLst xmlns:a="http://schemas.openxmlformats.org/drawingml/2006/main">
              <a:ext uri="{FF2B5EF4-FFF2-40B4-BE49-F238E27FC236}">
                <a16:creationId xmlns:a16="http://schemas.microsoft.com/office/drawing/2014/main" id="{70C934B0-C6E6-4726-90FD-8C1BCF00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89">
            <a:extLst xmlns:a="http://schemas.openxmlformats.org/drawingml/2006/main">
              <a:ext uri="{FF2B5EF4-FFF2-40B4-BE49-F238E27FC236}">
                <a16:creationId xmlns:a16="http://schemas.microsoft.com/office/drawing/2014/main" id="{B8D1F3E0-DCB7-4E8B-8473-A718A3D5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90">
            <a:extLst xmlns:a="http://schemas.openxmlformats.org/drawingml/2006/main">
              <a:ext uri="{FF2B5EF4-FFF2-40B4-BE49-F238E27FC236}">
                <a16:creationId xmlns:a16="http://schemas.microsoft.com/office/drawing/2014/main" id="{CEAB5E0B-116D-4819-9706-8ACAF974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91">
            <a:extLst xmlns:a="http://schemas.openxmlformats.org/drawingml/2006/main">
              <a:ext uri="{FF2B5EF4-FFF2-40B4-BE49-F238E27FC236}">
                <a16:creationId xmlns:a16="http://schemas.microsoft.com/office/drawing/2014/main" id="{B2A04121-9CAA-4067-9604-B2893BE2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92">
            <a:extLst xmlns:a="http://schemas.openxmlformats.org/drawingml/2006/main">
              <a:ext uri="{FF2B5EF4-FFF2-40B4-BE49-F238E27FC236}">
                <a16:creationId xmlns:a16="http://schemas.microsoft.com/office/drawing/2014/main" id="{A0AAC6C9-723E-4A18-9FA0-ACBC8A1D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6fd9ee265469d"/>
          <a:stretch xmlns:a="http://schemas.openxmlformats.org/drawingml/2006/main"/>
        </p:blipFill>
        <p:spPr>
          <a:xfrm xmlns:a="http://schemas.openxmlformats.org/drawingml/2006/main">
            <a:off x="609600" y="1257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7" name="profile-93">
            <a:extLst xmlns:a="http://schemas.openxmlformats.org/drawingml/2006/main">
              <a:ext uri="{FF2B5EF4-FFF2-40B4-BE49-F238E27FC236}">
                <a16:creationId xmlns:a16="http://schemas.microsoft.com/office/drawing/2014/main" id="{C35C49C3-F532-4237-A9C1-078A3199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8" name="profile-94">
            <a:extLst xmlns:a="http://schemas.openxmlformats.org/drawingml/2006/main">
              <a:ext uri="{FF2B5EF4-FFF2-40B4-BE49-F238E27FC236}">
                <a16:creationId xmlns:a16="http://schemas.microsoft.com/office/drawing/2014/main" id="{C9F61737-3155-46F2-9CCF-2B4742AA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634365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Pest control</a:t>
            </a:r>
          </a:p>
        </p:txBody>
      </p:sp>
      <p:sp>
        <p:nvSpPr>
          <p:cNvPr id="9" name="profile-95">
            <a:extLst xmlns:a="http://schemas.openxmlformats.org/drawingml/2006/main">
              <a:ext uri="{FF2B5EF4-FFF2-40B4-BE49-F238E27FC236}">
                <a16:creationId xmlns:a16="http://schemas.microsoft.com/office/drawing/2014/main" id="{075FD0B9-740A-44CB-A60A-57051A4F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056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Pest control services based on an assessment of the property and the</a:t>
            </a:r>
          </a:p>
        </p:txBody>
      </p:sp>
      <p:sp>
        <p:nvSpPr>
          <p:cNvPr id="10" name="profile-96">
            <a:extLst xmlns:a="http://schemas.openxmlformats.org/drawingml/2006/main">
              <a:ext uri="{FF2B5EF4-FFF2-40B4-BE49-F238E27FC236}">
                <a16:creationId xmlns:a16="http://schemas.microsoft.com/office/drawing/2014/main" id="{D8236E22-42C6-499F-94BE-E6628D09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0090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pest concerns reported by the client.</a:t>
            </a:r>
          </a:p>
        </p:txBody>
      </p:sp>
      <p:sp>
        <p:nvSpPr>
          <p:cNvPr id="11" name="profile-97">
            <a:extLst xmlns:a="http://schemas.openxmlformats.org/drawingml/2006/main">
              <a:ext uri="{FF2B5EF4-FFF2-40B4-BE49-F238E27FC236}">
                <a16:creationId xmlns:a16="http://schemas.microsoft.com/office/drawing/2014/main" id="{97EFF427-16F3-4568-AE46-F09AC75A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2" name="profile-98">
            <a:extLst xmlns:a="http://schemas.openxmlformats.org/drawingml/2006/main">
              <a:ext uri="{FF2B5EF4-FFF2-40B4-BE49-F238E27FC236}">
                <a16:creationId xmlns:a16="http://schemas.microsoft.com/office/drawing/2014/main" id="{0EB39352-0F15-45CE-9BA7-9B1F9B98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7242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Assessment of pest activity</a:t>
            </a:r>
          </a:p>
        </p:txBody>
      </p:sp>
      <p:sp>
        <p:nvSpPr>
          <p:cNvPr id="13" name="profile-99">
            <a:extLst xmlns:a="http://schemas.openxmlformats.org/drawingml/2006/main">
              <a:ext uri="{FF2B5EF4-FFF2-40B4-BE49-F238E27FC236}">
                <a16:creationId xmlns:a16="http://schemas.microsoft.com/office/drawing/2014/main" id="{7DF32838-7DA7-4F02-AE1F-EBC8DF15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6295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4" name="profile-100">
            <a:extLst xmlns:a="http://schemas.openxmlformats.org/drawingml/2006/main">
              <a:ext uri="{FF2B5EF4-FFF2-40B4-BE49-F238E27FC236}">
                <a16:creationId xmlns:a16="http://schemas.microsoft.com/office/drawing/2014/main" id="{E4AD2D34-56CC-4DFD-A29F-2B9F83C3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2487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Treatment scope based on site findings</a:t>
            </a:r>
          </a:p>
        </p:txBody>
      </p:sp>
      <p:sp>
        <p:nvSpPr>
          <p:cNvPr id="15" name="profile-101">
            <a:extLst xmlns:a="http://schemas.openxmlformats.org/drawingml/2006/main">
              <a:ext uri="{FF2B5EF4-FFF2-40B4-BE49-F238E27FC236}">
                <a16:creationId xmlns:a16="http://schemas.microsoft.com/office/drawing/2014/main" id="{BB2DAB69-41B8-40F2-8A37-B4AB5AE8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1540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6" name="profile-102">
            <a:extLst xmlns:a="http://schemas.openxmlformats.org/drawingml/2006/main">
              <a:ext uri="{FF2B5EF4-FFF2-40B4-BE49-F238E27FC236}">
                <a16:creationId xmlns:a16="http://schemas.microsoft.com/office/drawing/2014/main" id="{2AB41E39-9059-4D34-B2E5-AAEBD29F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7732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Service scheduling and contractor coordination</a:t>
            </a:r>
          </a:p>
        </p:txBody>
      </p:sp>
      <p:sp>
        <p:nvSpPr>
          <p:cNvPr id="17" name="profile-103">
            <a:extLst xmlns:a="http://schemas.openxmlformats.org/drawingml/2006/main">
              <a:ext uri="{FF2B5EF4-FFF2-40B4-BE49-F238E27FC236}">
                <a16:creationId xmlns:a16="http://schemas.microsoft.com/office/drawing/2014/main" id="{E1493CDA-8CB4-4463-AF4B-EAF9E403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63125"/>
            <a:ext cx="63436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Treatment and specialist requirements follow the site assessment.</a:t>
            </a:r>
          </a:p>
        </p:txBody>
      </p:sp>
      <p:sp>
        <p:nvSpPr>
          <p:cNvPr id="18" name="profile-104">
            <a:extLst xmlns:a="http://schemas.openxmlformats.org/drawingml/2006/main">
              <a:ext uri="{FF2B5EF4-FFF2-40B4-BE49-F238E27FC236}">
                <a16:creationId xmlns:a16="http://schemas.microsoft.com/office/drawing/2014/main" id="{7A47BD28-5CA0-4831-9F0B-0DBD9DAD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9" name="profile-105">
            <a:extLst xmlns:a="http://schemas.openxmlformats.org/drawingml/2006/main">
              <a:ext uri="{FF2B5EF4-FFF2-40B4-BE49-F238E27FC236}">
                <a16:creationId xmlns:a16="http://schemas.microsoft.com/office/drawing/2014/main" id="{8AF30C24-BD3B-4988-97AB-190BE9C4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0" name="profile-106">
            <a:extLst xmlns:a="http://schemas.openxmlformats.org/drawingml/2006/main">
              <a:ext uri="{FF2B5EF4-FFF2-40B4-BE49-F238E27FC236}">
                <a16:creationId xmlns:a16="http://schemas.microsoft.com/office/drawing/2014/main" id="{819099E7-3E26-42FC-ACE8-40A6C80B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24394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rofile-107">
            <a:extLst xmlns:a="http://schemas.openxmlformats.org/drawingml/2006/main">
              <a:ext uri="{FF2B5EF4-FFF2-40B4-BE49-F238E27FC236}">
                <a16:creationId xmlns:a16="http://schemas.microsoft.com/office/drawing/2014/main" id="{6CEC0EE0-6FD7-45FA-8714-EA2D4C4D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2" name="profile-108">
            <a:extLst xmlns:a="http://schemas.openxmlformats.org/drawingml/2006/main">
              <a:ext uri="{FF2B5EF4-FFF2-40B4-BE49-F238E27FC236}">
                <a16:creationId xmlns:a16="http://schemas.microsoft.com/office/drawing/2014/main" id="{EC7A3D3B-27E3-48C2-92D6-02931569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173759"/>
          </a:solidFill>
          <a:ln xmlns:a="http://schemas.openxmlformats.org/drawingml/2006/main" w="0">
            <a:noFill/>
          </a:ln>
        </p:spPr>
      </p:sp>
      <p:sp>
        <p:nvSpPr>
          <p:cNvPr id="3" name="profile-109">
            <a:extLst xmlns:a="http://schemas.openxmlformats.org/drawingml/2006/main">
              <a:ext uri="{FF2B5EF4-FFF2-40B4-BE49-F238E27FC236}">
                <a16:creationId xmlns:a16="http://schemas.microsoft.com/office/drawing/2014/main" id="{E2DCFAE3-1026-4C62-8AFA-B315C0EC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21486B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c8e4fffa94836"/>
          <a:stretch xmlns:a="http://schemas.openxmlformats.org/drawingml/2006/main"/>
        </p:blipFill>
        <p:spPr>
          <a:xfrm xmlns:a="http://schemas.openxmlformats.org/drawingml/2006/main">
            <a:off x="609600" y="276225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5" name="profile-110">
            <a:extLst xmlns:a="http://schemas.openxmlformats.org/drawingml/2006/main">
              <a:ext uri="{FF2B5EF4-FFF2-40B4-BE49-F238E27FC236}">
                <a16:creationId xmlns:a16="http://schemas.microsoft.com/office/drawing/2014/main" id="{519CC3CF-870C-4C19-9670-5DF785FB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Your next step</a:t>
            </a:r>
          </a:p>
        </p:txBody>
      </p:sp>
      <p:sp>
        <p:nvSpPr>
          <p:cNvPr id="6" name="profile-111">
            <a:extLst xmlns:a="http://schemas.openxmlformats.org/drawingml/2006/main">
              <a:ext uri="{FF2B5EF4-FFF2-40B4-BE49-F238E27FC236}">
                <a16:creationId xmlns:a16="http://schemas.microsoft.com/office/drawing/2014/main" id="{D904AAB7-EFF3-4122-9478-5A4C7563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34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89C7F4"/>
                </a:solidFill>
                <a:latin typeface="Segoe UI"/>
                <a:ea typeface="Segoe UI"/>
                <a:cs typeface="Segoe UI"/>
              </a:defRPr>
            </a:pPr>
            <a:r>
              <a:rPr sz="4050" b="0">
                <a:solidFill>
                  <a:srgbClr val="89C7F4"/>
                </a:solidFill>
                <a:latin typeface="Segoe UI"/>
                <a:ea typeface="Segoe UI"/>
                <a:cs typeface="Segoe UI"/>
              </a:rPr>
              <a:t>Site assessment</a:t>
            </a:r>
          </a:p>
        </p:txBody>
      </p:sp>
      <p:sp>
        <p:nvSpPr>
          <p:cNvPr id="7" name="profile-112">
            <a:extLst xmlns:a="http://schemas.openxmlformats.org/drawingml/2006/main">
              <a:ext uri="{FF2B5EF4-FFF2-40B4-BE49-F238E27FC236}">
                <a16:creationId xmlns:a16="http://schemas.microsoft.com/office/drawing/2014/main" id="{B704BF19-3FF5-4186-B2A2-699F03F2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34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89C7F4"/>
                </a:solidFill>
                <a:latin typeface="Segoe UI"/>
                <a:ea typeface="Segoe UI"/>
                <a:cs typeface="Segoe UI"/>
              </a:defRPr>
            </a:pPr>
            <a:r>
              <a:rPr sz="4050" b="0">
                <a:solidFill>
                  <a:srgbClr val="89C7F4"/>
                </a:solidFill>
                <a:latin typeface="Segoe UI"/>
                <a:ea typeface="Segoe UI"/>
                <a:cs typeface="Segoe UI"/>
              </a:rPr>
              <a:t>Written quotation</a:t>
            </a:r>
          </a:p>
        </p:txBody>
      </p:sp>
      <p:sp>
        <p:nvSpPr>
          <p:cNvPr id="8" name="profile-113">
            <a:extLst xmlns:a="http://schemas.openxmlformats.org/drawingml/2006/main">
              <a:ext uri="{FF2B5EF4-FFF2-40B4-BE49-F238E27FC236}">
                <a16:creationId xmlns:a16="http://schemas.microsoft.com/office/drawing/2014/main" id="{FF89FE52-300A-4EB1-8E80-FC52214D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Tell us the service, site location and preferred inspection schedule.</a:t>
            </a:r>
          </a:p>
        </p:txBody>
      </p:sp>
      <p:sp>
        <p:nvSpPr>
          <p:cNvPr id="9" name="profile-114">
            <a:extLst xmlns:a="http://schemas.openxmlformats.org/drawingml/2006/main">
              <a:ext uri="{FF2B5EF4-FFF2-40B4-BE49-F238E27FC236}">
                <a16:creationId xmlns:a16="http://schemas.microsoft.com/office/drawing/2014/main" id="{4694D637-194C-47C0-A0A5-C52995F0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343650" cy="601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5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0917 671 6383</a:t>
            </a:r>
          </a:p>
        </p:txBody>
      </p:sp>
      <p:sp>
        <p:nvSpPr>
          <p:cNvPr id="10" name="profile-115">
            <a:extLst xmlns:a="http://schemas.openxmlformats.org/drawingml/2006/main">
              <a:ext uri="{FF2B5EF4-FFF2-40B4-BE49-F238E27FC236}">
                <a16:creationId xmlns:a16="http://schemas.microsoft.com/office/drawing/2014/main" id="{37C86D27-1661-457A-859D-F887BF67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63436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marketing@oceanidessepticandpest.com</a:t>
            </a:r>
          </a:p>
        </p:txBody>
      </p:sp>
      <p:sp>
        <p:nvSpPr>
          <p:cNvPr id="11" name="profile-116">
            <a:extLst xmlns:a="http://schemas.openxmlformats.org/drawingml/2006/main">
              <a:ext uri="{FF2B5EF4-FFF2-40B4-BE49-F238E27FC236}">
                <a16:creationId xmlns:a16="http://schemas.microsoft.com/office/drawing/2014/main" id="{1E8827CC-B6DC-4C69-82C5-6F18338A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634365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C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ABCD3"/>
                </a:solidFill>
                <a:latin typeface="Arial"/>
                <a:ea typeface="Arial"/>
                <a:cs typeface="Arial"/>
              </a:rPr>
              <a:t>Globe</a:t>
            </a:r>
          </a:p>
        </p:txBody>
      </p:sp>
      <p:sp>
        <p:nvSpPr>
          <p:cNvPr id="12" name="profile-117">
            <a:extLst xmlns:a="http://schemas.openxmlformats.org/drawingml/2006/main">
              <a:ext uri="{FF2B5EF4-FFF2-40B4-BE49-F238E27FC236}">
                <a16:creationId xmlns:a16="http://schemas.microsoft.com/office/drawing/2014/main" id="{AD3E27AF-EC33-4DC1-A94E-852985F6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6343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Tramo Street Corner Dandan, Pasay City, Philippines 1300</a:t>
            </a:r>
          </a:p>
        </p:txBody>
      </p:sp>
      <p:sp>
        <p:nvSpPr>
          <p:cNvPr id="13" name="profile-118">
            <a:extLst xmlns:a="http://schemas.openxmlformats.org/drawingml/2006/main">
              <a:ext uri="{FF2B5EF4-FFF2-40B4-BE49-F238E27FC236}">
                <a16:creationId xmlns:a16="http://schemas.microsoft.com/office/drawing/2014/main" id="{561E235D-6886-44F7-A960-087F033F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D5F"/>
          </a:solidFill>
          <a:ln xmlns:a="http://schemas.openxmlformats.org/drawingml/2006/main" w="0">
            <a:noFill/>
          </a:ln>
        </p:spPr>
      </p:sp>
      <p:sp>
        <p:nvSpPr>
          <p:cNvPr id="14" name="profile-119">
            <a:extLst xmlns:a="http://schemas.openxmlformats.org/drawingml/2006/main">
              <a:ext uri="{FF2B5EF4-FFF2-40B4-BE49-F238E27FC236}">
                <a16:creationId xmlns:a16="http://schemas.microsoft.com/office/drawing/2014/main" id="{1B0EF387-D4AB-4338-A015-18F08FAD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24675"/>
            <a:ext cx="63436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C7F4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89C7F4"/>
                </a:solidFill>
                <a:latin typeface="Segoe UI"/>
                <a:ea typeface="Segoe UI"/>
                <a:cs typeface="Segoe UI"/>
              </a:rPr>
              <a:t>Supplier accreditation</a:t>
            </a:r>
          </a:p>
        </p:txBody>
      </p:sp>
      <p:sp>
        <p:nvSpPr>
          <p:cNvPr id="15" name="profile-120">
            <a:extLst xmlns:a="http://schemas.openxmlformats.org/drawingml/2006/main">
              <a:ext uri="{FF2B5EF4-FFF2-40B4-BE49-F238E27FC236}">
                <a16:creationId xmlns:a16="http://schemas.microsoft.com/office/drawing/2014/main" id="{AD89DB73-B36E-4EDC-80C3-5669ADA4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15200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Share your procurement requirements. Oceanides can coordinate the company</a:t>
            </a:r>
          </a:p>
        </p:txBody>
      </p:sp>
      <p:sp>
        <p:nvSpPr>
          <p:cNvPr id="16" name="profile-121">
            <a:extLst xmlns:a="http://schemas.openxmlformats.org/drawingml/2006/main">
              <a:ext uri="{FF2B5EF4-FFF2-40B4-BE49-F238E27FC236}">
                <a16:creationId xmlns:a16="http://schemas.microsoft.com/office/drawing/2014/main" id="{12F1E48B-1643-4D26-81ED-E478A5AA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72375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documents and project information for your review.</a:t>
            </a:r>
          </a:p>
        </p:txBody>
      </p:sp>
      <p:sp>
        <p:nvSpPr>
          <p:cNvPr id="17" name="profile-122">
            <a:extLst xmlns:a="http://schemas.openxmlformats.org/drawingml/2006/main">
              <a:ext uri="{FF2B5EF4-FFF2-40B4-BE49-F238E27FC236}">
                <a16:creationId xmlns:a16="http://schemas.microsoft.com/office/drawing/2014/main" id="{08EA4DD0-76F4-4045-B22F-87C8B1E4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96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9C7F4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89C7F4"/>
                </a:solidFill>
                <a:latin typeface="Segoe UI"/>
                <a:ea typeface="Segoe UI"/>
                <a:cs typeface="Segoe UI"/>
              </a:rPr>
              <a:t>Site assessment</a:t>
            </a:r>
          </a:p>
        </p:txBody>
      </p:sp>
      <p:sp>
        <p:nvSpPr>
          <p:cNvPr id="18" name="profile-123">
            <a:extLst xmlns:a="http://schemas.openxmlformats.org/drawingml/2006/main">
              <a:ext uri="{FF2B5EF4-FFF2-40B4-BE49-F238E27FC236}">
                <a16:creationId xmlns:a16="http://schemas.microsoft.com/office/drawing/2014/main" id="{3D802318-A203-4A64-88FF-9397BD8D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10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Review the site and requirements.</a:t>
            </a:r>
          </a:p>
        </p:txBody>
      </p:sp>
      <p:sp>
        <p:nvSpPr>
          <p:cNvPr id="19" name="profile-124">
            <a:extLst xmlns:a="http://schemas.openxmlformats.org/drawingml/2006/main">
              <a:ext uri="{FF2B5EF4-FFF2-40B4-BE49-F238E27FC236}">
                <a16:creationId xmlns:a16="http://schemas.microsoft.com/office/drawing/2014/main" id="{34510CAC-1762-44FD-BB2D-EC4F98BB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296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9C7F4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89C7F4"/>
                </a:solidFill>
                <a:latin typeface="Segoe UI"/>
                <a:ea typeface="Segoe UI"/>
                <a:cs typeface="Segoe UI"/>
              </a:rPr>
              <a:t>Written quotation</a:t>
            </a:r>
          </a:p>
        </p:txBody>
      </p:sp>
      <p:sp>
        <p:nvSpPr>
          <p:cNvPr id="20" name="profile-125">
            <a:extLst xmlns:a="http://schemas.openxmlformats.org/drawingml/2006/main">
              <a:ext uri="{FF2B5EF4-FFF2-40B4-BE49-F238E27FC236}">
                <a16:creationId xmlns:a16="http://schemas.microsoft.com/office/drawing/2014/main" id="{A327C577-67FA-4EA3-9010-A1142E05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610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Confirm the proposed scope and price.</a:t>
            </a:r>
          </a:p>
        </p:txBody>
      </p:sp>
      <p:sp>
        <p:nvSpPr>
          <p:cNvPr id="21" name="profile-126">
            <a:extLst xmlns:a="http://schemas.openxmlformats.org/drawingml/2006/main">
              <a:ext uri="{FF2B5EF4-FFF2-40B4-BE49-F238E27FC236}">
                <a16:creationId xmlns:a16="http://schemas.microsoft.com/office/drawing/2014/main" id="{0F4C0F6A-18EC-4194-AD23-E14E5455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58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9C7F4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89C7F4"/>
                </a:solidFill>
                <a:latin typeface="Segoe UI"/>
                <a:ea typeface="Segoe UI"/>
                <a:cs typeface="Segoe UI"/>
              </a:rPr>
              <a:t>Service coordination</a:t>
            </a:r>
          </a:p>
        </p:txBody>
      </p:sp>
      <p:sp>
        <p:nvSpPr>
          <p:cNvPr id="22" name="profile-127">
            <a:extLst xmlns:a="http://schemas.openxmlformats.org/drawingml/2006/main">
              <a:ext uri="{FF2B5EF4-FFF2-40B4-BE49-F238E27FC236}">
                <a16:creationId xmlns:a16="http://schemas.microsoft.com/office/drawing/2014/main" id="{9358B39C-D1D2-43CE-AE17-5F6907EB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72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Arrange the field team or specialist.</a:t>
            </a:r>
          </a:p>
        </p:txBody>
      </p:sp>
      <p:sp>
        <p:nvSpPr>
          <p:cNvPr id="23" name="profile-128">
            <a:extLst xmlns:a="http://schemas.openxmlformats.org/drawingml/2006/main">
              <a:ext uri="{FF2B5EF4-FFF2-40B4-BE49-F238E27FC236}">
                <a16:creationId xmlns:a16="http://schemas.microsoft.com/office/drawing/2014/main" id="{8220A2BD-5DC2-41C6-861F-9270185D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058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9C7F4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89C7F4"/>
                </a:solidFill>
                <a:latin typeface="Segoe UI"/>
                <a:ea typeface="Segoe UI"/>
                <a:cs typeface="Segoe UI"/>
              </a:rPr>
              <a:t>Turnover</a:t>
            </a:r>
          </a:p>
        </p:txBody>
      </p:sp>
      <p:sp>
        <p:nvSpPr>
          <p:cNvPr id="24" name="profile-129">
            <a:extLst xmlns:a="http://schemas.openxmlformats.org/drawingml/2006/main">
              <a:ext uri="{FF2B5EF4-FFF2-40B4-BE49-F238E27FC236}">
                <a16:creationId xmlns:a16="http://schemas.microsoft.com/office/drawing/2014/main" id="{2E07AE62-03D9-4BF1-96CC-3F908B70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372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Review the agreed work with the client.</a:t>
            </a:r>
          </a:p>
        </p:txBody>
      </p:sp>
      <p:sp>
        <p:nvSpPr>
          <p:cNvPr id="25" name="profile-130">
            <a:extLst xmlns:a="http://schemas.openxmlformats.org/drawingml/2006/main">
              <a:ext uri="{FF2B5EF4-FFF2-40B4-BE49-F238E27FC236}">
                <a16:creationId xmlns:a16="http://schemas.microsoft.com/office/drawing/2014/main" id="{C9D40595-2FE6-432B-85AE-BA3D5240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345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D5F"/>
          </a:solidFill>
          <a:ln xmlns:a="http://schemas.openxmlformats.org/drawingml/2006/main" w="0">
            <a:noFill/>
          </a:ln>
        </p:spPr>
      </p:sp>
      <p:sp>
        <p:nvSpPr>
          <p:cNvPr id="26" name="profile-131">
            <a:extLst xmlns:a="http://schemas.openxmlformats.org/drawingml/2006/main">
              <a:ext uri="{FF2B5EF4-FFF2-40B4-BE49-F238E27FC236}">
                <a16:creationId xmlns:a16="http://schemas.microsoft.com/office/drawing/2014/main" id="{4358C4A5-9D62-4317-B35A-451C621E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25075"/>
            <a:ext cx="63436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Oceanides Plumbing Siphoning &amp; Pest Management Services OPC</a:t>
            </a:r>
          </a:p>
        </p:txBody>
      </p:sp>
      <p:sp>
        <p:nvSpPr>
          <p:cNvPr id="27" name="profile-132">
            <a:extLst xmlns:a="http://schemas.openxmlformats.org/drawingml/2006/main">
              <a:ext uri="{FF2B5EF4-FFF2-40B4-BE49-F238E27FC236}">
                <a16:creationId xmlns:a16="http://schemas.microsoft.com/office/drawing/2014/main" id="{5516BBDB-494B-45AE-9073-2C6F94BF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0"/>
            <a:ext cx="6343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CD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BCD3"/>
                </a:solidFill>
                <a:latin typeface="Arial"/>
                <a:ea typeface="Arial"/>
                <a:cs typeface="Arial"/>
              </a:rPr>
              <a:t>Final scope, pricing and scheduling depend on the site assessment and the agreed quotation.</a:t>
            </a:r>
          </a:p>
        </p:txBody>
      </p:sp>
    </p:spTree>
    <p:extLst>
      <p:ext uri="{BB962C8B-B14F-4D97-AF65-F5344CB8AC3E}">
        <p14:creationId xmlns:p14="http://schemas.microsoft.com/office/powerpoint/2010/main" val="7793262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2026-10-01T14:13:10.1350000Z</dcterms:created>
  <dcterms:modified xsi:type="dcterms:W3CDTF">2026-10-01T14:13:10.1350000Z</dcterms:modified>
</coreProperties>
</file>