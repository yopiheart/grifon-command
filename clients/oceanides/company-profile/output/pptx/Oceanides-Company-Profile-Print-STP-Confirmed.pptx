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c999e1c23e4252" /><Relationship Type="http://schemas.openxmlformats.org/officeDocument/2006/relationships/extended-properties" Target="/docProps/app.xml" Id="Rf16799761a7248ca" /><Relationship Type="http://schemas.openxmlformats.org/officeDocument/2006/relationships/officeDocument" Target="/ppt/presentation.xml" Id="R63a3a1ccc10442f7" /></Relationships>
</file>

<file path=ppt/presentation.xml><?xml version="1.0" encoding="utf-8"?>
<p:presentation xmlns:p="http://schemas.openxmlformats.org/presentationml/2006/main">
  <p:sldMasterIdLst>
    <p:sldMasterId xmlns:r="http://schemas.openxmlformats.org/officeDocument/2006/relationships" id="2147483648" r:id="R86d18b2ac54242e5"/>
  </p:sldMasterIdLst>
  <p:notesMasterIdLst>
    <p:notesMasterId xmlns:r="http://schemas.openxmlformats.org/officeDocument/2006/relationships" r:id="R59491328d7cc42ea"/>
  </p:notesMasterIdLst>
  <p:sldIdLst>
    <p:sldId xmlns:r="http://schemas.openxmlformats.org/officeDocument/2006/relationships" id="256" r:id="Rfd473625663e450d"/>
    <p:sldId xmlns:r="http://schemas.openxmlformats.org/officeDocument/2006/relationships" id="257" r:id="R46d08011902544e0"/>
    <p:sldId xmlns:r="http://schemas.openxmlformats.org/officeDocument/2006/relationships" id="258" r:id="R8a23b43693534535"/>
    <p:sldId xmlns:r="http://schemas.openxmlformats.org/officeDocument/2006/relationships" id="259" r:id="R651855d799754156"/>
    <p:sldId xmlns:r="http://schemas.openxmlformats.org/officeDocument/2006/relationships" id="260" r:id="Re5157d49e056458e"/>
    <p:sldId xmlns:r="http://schemas.openxmlformats.org/officeDocument/2006/relationships" id="261" r:id="R3e84c9de91604fe4"/>
    <p:sldId xmlns:r="http://schemas.openxmlformats.org/officeDocument/2006/relationships" id="262" r:id="Ra3bcd8b9aee54692"/>
  </p:sldIdLst>
  <p:sldSz cx="7562850" cy="106965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f370ecd4734474" /><Relationship Type="http://schemas.openxmlformats.org/officeDocument/2006/relationships/slideMaster" Target="/ppt/slideMasters/slideMaster1.xml" Id="R86d18b2ac54242e5" /><Relationship Type="http://schemas.openxmlformats.org/officeDocument/2006/relationships/notesMaster" Target="/ppt/notesMasters/notesMaster1.xml" Id="R59491328d7cc42ea" /><Relationship Type="http://schemas.openxmlformats.org/officeDocument/2006/relationships/presProps" Target="/ppt/presProps.xml" Id="R572ed4f7673f4940" /><Relationship Type="http://schemas.openxmlformats.org/officeDocument/2006/relationships/tableStyles" Target="/ppt/tableStyles.xml" Id="R7c610e4d4fb34ed3" /><Relationship Type="http://schemas.openxmlformats.org/officeDocument/2006/relationships/slide" Target="/ppt/slides/slide1.xml" Id="Rfd473625663e450d" /><Relationship Type="http://schemas.openxmlformats.org/officeDocument/2006/relationships/slide" Target="/ppt/slides/slide2.xml" Id="R46d08011902544e0" /><Relationship Type="http://schemas.openxmlformats.org/officeDocument/2006/relationships/slide" Target="/ppt/slides/slide3.xml" Id="R8a23b43693534535" /><Relationship Type="http://schemas.openxmlformats.org/officeDocument/2006/relationships/slide" Target="/ppt/slides/slide4.xml" Id="R651855d799754156" /><Relationship Type="http://schemas.openxmlformats.org/officeDocument/2006/relationships/slide" Target="/ppt/slides/slide5.xml" Id="Re5157d49e056458e" /><Relationship Type="http://schemas.openxmlformats.org/officeDocument/2006/relationships/slide" Target="/ppt/slides/slide6.xml" Id="R3e84c9de91604fe4" /><Relationship Type="http://schemas.openxmlformats.org/officeDocument/2006/relationships/slide" Target="/ppt/slides/slide7.xml" Id="Ra3bcd8b9aee546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356d6188394f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45c195be61424a" /><Relationship Type="http://schemas.openxmlformats.org/officeDocument/2006/relationships/notesMaster" Target="/ppt/notesMasters/notesMaster1.xml" Id="R72fb8544f88848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9d1393d9e04653" /><Relationship Type="http://schemas.openxmlformats.org/officeDocument/2006/relationships/notesMaster" Target="/ppt/notesMasters/notesMaster1.xml" Id="Ra004cc3e6dea45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ac343f62bd40fa" /><Relationship Type="http://schemas.openxmlformats.org/officeDocument/2006/relationships/notesMaster" Target="/ppt/notesMasters/notesMaster1.xml" Id="R951ae7f1e9aa46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f4c1d6dc07486d" /><Relationship Type="http://schemas.openxmlformats.org/officeDocument/2006/relationships/notesMaster" Target="/ppt/notesMasters/notesMaster1.xml" Id="R71b8c4bd982d4a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b51082132f4067" /><Relationship Type="http://schemas.openxmlformats.org/officeDocument/2006/relationships/notesMaster" Target="/ppt/notesMasters/notesMaster1.xml" Id="R0418cd3809b94a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a9981eacb44ecd" /><Relationship Type="http://schemas.openxmlformats.org/officeDocument/2006/relationships/notesMaster" Target="/ppt/notesMasters/notesMaster1.xml" Id="Rb382035ea1f543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c58a4567584dbb" /><Relationship Type="http://schemas.openxmlformats.org/officeDocument/2006/relationships/notesMaster" Target="/ppt/notesMasters/notesMaster1.xml" Id="R2a804629924d4e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Cover: AI-generated conceptual property cutaway, not a real project or engineering plan. Exact generation brief: company-profile/assets/generated-sources.json.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Matched before/after pair: clients/oceanides/assets/tb2-ba2-before.png and tb2-ba2-after.png. Neil confirmed real job photos on 2026-08-01; see client DESIGN.md and asset-builder source.Service scene: AI-generated fictional specialist, visibly labeled. Not an actual Oceanides employee or completed project. Exact generation brief: company-profile/assets/generated-sources.json.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Neil clarified the offer on 2026-10-03: an on-site Sewage Treatment Plant (STP) for building wastewater. Oceanides remains your main contact from the initial inquiry to turnover. We coordinate the site assessment, quotation and service delivery, including specialist contractors where the work requires them.</a:t>
            </a:r>
          </a:p>
          <a:p xmlns:a="http://schemas.openxmlformats.org/drawingml/2006/main">
            <a:r>
              <a:t>System details, capacity and maintenance requirements follow the agreed technical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scene: AI-generated fictional specialist, visibly labeled. Not an actual Oceanides employee or completed project. Exact generation brief: company-profile/assets/generated-sources.json.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scene: AI-generated fictional specialist, visibly labeled. Not an actual Oceanides employee or completed project. Exact generation brief: company-profile/assets/generated-sources.json.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a1a6b9534141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52d5f1ac6f4368" /><Relationship Type="http://schemas.openxmlformats.org/officeDocument/2006/relationships/slideLayout" Target="/ppt/slideLayouts/slideLayout1.xml" Id="Ra166c69926a841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6c69926a841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732763f2644627" /><Relationship Type="http://schemas.openxmlformats.org/officeDocument/2006/relationships/image" Target="/ppt/media/image.png" Id="Rf5c58e4fe0d94ac3" /><Relationship Type="http://schemas.openxmlformats.org/officeDocument/2006/relationships/image" Target="/ppt/media/image.jpeg" Id="Rb028a88280b74f71" /><Relationship Type="http://schemas.openxmlformats.org/officeDocument/2006/relationships/notesSlide" Target="/ppt/notesSlides/notesSlide1.xml" Id="R7fad12edd6994e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cb4f4aad7c4bc1" /><Relationship Type="http://schemas.openxmlformats.org/officeDocument/2006/relationships/notesSlide" Target="/ppt/notesSlides/notesSlide2.xml" Id="Rf21968244db347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8ca538d0864d8d" /><Relationship Type="http://schemas.openxmlformats.org/officeDocument/2006/relationships/image" Target="/ppt/media/image2.jpeg" Id="Rc4242ab99eea4faa" /><Relationship Type="http://schemas.openxmlformats.org/officeDocument/2006/relationships/image" Target="/ppt/media/image3.jpeg" Id="Rd9915d6684bf4dbf" /><Relationship Type="http://schemas.openxmlformats.org/officeDocument/2006/relationships/image" Target="/ppt/media/image4.jpeg" Id="Rd1586360fd4d4d1f" /><Relationship Type="http://schemas.openxmlformats.org/officeDocument/2006/relationships/notesSlide" Target="/ppt/notesSlides/notesSlide3.xml" Id="Ra35915a6b86941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a86c5e2f2d4d56" /><Relationship Type="http://schemas.openxmlformats.org/officeDocument/2006/relationships/notesSlide" Target="/ppt/notesSlides/notesSlide4.xml" Id="R1bf0882d55cf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6322ff617a4f24" /><Relationship Type="http://schemas.openxmlformats.org/officeDocument/2006/relationships/image" Target="/ppt/media/image5.jpeg" Id="R57a3a05720674932" /><Relationship Type="http://schemas.openxmlformats.org/officeDocument/2006/relationships/notesSlide" Target="/ppt/notesSlides/notesSlide5.xml" Id="R8e8e34a6dc0541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1bdef61ba941a7" /><Relationship Type="http://schemas.openxmlformats.org/officeDocument/2006/relationships/image" Target="/ppt/media/image6.jpeg" Id="R3e074b2b611e4623" /><Relationship Type="http://schemas.openxmlformats.org/officeDocument/2006/relationships/notesSlide" Target="/ppt/notesSlides/notesSlide6.xml" Id="R6a3e0448956043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72ce4fd5914ac4" /><Relationship Type="http://schemas.openxmlformats.org/officeDocument/2006/relationships/image" Target="/ppt/media/image2.png" Id="Re1848bcc55d54935" /><Relationship Type="http://schemas.openxmlformats.org/officeDocument/2006/relationships/notesSlide" Target="/ppt/notesSlides/notesSlide7.xml" Id="R801c50a5b4104de0"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profile-1">
            <a:extLst xmlns:a="http://schemas.openxmlformats.org/drawingml/2006/main">
              <a:ext uri="{FF2B5EF4-FFF2-40B4-BE49-F238E27FC236}">
                <a16:creationId xmlns:a16="http://schemas.microsoft.com/office/drawing/2014/main" id="{C71BBBB4-364C-4938-8A31-37D9F9C94844}"/>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7AC04F2E-E363-4FE9-9534-962747E31171}"/>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3">
            <a:extLst xmlns:a="http://schemas.openxmlformats.org/drawingml/2006/main">
              <a:ext uri="{FF2B5EF4-FFF2-40B4-BE49-F238E27FC236}">
                <a16:creationId xmlns:a16="http://schemas.microsoft.com/office/drawing/2014/main" id="{AD33A46C-6B50-433E-9B14-E3FB40A12A9D}"/>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5c58e4fe0d94ac3"/>
          <a:stretch xmlns:a="http://schemas.openxmlformats.org/drawingml/2006/main"/>
        </p:blipFill>
        <p:spPr>
          <a:xfrm xmlns:a="http://schemas.openxmlformats.org/drawingml/2006/main">
            <a:off x="609600" y="276225"/>
            <a:ext cx="838200" cy="838200"/>
          </a:xfrm>
          <a:prstGeom xmlns:a="http://schemas.openxmlformats.org/drawingml/2006/main" prst="rect">
            <a:avLst/>
          </a:prstGeom>
        </p:spPr>
      </p:pic>
      <p:sp>
        <p:nvSpPr>
          <p:cNvPr id="5" name="profile-4">
            <a:extLst xmlns:a="http://schemas.openxmlformats.org/drawingml/2006/main">
              <a:ext uri="{FF2B5EF4-FFF2-40B4-BE49-F238E27FC236}">
                <a16:creationId xmlns:a16="http://schemas.microsoft.com/office/drawing/2014/main" id="{32F29D54-D781-4C23-9B25-6C9B3B5B6CEC}"/>
              </a:ext>
            </a:extLst>
          </p:cNvPr>
          <p:cNvSpPr>
            <a:spLocks xmlns:a="http://schemas.openxmlformats.org/drawingml/2006/main" noGrp="1"/>
          </p:cNvSpPr>
          <p:nvPr/>
        </p:nvSpPr>
        <p:spPr>
          <a:xfrm xmlns:a="http://schemas.openxmlformats.org/drawingml/2006/main">
            <a:off x="609600" y="1524000"/>
            <a:ext cx="6343650"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Company profile</a:t>
            </a:r>
          </a:p>
        </p:txBody>
      </p:sp>
      <p:sp>
        <p:nvSpPr>
          <p:cNvPr id="6" name="profile-5">
            <a:extLst xmlns:a="http://schemas.openxmlformats.org/drawingml/2006/main">
              <a:ext uri="{FF2B5EF4-FFF2-40B4-BE49-F238E27FC236}">
                <a16:creationId xmlns:a16="http://schemas.microsoft.com/office/drawing/2014/main" id="{5DBCABF1-19A4-4169-9DFB-60F0C7AB8D11}"/>
              </a:ext>
            </a:extLst>
          </p:cNvPr>
          <p:cNvSpPr>
            <a:spLocks xmlns:a="http://schemas.openxmlformats.org/drawingml/2006/main" noGrp="1"/>
          </p:cNvSpPr>
          <p:nvPr/>
        </p:nvSpPr>
        <p:spPr>
          <a:xfrm xmlns:a="http://schemas.openxmlformats.org/drawingml/2006/main">
            <a:off x="609600" y="1962150"/>
            <a:ext cx="634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75" b="0">
                <a:solidFill>
                  <a:srgbClr val="1C63AD"/>
                </a:solidFill>
                <a:latin typeface="Segoe UI"/>
                <a:ea typeface="Segoe UI"/>
                <a:cs typeface="Segoe UI"/>
              </a:defRPr>
            </a:pPr>
            <a:r>
              <a:rPr sz="4575" b="0">
                <a:solidFill>
                  <a:srgbClr val="1C63AD"/>
                </a:solidFill>
                <a:latin typeface="Segoe UI"/>
                <a:ea typeface="Segoe UI"/>
                <a:cs typeface="Segoe UI"/>
              </a:rPr>
              <a:t>Property services</a:t>
            </a:r>
          </a:p>
        </p:txBody>
      </p:sp>
      <p:sp>
        <p:nvSpPr>
          <p:cNvPr id="7" name="profile-6">
            <a:extLst xmlns:a="http://schemas.openxmlformats.org/drawingml/2006/main">
              <a:ext uri="{FF2B5EF4-FFF2-40B4-BE49-F238E27FC236}">
                <a16:creationId xmlns:a16="http://schemas.microsoft.com/office/drawing/2014/main" id="{56CA96CD-BD9E-4CA7-88AE-12ECAD52CA60}"/>
              </a:ext>
            </a:extLst>
          </p:cNvPr>
          <p:cNvSpPr>
            <a:spLocks xmlns:a="http://schemas.openxmlformats.org/drawingml/2006/main" noGrp="1"/>
          </p:cNvSpPr>
          <p:nvPr/>
        </p:nvSpPr>
        <p:spPr>
          <a:xfrm xmlns:a="http://schemas.openxmlformats.org/drawingml/2006/main">
            <a:off x="609600" y="2609850"/>
            <a:ext cx="634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75" b="0">
                <a:solidFill>
                  <a:srgbClr val="1C63AD"/>
                </a:solidFill>
                <a:latin typeface="Segoe UI"/>
                <a:ea typeface="Segoe UI"/>
                <a:cs typeface="Segoe UI"/>
              </a:defRPr>
            </a:pPr>
            <a:r>
              <a:rPr sz="4575" b="0">
                <a:solidFill>
                  <a:srgbClr val="1C63AD"/>
                </a:solidFill>
                <a:latin typeface="Segoe UI"/>
                <a:ea typeface="Segoe UI"/>
                <a:cs typeface="Segoe UI"/>
              </a:rPr>
              <a:t>One point of contact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28a88280b74f71"/>
          <a:stretch xmlns:a="http://schemas.openxmlformats.org/drawingml/2006/main"/>
        </p:blipFill>
        <p:spPr>
          <a:xfrm xmlns:a="http://schemas.openxmlformats.org/drawingml/2006/main">
            <a:off x="0" y="3638550"/>
            <a:ext cx="7562850" cy="5041900"/>
          </a:xfrm>
          <a:prstGeom xmlns:a="http://schemas.openxmlformats.org/drawingml/2006/main" prst="rect">
            <a:avLst/>
          </a:prstGeom>
        </p:spPr>
      </p:pic>
      <p:sp>
        <p:nvSpPr>
          <p:cNvPr id="9" name="profile-7">
            <a:extLst xmlns:a="http://schemas.openxmlformats.org/drawingml/2006/main">
              <a:ext uri="{FF2B5EF4-FFF2-40B4-BE49-F238E27FC236}">
                <a16:creationId xmlns:a16="http://schemas.microsoft.com/office/drawing/2014/main" id="{6C929E16-6F13-4DE4-A4B2-16B6188C2740}"/>
              </a:ext>
            </a:extLst>
          </p:cNvPr>
          <p:cNvSpPr>
            <a:spLocks xmlns:a="http://schemas.openxmlformats.org/drawingml/2006/main" noGrp="1"/>
          </p:cNvSpPr>
          <p:nvPr/>
        </p:nvSpPr>
        <p:spPr>
          <a:xfrm xmlns:a="http://schemas.openxmlformats.org/drawingml/2006/main">
            <a:off x="609600" y="8782050"/>
            <a:ext cx="63436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63707D"/>
                </a:solidFill>
                <a:latin typeface="Arial"/>
                <a:ea typeface="Arial"/>
                <a:cs typeface="Arial"/>
              </a:defRPr>
            </a:pPr>
            <a:r>
              <a:rPr sz="750" b="0">
                <a:solidFill>
                  <a:srgbClr val="63707D"/>
                </a:solidFill>
                <a:latin typeface="Arial"/>
                <a:ea typeface="Arial"/>
                <a:cs typeface="Arial"/>
              </a:rPr>
              <a:t>AI-generated property-services concept</a:t>
            </a:r>
          </a:p>
        </p:txBody>
      </p:sp>
      <p:sp>
        <p:nvSpPr>
          <p:cNvPr id="10" name="profile-8">
            <a:extLst xmlns:a="http://schemas.openxmlformats.org/drawingml/2006/main">
              <a:ext uri="{FF2B5EF4-FFF2-40B4-BE49-F238E27FC236}">
                <a16:creationId xmlns:a16="http://schemas.microsoft.com/office/drawing/2014/main" id="{CF74A121-5231-4F84-BCF4-C3FF32066E37}"/>
              </a:ext>
            </a:extLst>
          </p:cNvPr>
          <p:cNvSpPr>
            <a:spLocks xmlns:a="http://schemas.openxmlformats.org/drawingml/2006/main" noGrp="1"/>
          </p:cNvSpPr>
          <p:nvPr/>
        </p:nvSpPr>
        <p:spPr>
          <a:xfrm xmlns:a="http://schemas.openxmlformats.org/drawingml/2006/main">
            <a:off x="609600" y="9172575"/>
            <a:ext cx="6343650"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7212B"/>
                </a:solidFill>
                <a:latin typeface="Arial"/>
                <a:ea typeface="Arial"/>
                <a:cs typeface="Arial"/>
              </a:defRPr>
            </a:pPr>
            <a:r>
              <a:rPr sz="1275" b="0">
                <a:solidFill>
                  <a:srgbClr val="17212B"/>
                </a:solidFill>
                <a:latin typeface="Arial"/>
                <a:ea typeface="Arial"/>
                <a:cs typeface="Arial"/>
              </a:rPr>
              <a:t>Siphoning. Plumbing. Renovation &amp; restoration. Pest control.</a:t>
            </a:r>
          </a:p>
        </p:txBody>
      </p:sp>
      <p:sp>
        <p:nvSpPr>
          <p:cNvPr id="11" name="profile-9">
            <a:extLst xmlns:a="http://schemas.openxmlformats.org/drawingml/2006/main">
              <a:ext uri="{FF2B5EF4-FFF2-40B4-BE49-F238E27FC236}">
                <a16:creationId xmlns:a16="http://schemas.microsoft.com/office/drawing/2014/main" id="{57D645F0-33F2-447E-BE76-812534787C5A}"/>
              </a:ext>
            </a:extLst>
          </p:cNvPr>
          <p:cNvSpPr>
            <a:spLocks xmlns:a="http://schemas.openxmlformats.org/drawingml/2006/main" noGrp="1"/>
          </p:cNvSpPr>
          <p:nvPr/>
        </p:nvSpPr>
        <p:spPr>
          <a:xfrm xmlns:a="http://schemas.openxmlformats.org/drawingml/2006/main">
            <a:off x="609600" y="9383078"/>
            <a:ext cx="6343650"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7212B"/>
                </a:solidFill>
                <a:latin typeface="Arial"/>
                <a:ea typeface="Arial"/>
                <a:cs typeface="Arial"/>
              </a:defRPr>
            </a:pPr>
            <a:r>
              <a:rPr sz="1275" b="0">
                <a:solidFill>
                  <a:srgbClr val="17212B"/>
                </a:solidFill>
                <a:latin typeface="Arial"/>
                <a:ea typeface="Arial"/>
                <a:cs typeface="Arial"/>
              </a:rPr>
              <a:t>Sewage treatment plants (STP).</a:t>
            </a:r>
          </a:p>
        </p:txBody>
      </p:sp>
      <p:sp>
        <p:nvSpPr>
          <p:cNvPr id="12" name="profile-10">
            <a:extLst xmlns:a="http://schemas.openxmlformats.org/drawingml/2006/main">
              <a:ext uri="{FF2B5EF4-FFF2-40B4-BE49-F238E27FC236}">
                <a16:creationId xmlns:a16="http://schemas.microsoft.com/office/drawing/2014/main" id="{B141F04E-67AB-45FE-92C3-C7C2DA4B30D1}"/>
              </a:ext>
            </a:extLst>
          </p:cNvPr>
          <p:cNvSpPr>
            <a:spLocks xmlns:a="http://schemas.openxmlformats.org/drawingml/2006/main" noGrp="1"/>
          </p:cNvSpPr>
          <p:nvPr/>
        </p:nvSpPr>
        <p:spPr>
          <a:xfrm xmlns:a="http://schemas.openxmlformats.org/drawingml/2006/main">
            <a:off x="609600" y="9744075"/>
            <a:ext cx="634365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3707D"/>
                </a:solidFill>
                <a:latin typeface="Arial"/>
                <a:ea typeface="Arial"/>
                <a:cs typeface="Arial"/>
              </a:defRPr>
            </a:pPr>
            <a:r>
              <a:rPr sz="900" b="0">
                <a:solidFill>
                  <a:srgbClr val="63707D"/>
                </a:solidFill>
                <a:latin typeface="Arial"/>
                <a:ea typeface="Arial"/>
                <a:cs typeface="Arial"/>
              </a:rPr>
              <a:t>Oceanides Plumbing Siphoning &amp; Pest Management Services OPC</a:t>
            </a:r>
          </a:p>
        </p:txBody>
      </p:sp>
      <p:sp>
        <p:nvSpPr>
          <p:cNvPr id="13" name="profile-11">
            <a:extLst xmlns:a="http://schemas.openxmlformats.org/drawingml/2006/main">
              <a:ext uri="{FF2B5EF4-FFF2-40B4-BE49-F238E27FC236}">
                <a16:creationId xmlns:a16="http://schemas.microsoft.com/office/drawing/2014/main" id="{7D7647C7-5E2A-4258-8475-3486D55C8DEA}"/>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4" name="profile-12">
            <a:extLst xmlns:a="http://schemas.openxmlformats.org/drawingml/2006/main">
              <a:ext uri="{FF2B5EF4-FFF2-40B4-BE49-F238E27FC236}">
                <a16:creationId xmlns:a16="http://schemas.microsoft.com/office/drawing/2014/main" id="{0D00799C-D9A6-4935-920D-716D220BDD2E}"/>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15" name="profile-13">
            <a:extLst xmlns:a="http://schemas.openxmlformats.org/drawingml/2006/main">
              <a:ext uri="{FF2B5EF4-FFF2-40B4-BE49-F238E27FC236}">
                <a16:creationId xmlns:a16="http://schemas.microsoft.com/office/drawing/2014/main" id="{BB8DA9CC-7791-41E4-9510-6407E955C234}"/>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01</a:t>
            </a:r>
          </a:p>
        </p:txBody>
      </p:sp>
    </p:spTree>
    <p:extLst>
      <p:ext uri="{BB962C8B-B14F-4D97-AF65-F5344CB8AC3E}">
        <p14:creationId xmlns:p14="http://schemas.microsoft.com/office/powerpoint/2010/main" val="289101311"/>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38" name="profile-14">
            <a:extLst xmlns:a="http://schemas.openxmlformats.org/drawingml/2006/main">
              <a:ext uri="{FF2B5EF4-FFF2-40B4-BE49-F238E27FC236}">
                <a16:creationId xmlns:a16="http://schemas.microsoft.com/office/drawing/2014/main" id="{6595258B-EF3B-4424-86E4-E4C2766987D6}"/>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5">
            <a:extLst xmlns:a="http://schemas.openxmlformats.org/drawingml/2006/main">
              <a:ext uri="{FF2B5EF4-FFF2-40B4-BE49-F238E27FC236}">
                <a16:creationId xmlns:a16="http://schemas.microsoft.com/office/drawing/2014/main" id="{2E8CFB24-0EC0-44B9-87A8-56EC62B70494}"/>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6">
            <a:extLst xmlns:a="http://schemas.openxmlformats.org/drawingml/2006/main">
              <a:ext uri="{FF2B5EF4-FFF2-40B4-BE49-F238E27FC236}">
                <a16:creationId xmlns:a16="http://schemas.microsoft.com/office/drawing/2014/main" id="{AEFBE543-4A48-4A62-905F-4D61B69BE564}"/>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7">
            <a:extLst xmlns:a="http://schemas.openxmlformats.org/drawingml/2006/main">
              <a:ext uri="{FF2B5EF4-FFF2-40B4-BE49-F238E27FC236}">
                <a16:creationId xmlns:a16="http://schemas.microsoft.com/office/drawing/2014/main" id="{B77EDF15-919A-4CD1-80F1-A1440D133BE5}"/>
              </a:ext>
            </a:extLst>
          </p:cNvPr>
          <p:cNvSpPr>
            <a:spLocks xmlns:a="http://schemas.openxmlformats.org/drawingml/2006/main" noGrp="1"/>
          </p:cNvSpPr>
          <p:nvPr/>
        </p:nvSpPr>
        <p:spPr>
          <a:xfrm xmlns:a="http://schemas.openxmlformats.org/drawingml/2006/main">
            <a:off x="609600" y="457200"/>
            <a:ext cx="34290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17212B"/>
                </a:solidFill>
                <a:latin typeface="Segoe UI"/>
                <a:ea typeface="Segoe UI"/>
                <a:cs typeface="Segoe UI"/>
              </a:defRPr>
            </a:pPr>
            <a:r>
              <a:rPr sz="1425" b="1">
                <a:solidFill>
                  <a:srgbClr val="17212B"/>
                </a:solidFill>
                <a:latin typeface="Segoe UI"/>
                <a:ea typeface="Segoe UI"/>
                <a:cs typeface="Segoe UI"/>
              </a:rPr>
              <a:t>Oceanides</a:t>
            </a:r>
          </a:p>
        </p:txBody>
      </p:sp>
      <p:sp>
        <p:nvSpPr>
          <p:cNvPr id="5" name="profile-18">
            <a:extLst xmlns:a="http://schemas.openxmlformats.org/drawingml/2006/main">
              <a:ext uri="{FF2B5EF4-FFF2-40B4-BE49-F238E27FC236}">
                <a16:creationId xmlns:a16="http://schemas.microsoft.com/office/drawing/2014/main" id="{AF939A95-9BDB-432A-933C-AF676E3A011B}"/>
              </a:ext>
            </a:extLst>
          </p:cNvPr>
          <p:cNvSpPr>
            <a:spLocks xmlns:a="http://schemas.openxmlformats.org/drawingml/2006/main" noGrp="1"/>
          </p:cNvSpPr>
          <p:nvPr/>
        </p:nvSpPr>
        <p:spPr>
          <a:xfrm xmlns:a="http://schemas.openxmlformats.org/drawingml/2006/main">
            <a:off x="4981575" y="485775"/>
            <a:ext cx="1971675"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3707D"/>
                </a:solidFill>
                <a:latin typeface="Arial"/>
                <a:ea typeface="Arial"/>
                <a:cs typeface="Arial"/>
              </a:defRPr>
            </a:pPr>
            <a:r>
              <a:rPr sz="1050" b="0">
                <a:solidFill>
                  <a:srgbClr val="63707D"/>
                </a:solidFill>
                <a:latin typeface="Arial"/>
                <a:ea typeface="Arial"/>
                <a:cs typeface="Arial"/>
              </a:rPr>
              <a:t>Company profile</a:t>
            </a:r>
          </a:p>
        </p:txBody>
      </p:sp>
      <p:sp>
        <p:nvSpPr>
          <p:cNvPr id="6" name="profile-19">
            <a:extLst xmlns:a="http://schemas.openxmlformats.org/drawingml/2006/main">
              <a:ext uri="{FF2B5EF4-FFF2-40B4-BE49-F238E27FC236}">
                <a16:creationId xmlns:a16="http://schemas.microsoft.com/office/drawing/2014/main" id="{F794BF25-6FED-4E78-933B-C04BA9ACBFF8}"/>
              </a:ext>
            </a:extLst>
          </p:cNvPr>
          <p:cNvSpPr>
            <a:spLocks xmlns:a="http://schemas.openxmlformats.org/drawingml/2006/main" noGrp="1"/>
          </p:cNvSpPr>
          <p:nvPr/>
        </p:nvSpPr>
        <p:spPr>
          <a:xfrm xmlns:a="http://schemas.openxmlformats.org/drawingml/2006/main">
            <a:off x="609600" y="1285875"/>
            <a:ext cx="6343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C63AD"/>
                </a:solidFill>
                <a:latin typeface="Segoe UI"/>
                <a:ea typeface="Segoe UI"/>
                <a:cs typeface="Segoe UI"/>
              </a:defRPr>
            </a:pPr>
            <a:r>
              <a:rPr sz="3450" b="1">
                <a:solidFill>
                  <a:srgbClr val="1C63AD"/>
                </a:solidFill>
                <a:latin typeface="Segoe UI"/>
                <a:ea typeface="Segoe UI"/>
                <a:cs typeface="Segoe UI"/>
              </a:rPr>
              <a:t>Services for the places</a:t>
            </a:r>
          </a:p>
        </p:txBody>
      </p:sp>
      <p:sp>
        <p:nvSpPr>
          <p:cNvPr id="7" name="profile-20">
            <a:extLst xmlns:a="http://schemas.openxmlformats.org/drawingml/2006/main">
              <a:ext uri="{FF2B5EF4-FFF2-40B4-BE49-F238E27FC236}">
                <a16:creationId xmlns:a16="http://schemas.microsoft.com/office/drawing/2014/main" id="{94760F46-E803-4CA6-81D6-37785F40A04D}"/>
              </a:ext>
            </a:extLst>
          </p:cNvPr>
          <p:cNvSpPr>
            <a:spLocks xmlns:a="http://schemas.openxmlformats.org/drawingml/2006/main" noGrp="1"/>
          </p:cNvSpPr>
          <p:nvPr/>
        </p:nvSpPr>
        <p:spPr>
          <a:xfrm xmlns:a="http://schemas.openxmlformats.org/drawingml/2006/main">
            <a:off x="609600" y="1790700"/>
            <a:ext cx="6343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C63AD"/>
                </a:solidFill>
                <a:latin typeface="Segoe UI"/>
                <a:ea typeface="Segoe UI"/>
                <a:cs typeface="Segoe UI"/>
              </a:defRPr>
            </a:pPr>
            <a:r>
              <a:rPr sz="3450" b="1">
                <a:solidFill>
                  <a:srgbClr val="1C63AD"/>
                </a:solidFill>
                <a:latin typeface="Segoe UI"/>
                <a:ea typeface="Segoe UI"/>
                <a:cs typeface="Segoe UI"/>
              </a:rPr>
              <a:t>you live and work</a:t>
            </a:r>
          </a:p>
        </p:txBody>
      </p:sp>
      <p:sp>
        <p:nvSpPr>
          <p:cNvPr id="8" name="profile-21">
            <a:extLst xmlns:a="http://schemas.openxmlformats.org/drawingml/2006/main">
              <a:ext uri="{FF2B5EF4-FFF2-40B4-BE49-F238E27FC236}">
                <a16:creationId xmlns:a16="http://schemas.microsoft.com/office/drawing/2014/main" id="{BF095A3F-B443-4753-96AE-A4BF97805892}"/>
              </a:ext>
            </a:extLst>
          </p:cNvPr>
          <p:cNvSpPr>
            <a:spLocks xmlns:a="http://schemas.openxmlformats.org/drawingml/2006/main" noGrp="1"/>
          </p:cNvSpPr>
          <p:nvPr/>
        </p:nvSpPr>
        <p:spPr>
          <a:xfrm xmlns:a="http://schemas.openxmlformats.org/drawingml/2006/main">
            <a:off x="609600" y="2647950"/>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Oceanides coordinates property services for homes, condominiums</a:t>
            </a:r>
          </a:p>
        </p:txBody>
      </p:sp>
      <p:sp>
        <p:nvSpPr>
          <p:cNvPr id="9" name="profile-22">
            <a:extLst xmlns:a="http://schemas.openxmlformats.org/drawingml/2006/main">
              <a:ext uri="{FF2B5EF4-FFF2-40B4-BE49-F238E27FC236}">
                <a16:creationId xmlns:a16="http://schemas.microsoft.com/office/drawing/2014/main" id="{AD04488B-0601-4819-B679-9770789BD971}"/>
              </a:ext>
            </a:extLst>
          </p:cNvPr>
          <p:cNvSpPr>
            <a:spLocks xmlns:a="http://schemas.openxmlformats.org/drawingml/2006/main" noGrp="1"/>
          </p:cNvSpPr>
          <p:nvPr/>
        </p:nvSpPr>
        <p:spPr>
          <a:xfrm xmlns:a="http://schemas.openxmlformats.org/drawingml/2006/main">
            <a:off x="609600" y="294322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and company facilities. Our offering covers siphoning, plumbing,</a:t>
            </a:r>
          </a:p>
        </p:txBody>
      </p:sp>
      <p:sp>
        <p:nvSpPr>
          <p:cNvPr id="10" name="profile-23">
            <a:extLst xmlns:a="http://schemas.openxmlformats.org/drawingml/2006/main">
              <a:ext uri="{FF2B5EF4-FFF2-40B4-BE49-F238E27FC236}">
                <a16:creationId xmlns:a16="http://schemas.microsoft.com/office/drawing/2014/main" id="{3978D5AB-D1D5-46EE-A20F-39DD0FAEC16F}"/>
              </a:ext>
            </a:extLst>
          </p:cNvPr>
          <p:cNvSpPr>
            <a:spLocks xmlns:a="http://schemas.openxmlformats.org/drawingml/2006/main" noGrp="1"/>
          </p:cNvSpPr>
          <p:nvPr/>
        </p:nvSpPr>
        <p:spPr>
          <a:xfrm xmlns:a="http://schemas.openxmlformats.org/drawingml/2006/main">
            <a:off x="609600" y="3238500"/>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renovation and restoration, pest control</a:t>
            </a:r>
          </a:p>
        </p:txBody>
      </p:sp>
      <p:sp>
        <p:nvSpPr>
          <p:cNvPr id="11" name="profile-24">
            <a:extLst xmlns:a="http://schemas.openxmlformats.org/drawingml/2006/main">
              <a:ext uri="{FF2B5EF4-FFF2-40B4-BE49-F238E27FC236}">
                <a16:creationId xmlns:a16="http://schemas.microsoft.com/office/drawing/2014/main" id="{46DAD16B-8D1B-4C9F-9765-689AE5121693}"/>
              </a:ext>
            </a:extLst>
          </p:cNvPr>
          <p:cNvSpPr>
            <a:spLocks xmlns:a="http://schemas.openxmlformats.org/drawingml/2006/main" noGrp="1"/>
          </p:cNvSpPr>
          <p:nvPr/>
        </p:nvSpPr>
        <p:spPr>
          <a:xfrm xmlns:a="http://schemas.openxmlformats.org/drawingml/2006/main">
            <a:off x="609600" y="353377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and sewage treatment plant (STP) projects.</a:t>
            </a:r>
          </a:p>
        </p:txBody>
      </p:sp>
      <p:sp>
        <p:nvSpPr>
          <p:cNvPr id="12" name="profile-25">
            <a:extLst xmlns:a="http://schemas.openxmlformats.org/drawingml/2006/main">
              <a:ext uri="{FF2B5EF4-FFF2-40B4-BE49-F238E27FC236}">
                <a16:creationId xmlns:a16="http://schemas.microsoft.com/office/drawing/2014/main" id="{E0C9B824-85A1-4351-A852-C8893AC0A31C}"/>
              </a:ext>
            </a:extLst>
          </p:cNvPr>
          <p:cNvSpPr>
            <a:spLocks xmlns:a="http://schemas.openxmlformats.org/drawingml/2006/main" noGrp="1"/>
          </p:cNvSpPr>
          <p:nvPr/>
        </p:nvSpPr>
        <p:spPr>
          <a:xfrm xmlns:a="http://schemas.openxmlformats.org/drawingml/2006/main">
            <a:off x="609600" y="42767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3" name="profile-26">
            <a:extLst xmlns:a="http://schemas.openxmlformats.org/drawingml/2006/main">
              <a:ext uri="{FF2B5EF4-FFF2-40B4-BE49-F238E27FC236}">
                <a16:creationId xmlns:a16="http://schemas.microsoft.com/office/drawing/2014/main" id="{8F4F15BE-3D6C-4CB7-A6FC-9F1D3304445B}"/>
              </a:ext>
            </a:extLst>
          </p:cNvPr>
          <p:cNvSpPr>
            <a:spLocks xmlns:a="http://schemas.openxmlformats.org/drawingml/2006/main" noGrp="1"/>
          </p:cNvSpPr>
          <p:nvPr/>
        </p:nvSpPr>
        <p:spPr>
          <a:xfrm xmlns:a="http://schemas.openxmlformats.org/drawingml/2006/main">
            <a:off x="609600" y="4543425"/>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Siphoning</a:t>
            </a:r>
          </a:p>
        </p:txBody>
      </p:sp>
      <p:sp>
        <p:nvSpPr>
          <p:cNvPr id="14" name="profile-27">
            <a:extLst xmlns:a="http://schemas.openxmlformats.org/drawingml/2006/main">
              <a:ext uri="{FF2B5EF4-FFF2-40B4-BE49-F238E27FC236}">
                <a16:creationId xmlns:a16="http://schemas.microsoft.com/office/drawing/2014/main" id="{5D0A5F49-3850-4527-812F-0926D0E653A9}"/>
              </a:ext>
            </a:extLst>
          </p:cNvPr>
          <p:cNvSpPr>
            <a:spLocks xmlns:a="http://schemas.openxmlformats.org/drawingml/2006/main" noGrp="1"/>
          </p:cNvSpPr>
          <p:nvPr/>
        </p:nvSpPr>
        <p:spPr>
          <a:xfrm xmlns:a="http://schemas.openxmlformats.org/drawingml/2006/main">
            <a:off x="3705225" y="4552950"/>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Septic tank siphoning and cleaning.</a:t>
            </a:r>
          </a:p>
        </p:txBody>
      </p:sp>
      <p:sp>
        <p:nvSpPr>
          <p:cNvPr id="15" name="profile-28">
            <a:extLst xmlns:a="http://schemas.openxmlformats.org/drawingml/2006/main">
              <a:ext uri="{FF2B5EF4-FFF2-40B4-BE49-F238E27FC236}">
                <a16:creationId xmlns:a16="http://schemas.microsoft.com/office/drawing/2014/main" id="{F23B419B-D638-4365-8111-16723CC6F546}"/>
              </a:ext>
            </a:extLst>
          </p:cNvPr>
          <p:cNvSpPr>
            <a:spLocks xmlns:a="http://schemas.openxmlformats.org/drawingml/2006/main" noGrp="1"/>
          </p:cNvSpPr>
          <p:nvPr/>
        </p:nvSpPr>
        <p:spPr>
          <a:xfrm xmlns:a="http://schemas.openxmlformats.org/drawingml/2006/main">
            <a:off x="609600" y="514350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6" name="profile-29">
            <a:extLst xmlns:a="http://schemas.openxmlformats.org/drawingml/2006/main">
              <a:ext uri="{FF2B5EF4-FFF2-40B4-BE49-F238E27FC236}">
                <a16:creationId xmlns:a16="http://schemas.microsoft.com/office/drawing/2014/main" id="{5ED081FF-7860-44DB-90C9-598AF9C4E53C}"/>
              </a:ext>
            </a:extLst>
          </p:cNvPr>
          <p:cNvSpPr>
            <a:spLocks xmlns:a="http://schemas.openxmlformats.org/drawingml/2006/main" noGrp="1"/>
          </p:cNvSpPr>
          <p:nvPr/>
        </p:nvSpPr>
        <p:spPr>
          <a:xfrm xmlns:a="http://schemas.openxmlformats.org/drawingml/2006/main">
            <a:off x="609600" y="5410200"/>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Plumbing</a:t>
            </a:r>
          </a:p>
        </p:txBody>
      </p:sp>
      <p:sp>
        <p:nvSpPr>
          <p:cNvPr id="17" name="profile-30">
            <a:extLst xmlns:a="http://schemas.openxmlformats.org/drawingml/2006/main">
              <a:ext uri="{FF2B5EF4-FFF2-40B4-BE49-F238E27FC236}">
                <a16:creationId xmlns:a16="http://schemas.microsoft.com/office/drawing/2014/main" id="{65E3F764-86FB-4821-9B8B-90A74AF0E4E5}"/>
              </a:ext>
            </a:extLst>
          </p:cNvPr>
          <p:cNvSpPr>
            <a:spLocks xmlns:a="http://schemas.openxmlformats.org/drawingml/2006/main" noGrp="1"/>
          </p:cNvSpPr>
          <p:nvPr/>
        </p:nvSpPr>
        <p:spPr>
          <a:xfrm xmlns:a="http://schemas.openxmlformats.org/drawingml/2006/main">
            <a:off x="3705225" y="5419725"/>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Drain declogging and pipe leak repairs.</a:t>
            </a:r>
          </a:p>
        </p:txBody>
      </p:sp>
      <p:sp>
        <p:nvSpPr>
          <p:cNvPr id="18" name="profile-31">
            <a:extLst xmlns:a="http://schemas.openxmlformats.org/drawingml/2006/main">
              <a:ext uri="{FF2B5EF4-FFF2-40B4-BE49-F238E27FC236}">
                <a16:creationId xmlns:a16="http://schemas.microsoft.com/office/drawing/2014/main" id="{2645107E-3B65-4D78-B214-325C38D25678}"/>
              </a:ext>
            </a:extLst>
          </p:cNvPr>
          <p:cNvSpPr>
            <a:spLocks xmlns:a="http://schemas.openxmlformats.org/drawingml/2006/main" noGrp="1"/>
          </p:cNvSpPr>
          <p:nvPr/>
        </p:nvSpPr>
        <p:spPr>
          <a:xfrm xmlns:a="http://schemas.openxmlformats.org/drawingml/2006/main">
            <a:off x="609600" y="601027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32">
            <a:extLst xmlns:a="http://schemas.openxmlformats.org/drawingml/2006/main">
              <a:ext uri="{FF2B5EF4-FFF2-40B4-BE49-F238E27FC236}">
                <a16:creationId xmlns:a16="http://schemas.microsoft.com/office/drawing/2014/main" id="{D67D0556-B8CB-4989-A099-B7B419E9A41F}"/>
              </a:ext>
            </a:extLst>
          </p:cNvPr>
          <p:cNvSpPr>
            <a:spLocks xmlns:a="http://schemas.openxmlformats.org/drawingml/2006/main" noGrp="1"/>
          </p:cNvSpPr>
          <p:nvPr/>
        </p:nvSpPr>
        <p:spPr>
          <a:xfrm xmlns:a="http://schemas.openxmlformats.org/drawingml/2006/main">
            <a:off x="609600" y="6276975"/>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Renovation &amp;</a:t>
            </a:r>
          </a:p>
        </p:txBody>
      </p:sp>
      <p:sp>
        <p:nvSpPr>
          <p:cNvPr id="20" name="profile-33">
            <a:extLst xmlns:a="http://schemas.openxmlformats.org/drawingml/2006/main">
              <a:ext uri="{FF2B5EF4-FFF2-40B4-BE49-F238E27FC236}">
                <a16:creationId xmlns:a16="http://schemas.microsoft.com/office/drawing/2014/main" id="{CB293148-CC13-464E-8F02-B95865BCFD16}"/>
              </a:ext>
            </a:extLst>
          </p:cNvPr>
          <p:cNvSpPr>
            <a:spLocks xmlns:a="http://schemas.openxmlformats.org/drawingml/2006/main" noGrp="1"/>
          </p:cNvSpPr>
          <p:nvPr/>
        </p:nvSpPr>
        <p:spPr>
          <a:xfrm xmlns:a="http://schemas.openxmlformats.org/drawingml/2006/main">
            <a:off x="609600" y="6553200"/>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restoration</a:t>
            </a:r>
          </a:p>
        </p:txBody>
      </p:sp>
      <p:sp>
        <p:nvSpPr>
          <p:cNvPr id="21" name="profile-34">
            <a:extLst xmlns:a="http://schemas.openxmlformats.org/drawingml/2006/main">
              <a:ext uri="{FF2B5EF4-FFF2-40B4-BE49-F238E27FC236}">
                <a16:creationId xmlns:a16="http://schemas.microsoft.com/office/drawing/2014/main" id="{AE4B3206-7D7C-4648-AD4C-DF27DB32FB9A}"/>
              </a:ext>
            </a:extLst>
          </p:cNvPr>
          <p:cNvSpPr>
            <a:spLocks xmlns:a="http://schemas.openxmlformats.org/drawingml/2006/main" noGrp="1"/>
          </p:cNvSpPr>
          <p:nvPr/>
        </p:nvSpPr>
        <p:spPr>
          <a:xfrm xmlns:a="http://schemas.openxmlformats.org/drawingml/2006/main">
            <a:off x="3705225" y="6286500"/>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House and condominium repairs and</a:t>
            </a:r>
          </a:p>
        </p:txBody>
      </p:sp>
      <p:sp>
        <p:nvSpPr>
          <p:cNvPr id="22" name="profile-35">
            <a:extLst xmlns:a="http://schemas.openxmlformats.org/drawingml/2006/main">
              <a:ext uri="{FF2B5EF4-FFF2-40B4-BE49-F238E27FC236}">
                <a16:creationId xmlns:a16="http://schemas.microsoft.com/office/drawing/2014/main" id="{214FD876-FEFC-4E50-9556-497EE985D3E3}"/>
              </a:ext>
            </a:extLst>
          </p:cNvPr>
          <p:cNvSpPr>
            <a:spLocks xmlns:a="http://schemas.openxmlformats.org/drawingml/2006/main" noGrp="1"/>
          </p:cNvSpPr>
          <p:nvPr/>
        </p:nvSpPr>
        <p:spPr>
          <a:xfrm xmlns:a="http://schemas.openxmlformats.org/drawingml/2006/main">
            <a:off x="3705225" y="6543675"/>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improvements.</a:t>
            </a:r>
          </a:p>
        </p:txBody>
      </p:sp>
      <p:sp>
        <p:nvSpPr>
          <p:cNvPr id="23" name="profile-36">
            <a:extLst xmlns:a="http://schemas.openxmlformats.org/drawingml/2006/main">
              <a:ext uri="{FF2B5EF4-FFF2-40B4-BE49-F238E27FC236}">
                <a16:creationId xmlns:a16="http://schemas.microsoft.com/office/drawing/2014/main" id="{419A8E60-273A-4EB2-8E3C-9522605A1944}"/>
              </a:ext>
            </a:extLst>
          </p:cNvPr>
          <p:cNvSpPr>
            <a:spLocks xmlns:a="http://schemas.openxmlformats.org/drawingml/2006/main" noGrp="1"/>
          </p:cNvSpPr>
          <p:nvPr/>
        </p:nvSpPr>
        <p:spPr>
          <a:xfrm xmlns:a="http://schemas.openxmlformats.org/drawingml/2006/main">
            <a:off x="609600" y="687705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4" name="profile-37">
            <a:extLst xmlns:a="http://schemas.openxmlformats.org/drawingml/2006/main">
              <a:ext uri="{FF2B5EF4-FFF2-40B4-BE49-F238E27FC236}">
                <a16:creationId xmlns:a16="http://schemas.microsoft.com/office/drawing/2014/main" id="{7CC32539-E8D0-46B6-9C6E-6BB4895A6E80}"/>
              </a:ext>
            </a:extLst>
          </p:cNvPr>
          <p:cNvSpPr>
            <a:spLocks xmlns:a="http://schemas.openxmlformats.org/drawingml/2006/main" noGrp="1"/>
          </p:cNvSpPr>
          <p:nvPr/>
        </p:nvSpPr>
        <p:spPr>
          <a:xfrm xmlns:a="http://schemas.openxmlformats.org/drawingml/2006/main">
            <a:off x="609600" y="7143750"/>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Pest control</a:t>
            </a:r>
          </a:p>
        </p:txBody>
      </p:sp>
      <p:sp>
        <p:nvSpPr>
          <p:cNvPr id="25" name="profile-38">
            <a:extLst xmlns:a="http://schemas.openxmlformats.org/drawingml/2006/main">
              <a:ext uri="{FF2B5EF4-FFF2-40B4-BE49-F238E27FC236}">
                <a16:creationId xmlns:a16="http://schemas.microsoft.com/office/drawing/2014/main" id="{8FB159DB-078A-4871-985E-C492B9CCE039}"/>
              </a:ext>
            </a:extLst>
          </p:cNvPr>
          <p:cNvSpPr>
            <a:spLocks xmlns:a="http://schemas.openxmlformats.org/drawingml/2006/main" noGrp="1"/>
          </p:cNvSpPr>
          <p:nvPr/>
        </p:nvSpPr>
        <p:spPr>
          <a:xfrm xmlns:a="http://schemas.openxmlformats.org/drawingml/2006/main">
            <a:off x="3705225" y="7153275"/>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Site assessment, treatment scope and</a:t>
            </a:r>
          </a:p>
        </p:txBody>
      </p:sp>
      <p:sp>
        <p:nvSpPr>
          <p:cNvPr id="26" name="profile-39">
            <a:extLst xmlns:a="http://schemas.openxmlformats.org/drawingml/2006/main">
              <a:ext uri="{FF2B5EF4-FFF2-40B4-BE49-F238E27FC236}">
                <a16:creationId xmlns:a16="http://schemas.microsoft.com/office/drawing/2014/main" id="{AE7EDB11-96A4-4791-B363-9FDABBB81468}"/>
              </a:ext>
            </a:extLst>
          </p:cNvPr>
          <p:cNvSpPr>
            <a:spLocks xmlns:a="http://schemas.openxmlformats.org/drawingml/2006/main" noGrp="1"/>
          </p:cNvSpPr>
          <p:nvPr/>
        </p:nvSpPr>
        <p:spPr>
          <a:xfrm xmlns:a="http://schemas.openxmlformats.org/drawingml/2006/main">
            <a:off x="3705225" y="7410450"/>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service coordination.</a:t>
            </a:r>
          </a:p>
        </p:txBody>
      </p:sp>
      <p:sp>
        <p:nvSpPr>
          <p:cNvPr id="27" name="profile-40">
            <a:extLst xmlns:a="http://schemas.openxmlformats.org/drawingml/2006/main">
              <a:ext uri="{FF2B5EF4-FFF2-40B4-BE49-F238E27FC236}">
                <a16:creationId xmlns:a16="http://schemas.microsoft.com/office/drawing/2014/main" id="{9DDEA630-AA17-46FB-9FDA-B04FFD9497A5}"/>
              </a:ext>
            </a:extLst>
          </p:cNvPr>
          <p:cNvSpPr>
            <a:spLocks xmlns:a="http://schemas.openxmlformats.org/drawingml/2006/main" noGrp="1"/>
          </p:cNvSpPr>
          <p:nvPr/>
        </p:nvSpPr>
        <p:spPr>
          <a:xfrm xmlns:a="http://schemas.openxmlformats.org/drawingml/2006/main">
            <a:off x="609600" y="77438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8" name="profile-41">
            <a:extLst xmlns:a="http://schemas.openxmlformats.org/drawingml/2006/main">
              <a:ext uri="{FF2B5EF4-FFF2-40B4-BE49-F238E27FC236}">
                <a16:creationId xmlns:a16="http://schemas.microsoft.com/office/drawing/2014/main" id="{664F83F3-E11A-4367-81DC-65D603C4262E}"/>
              </a:ext>
            </a:extLst>
          </p:cNvPr>
          <p:cNvSpPr>
            <a:spLocks xmlns:a="http://schemas.openxmlformats.org/drawingml/2006/main" noGrp="1"/>
          </p:cNvSpPr>
          <p:nvPr/>
        </p:nvSpPr>
        <p:spPr>
          <a:xfrm xmlns:a="http://schemas.openxmlformats.org/drawingml/2006/main">
            <a:off x="609600" y="8010525"/>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Sewage treatment</a:t>
            </a:r>
          </a:p>
        </p:txBody>
      </p:sp>
      <p:sp>
        <p:nvSpPr>
          <p:cNvPr id="29" name="profile-42">
            <a:extLst xmlns:a="http://schemas.openxmlformats.org/drawingml/2006/main">
              <a:ext uri="{FF2B5EF4-FFF2-40B4-BE49-F238E27FC236}">
                <a16:creationId xmlns:a16="http://schemas.microsoft.com/office/drawing/2014/main" id="{757BD100-8B13-4951-807E-0058D6A646CF}"/>
              </a:ext>
            </a:extLst>
          </p:cNvPr>
          <p:cNvSpPr>
            <a:spLocks xmlns:a="http://schemas.openxmlformats.org/drawingml/2006/main" noGrp="1"/>
          </p:cNvSpPr>
          <p:nvPr/>
        </p:nvSpPr>
        <p:spPr>
          <a:xfrm xmlns:a="http://schemas.openxmlformats.org/drawingml/2006/main">
            <a:off x="609600" y="8286750"/>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plant (STP)</a:t>
            </a:r>
          </a:p>
        </p:txBody>
      </p:sp>
      <p:sp>
        <p:nvSpPr>
          <p:cNvPr id="30" name="profile-43">
            <a:extLst xmlns:a="http://schemas.openxmlformats.org/drawingml/2006/main">
              <a:ext uri="{FF2B5EF4-FFF2-40B4-BE49-F238E27FC236}">
                <a16:creationId xmlns:a16="http://schemas.microsoft.com/office/drawing/2014/main" id="{AC17DEB9-A5CC-4A1C-A52D-366ABD5A2EE4}"/>
              </a:ext>
            </a:extLst>
          </p:cNvPr>
          <p:cNvSpPr>
            <a:spLocks xmlns:a="http://schemas.openxmlformats.org/drawingml/2006/main" noGrp="1"/>
          </p:cNvSpPr>
          <p:nvPr/>
        </p:nvSpPr>
        <p:spPr>
          <a:xfrm xmlns:a="http://schemas.openxmlformats.org/drawingml/2006/main">
            <a:off x="3705225" y="8020050"/>
            <a:ext cx="3248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Treatment of building wastewater on site.</a:t>
            </a:r>
          </a:p>
        </p:txBody>
      </p:sp>
      <p:sp>
        <p:nvSpPr>
          <p:cNvPr id="31" name="profile-44">
            <a:extLst xmlns:a="http://schemas.openxmlformats.org/drawingml/2006/main">
              <a:ext uri="{FF2B5EF4-FFF2-40B4-BE49-F238E27FC236}">
                <a16:creationId xmlns:a16="http://schemas.microsoft.com/office/drawing/2014/main" id="{86185568-C7D5-4708-88EE-71AAC1932BB1}"/>
              </a:ext>
            </a:extLst>
          </p:cNvPr>
          <p:cNvSpPr>
            <a:spLocks xmlns:a="http://schemas.openxmlformats.org/drawingml/2006/main" noGrp="1"/>
          </p:cNvSpPr>
          <p:nvPr/>
        </p:nvSpPr>
        <p:spPr>
          <a:xfrm xmlns:a="http://schemas.openxmlformats.org/drawingml/2006/main">
            <a:off x="609600" y="86201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32" name="profile-45">
            <a:extLst xmlns:a="http://schemas.openxmlformats.org/drawingml/2006/main">
              <a:ext uri="{FF2B5EF4-FFF2-40B4-BE49-F238E27FC236}">
                <a16:creationId xmlns:a16="http://schemas.microsoft.com/office/drawing/2014/main" id="{9DB21F76-53A7-4116-AB89-88DC889BC309}"/>
              </a:ext>
            </a:extLst>
          </p:cNvPr>
          <p:cNvSpPr>
            <a:spLocks xmlns:a="http://schemas.openxmlformats.org/drawingml/2006/main" noGrp="1"/>
          </p:cNvSpPr>
          <p:nvPr/>
        </p:nvSpPr>
        <p:spPr>
          <a:xfrm xmlns:a="http://schemas.openxmlformats.org/drawingml/2006/main">
            <a:off x="609600" y="8934450"/>
            <a:ext cx="6343650" cy="303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C63AD"/>
                </a:solidFill>
                <a:latin typeface="Segoe UI"/>
                <a:ea typeface="Segoe UI"/>
                <a:cs typeface="Segoe UI"/>
              </a:defRPr>
            </a:pPr>
            <a:r>
              <a:rPr sz="1725" b="1">
                <a:solidFill>
                  <a:srgbClr val="1C63AD"/>
                </a:solidFill>
                <a:latin typeface="Segoe UI"/>
                <a:ea typeface="Segoe UI"/>
                <a:cs typeface="Segoe UI"/>
              </a:rPr>
              <a:t>One contact through turnover</a:t>
            </a:r>
          </a:p>
        </p:txBody>
      </p:sp>
      <p:sp>
        <p:nvSpPr>
          <p:cNvPr id="33" name="profile-46">
            <a:extLst xmlns:a="http://schemas.openxmlformats.org/drawingml/2006/main">
              <a:ext uri="{FF2B5EF4-FFF2-40B4-BE49-F238E27FC236}">
                <a16:creationId xmlns:a16="http://schemas.microsoft.com/office/drawing/2014/main" id="{B09928C0-832D-48AE-AD4E-47B54B09FB46}"/>
              </a:ext>
            </a:extLst>
          </p:cNvPr>
          <p:cNvSpPr>
            <a:spLocks xmlns:a="http://schemas.openxmlformats.org/drawingml/2006/main" noGrp="1"/>
          </p:cNvSpPr>
          <p:nvPr/>
        </p:nvSpPr>
        <p:spPr>
          <a:xfrm xmlns:a="http://schemas.openxmlformats.org/drawingml/2006/main">
            <a:off x="609600" y="9334500"/>
            <a:ext cx="634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Oceanides coordinates assessment, quotation and delivery, including specialist</a:t>
            </a:r>
          </a:p>
        </p:txBody>
      </p:sp>
      <p:sp>
        <p:nvSpPr>
          <p:cNvPr id="34" name="profile-47">
            <a:extLst xmlns:a="http://schemas.openxmlformats.org/drawingml/2006/main">
              <a:ext uri="{FF2B5EF4-FFF2-40B4-BE49-F238E27FC236}">
                <a16:creationId xmlns:a16="http://schemas.microsoft.com/office/drawing/2014/main" id="{BBD59B76-EB85-41A5-B943-979F078B6765}"/>
              </a:ext>
            </a:extLst>
          </p:cNvPr>
          <p:cNvSpPr>
            <a:spLocks xmlns:a="http://schemas.openxmlformats.org/drawingml/2006/main" noGrp="1"/>
          </p:cNvSpPr>
          <p:nvPr/>
        </p:nvSpPr>
        <p:spPr>
          <a:xfrm xmlns:a="http://schemas.openxmlformats.org/drawingml/2006/main">
            <a:off x="609600" y="9591675"/>
            <a:ext cx="634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contractors where required.</a:t>
            </a:r>
          </a:p>
        </p:txBody>
      </p:sp>
      <p:sp>
        <p:nvSpPr>
          <p:cNvPr id="35" name="profile-48">
            <a:extLst xmlns:a="http://schemas.openxmlformats.org/drawingml/2006/main">
              <a:ext uri="{FF2B5EF4-FFF2-40B4-BE49-F238E27FC236}">
                <a16:creationId xmlns:a16="http://schemas.microsoft.com/office/drawing/2014/main" id="{CFE5E234-ABF5-4253-B7D6-A9288DB06B56}"/>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36" name="profile-49">
            <a:extLst xmlns:a="http://schemas.openxmlformats.org/drawingml/2006/main">
              <a:ext uri="{FF2B5EF4-FFF2-40B4-BE49-F238E27FC236}">
                <a16:creationId xmlns:a16="http://schemas.microsoft.com/office/drawing/2014/main" id="{E0FB56C5-0193-49A4-BF50-5D9325B3616C}"/>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37" name="profile-50">
            <a:extLst xmlns:a="http://schemas.openxmlformats.org/drawingml/2006/main">
              <a:ext uri="{FF2B5EF4-FFF2-40B4-BE49-F238E27FC236}">
                <a16:creationId xmlns:a16="http://schemas.microsoft.com/office/drawing/2014/main" id="{277095CB-117F-4540-8307-936203DD4184}"/>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02</a:t>
            </a:r>
          </a:p>
        </p:txBody>
      </p:sp>
    </p:spTree>
    <p:extLst>
      <p:ext uri="{BB962C8B-B14F-4D97-AF65-F5344CB8AC3E}">
        <p14:creationId xmlns:p14="http://schemas.microsoft.com/office/powerpoint/2010/main" val="896482017"/>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7" name="profile-51">
            <a:extLst xmlns:a="http://schemas.openxmlformats.org/drawingml/2006/main">
              <a:ext uri="{FF2B5EF4-FFF2-40B4-BE49-F238E27FC236}">
                <a16:creationId xmlns:a16="http://schemas.microsoft.com/office/drawing/2014/main" id="{9663AED9-62D5-41A8-9117-B0343206171E}"/>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52">
            <a:extLst xmlns:a="http://schemas.openxmlformats.org/drawingml/2006/main">
              <a:ext uri="{FF2B5EF4-FFF2-40B4-BE49-F238E27FC236}">
                <a16:creationId xmlns:a16="http://schemas.microsoft.com/office/drawing/2014/main" id="{5DB780C1-24C2-4BCB-9EFD-CAB6E9C2E03A}"/>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53">
            <a:extLst xmlns:a="http://schemas.openxmlformats.org/drawingml/2006/main">
              <a:ext uri="{FF2B5EF4-FFF2-40B4-BE49-F238E27FC236}">
                <a16:creationId xmlns:a16="http://schemas.microsoft.com/office/drawing/2014/main" id="{FD797868-D5F5-48C1-9FD0-76A2124B07D6}"/>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54">
            <a:extLst xmlns:a="http://schemas.openxmlformats.org/drawingml/2006/main">
              <a:ext uri="{FF2B5EF4-FFF2-40B4-BE49-F238E27FC236}">
                <a16:creationId xmlns:a16="http://schemas.microsoft.com/office/drawing/2014/main" id="{84B24EB9-864A-4F0A-AC97-AF890353AF0A}"/>
              </a:ext>
            </a:extLst>
          </p:cNvPr>
          <p:cNvSpPr>
            <a:spLocks xmlns:a="http://schemas.openxmlformats.org/drawingml/2006/main" noGrp="1"/>
          </p:cNvSpPr>
          <p:nvPr/>
        </p:nvSpPr>
        <p:spPr>
          <a:xfrm xmlns:a="http://schemas.openxmlformats.org/drawingml/2006/main">
            <a:off x="609600" y="457200"/>
            <a:ext cx="34290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17212B"/>
                </a:solidFill>
                <a:latin typeface="Segoe UI"/>
                <a:ea typeface="Segoe UI"/>
                <a:cs typeface="Segoe UI"/>
              </a:defRPr>
            </a:pPr>
            <a:r>
              <a:rPr sz="1425" b="1">
                <a:solidFill>
                  <a:srgbClr val="17212B"/>
                </a:solidFill>
                <a:latin typeface="Segoe UI"/>
                <a:ea typeface="Segoe UI"/>
                <a:cs typeface="Segoe UI"/>
              </a:rPr>
              <a:t>Oceanides</a:t>
            </a:r>
          </a:p>
        </p:txBody>
      </p:sp>
      <p:sp>
        <p:nvSpPr>
          <p:cNvPr id="5" name="profile-55">
            <a:extLst xmlns:a="http://schemas.openxmlformats.org/drawingml/2006/main">
              <a:ext uri="{FF2B5EF4-FFF2-40B4-BE49-F238E27FC236}">
                <a16:creationId xmlns:a16="http://schemas.microsoft.com/office/drawing/2014/main" id="{A22318C0-D70C-41FC-B364-1B7D242D1701}"/>
              </a:ext>
            </a:extLst>
          </p:cNvPr>
          <p:cNvSpPr>
            <a:spLocks xmlns:a="http://schemas.openxmlformats.org/drawingml/2006/main" noGrp="1"/>
          </p:cNvSpPr>
          <p:nvPr/>
        </p:nvSpPr>
        <p:spPr>
          <a:xfrm xmlns:a="http://schemas.openxmlformats.org/drawingml/2006/main">
            <a:off x="4981575" y="485775"/>
            <a:ext cx="1971675"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3707D"/>
                </a:solidFill>
                <a:latin typeface="Arial"/>
                <a:ea typeface="Arial"/>
                <a:cs typeface="Arial"/>
              </a:defRPr>
            </a:pPr>
            <a:r>
              <a:rPr sz="1050" b="0">
                <a:solidFill>
                  <a:srgbClr val="63707D"/>
                </a:solidFill>
                <a:latin typeface="Arial"/>
                <a:ea typeface="Arial"/>
                <a:cs typeface="Arial"/>
              </a:rPr>
              <a:t>Company profile</a:t>
            </a:r>
          </a:p>
        </p:txBody>
      </p:sp>
      <p:sp>
        <p:nvSpPr>
          <p:cNvPr id="6" name="profile-56">
            <a:extLst xmlns:a="http://schemas.openxmlformats.org/drawingml/2006/main">
              <a:ext uri="{FF2B5EF4-FFF2-40B4-BE49-F238E27FC236}">
                <a16:creationId xmlns:a16="http://schemas.microsoft.com/office/drawing/2014/main" id="{F6571CBA-D2F7-4364-B9A1-C22221994BCD}"/>
              </a:ext>
            </a:extLst>
          </p:cNvPr>
          <p:cNvSpPr>
            <a:spLocks xmlns:a="http://schemas.openxmlformats.org/drawingml/2006/main" noGrp="1"/>
          </p:cNvSpPr>
          <p:nvPr/>
        </p:nvSpPr>
        <p:spPr>
          <a:xfrm xmlns:a="http://schemas.openxmlformats.org/drawingml/2006/main">
            <a:off x="609600" y="1238250"/>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1C63AD"/>
                </a:solidFill>
                <a:latin typeface="Segoe UI"/>
                <a:ea typeface="Segoe UI"/>
                <a:cs typeface="Segoe UI"/>
              </a:defRPr>
            </a:pPr>
            <a:r>
              <a:rPr sz="3975" b="1">
                <a:solidFill>
                  <a:srgbClr val="1C63AD"/>
                </a:solidFill>
                <a:latin typeface="Segoe UI"/>
                <a:ea typeface="Segoe UI"/>
                <a:cs typeface="Segoe UI"/>
              </a:rPr>
              <a:t>Siphoning &amp;</a:t>
            </a:r>
          </a:p>
        </p:txBody>
      </p:sp>
      <p:sp>
        <p:nvSpPr>
          <p:cNvPr id="7" name="profile-57">
            <a:extLst xmlns:a="http://schemas.openxmlformats.org/drawingml/2006/main">
              <a:ext uri="{FF2B5EF4-FFF2-40B4-BE49-F238E27FC236}">
                <a16:creationId xmlns:a16="http://schemas.microsoft.com/office/drawing/2014/main" id="{05E7D6A2-1CF5-4774-93A9-96520EFA8F99}"/>
              </a:ext>
            </a:extLst>
          </p:cNvPr>
          <p:cNvSpPr>
            <a:spLocks xmlns:a="http://schemas.openxmlformats.org/drawingml/2006/main" noGrp="1"/>
          </p:cNvSpPr>
          <p:nvPr/>
        </p:nvSpPr>
        <p:spPr>
          <a:xfrm xmlns:a="http://schemas.openxmlformats.org/drawingml/2006/main">
            <a:off x="609600" y="18002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1C63AD"/>
                </a:solidFill>
                <a:latin typeface="Segoe UI"/>
                <a:ea typeface="Segoe UI"/>
                <a:cs typeface="Segoe UI"/>
              </a:defRPr>
            </a:pPr>
            <a:r>
              <a:rPr sz="3975" b="1">
                <a:solidFill>
                  <a:srgbClr val="1C63AD"/>
                </a:solidFill>
                <a:latin typeface="Segoe UI"/>
                <a:ea typeface="Segoe UI"/>
                <a:cs typeface="Segoe UI"/>
              </a:rPr>
              <a:t>plumbing</a:t>
            </a:r>
          </a:p>
        </p:txBody>
      </p:sp>
      <p:sp>
        <p:nvSpPr>
          <p:cNvPr id="8" name="profile-58">
            <a:extLst xmlns:a="http://schemas.openxmlformats.org/drawingml/2006/main">
              <a:ext uri="{FF2B5EF4-FFF2-40B4-BE49-F238E27FC236}">
                <a16:creationId xmlns:a16="http://schemas.microsoft.com/office/drawing/2014/main" id="{BC529CF8-8007-435D-A338-BFE648386B0D}"/>
              </a:ext>
            </a:extLst>
          </p:cNvPr>
          <p:cNvSpPr>
            <a:spLocks xmlns:a="http://schemas.openxmlformats.org/drawingml/2006/main" noGrp="1"/>
          </p:cNvSpPr>
          <p:nvPr/>
        </p:nvSpPr>
        <p:spPr>
          <a:xfrm xmlns:a="http://schemas.openxmlformats.org/drawingml/2006/main">
            <a:off x="609600" y="265747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Septic tank services, drain declogging and plumbing repairs.</a:t>
            </a:r>
          </a:p>
        </p:txBody>
      </p:sp>
      <p:sp>
        <p:nvSpPr>
          <p:cNvPr id="9" name="profile-59">
            <a:extLst xmlns:a="http://schemas.openxmlformats.org/drawingml/2006/main">
              <a:ext uri="{FF2B5EF4-FFF2-40B4-BE49-F238E27FC236}">
                <a16:creationId xmlns:a16="http://schemas.microsoft.com/office/drawing/2014/main" id="{6DD8FC0D-838E-4CB7-8232-F382AD3F169F}"/>
              </a:ext>
            </a:extLst>
          </p:cNvPr>
          <p:cNvSpPr>
            <a:spLocks xmlns:a="http://schemas.openxmlformats.org/drawingml/2006/main" noGrp="1"/>
          </p:cNvSpPr>
          <p:nvPr/>
        </p:nvSpPr>
        <p:spPr>
          <a:xfrm xmlns:a="http://schemas.openxmlformats.org/drawingml/2006/main">
            <a:off x="609600" y="3724275"/>
            <a:ext cx="2647950" cy="303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C63AD"/>
                </a:solidFill>
                <a:latin typeface="Segoe UI"/>
                <a:ea typeface="Segoe UI"/>
                <a:cs typeface="Segoe UI"/>
              </a:defRPr>
            </a:pPr>
            <a:r>
              <a:rPr sz="1725" b="1">
                <a:solidFill>
                  <a:srgbClr val="1C63AD"/>
                </a:solidFill>
                <a:latin typeface="Segoe UI"/>
                <a:ea typeface="Segoe UI"/>
                <a:cs typeface="Segoe UI"/>
              </a:rPr>
              <a:t>Service scope</a:t>
            </a:r>
          </a:p>
        </p:txBody>
      </p:sp>
      <p:sp>
        <p:nvSpPr>
          <p:cNvPr id="10" name="profile-60">
            <a:extLst xmlns:a="http://schemas.openxmlformats.org/drawingml/2006/main">
              <a:ext uri="{FF2B5EF4-FFF2-40B4-BE49-F238E27FC236}">
                <a16:creationId xmlns:a16="http://schemas.microsoft.com/office/drawing/2014/main" id="{00544F27-B8C0-4CD7-8D4D-75C51771C11B}"/>
              </a:ext>
            </a:extLst>
          </p:cNvPr>
          <p:cNvSpPr>
            <a:spLocks xmlns:a="http://schemas.openxmlformats.org/drawingml/2006/main" noGrp="1"/>
          </p:cNvSpPr>
          <p:nvPr/>
        </p:nvSpPr>
        <p:spPr>
          <a:xfrm xmlns:a="http://schemas.openxmlformats.org/drawingml/2006/main">
            <a:off x="609600" y="4210050"/>
            <a:ext cx="26479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Septic tank siphoning</a:t>
            </a:r>
          </a:p>
        </p:txBody>
      </p:sp>
      <p:sp>
        <p:nvSpPr>
          <p:cNvPr id="11" name="profile-61">
            <a:extLst xmlns:a="http://schemas.openxmlformats.org/drawingml/2006/main">
              <a:ext uri="{FF2B5EF4-FFF2-40B4-BE49-F238E27FC236}">
                <a16:creationId xmlns:a16="http://schemas.microsoft.com/office/drawing/2014/main" id="{C9BA0995-A581-475D-B03F-7D8938DF6ED5}"/>
              </a:ext>
            </a:extLst>
          </p:cNvPr>
          <p:cNvSpPr>
            <a:spLocks xmlns:a="http://schemas.openxmlformats.org/drawingml/2006/main" noGrp="1"/>
          </p:cNvSpPr>
          <p:nvPr/>
        </p:nvSpPr>
        <p:spPr>
          <a:xfrm xmlns:a="http://schemas.openxmlformats.org/drawingml/2006/main">
            <a:off x="609600" y="4581525"/>
            <a:ext cx="26479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Septic tank cleaning</a:t>
            </a:r>
          </a:p>
        </p:txBody>
      </p:sp>
      <p:sp>
        <p:nvSpPr>
          <p:cNvPr id="12" name="profile-62">
            <a:extLst xmlns:a="http://schemas.openxmlformats.org/drawingml/2006/main">
              <a:ext uri="{FF2B5EF4-FFF2-40B4-BE49-F238E27FC236}">
                <a16:creationId xmlns:a16="http://schemas.microsoft.com/office/drawing/2014/main" id="{742544F5-6B11-4395-B5D2-3A3DB816EF70}"/>
              </a:ext>
            </a:extLst>
          </p:cNvPr>
          <p:cNvSpPr>
            <a:spLocks xmlns:a="http://schemas.openxmlformats.org/drawingml/2006/main" noGrp="1"/>
          </p:cNvSpPr>
          <p:nvPr/>
        </p:nvSpPr>
        <p:spPr>
          <a:xfrm xmlns:a="http://schemas.openxmlformats.org/drawingml/2006/main">
            <a:off x="609600" y="4953000"/>
            <a:ext cx="26479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Drain declogging</a:t>
            </a:r>
          </a:p>
        </p:txBody>
      </p:sp>
      <p:sp>
        <p:nvSpPr>
          <p:cNvPr id="13" name="profile-63">
            <a:extLst xmlns:a="http://schemas.openxmlformats.org/drawingml/2006/main">
              <a:ext uri="{FF2B5EF4-FFF2-40B4-BE49-F238E27FC236}">
                <a16:creationId xmlns:a16="http://schemas.microsoft.com/office/drawing/2014/main" id="{DDE71F0F-1F52-46E5-B2DD-D26A595CAFD1}"/>
              </a:ext>
            </a:extLst>
          </p:cNvPr>
          <p:cNvSpPr>
            <a:spLocks xmlns:a="http://schemas.openxmlformats.org/drawingml/2006/main" noGrp="1"/>
          </p:cNvSpPr>
          <p:nvPr/>
        </p:nvSpPr>
        <p:spPr>
          <a:xfrm xmlns:a="http://schemas.openxmlformats.org/drawingml/2006/main">
            <a:off x="609600" y="5324475"/>
            <a:ext cx="26479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Pipe leak repairs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4242ab99eea4faa"/>
          <a:stretch xmlns:a="http://schemas.openxmlformats.org/drawingml/2006/main"/>
        </p:blipFill>
        <p:spPr>
          <a:xfrm xmlns:a="http://schemas.openxmlformats.org/drawingml/2006/main">
            <a:off x="3543300" y="3648075"/>
            <a:ext cx="3409950" cy="2273300"/>
          </a:xfrm>
          <a:prstGeom xmlns:a="http://schemas.openxmlformats.org/drawingml/2006/main" prst="rect">
            <a:avLst/>
          </a:prstGeom>
        </p:spPr>
      </p:pic>
      <p:sp>
        <p:nvSpPr>
          <p:cNvPr id="15" name="profile-64">
            <a:extLst xmlns:a="http://schemas.openxmlformats.org/drawingml/2006/main">
              <a:ext uri="{FF2B5EF4-FFF2-40B4-BE49-F238E27FC236}">
                <a16:creationId xmlns:a16="http://schemas.microsoft.com/office/drawing/2014/main" id="{8799D96E-8546-4027-9E05-9DBA05D952BA}"/>
              </a:ext>
            </a:extLst>
          </p:cNvPr>
          <p:cNvSpPr>
            <a:spLocks xmlns:a="http://schemas.openxmlformats.org/drawingml/2006/main" noGrp="1"/>
          </p:cNvSpPr>
          <p:nvPr/>
        </p:nvSpPr>
        <p:spPr>
          <a:xfrm xmlns:a="http://schemas.openxmlformats.org/drawingml/2006/main">
            <a:off x="3543300" y="6076950"/>
            <a:ext cx="34099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63707D"/>
                </a:solidFill>
                <a:latin typeface="Arial"/>
                <a:ea typeface="Arial"/>
                <a:cs typeface="Arial"/>
              </a:defRPr>
            </a:pPr>
            <a:r>
              <a:rPr sz="750" b="0">
                <a:solidFill>
                  <a:srgbClr val="63707D"/>
                </a:solidFill>
                <a:latin typeface="Arial"/>
                <a:ea typeface="Arial"/>
                <a:cs typeface="Arial"/>
              </a:rPr>
              <a:t>AI-generated service illustration</a:t>
            </a:r>
          </a:p>
        </p:txBody>
      </p:sp>
      <p:sp>
        <p:nvSpPr>
          <p:cNvPr id="16" name="profile-65">
            <a:extLst xmlns:a="http://schemas.openxmlformats.org/drawingml/2006/main">
              <a:ext uri="{FF2B5EF4-FFF2-40B4-BE49-F238E27FC236}">
                <a16:creationId xmlns:a16="http://schemas.microsoft.com/office/drawing/2014/main" id="{4C9A91B4-A4AA-4708-A248-01AB0C5FB47B}"/>
              </a:ext>
            </a:extLst>
          </p:cNvPr>
          <p:cNvSpPr>
            <a:spLocks xmlns:a="http://schemas.openxmlformats.org/drawingml/2006/main" noGrp="1"/>
          </p:cNvSpPr>
          <p:nvPr/>
        </p:nvSpPr>
        <p:spPr>
          <a:xfrm xmlns:a="http://schemas.openxmlformats.org/drawingml/2006/main">
            <a:off x="609600" y="658177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7" name="profile-66">
            <a:extLst xmlns:a="http://schemas.openxmlformats.org/drawingml/2006/main">
              <a:ext uri="{FF2B5EF4-FFF2-40B4-BE49-F238E27FC236}">
                <a16:creationId xmlns:a16="http://schemas.microsoft.com/office/drawing/2014/main" id="{1490AF26-75C7-4B5E-BB5A-48C9F9109D13}"/>
              </a:ext>
            </a:extLst>
          </p:cNvPr>
          <p:cNvSpPr>
            <a:spLocks xmlns:a="http://schemas.openxmlformats.org/drawingml/2006/main" noGrp="1"/>
          </p:cNvSpPr>
          <p:nvPr/>
        </p:nvSpPr>
        <p:spPr>
          <a:xfrm xmlns:a="http://schemas.openxmlformats.org/drawingml/2006/main">
            <a:off x="609600" y="6867525"/>
            <a:ext cx="634365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Actual siphoning work</a:t>
            </a:r>
          </a:p>
        </p:txBody>
      </p:sp>
      <p:sp>
        <p:nvSpPr>
          <p:cNvPr id="18" name="profile-67">
            <a:extLst xmlns:a="http://schemas.openxmlformats.org/drawingml/2006/main">
              <a:ext uri="{FF2B5EF4-FFF2-40B4-BE49-F238E27FC236}">
                <a16:creationId xmlns:a16="http://schemas.microsoft.com/office/drawing/2014/main" id="{D6D39A4B-1CBD-4270-8116-2B3EF99B9818}"/>
              </a:ext>
            </a:extLst>
          </p:cNvPr>
          <p:cNvSpPr>
            <a:spLocks xmlns:a="http://schemas.openxmlformats.org/drawingml/2006/main" noGrp="1"/>
          </p:cNvSpPr>
          <p:nvPr/>
        </p:nvSpPr>
        <p:spPr>
          <a:xfrm xmlns:a="http://schemas.openxmlformats.org/drawingml/2006/main">
            <a:off x="609600" y="7258050"/>
            <a:ext cx="634365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Same site before and after service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9915d6684bf4dbf"/>
          <a:srcRect xmlns:a="http://schemas.openxmlformats.org/drawingml/2006/main" l="0" t="31186" r="0" b="31186"/>
          <a:stretch xmlns:a="http://schemas.openxmlformats.org/drawingml/2006/main">
            <a:fillRect l="0" t="0" r="0" b="0"/>
          </a:stretch>
        </p:blipFill>
        <p:spPr>
          <a:xfrm xmlns:a="http://schemas.openxmlformats.org/drawingml/2006/main">
            <a:off x="609600" y="7629525"/>
            <a:ext cx="3105150" cy="17526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1586360fd4d4d1f"/>
          <a:srcRect xmlns:a="http://schemas.openxmlformats.org/drawingml/2006/main" l="0" t="31186" r="0" b="31186"/>
          <a:stretch xmlns:a="http://schemas.openxmlformats.org/drawingml/2006/main">
            <a:fillRect l="0" t="0" r="0" b="0"/>
          </a:stretch>
        </p:blipFill>
        <p:spPr>
          <a:xfrm xmlns:a="http://schemas.openxmlformats.org/drawingml/2006/main">
            <a:off x="3848100" y="7629525"/>
            <a:ext cx="3105150" cy="1752600"/>
          </a:xfrm>
          <a:prstGeom xmlns:a="http://schemas.openxmlformats.org/drawingml/2006/main" prst="rect">
            <a:avLst/>
          </a:prstGeom>
        </p:spPr>
      </p:pic>
      <p:sp>
        <p:nvSpPr>
          <p:cNvPr id="21" name="profile-68">
            <a:extLst xmlns:a="http://schemas.openxmlformats.org/drawingml/2006/main">
              <a:ext uri="{FF2B5EF4-FFF2-40B4-BE49-F238E27FC236}">
                <a16:creationId xmlns:a16="http://schemas.microsoft.com/office/drawing/2014/main" id="{EBF0DCB3-A9CB-4788-BF33-F671BE164FFA}"/>
              </a:ext>
            </a:extLst>
          </p:cNvPr>
          <p:cNvSpPr>
            <a:spLocks xmlns:a="http://schemas.openxmlformats.org/drawingml/2006/main" noGrp="1"/>
          </p:cNvSpPr>
          <p:nvPr/>
        </p:nvSpPr>
        <p:spPr>
          <a:xfrm xmlns:a="http://schemas.openxmlformats.org/drawingml/2006/main">
            <a:off x="609600" y="9515475"/>
            <a:ext cx="310515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Before service</a:t>
            </a:r>
          </a:p>
        </p:txBody>
      </p:sp>
      <p:sp>
        <p:nvSpPr>
          <p:cNvPr id="22" name="profile-69">
            <a:extLst xmlns:a="http://schemas.openxmlformats.org/drawingml/2006/main">
              <a:ext uri="{FF2B5EF4-FFF2-40B4-BE49-F238E27FC236}">
                <a16:creationId xmlns:a16="http://schemas.microsoft.com/office/drawing/2014/main" id="{183235D1-E16E-47B9-B8F4-A9920D721BBB}"/>
              </a:ext>
            </a:extLst>
          </p:cNvPr>
          <p:cNvSpPr>
            <a:spLocks xmlns:a="http://schemas.openxmlformats.org/drawingml/2006/main" noGrp="1"/>
          </p:cNvSpPr>
          <p:nvPr/>
        </p:nvSpPr>
        <p:spPr>
          <a:xfrm xmlns:a="http://schemas.openxmlformats.org/drawingml/2006/main">
            <a:off x="3848100" y="9515475"/>
            <a:ext cx="310515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After service</a:t>
            </a:r>
          </a:p>
        </p:txBody>
      </p:sp>
      <p:sp>
        <p:nvSpPr>
          <p:cNvPr id="23" name="profile-70">
            <a:extLst xmlns:a="http://schemas.openxmlformats.org/drawingml/2006/main">
              <a:ext uri="{FF2B5EF4-FFF2-40B4-BE49-F238E27FC236}">
                <a16:creationId xmlns:a16="http://schemas.microsoft.com/office/drawing/2014/main" id="{EF4509D3-1498-448E-9266-F67D035BF589}"/>
              </a:ext>
            </a:extLst>
          </p:cNvPr>
          <p:cNvSpPr>
            <a:spLocks xmlns:a="http://schemas.openxmlformats.org/drawingml/2006/main" noGrp="1"/>
          </p:cNvSpPr>
          <p:nvPr/>
        </p:nvSpPr>
        <p:spPr>
          <a:xfrm xmlns:a="http://schemas.openxmlformats.org/drawingml/2006/main">
            <a:off x="609600" y="9810750"/>
            <a:ext cx="634365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Scope follows site access and tank or pipe conditions.</a:t>
            </a:r>
          </a:p>
        </p:txBody>
      </p:sp>
      <p:sp>
        <p:nvSpPr>
          <p:cNvPr id="24" name="profile-71">
            <a:extLst xmlns:a="http://schemas.openxmlformats.org/drawingml/2006/main">
              <a:ext uri="{FF2B5EF4-FFF2-40B4-BE49-F238E27FC236}">
                <a16:creationId xmlns:a16="http://schemas.microsoft.com/office/drawing/2014/main" id="{7B1BA8C1-16B1-4BC9-84E9-7C96C1FF02AF}"/>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5" name="profile-72">
            <a:extLst xmlns:a="http://schemas.openxmlformats.org/drawingml/2006/main">
              <a:ext uri="{FF2B5EF4-FFF2-40B4-BE49-F238E27FC236}">
                <a16:creationId xmlns:a16="http://schemas.microsoft.com/office/drawing/2014/main" id="{FC37C9F7-F61F-4320-BCE0-B237AE6275DA}"/>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26" name="profile-73">
            <a:extLst xmlns:a="http://schemas.openxmlformats.org/drawingml/2006/main">
              <a:ext uri="{FF2B5EF4-FFF2-40B4-BE49-F238E27FC236}">
                <a16:creationId xmlns:a16="http://schemas.microsoft.com/office/drawing/2014/main" id="{777CD5AC-91BD-4316-A7F7-C6B53A538022}"/>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03</a:t>
            </a:r>
          </a:p>
        </p:txBody>
      </p:sp>
    </p:spTree>
    <p:extLst>
      <p:ext uri="{BB962C8B-B14F-4D97-AF65-F5344CB8AC3E}">
        <p14:creationId xmlns:p14="http://schemas.microsoft.com/office/powerpoint/2010/main" val="25851211"/>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7" name="profile-74">
            <a:extLst xmlns:a="http://schemas.openxmlformats.org/drawingml/2006/main">
              <a:ext uri="{FF2B5EF4-FFF2-40B4-BE49-F238E27FC236}">
                <a16:creationId xmlns:a16="http://schemas.microsoft.com/office/drawing/2014/main" id="{58C2D3E1-F84B-4C22-9FC2-573EA31047E5}"/>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75">
            <a:extLst xmlns:a="http://schemas.openxmlformats.org/drawingml/2006/main">
              <a:ext uri="{FF2B5EF4-FFF2-40B4-BE49-F238E27FC236}">
                <a16:creationId xmlns:a16="http://schemas.microsoft.com/office/drawing/2014/main" id="{FF2B365C-13BC-404D-848F-032D6A7B72B4}"/>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76">
            <a:extLst xmlns:a="http://schemas.openxmlformats.org/drawingml/2006/main">
              <a:ext uri="{FF2B5EF4-FFF2-40B4-BE49-F238E27FC236}">
                <a16:creationId xmlns:a16="http://schemas.microsoft.com/office/drawing/2014/main" id="{FC9F6B07-57DF-4D4A-9F3C-AB6CECFAC075}"/>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77">
            <a:extLst xmlns:a="http://schemas.openxmlformats.org/drawingml/2006/main">
              <a:ext uri="{FF2B5EF4-FFF2-40B4-BE49-F238E27FC236}">
                <a16:creationId xmlns:a16="http://schemas.microsoft.com/office/drawing/2014/main" id="{7F823ED4-3D53-4DE2-BA07-FBFC1C724A63}"/>
              </a:ext>
            </a:extLst>
          </p:cNvPr>
          <p:cNvSpPr>
            <a:spLocks xmlns:a="http://schemas.openxmlformats.org/drawingml/2006/main" noGrp="1"/>
          </p:cNvSpPr>
          <p:nvPr/>
        </p:nvSpPr>
        <p:spPr>
          <a:xfrm xmlns:a="http://schemas.openxmlformats.org/drawingml/2006/main">
            <a:off x="609600" y="457200"/>
            <a:ext cx="34290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17212B"/>
                </a:solidFill>
                <a:latin typeface="Segoe UI"/>
                <a:ea typeface="Segoe UI"/>
                <a:cs typeface="Segoe UI"/>
              </a:defRPr>
            </a:pPr>
            <a:r>
              <a:rPr sz="1425" b="1">
                <a:solidFill>
                  <a:srgbClr val="17212B"/>
                </a:solidFill>
                <a:latin typeface="Segoe UI"/>
                <a:ea typeface="Segoe UI"/>
                <a:cs typeface="Segoe UI"/>
              </a:rPr>
              <a:t>Oceanides</a:t>
            </a:r>
          </a:p>
        </p:txBody>
      </p:sp>
      <p:sp>
        <p:nvSpPr>
          <p:cNvPr id="5" name="profile-78">
            <a:extLst xmlns:a="http://schemas.openxmlformats.org/drawingml/2006/main">
              <a:ext uri="{FF2B5EF4-FFF2-40B4-BE49-F238E27FC236}">
                <a16:creationId xmlns:a16="http://schemas.microsoft.com/office/drawing/2014/main" id="{482BBA2B-F0C3-428A-9C6F-195ACF4A7C28}"/>
              </a:ext>
            </a:extLst>
          </p:cNvPr>
          <p:cNvSpPr>
            <a:spLocks xmlns:a="http://schemas.openxmlformats.org/drawingml/2006/main" noGrp="1"/>
          </p:cNvSpPr>
          <p:nvPr/>
        </p:nvSpPr>
        <p:spPr>
          <a:xfrm xmlns:a="http://schemas.openxmlformats.org/drawingml/2006/main">
            <a:off x="4981575" y="485775"/>
            <a:ext cx="1971675"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3707D"/>
                </a:solidFill>
                <a:latin typeface="Arial"/>
                <a:ea typeface="Arial"/>
                <a:cs typeface="Arial"/>
              </a:defRPr>
            </a:pPr>
            <a:r>
              <a:rPr sz="1050" b="0">
                <a:solidFill>
                  <a:srgbClr val="63707D"/>
                </a:solidFill>
                <a:latin typeface="Arial"/>
                <a:ea typeface="Arial"/>
                <a:cs typeface="Arial"/>
              </a:rPr>
              <a:t>Company profile</a:t>
            </a:r>
          </a:p>
        </p:txBody>
      </p:sp>
      <p:sp>
        <p:nvSpPr>
          <p:cNvPr id="6" name="profile-79">
            <a:extLst xmlns:a="http://schemas.openxmlformats.org/drawingml/2006/main">
              <a:ext uri="{FF2B5EF4-FFF2-40B4-BE49-F238E27FC236}">
                <a16:creationId xmlns:a16="http://schemas.microsoft.com/office/drawing/2014/main" id="{90B6CB74-AF73-49EA-9354-EDAE119680AD}"/>
              </a:ext>
            </a:extLst>
          </p:cNvPr>
          <p:cNvSpPr>
            <a:spLocks xmlns:a="http://schemas.openxmlformats.org/drawingml/2006/main" noGrp="1"/>
          </p:cNvSpPr>
          <p:nvPr/>
        </p:nvSpPr>
        <p:spPr>
          <a:xfrm xmlns:a="http://schemas.openxmlformats.org/drawingml/2006/main">
            <a:off x="609600" y="1238250"/>
            <a:ext cx="6343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0">
                <a:solidFill>
                  <a:srgbClr val="1C63AD"/>
                </a:solidFill>
                <a:latin typeface="Segoe UI"/>
                <a:ea typeface="Segoe UI"/>
                <a:cs typeface="Segoe UI"/>
              </a:defRPr>
            </a:pPr>
            <a:r>
              <a:rPr sz="3975" b="0">
                <a:solidFill>
                  <a:srgbClr val="1C63AD"/>
                </a:solidFill>
                <a:latin typeface="Segoe UI"/>
                <a:ea typeface="Segoe UI"/>
                <a:cs typeface="Segoe UI"/>
              </a:rPr>
              <a:t>Sewage treatment</a:t>
            </a:r>
          </a:p>
        </p:txBody>
      </p:sp>
      <p:sp>
        <p:nvSpPr>
          <p:cNvPr id="7" name="profile-80">
            <a:extLst xmlns:a="http://schemas.openxmlformats.org/drawingml/2006/main">
              <a:ext uri="{FF2B5EF4-FFF2-40B4-BE49-F238E27FC236}">
                <a16:creationId xmlns:a16="http://schemas.microsoft.com/office/drawing/2014/main" id="{6F0BC15E-BCD5-4976-B1A0-783ECBCCA279}"/>
              </a:ext>
            </a:extLst>
          </p:cNvPr>
          <p:cNvSpPr>
            <a:spLocks xmlns:a="http://schemas.openxmlformats.org/drawingml/2006/main" noGrp="1"/>
          </p:cNvSpPr>
          <p:nvPr/>
        </p:nvSpPr>
        <p:spPr>
          <a:xfrm xmlns:a="http://schemas.openxmlformats.org/drawingml/2006/main">
            <a:off x="609600" y="1847850"/>
            <a:ext cx="6343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0">
                <a:solidFill>
                  <a:srgbClr val="1C63AD"/>
                </a:solidFill>
                <a:latin typeface="Segoe UI"/>
                <a:ea typeface="Segoe UI"/>
                <a:cs typeface="Segoe UI"/>
              </a:defRPr>
            </a:pPr>
            <a:r>
              <a:rPr sz="3975" b="0">
                <a:solidFill>
                  <a:srgbClr val="1C63AD"/>
                </a:solidFill>
                <a:latin typeface="Segoe UI"/>
                <a:ea typeface="Segoe UI"/>
                <a:cs typeface="Segoe UI"/>
              </a:rPr>
              <a:t>plant (STP)</a:t>
            </a:r>
          </a:p>
        </p:txBody>
      </p:sp>
      <p:sp>
        <p:nvSpPr>
          <p:cNvPr id="8" name="profile-81">
            <a:extLst xmlns:a="http://schemas.openxmlformats.org/drawingml/2006/main">
              <a:ext uri="{FF2B5EF4-FFF2-40B4-BE49-F238E27FC236}">
                <a16:creationId xmlns:a16="http://schemas.microsoft.com/office/drawing/2014/main" id="{4866397C-D385-49CD-BF11-D89CA6239DC4}"/>
              </a:ext>
            </a:extLst>
          </p:cNvPr>
          <p:cNvSpPr>
            <a:spLocks xmlns:a="http://schemas.openxmlformats.org/drawingml/2006/main" noGrp="1"/>
          </p:cNvSpPr>
          <p:nvPr/>
        </p:nvSpPr>
        <p:spPr>
          <a:xfrm xmlns:a="http://schemas.openxmlformats.org/drawingml/2006/main">
            <a:off x="609600" y="2895600"/>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Oceanides coordinates STP projects for treating building wastewater</a:t>
            </a:r>
          </a:p>
        </p:txBody>
      </p:sp>
      <p:sp>
        <p:nvSpPr>
          <p:cNvPr id="9" name="profile-82">
            <a:extLst xmlns:a="http://schemas.openxmlformats.org/drawingml/2006/main">
              <a:ext uri="{FF2B5EF4-FFF2-40B4-BE49-F238E27FC236}">
                <a16:creationId xmlns:a16="http://schemas.microsoft.com/office/drawing/2014/main" id="{4EF1F162-324B-4996-B33E-B7C8EE835DAC}"/>
              </a:ext>
            </a:extLst>
          </p:cNvPr>
          <p:cNvSpPr>
            <a:spLocks xmlns:a="http://schemas.openxmlformats.org/drawingml/2006/main" noGrp="1"/>
          </p:cNvSpPr>
          <p:nvPr/>
        </p:nvSpPr>
        <p:spPr>
          <a:xfrm xmlns:a="http://schemas.openxmlformats.org/drawingml/2006/main">
            <a:off x="609600" y="319087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on site, with the system and installation scope defined by specialist</a:t>
            </a:r>
          </a:p>
        </p:txBody>
      </p:sp>
      <p:sp>
        <p:nvSpPr>
          <p:cNvPr id="10" name="profile-83">
            <a:extLst xmlns:a="http://schemas.openxmlformats.org/drawingml/2006/main">
              <a:ext uri="{FF2B5EF4-FFF2-40B4-BE49-F238E27FC236}">
                <a16:creationId xmlns:a16="http://schemas.microsoft.com/office/drawing/2014/main" id="{CCFE18BE-E865-4EE2-A5E6-BBE6EAA7AC6D}"/>
              </a:ext>
            </a:extLst>
          </p:cNvPr>
          <p:cNvSpPr>
            <a:spLocks xmlns:a="http://schemas.openxmlformats.org/drawingml/2006/main" noGrp="1"/>
          </p:cNvSpPr>
          <p:nvPr/>
        </p:nvSpPr>
        <p:spPr>
          <a:xfrm xmlns:a="http://schemas.openxmlformats.org/drawingml/2006/main">
            <a:off x="609600" y="3486150"/>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assessment.</a:t>
            </a:r>
          </a:p>
        </p:txBody>
      </p:sp>
      <p:sp>
        <p:nvSpPr>
          <p:cNvPr id="11" name="profile-84">
            <a:extLst xmlns:a="http://schemas.openxmlformats.org/drawingml/2006/main">
              <a:ext uri="{FF2B5EF4-FFF2-40B4-BE49-F238E27FC236}">
                <a16:creationId xmlns:a16="http://schemas.microsoft.com/office/drawing/2014/main" id="{84E5B4B1-2D8A-4E4C-90B6-9F20E3ADB9D6}"/>
              </a:ext>
            </a:extLst>
          </p:cNvPr>
          <p:cNvSpPr>
            <a:spLocks xmlns:a="http://schemas.openxmlformats.org/drawingml/2006/main" noGrp="1"/>
          </p:cNvSpPr>
          <p:nvPr/>
        </p:nvSpPr>
        <p:spPr>
          <a:xfrm xmlns:a="http://schemas.openxmlformats.org/drawingml/2006/main">
            <a:off x="609600" y="436245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2" name="profile-85">
            <a:extLst xmlns:a="http://schemas.openxmlformats.org/drawingml/2006/main">
              <a:ext uri="{FF2B5EF4-FFF2-40B4-BE49-F238E27FC236}">
                <a16:creationId xmlns:a16="http://schemas.microsoft.com/office/drawing/2014/main" id="{471CD15F-394A-4CEB-9A2C-2E0FB1DF59E5}"/>
              </a:ext>
            </a:extLst>
          </p:cNvPr>
          <p:cNvSpPr>
            <a:spLocks xmlns:a="http://schemas.openxmlformats.org/drawingml/2006/main" noGrp="1"/>
          </p:cNvSpPr>
          <p:nvPr/>
        </p:nvSpPr>
        <p:spPr>
          <a:xfrm xmlns:a="http://schemas.openxmlformats.org/drawingml/2006/main">
            <a:off x="609600" y="4552950"/>
            <a:ext cx="634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Site assessment</a:t>
            </a:r>
          </a:p>
        </p:txBody>
      </p:sp>
      <p:sp>
        <p:nvSpPr>
          <p:cNvPr id="13" name="profile-86">
            <a:extLst xmlns:a="http://schemas.openxmlformats.org/drawingml/2006/main">
              <a:ext uri="{FF2B5EF4-FFF2-40B4-BE49-F238E27FC236}">
                <a16:creationId xmlns:a16="http://schemas.microsoft.com/office/drawing/2014/main" id="{92A8DE2B-D62A-43AE-80DF-D51A18AF0A22}"/>
              </a:ext>
            </a:extLst>
          </p:cNvPr>
          <p:cNvSpPr>
            <a:spLocks xmlns:a="http://schemas.openxmlformats.org/drawingml/2006/main" noGrp="1"/>
          </p:cNvSpPr>
          <p:nvPr/>
        </p:nvSpPr>
        <p:spPr>
          <a:xfrm xmlns:a="http://schemas.openxmlformats.org/drawingml/2006/main">
            <a:off x="609600" y="5000625"/>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3707D"/>
                </a:solidFill>
                <a:latin typeface="Arial"/>
                <a:ea typeface="Arial"/>
                <a:cs typeface="Arial"/>
              </a:defRPr>
            </a:pPr>
            <a:r>
              <a:rPr sz="1425" b="0">
                <a:solidFill>
                  <a:srgbClr val="63707D"/>
                </a:solidFill>
                <a:latin typeface="Arial"/>
                <a:ea typeface="Arial"/>
                <a:cs typeface="Arial"/>
              </a:rPr>
              <a:t>Review wastewater flow, available space and the proposed outlet.</a:t>
            </a:r>
          </a:p>
        </p:txBody>
      </p:sp>
      <p:sp>
        <p:nvSpPr>
          <p:cNvPr id="14" name="profile-87">
            <a:extLst xmlns:a="http://schemas.openxmlformats.org/drawingml/2006/main">
              <a:ext uri="{FF2B5EF4-FFF2-40B4-BE49-F238E27FC236}">
                <a16:creationId xmlns:a16="http://schemas.microsoft.com/office/drawing/2014/main" id="{853DFB9D-E383-4FD4-B128-A012DF2EE7E4}"/>
              </a:ext>
            </a:extLst>
          </p:cNvPr>
          <p:cNvSpPr>
            <a:spLocks xmlns:a="http://schemas.openxmlformats.org/drawingml/2006/main" noGrp="1"/>
          </p:cNvSpPr>
          <p:nvPr/>
        </p:nvSpPr>
        <p:spPr>
          <a:xfrm xmlns:a="http://schemas.openxmlformats.org/drawingml/2006/main">
            <a:off x="609600" y="585787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5" name="profile-88">
            <a:extLst xmlns:a="http://schemas.openxmlformats.org/drawingml/2006/main">
              <a:ext uri="{FF2B5EF4-FFF2-40B4-BE49-F238E27FC236}">
                <a16:creationId xmlns:a16="http://schemas.microsoft.com/office/drawing/2014/main" id="{0BB3A7C8-DAB4-4F93-A578-273F644E036F}"/>
              </a:ext>
            </a:extLst>
          </p:cNvPr>
          <p:cNvSpPr>
            <a:spLocks xmlns:a="http://schemas.openxmlformats.org/drawingml/2006/main" noGrp="1"/>
          </p:cNvSpPr>
          <p:nvPr/>
        </p:nvSpPr>
        <p:spPr>
          <a:xfrm xmlns:a="http://schemas.openxmlformats.org/drawingml/2006/main">
            <a:off x="609600" y="6048375"/>
            <a:ext cx="634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Scope &amp; quotation</a:t>
            </a:r>
          </a:p>
        </p:txBody>
      </p:sp>
      <p:sp>
        <p:nvSpPr>
          <p:cNvPr id="16" name="profile-89">
            <a:extLst xmlns:a="http://schemas.openxmlformats.org/drawingml/2006/main">
              <a:ext uri="{FF2B5EF4-FFF2-40B4-BE49-F238E27FC236}">
                <a16:creationId xmlns:a16="http://schemas.microsoft.com/office/drawing/2014/main" id="{96C4819C-7D05-489E-BAA8-8B23AC4C397B}"/>
              </a:ext>
            </a:extLst>
          </p:cNvPr>
          <p:cNvSpPr>
            <a:spLocks xmlns:a="http://schemas.openxmlformats.org/drawingml/2006/main" noGrp="1"/>
          </p:cNvSpPr>
          <p:nvPr/>
        </p:nvSpPr>
        <p:spPr>
          <a:xfrm xmlns:a="http://schemas.openxmlformats.org/drawingml/2006/main">
            <a:off x="609600" y="6496050"/>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3707D"/>
                </a:solidFill>
                <a:latin typeface="Arial"/>
                <a:ea typeface="Arial"/>
                <a:cs typeface="Arial"/>
              </a:defRPr>
            </a:pPr>
            <a:r>
              <a:rPr sz="1425" b="0">
                <a:solidFill>
                  <a:srgbClr val="63707D"/>
                </a:solidFill>
                <a:latin typeface="Arial"/>
                <a:ea typeface="Arial"/>
                <a:cs typeface="Arial"/>
              </a:rPr>
              <a:t>Define the proposed system and installation needs with the specialist provider.</a:t>
            </a:r>
          </a:p>
        </p:txBody>
      </p:sp>
      <p:sp>
        <p:nvSpPr>
          <p:cNvPr id="17" name="profile-90">
            <a:extLst xmlns:a="http://schemas.openxmlformats.org/drawingml/2006/main">
              <a:ext uri="{FF2B5EF4-FFF2-40B4-BE49-F238E27FC236}">
                <a16:creationId xmlns:a16="http://schemas.microsoft.com/office/drawing/2014/main" id="{C081527B-BDD9-4CF1-9EE2-28B548AFDAFF}"/>
              </a:ext>
            </a:extLst>
          </p:cNvPr>
          <p:cNvSpPr>
            <a:spLocks xmlns:a="http://schemas.openxmlformats.org/drawingml/2006/main" noGrp="1"/>
          </p:cNvSpPr>
          <p:nvPr/>
        </p:nvSpPr>
        <p:spPr>
          <a:xfrm xmlns:a="http://schemas.openxmlformats.org/drawingml/2006/main">
            <a:off x="609600" y="735330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8" name="profile-91">
            <a:extLst xmlns:a="http://schemas.openxmlformats.org/drawingml/2006/main">
              <a:ext uri="{FF2B5EF4-FFF2-40B4-BE49-F238E27FC236}">
                <a16:creationId xmlns:a16="http://schemas.microsoft.com/office/drawing/2014/main" id="{2EFB300B-F160-4E88-966F-B48F67B9BF6C}"/>
              </a:ext>
            </a:extLst>
          </p:cNvPr>
          <p:cNvSpPr>
            <a:spLocks xmlns:a="http://schemas.openxmlformats.org/drawingml/2006/main" noGrp="1"/>
          </p:cNvSpPr>
          <p:nvPr/>
        </p:nvSpPr>
        <p:spPr>
          <a:xfrm xmlns:a="http://schemas.openxmlformats.org/drawingml/2006/main">
            <a:off x="609600" y="7543800"/>
            <a:ext cx="634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Specialist coordination</a:t>
            </a:r>
          </a:p>
        </p:txBody>
      </p:sp>
      <p:sp>
        <p:nvSpPr>
          <p:cNvPr id="19" name="profile-92">
            <a:extLst xmlns:a="http://schemas.openxmlformats.org/drawingml/2006/main">
              <a:ext uri="{FF2B5EF4-FFF2-40B4-BE49-F238E27FC236}">
                <a16:creationId xmlns:a16="http://schemas.microsoft.com/office/drawing/2014/main" id="{54061042-4F4B-4763-8E9E-C80315C6F96A}"/>
              </a:ext>
            </a:extLst>
          </p:cNvPr>
          <p:cNvSpPr>
            <a:spLocks xmlns:a="http://schemas.openxmlformats.org/drawingml/2006/main" noGrp="1"/>
          </p:cNvSpPr>
          <p:nvPr/>
        </p:nvSpPr>
        <p:spPr>
          <a:xfrm xmlns:a="http://schemas.openxmlformats.org/drawingml/2006/main">
            <a:off x="609600" y="7991475"/>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3707D"/>
                </a:solidFill>
                <a:latin typeface="Arial"/>
                <a:ea typeface="Arial"/>
                <a:cs typeface="Arial"/>
              </a:defRPr>
            </a:pPr>
            <a:r>
              <a:rPr sz="1425" b="0">
                <a:solidFill>
                  <a:srgbClr val="63707D"/>
                </a:solidFill>
                <a:latin typeface="Arial"/>
                <a:ea typeface="Arial"/>
                <a:cs typeface="Arial"/>
              </a:rPr>
              <a:t>Oceanides coordinates client communication and</a:t>
            </a:r>
          </a:p>
        </p:txBody>
      </p:sp>
      <p:sp>
        <p:nvSpPr>
          <p:cNvPr id="20" name="profile-93">
            <a:extLst xmlns:a="http://schemas.openxmlformats.org/drawingml/2006/main">
              <a:ext uri="{FF2B5EF4-FFF2-40B4-BE49-F238E27FC236}">
                <a16:creationId xmlns:a16="http://schemas.microsoft.com/office/drawing/2014/main" id="{A33EFB1C-668C-4987-8AC8-43A8DF2AC914}"/>
              </a:ext>
            </a:extLst>
          </p:cNvPr>
          <p:cNvSpPr>
            <a:spLocks xmlns:a="http://schemas.openxmlformats.org/drawingml/2006/main" noGrp="1"/>
          </p:cNvSpPr>
          <p:nvPr/>
        </p:nvSpPr>
        <p:spPr>
          <a:xfrm xmlns:a="http://schemas.openxmlformats.org/drawingml/2006/main">
            <a:off x="609600" y="8267700"/>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3707D"/>
                </a:solidFill>
                <a:latin typeface="Arial"/>
                <a:ea typeface="Arial"/>
                <a:cs typeface="Arial"/>
              </a:defRPr>
            </a:pPr>
            <a:r>
              <a:rPr sz="1425" b="0">
                <a:solidFill>
                  <a:srgbClr val="63707D"/>
                </a:solidFill>
                <a:latin typeface="Arial"/>
                <a:ea typeface="Arial"/>
                <a:cs typeface="Arial"/>
              </a:rPr>
              <a:t>specialist delivery through turnover.</a:t>
            </a:r>
          </a:p>
        </p:txBody>
      </p:sp>
      <p:sp>
        <p:nvSpPr>
          <p:cNvPr id="21" name="profile-94">
            <a:extLst xmlns:a="http://schemas.openxmlformats.org/drawingml/2006/main">
              <a:ext uri="{FF2B5EF4-FFF2-40B4-BE49-F238E27FC236}">
                <a16:creationId xmlns:a16="http://schemas.microsoft.com/office/drawing/2014/main" id="{2FD8F981-ED84-45F7-A024-6DCA87CF3C6C}"/>
              </a:ext>
            </a:extLst>
          </p:cNvPr>
          <p:cNvSpPr>
            <a:spLocks xmlns:a="http://schemas.openxmlformats.org/drawingml/2006/main" noGrp="1"/>
          </p:cNvSpPr>
          <p:nvPr/>
        </p:nvSpPr>
        <p:spPr>
          <a:xfrm xmlns:a="http://schemas.openxmlformats.org/drawingml/2006/main">
            <a:off x="609600" y="908685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2" name="profile-95">
            <a:extLst xmlns:a="http://schemas.openxmlformats.org/drawingml/2006/main">
              <a:ext uri="{FF2B5EF4-FFF2-40B4-BE49-F238E27FC236}">
                <a16:creationId xmlns:a16="http://schemas.microsoft.com/office/drawing/2014/main" id="{CB8007EA-67C3-4795-B17A-473015E3FE45}"/>
              </a:ext>
            </a:extLst>
          </p:cNvPr>
          <p:cNvSpPr>
            <a:spLocks xmlns:a="http://schemas.openxmlformats.org/drawingml/2006/main" noGrp="1"/>
          </p:cNvSpPr>
          <p:nvPr/>
        </p:nvSpPr>
        <p:spPr>
          <a:xfrm xmlns:a="http://schemas.openxmlformats.org/drawingml/2006/main">
            <a:off x="609600" y="9315450"/>
            <a:ext cx="6343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System details, capacity and</a:t>
            </a:r>
          </a:p>
        </p:txBody>
      </p:sp>
      <p:sp>
        <p:nvSpPr>
          <p:cNvPr id="23" name="profile-96">
            <a:extLst xmlns:a="http://schemas.openxmlformats.org/drawingml/2006/main">
              <a:ext uri="{FF2B5EF4-FFF2-40B4-BE49-F238E27FC236}">
                <a16:creationId xmlns:a16="http://schemas.microsoft.com/office/drawing/2014/main" id="{4B64F0DD-0733-4E3C-92D1-FB2669F3F567}"/>
              </a:ext>
            </a:extLst>
          </p:cNvPr>
          <p:cNvSpPr>
            <a:spLocks xmlns:a="http://schemas.openxmlformats.org/drawingml/2006/main" noGrp="1"/>
          </p:cNvSpPr>
          <p:nvPr/>
        </p:nvSpPr>
        <p:spPr>
          <a:xfrm xmlns:a="http://schemas.openxmlformats.org/drawingml/2006/main">
            <a:off x="609600" y="9553575"/>
            <a:ext cx="6343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maintenance requirements follow the agreed technical proposal.</a:t>
            </a:r>
          </a:p>
        </p:txBody>
      </p:sp>
      <p:sp>
        <p:nvSpPr>
          <p:cNvPr id="24" name="profile-97">
            <a:extLst xmlns:a="http://schemas.openxmlformats.org/drawingml/2006/main">
              <a:ext uri="{FF2B5EF4-FFF2-40B4-BE49-F238E27FC236}">
                <a16:creationId xmlns:a16="http://schemas.microsoft.com/office/drawing/2014/main" id="{AF10A7F6-BE39-4C9A-B98D-78A7BA046503}"/>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5" name="profile-98">
            <a:extLst xmlns:a="http://schemas.openxmlformats.org/drawingml/2006/main">
              <a:ext uri="{FF2B5EF4-FFF2-40B4-BE49-F238E27FC236}">
                <a16:creationId xmlns:a16="http://schemas.microsoft.com/office/drawing/2014/main" id="{D47BC1BD-D52F-4502-B25C-A19D571F21BF}"/>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26" name="profile-99">
            <a:extLst xmlns:a="http://schemas.openxmlformats.org/drawingml/2006/main">
              <a:ext uri="{FF2B5EF4-FFF2-40B4-BE49-F238E27FC236}">
                <a16:creationId xmlns:a16="http://schemas.microsoft.com/office/drawing/2014/main" id="{3C0F58AB-15DB-45CE-8C8A-6CC6B17B7E75}"/>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04</a:t>
            </a:r>
          </a:p>
        </p:txBody>
      </p:sp>
    </p:spTree>
    <p:extLst>
      <p:ext uri="{BB962C8B-B14F-4D97-AF65-F5344CB8AC3E}">
        <p14:creationId xmlns:p14="http://schemas.microsoft.com/office/powerpoint/2010/main" val="547189288"/>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2" name="profile-100">
            <a:extLst xmlns:a="http://schemas.openxmlformats.org/drawingml/2006/main">
              <a:ext uri="{FF2B5EF4-FFF2-40B4-BE49-F238E27FC236}">
                <a16:creationId xmlns:a16="http://schemas.microsoft.com/office/drawing/2014/main" id="{743F5933-28C8-48DF-B149-F7ECC34E8B7F}"/>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01">
            <a:extLst xmlns:a="http://schemas.openxmlformats.org/drawingml/2006/main">
              <a:ext uri="{FF2B5EF4-FFF2-40B4-BE49-F238E27FC236}">
                <a16:creationId xmlns:a16="http://schemas.microsoft.com/office/drawing/2014/main" id="{1569DD90-532A-48A1-808E-DC18391D8C4D}"/>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02">
            <a:extLst xmlns:a="http://schemas.openxmlformats.org/drawingml/2006/main">
              <a:ext uri="{FF2B5EF4-FFF2-40B4-BE49-F238E27FC236}">
                <a16:creationId xmlns:a16="http://schemas.microsoft.com/office/drawing/2014/main" id="{1BE9CF9C-5E79-4669-9089-19466666CD9A}"/>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03">
            <a:extLst xmlns:a="http://schemas.openxmlformats.org/drawingml/2006/main">
              <a:ext uri="{FF2B5EF4-FFF2-40B4-BE49-F238E27FC236}">
                <a16:creationId xmlns:a16="http://schemas.microsoft.com/office/drawing/2014/main" id="{F3F6466F-606A-489B-A1E1-795A8D1D53DD}"/>
              </a:ext>
            </a:extLst>
          </p:cNvPr>
          <p:cNvSpPr>
            <a:spLocks xmlns:a="http://schemas.openxmlformats.org/drawingml/2006/main" noGrp="1"/>
          </p:cNvSpPr>
          <p:nvPr/>
        </p:nvSpPr>
        <p:spPr>
          <a:xfrm xmlns:a="http://schemas.openxmlformats.org/drawingml/2006/main">
            <a:off x="609600" y="457200"/>
            <a:ext cx="34290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17212B"/>
                </a:solidFill>
                <a:latin typeface="Segoe UI"/>
                <a:ea typeface="Segoe UI"/>
                <a:cs typeface="Segoe UI"/>
              </a:defRPr>
            </a:pPr>
            <a:r>
              <a:rPr sz="1425" b="1">
                <a:solidFill>
                  <a:srgbClr val="17212B"/>
                </a:solidFill>
                <a:latin typeface="Segoe UI"/>
                <a:ea typeface="Segoe UI"/>
                <a:cs typeface="Segoe UI"/>
              </a:rPr>
              <a:t>Oceanides</a:t>
            </a:r>
          </a:p>
        </p:txBody>
      </p:sp>
      <p:sp>
        <p:nvSpPr>
          <p:cNvPr id="5" name="profile-104">
            <a:extLst xmlns:a="http://schemas.openxmlformats.org/drawingml/2006/main">
              <a:ext uri="{FF2B5EF4-FFF2-40B4-BE49-F238E27FC236}">
                <a16:creationId xmlns:a16="http://schemas.microsoft.com/office/drawing/2014/main" id="{716AFEF8-D9D1-4F42-930F-382DE1C3DCCA}"/>
              </a:ext>
            </a:extLst>
          </p:cNvPr>
          <p:cNvSpPr>
            <a:spLocks xmlns:a="http://schemas.openxmlformats.org/drawingml/2006/main" noGrp="1"/>
          </p:cNvSpPr>
          <p:nvPr/>
        </p:nvSpPr>
        <p:spPr>
          <a:xfrm xmlns:a="http://schemas.openxmlformats.org/drawingml/2006/main">
            <a:off x="4981575" y="485775"/>
            <a:ext cx="1971675"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3707D"/>
                </a:solidFill>
                <a:latin typeface="Arial"/>
                <a:ea typeface="Arial"/>
                <a:cs typeface="Arial"/>
              </a:defRPr>
            </a:pPr>
            <a:r>
              <a:rPr sz="1050" b="0">
                <a:solidFill>
                  <a:srgbClr val="63707D"/>
                </a:solidFill>
                <a:latin typeface="Arial"/>
                <a:ea typeface="Arial"/>
                <a:cs typeface="Arial"/>
              </a:rPr>
              <a:t>Company profile</a:t>
            </a:r>
          </a:p>
        </p:txBody>
      </p:sp>
      <p:sp>
        <p:nvSpPr>
          <p:cNvPr id="6" name="profile-105">
            <a:extLst xmlns:a="http://schemas.openxmlformats.org/drawingml/2006/main">
              <a:ext uri="{FF2B5EF4-FFF2-40B4-BE49-F238E27FC236}">
                <a16:creationId xmlns:a16="http://schemas.microsoft.com/office/drawing/2014/main" id="{F8919FC5-9287-4375-BA2E-A4618ED5EFCF}"/>
              </a:ext>
            </a:extLst>
          </p:cNvPr>
          <p:cNvSpPr>
            <a:spLocks xmlns:a="http://schemas.openxmlformats.org/drawingml/2006/main" noGrp="1"/>
          </p:cNvSpPr>
          <p:nvPr/>
        </p:nvSpPr>
        <p:spPr>
          <a:xfrm xmlns:a="http://schemas.openxmlformats.org/drawingml/2006/main">
            <a:off x="609600" y="1238250"/>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1C63AD"/>
                </a:solidFill>
                <a:latin typeface="Segoe UI"/>
                <a:ea typeface="Segoe UI"/>
                <a:cs typeface="Segoe UI"/>
              </a:defRPr>
            </a:pPr>
            <a:r>
              <a:rPr sz="3975" b="1">
                <a:solidFill>
                  <a:srgbClr val="1C63AD"/>
                </a:solidFill>
                <a:latin typeface="Segoe UI"/>
                <a:ea typeface="Segoe UI"/>
                <a:cs typeface="Segoe UI"/>
              </a:rPr>
              <a:t>Renovation &amp;</a:t>
            </a:r>
          </a:p>
        </p:txBody>
      </p:sp>
      <p:sp>
        <p:nvSpPr>
          <p:cNvPr id="7" name="profile-106">
            <a:extLst xmlns:a="http://schemas.openxmlformats.org/drawingml/2006/main">
              <a:ext uri="{FF2B5EF4-FFF2-40B4-BE49-F238E27FC236}">
                <a16:creationId xmlns:a16="http://schemas.microsoft.com/office/drawing/2014/main" id="{B50B0680-65F0-4E39-A825-E0BC5C7C6EED}"/>
              </a:ext>
            </a:extLst>
          </p:cNvPr>
          <p:cNvSpPr>
            <a:spLocks xmlns:a="http://schemas.openxmlformats.org/drawingml/2006/main" noGrp="1"/>
          </p:cNvSpPr>
          <p:nvPr/>
        </p:nvSpPr>
        <p:spPr>
          <a:xfrm xmlns:a="http://schemas.openxmlformats.org/drawingml/2006/main">
            <a:off x="609600" y="18002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1C63AD"/>
                </a:solidFill>
                <a:latin typeface="Segoe UI"/>
                <a:ea typeface="Segoe UI"/>
                <a:cs typeface="Segoe UI"/>
              </a:defRPr>
            </a:pPr>
            <a:r>
              <a:rPr sz="3975" b="1">
                <a:solidFill>
                  <a:srgbClr val="1C63AD"/>
                </a:solidFill>
                <a:latin typeface="Segoe UI"/>
                <a:ea typeface="Segoe UI"/>
                <a:cs typeface="Segoe UI"/>
              </a:rPr>
              <a:t>restoration</a:t>
            </a:r>
          </a:p>
        </p:txBody>
      </p:sp>
      <p:sp>
        <p:nvSpPr>
          <p:cNvPr id="8" name="profile-107">
            <a:extLst xmlns:a="http://schemas.openxmlformats.org/drawingml/2006/main">
              <a:ext uri="{FF2B5EF4-FFF2-40B4-BE49-F238E27FC236}">
                <a16:creationId xmlns:a16="http://schemas.microsoft.com/office/drawing/2014/main" id="{BB193164-6102-4861-BD79-5D14AF580757}"/>
              </a:ext>
            </a:extLst>
          </p:cNvPr>
          <p:cNvSpPr>
            <a:spLocks xmlns:a="http://schemas.openxmlformats.org/drawingml/2006/main" noGrp="1"/>
          </p:cNvSpPr>
          <p:nvPr/>
        </p:nvSpPr>
        <p:spPr>
          <a:xfrm xmlns:a="http://schemas.openxmlformats.org/drawingml/2006/main">
            <a:off x="609600" y="265747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Repair and improvement work for houses and condominiums.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7a3a05720674932"/>
          <a:stretch xmlns:a="http://schemas.openxmlformats.org/drawingml/2006/main"/>
        </p:blipFill>
        <p:spPr>
          <a:xfrm xmlns:a="http://schemas.openxmlformats.org/drawingml/2006/main">
            <a:off x="609600" y="3419475"/>
            <a:ext cx="6343650" cy="4229100"/>
          </a:xfrm>
          <a:prstGeom xmlns:a="http://schemas.openxmlformats.org/drawingml/2006/main" prst="rect">
            <a:avLst/>
          </a:prstGeom>
        </p:spPr>
      </p:pic>
      <p:sp>
        <p:nvSpPr>
          <p:cNvPr id="10" name="profile-108">
            <a:extLst xmlns:a="http://schemas.openxmlformats.org/drawingml/2006/main">
              <a:ext uri="{FF2B5EF4-FFF2-40B4-BE49-F238E27FC236}">
                <a16:creationId xmlns:a16="http://schemas.microsoft.com/office/drawing/2014/main" id="{4A7D045F-E5CE-49E8-9027-853F1776540C}"/>
              </a:ext>
            </a:extLst>
          </p:cNvPr>
          <p:cNvSpPr>
            <a:spLocks xmlns:a="http://schemas.openxmlformats.org/drawingml/2006/main" noGrp="1"/>
          </p:cNvSpPr>
          <p:nvPr/>
        </p:nvSpPr>
        <p:spPr>
          <a:xfrm xmlns:a="http://schemas.openxmlformats.org/drawingml/2006/main">
            <a:off x="609600" y="7772400"/>
            <a:ext cx="63436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63707D"/>
                </a:solidFill>
                <a:latin typeface="Arial"/>
                <a:ea typeface="Arial"/>
                <a:cs typeface="Arial"/>
              </a:defRPr>
            </a:pPr>
            <a:r>
              <a:rPr sz="750" b="0">
                <a:solidFill>
                  <a:srgbClr val="63707D"/>
                </a:solidFill>
                <a:latin typeface="Arial"/>
                <a:ea typeface="Arial"/>
                <a:cs typeface="Arial"/>
              </a:rPr>
              <a:t>AI-generated service illustration</a:t>
            </a:r>
          </a:p>
        </p:txBody>
      </p:sp>
      <p:sp>
        <p:nvSpPr>
          <p:cNvPr id="11" name="profile-109">
            <a:extLst xmlns:a="http://schemas.openxmlformats.org/drawingml/2006/main">
              <a:ext uri="{FF2B5EF4-FFF2-40B4-BE49-F238E27FC236}">
                <a16:creationId xmlns:a16="http://schemas.microsoft.com/office/drawing/2014/main" id="{CE8A352E-DFF0-4605-8791-45614D7BDE8F}"/>
              </a:ext>
            </a:extLst>
          </p:cNvPr>
          <p:cNvSpPr>
            <a:spLocks xmlns:a="http://schemas.openxmlformats.org/drawingml/2006/main" noGrp="1"/>
          </p:cNvSpPr>
          <p:nvPr/>
        </p:nvSpPr>
        <p:spPr>
          <a:xfrm xmlns:a="http://schemas.openxmlformats.org/drawingml/2006/main">
            <a:off x="609600" y="8201025"/>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C63AD"/>
                </a:solidFill>
                <a:latin typeface="Segoe UI"/>
                <a:ea typeface="Segoe UI"/>
                <a:cs typeface="Segoe UI"/>
              </a:defRPr>
            </a:pPr>
            <a:r>
              <a:rPr sz="1500" b="1">
                <a:solidFill>
                  <a:srgbClr val="1C63AD"/>
                </a:solidFill>
                <a:latin typeface="Segoe UI"/>
                <a:ea typeface="Segoe UI"/>
                <a:cs typeface="Segoe UI"/>
              </a:rPr>
              <a:t>Ceilings</a:t>
            </a:r>
          </a:p>
        </p:txBody>
      </p:sp>
      <p:sp>
        <p:nvSpPr>
          <p:cNvPr id="12" name="profile-110">
            <a:extLst xmlns:a="http://schemas.openxmlformats.org/drawingml/2006/main">
              <a:ext uri="{FF2B5EF4-FFF2-40B4-BE49-F238E27FC236}">
                <a16:creationId xmlns:a16="http://schemas.microsoft.com/office/drawing/2014/main" id="{0FD47A60-2742-492E-8921-CBED153BF3EE}"/>
              </a:ext>
            </a:extLst>
          </p:cNvPr>
          <p:cNvSpPr>
            <a:spLocks xmlns:a="http://schemas.openxmlformats.org/drawingml/2006/main" noGrp="1"/>
          </p:cNvSpPr>
          <p:nvPr/>
        </p:nvSpPr>
        <p:spPr>
          <a:xfrm xmlns:a="http://schemas.openxmlformats.org/drawingml/2006/main">
            <a:off x="609600" y="8553450"/>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Repair and replacement</a:t>
            </a:r>
          </a:p>
        </p:txBody>
      </p:sp>
      <p:sp>
        <p:nvSpPr>
          <p:cNvPr id="13" name="profile-111">
            <a:extLst xmlns:a="http://schemas.openxmlformats.org/drawingml/2006/main">
              <a:ext uri="{FF2B5EF4-FFF2-40B4-BE49-F238E27FC236}">
                <a16:creationId xmlns:a16="http://schemas.microsoft.com/office/drawing/2014/main" id="{8D714802-1BFE-4C11-A163-61DF675D1988}"/>
              </a:ext>
            </a:extLst>
          </p:cNvPr>
          <p:cNvSpPr>
            <a:spLocks xmlns:a="http://schemas.openxmlformats.org/drawingml/2006/main" noGrp="1"/>
          </p:cNvSpPr>
          <p:nvPr/>
        </p:nvSpPr>
        <p:spPr>
          <a:xfrm xmlns:a="http://schemas.openxmlformats.org/drawingml/2006/main">
            <a:off x="3943350" y="8201025"/>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C63AD"/>
                </a:solidFill>
                <a:latin typeface="Segoe UI"/>
                <a:ea typeface="Segoe UI"/>
                <a:cs typeface="Segoe UI"/>
              </a:defRPr>
            </a:pPr>
            <a:r>
              <a:rPr sz="1500" b="1">
                <a:solidFill>
                  <a:srgbClr val="1C63AD"/>
                </a:solidFill>
                <a:latin typeface="Segoe UI"/>
                <a:ea typeface="Segoe UI"/>
                <a:cs typeface="Segoe UI"/>
              </a:rPr>
              <a:t>Water protection</a:t>
            </a:r>
          </a:p>
        </p:txBody>
      </p:sp>
      <p:sp>
        <p:nvSpPr>
          <p:cNvPr id="14" name="profile-112">
            <a:extLst xmlns:a="http://schemas.openxmlformats.org/drawingml/2006/main">
              <a:ext uri="{FF2B5EF4-FFF2-40B4-BE49-F238E27FC236}">
                <a16:creationId xmlns:a16="http://schemas.microsoft.com/office/drawing/2014/main" id="{87E429EE-FC02-4705-83C9-0C0E2ABC04F3}"/>
              </a:ext>
            </a:extLst>
          </p:cNvPr>
          <p:cNvSpPr>
            <a:spLocks xmlns:a="http://schemas.openxmlformats.org/drawingml/2006/main" noGrp="1"/>
          </p:cNvSpPr>
          <p:nvPr/>
        </p:nvSpPr>
        <p:spPr>
          <a:xfrm xmlns:a="http://schemas.openxmlformats.org/drawingml/2006/main">
            <a:off x="3943350" y="8553450"/>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Roof leak repair and waterproofing</a:t>
            </a:r>
          </a:p>
        </p:txBody>
      </p:sp>
      <p:sp>
        <p:nvSpPr>
          <p:cNvPr id="15" name="profile-113">
            <a:extLst xmlns:a="http://schemas.openxmlformats.org/drawingml/2006/main">
              <a:ext uri="{FF2B5EF4-FFF2-40B4-BE49-F238E27FC236}">
                <a16:creationId xmlns:a16="http://schemas.microsoft.com/office/drawing/2014/main" id="{FC565D74-18DC-449D-B249-DDAB80AF6318}"/>
              </a:ext>
            </a:extLst>
          </p:cNvPr>
          <p:cNvSpPr>
            <a:spLocks xmlns:a="http://schemas.openxmlformats.org/drawingml/2006/main" noGrp="1"/>
          </p:cNvSpPr>
          <p:nvPr/>
        </p:nvSpPr>
        <p:spPr>
          <a:xfrm xmlns:a="http://schemas.openxmlformats.org/drawingml/2006/main">
            <a:off x="609600" y="9029700"/>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C63AD"/>
                </a:solidFill>
                <a:latin typeface="Segoe UI"/>
                <a:ea typeface="Segoe UI"/>
                <a:cs typeface="Segoe UI"/>
              </a:defRPr>
            </a:pPr>
            <a:r>
              <a:rPr sz="1500" b="1">
                <a:solidFill>
                  <a:srgbClr val="1C63AD"/>
                </a:solidFill>
                <a:latin typeface="Segoe UI"/>
                <a:ea typeface="Segoe UI"/>
                <a:cs typeface="Segoe UI"/>
              </a:rPr>
              <a:t>Renovation &amp; restoration</a:t>
            </a:r>
          </a:p>
        </p:txBody>
      </p:sp>
      <p:sp>
        <p:nvSpPr>
          <p:cNvPr id="16" name="profile-114">
            <a:extLst xmlns:a="http://schemas.openxmlformats.org/drawingml/2006/main">
              <a:ext uri="{FF2B5EF4-FFF2-40B4-BE49-F238E27FC236}">
                <a16:creationId xmlns:a16="http://schemas.microsoft.com/office/drawing/2014/main" id="{49D0229B-D97A-4F59-9E40-9BB149612789}"/>
              </a:ext>
            </a:extLst>
          </p:cNvPr>
          <p:cNvSpPr>
            <a:spLocks xmlns:a="http://schemas.openxmlformats.org/drawingml/2006/main" noGrp="1"/>
          </p:cNvSpPr>
          <p:nvPr/>
        </p:nvSpPr>
        <p:spPr>
          <a:xfrm xmlns:a="http://schemas.openxmlformats.org/drawingml/2006/main">
            <a:off x="609600" y="9382125"/>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Houses and condominiums</a:t>
            </a:r>
          </a:p>
        </p:txBody>
      </p:sp>
      <p:sp>
        <p:nvSpPr>
          <p:cNvPr id="17" name="profile-115">
            <a:extLst xmlns:a="http://schemas.openxmlformats.org/drawingml/2006/main">
              <a:ext uri="{FF2B5EF4-FFF2-40B4-BE49-F238E27FC236}">
                <a16:creationId xmlns:a16="http://schemas.microsoft.com/office/drawing/2014/main" id="{F385C63D-B1B8-4492-B85A-5CADCBCAEAC1}"/>
              </a:ext>
            </a:extLst>
          </p:cNvPr>
          <p:cNvSpPr>
            <a:spLocks xmlns:a="http://schemas.openxmlformats.org/drawingml/2006/main" noGrp="1"/>
          </p:cNvSpPr>
          <p:nvPr/>
        </p:nvSpPr>
        <p:spPr>
          <a:xfrm xmlns:a="http://schemas.openxmlformats.org/drawingml/2006/main">
            <a:off x="3943350" y="9029700"/>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C63AD"/>
                </a:solidFill>
                <a:latin typeface="Segoe UI"/>
                <a:ea typeface="Segoe UI"/>
                <a:cs typeface="Segoe UI"/>
              </a:defRPr>
            </a:pPr>
            <a:r>
              <a:rPr sz="1500" b="1">
                <a:solidFill>
                  <a:srgbClr val="1C63AD"/>
                </a:solidFill>
                <a:latin typeface="Segoe UI"/>
                <a:ea typeface="Segoe UI"/>
                <a:cs typeface="Segoe UI"/>
              </a:rPr>
              <a:t>Cleaning</a:t>
            </a:r>
          </a:p>
        </p:txBody>
      </p:sp>
      <p:sp>
        <p:nvSpPr>
          <p:cNvPr id="18" name="profile-116">
            <a:extLst xmlns:a="http://schemas.openxmlformats.org/drawingml/2006/main">
              <a:ext uri="{FF2B5EF4-FFF2-40B4-BE49-F238E27FC236}">
                <a16:creationId xmlns:a16="http://schemas.microsoft.com/office/drawing/2014/main" id="{2C18AAAA-8139-4218-8259-4D00B23FB048}"/>
              </a:ext>
            </a:extLst>
          </p:cNvPr>
          <p:cNvSpPr>
            <a:spLocks xmlns:a="http://schemas.openxmlformats.org/drawingml/2006/main" noGrp="1"/>
          </p:cNvSpPr>
          <p:nvPr/>
        </p:nvSpPr>
        <p:spPr>
          <a:xfrm xmlns:a="http://schemas.openxmlformats.org/drawingml/2006/main">
            <a:off x="3943350" y="9382125"/>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3707D"/>
                </a:solidFill>
                <a:latin typeface="Arial"/>
                <a:ea typeface="Arial"/>
                <a:cs typeface="Arial"/>
              </a:defRPr>
            </a:pPr>
            <a:r>
              <a:rPr sz="1275" b="0">
                <a:solidFill>
                  <a:srgbClr val="63707D"/>
                </a:solidFill>
                <a:latin typeface="Arial"/>
                <a:ea typeface="Arial"/>
                <a:cs typeface="Arial"/>
              </a:rPr>
              <a:t>House cleaning to agreed scope</a:t>
            </a:r>
          </a:p>
        </p:txBody>
      </p:sp>
      <p:sp>
        <p:nvSpPr>
          <p:cNvPr id="19" name="profile-117">
            <a:extLst xmlns:a="http://schemas.openxmlformats.org/drawingml/2006/main">
              <a:ext uri="{FF2B5EF4-FFF2-40B4-BE49-F238E27FC236}">
                <a16:creationId xmlns:a16="http://schemas.microsoft.com/office/drawing/2014/main" id="{5D744B44-7257-4A89-BB7F-50FED477CF93}"/>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0" name="profile-118">
            <a:extLst xmlns:a="http://schemas.openxmlformats.org/drawingml/2006/main">
              <a:ext uri="{FF2B5EF4-FFF2-40B4-BE49-F238E27FC236}">
                <a16:creationId xmlns:a16="http://schemas.microsoft.com/office/drawing/2014/main" id="{AF13B130-A44E-4C12-A25D-39A749592FFB}"/>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21" name="profile-119">
            <a:extLst xmlns:a="http://schemas.openxmlformats.org/drawingml/2006/main">
              <a:ext uri="{FF2B5EF4-FFF2-40B4-BE49-F238E27FC236}">
                <a16:creationId xmlns:a16="http://schemas.microsoft.com/office/drawing/2014/main" id="{A12EA664-F04D-4810-8FF0-86A6B8ECE2FC}"/>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05</a:t>
            </a:r>
          </a:p>
        </p:txBody>
      </p:sp>
    </p:spTree>
    <p:extLst>
      <p:ext uri="{BB962C8B-B14F-4D97-AF65-F5344CB8AC3E}">
        <p14:creationId xmlns:p14="http://schemas.microsoft.com/office/powerpoint/2010/main" val="780856862"/>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120">
            <a:extLst xmlns:a="http://schemas.openxmlformats.org/drawingml/2006/main">
              <a:ext uri="{FF2B5EF4-FFF2-40B4-BE49-F238E27FC236}">
                <a16:creationId xmlns:a16="http://schemas.microsoft.com/office/drawing/2014/main" id="{535F1CFE-F2EA-4714-8DCC-7CFA2F735741}"/>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21">
            <a:extLst xmlns:a="http://schemas.openxmlformats.org/drawingml/2006/main">
              <a:ext uri="{FF2B5EF4-FFF2-40B4-BE49-F238E27FC236}">
                <a16:creationId xmlns:a16="http://schemas.microsoft.com/office/drawing/2014/main" id="{6979245A-A72C-403F-AFE8-4FD80146DFE0}"/>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22">
            <a:extLst xmlns:a="http://schemas.openxmlformats.org/drawingml/2006/main">
              <a:ext uri="{FF2B5EF4-FFF2-40B4-BE49-F238E27FC236}">
                <a16:creationId xmlns:a16="http://schemas.microsoft.com/office/drawing/2014/main" id="{F5EAF5B5-9813-4185-8731-170D9C2B925C}"/>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23">
            <a:extLst xmlns:a="http://schemas.openxmlformats.org/drawingml/2006/main">
              <a:ext uri="{FF2B5EF4-FFF2-40B4-BE49-F238E27FC236}">
                <a16:creationId xmlns:a16="http://schemas.microsoft.com/office/drawing/2014/main" id="{4798CBDC-DC71-4B62-806E-F5A091048B05}"/>
              </a:ext>
            </a:extLst>
          </p:cNvPr>
          <p:cNvSpPr>
            <a:spLocks xmlns:a="http://schemas.openxmlformats.org/drawingml/2006/main" noGrp="1"/>
          </p:cNvSpPr>
          <p:nvPr/>
        </p:nvSpPr>
        <p:spPr>
          <a:xfrm xmlns:a="http://schemas.openxmlformats.org/drawingml/2006/main">
            <a:off x="609600" y="457200"/>
            <a:ext cx="34290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17212B"/>
                </a:solidFill>
                <a:latin typeface="Segoe UI"/>
                <a:ea typeface="Segoe UI"/>
                <a:cs typeface="Segoe UI"/>
              </a:defRPr>
            </a:pPr>
            <a:r>
              <a:rPr sz="1425" b="1">
                <a:solidFill>
                  <a:srgbClr val="17212B"/>
                </a:solidFill>
                <a:latin typeface="Segoe UI"/>
                <a:ea typeface="Segoe UI"/>
                <a:cs typeface="Segoe UI"/>
              </a:rPr>
              <a:t>Oceanides</a:t>
            </a:r>
          </a:p>
        </p:txBody>
      </p:sp>
      <p:sp>
        <p:nvSpPr>
          <p:cNvPr id="5" name="profile-124">
            <a:extLst xmlns:a="http://schemas.openxmlformats.org/drawingml/2006/main">
              <a:ext uri="{FF2B5EF4-FFF2-40B4-BE49-F238E27FC236}">
                <a16:creationId xmlns:a16="http://schemas.microsoft.com/office/drawing/2014/main" id="{D13C5A24-2663-49DB-9D4A-E8DDFF02A286}"/>
              </a:ext>
            </a:extLst>
          </p:cNvPr>
          <p:cNvSpPr>
            <a:spLocks xmlns:a="http://schemas.openxmlformats.org/drawingml/2006/main" noGrp="1"/>
          </p:cNvSpPr>
          <p:nvPr/>
        </p:nvSpPr>
        <p:spPr>
          <a:xfrm xmlns:a="http://schemas.openxmlformats.org/drawingml/2006/main">
            <a:off x="4981575" y="485775"/>
            <a:ext cx="1971675"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3707D"/>
                </a:solidFill>
                <a:latin typeface="Arial"/>
                <a:ea typeface="Arial"/>
                <a:cs typeface="Arial"/>
              </a:defRPr>
            </a:pPr>
            <a:r>
              <a:rPr sz="1050" b="0">
                <a:solidFill>
                  <a:srgbClr val="63707D"/>
                </a:solidFill>
                <a:latin typeface="Arial"/>
                <a:ea typeface="Arial"/>
                <a:cs typeface="Arial"/>
              </a:rPr>
              <a:t>Company profile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e074b2b611e4623"/>
          <a:stretch xmlns:a="http://schemas.openxmlformats.org/drawingml/2006/main"/>
        </p:blipFill>
        <p:spPr>
          <a:xfrm xmlns:a="http://schemas.openxmlformats.org/drawingml/2006/main">
            <a:off x="609600" y="1257300"/>
            <a:ext cx="6343650" cy="4229100"/>
          </a:xfrm>
          <a:prstGeom xmlns:a="http://schemas.openxmlformats.org/drawingml/2006/main" prst="rect">
            <a:avLst/>
          </a:prstGeom>
        </p:spPr>
      </p:pic>
      <p:sp>
        <p:nvSpPr>
          <p:cNvPr id="7" name="profile-125">
            <a:extLst xmlns:a="http://schemas.openxmlformats.org/drawingml/2006/main">
              <a:ext uri="{FF2B5EF4-FFF2-40B4-BE49-F238E27FC236}">
                <a16:creationId xmlns:a16="http://schemas.microsoft.com/office/drawing/2014/main" id="{81A57019-CA31-4752-B0ED-806F35F15B69}"/>
              </a:ext>
            </a:extLst>
          </p:cNvPr>
          <p:cNvSpPr>
            <a:spLocks xmlns:a="http://schemas.openxmlformats.org/drawingml/2006/main" noGrp="1"/>
          </p:cNvSpPr>
          <p:nvPr/>
        </p:nvSpPr>
        <p:spPr>
          <a:xfrm xmlns:a="http://schemas.openxmlformats.org/drawingml/2006/main">
            <a:off x="609600" y="5610225"/>
            <a:ext cx="63436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63707D"/>
                </a:solidFill>
                <a:latin typeface="Arial"/>
                <a:ea typeface="Arial"/>
                <a:cs typeface="Arial"/>
              </a:defRPr>
            </a:pPr>
            <a:r>
              <a:rPr sz="750" b="0">
                <a:solidFill>
                  <a:srgbClr val="63707D"/>
                </a:solidFill>
                <a:latin typeface="Arial"/>
                <a:ea typeface="Arial"/>
                <a:cs typeface="Arial"/>
              </a:rPr>
              <a:t>AI-generated service illustration</a:t>
            </a:r>
          </a:p>
        </p:txBody>
      </p:sp>
      <p:sp>
        <p:nvSpPr>
          <p:cNvPr id="8" name="profile-126">
            <a:extLst xmlns:a="http://schemas.openxmlformats.org/drawingml/2006/main">
              <a:ext uri="{FF2B5EF4-FFF2-40B4-BE49-F238E27FC236}">
                <a16:creationId xmlns:a16="http://schemas.microsoft.com/office/drawing/2014/main" id="{0E65AC73-D99C-4F1D-A3AE-3BC540767C8C}"/>
              </a:ext>
            </a:extLst>
          </p:cNvPr>
          <p:cNvSpPr>
            <a:spLocks xmlns:a="http://schemas.openxmlformats.org/drawingml/2006/main" noGrp="1"/>
          </p:cNvSpPr>
          <p:nvPr/>
        </p:nvSpPr>
        <p:spPr>
          <a:xfrm xmlns:a="http://schemas.openxmlformats.org/drawingml/2006/main">
            <a:off x="609600" y="6134100"/>
            <a:ext cx="63436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1">
                <a:solidFill>
                  <a:srgbClr val="1C63AD"/>
                </a:solidFill>
                <a:latin typeface="Segoe UI"/>
                <a:ea typeface="Segoe UI"/>
                <a:cs typeface="Segoe UI"/>
              </a:defRPr>
            </a:pPr>
            <a:r>
              <a:rPr sz="3900" b="1">
                <a:solidFill>
                  <a:srgbClr val="1C63AD"/>
                </a:solidFill>
                <a:latin typeface="Segoe UI"/>
                <a:ea typeface="Segoe UI"/>
                <a:cs typeface="Segoe UI"/>
              </a:rPr>
              <a:t>Pest control</a:t>
            </a:r>
          </a:p>
        </p:txBody>
      </p:sp>
      <p:sp>
        <p:nvSpPr>
          <p:cNvPr id="9" name="profile-127">
            <a:extLst xmlns:a="http://schemas.openxmlformats.org/drawingml/2006/main">
              <a:ext uri="{FF2B5EF4-FFF2-40B4-BE49-F238E27FC236}">
                <a16:creationId xmlns:a16="http://schemas.microsoft.com/office/drawing/2014/main" id="{0038F986-4FCE-47D9-AAB0-CD1E55A8EB37}"/>
              </a:ext>
            </a:extLst>
          </p:cNvPr>
          <p:cNvSpPr>
            <a:spLocks xmlns:a="http://schemas.openxmlformats.org/drawingml/2006/main" noGrp="1"/>
          </p:cNvSpPr>
          <p:nvPr/>
        </p:nvSpPr>
        <p:spPr>
          <a:xfrm xmlns:a="http://schemas.openxmlformats.org/drawingml/2006/main">
            <a:off x="609600" y="690562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Pest control services based on an assessment of the property and the</a:t>
            </a:r>
          </a:p>
        </p:txBody>
      </p:sp>
      <p:sp>
        <p:nvSpPr>
          <p:cNvPr id="10" name="profile-128">
            <a:extLst xmlns:a="http://schemas.openxmlformats.org/drawingml/2006/main">
              <a:ext uri="{FF2B5EF4-FFF2-40B4-BE49-F238E27FC236}">
                <a16:creationId xmlns:a16="http://schemas.microsoft.com/office/drawing/2014/main" id="{79532740-08B2-4261-AEC6-999F27084632}"/>
              </a:ext>
            </a:extLst>
          </p:cNvPr>
          <p:cNvSpPr>
            <a:spLocks xmlns:a="http://schemas.openxmlformats.org/drawingml/2006/main" noGrp="1"/>
          </p:cNvSpPr>
          <p:nvPr/>
        </p:nvSpPr>
        <p:spPr>
          <a:xfrm xmlns:a="http://schemas.openxmlformats.org/drawingml/2006/main">
            <a:off x="609600" y="7200900"/>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3707D"/>
                </a:solidFill>
                <a:latin typeface="Arial"/>
                <a:ea typeface="Arial"/>
                <a:cs typeface="Arial"/>
              </a:defRPr>
            </a:pPr>
            <a:r>
              <a:rPr sz="1575" b="0">
                <a:solidFill>
                  <a:srgbClr val="63707D"/>
                </a:solidFill>
                <a:latin typeface="Arial"/>
                <a:ea typeface="Arial"/>
                <a:cs typeface="Arial"/>
              </a:rPr>
              <a:t>pest concerns reported by the client.</a:t>
            </a:r>
          </a:p>
        </p:txBody>
      </p:sp>
      <p:sp>
        <p:nvSpPr>
          <p:cNvPr id="11" name="profile-129">
            <a:extLst xmlns:a="http://schemas.openxmlformats.org/drawingml/2006/main">
              <a:ext uri="{FF2B5EF4-FFF2-40B4-BE49-F238E27FC236}">
                <a16:creationId xmlns:a16="http://schemas.microsoft.com/office/drawing/2014/main" id="{E354983A-ACD0-4107-B00A-2B95B538EE9D}"/>
              </a:ext>
            </a:extLst>
          </p:cNvPr>
          <p:cNvSpPr>
            <a:spLocks xmlns:a="http://schemas.openxmlformats.org/drawingml/2006/main" noGrp="1"/>
          </p:cNvSpPr>
          <p:nvPr/>
        </p:nvSpPr>
        <p:spPr>
          <a:xfrm xmlns:a="http://schemas.openxmlformats.org/drawingml/2006/main">
            <a:off x="609600" y="781050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2" name="profile-130">
            <a:extLst xmlns:a="http://schemas.openxmlformats.org/drawingml/2006/main">
              <a:ext uri="{FF2B5EF4-FFF2-40B4-BE49-F238E27FC236}">
                <a16:creationId xmlns:a16="http://schemas.microsoft.com/office/drawing/2014/main" id="{B8957373-9B5E-4752-A0FD-3EAF77F20CF5}"/>
              </a:ext>
            </a:extLst>
          </p:cNvPr>
          <p:cNvSpPr>
            <a:spLocks xmlns:a="http://schemas.openxmlformats.org/drawingml/2006/main" noGrp="1"/>
          </p:cNvSpPr>
          <p:nvPr/>
        </p:nvSpPr>
        <p:spPr>
          <a:xfrm xmlns:a="http://schemas.openxmlformats.org/drawingml/2006/main">
            <a:off x="609600" y="7972425"/>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Assessment of pest activity</a:t>
            </a:r>
          </a:p>
        </p:txBody>
      </p:sp>
      <p:sp>
        <p:nvSpPr>
          <p:cNvPr id="13" name="profile-131">
            <a:extLst xmlns:a="http://schemas.openxmlformats.org/drawingml/2006/main">
              <a:ext uri="{FF2B5EF4-FFF2-40B4-BE49-F238E27FC236}">
                <a16:creationId xmlns:a16="http://schemas.microsoft.com/office/drawing/2014/main" id="{F20A57E9-91AF-45A2-8AEE-2014C0CC837B}"/>
              </a:ext>
            </a:extLst>
          </p:cNvPr>
          <p:cNvSpPr>
            <a:spLocks xmlns:a="http://schemas.openxmlformats.org/drawingml/2006/main" noGrp="1"/>
          </p:cNvSpPr>
          <p:nvPr/>
        </p:nvSpPr>
        <p:spPr>
          <a:xfrm xmlns:a="http://schemas.openxmlformats.org/drawingml/2006/main">
            <a:off x="609600" y="836295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4" name="profile-132">
            <a:extLst xmlns:a="http://schemas.openxmlformats.org/drawingml/2006/main">
              <a:ext uri="{FF2B5EF4-FFF2-40B4-BE49-F238E27FC236}">
                <a16:creationId xmlns:a16="http://schemas.microsoft.com/office/drawing/2014/main" id="{A3D3CB98-B138-442C-9EF7-D5C1391C08E5}"/>
              </a:ext>
            </a:extLst>
          </p:cNvPr>
          <p:cNvSpPr>
            <a:spLocks xmlns:a="http://schemas.openxmlformats.org/drawingml/2006/main" noGrp="1"/>
          </p:cNvSpPr>
          <p:nvPr/>
        </p:nvSpPr>
        <p:spPr>
          <a:xfrm xmlns:a="http://schemas.openxmlformats.org/drawingml/2006/main">
            <a:off x="609600" y="8524875"/>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Treatment scope based on site findings</a:t>
            </a:r>
          </a:p>
        </p:txBody>
      </p:sp>
      <p:sp>
        <p:nvSpPr>
          <p:cNvPr id="15" name="profile-133">
            <a:extLst xmlns:a="http://schemas.openxmlformats.org/drawingml/2006/main">
              <a:ext uri="{FF2B5EF4-FFF2-40B4-BE49-F238E27FC236}">
                <a16:creationId xmlns:a16="http://schemas.microsoft.com/office/drawing/2014/main" id="{449CA0AE-EE06-4F3D-8995-C45E2DA5A561}"/>
              </a:ext>
            </a:extLst>
          </p:cNvPr>
          <p:cNvSpPr>
            <a:spLocks xmlns:a="http://schemas.openxmlformats.org/drawingml/2006/main" noGrp="1"/>
          </p:cNvSpPr>
          <p:nvPr/>
        </p:nvSpPr>
        <p:spPr>
          <a:xfrm xmlns:a="http://schemas.openxmlformats.org/drawingml/2006/main">
            <a:off x="609600" y="8915400"/>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6" name="profile-134">
            <a:extLst xmlns:a="http://schemas.openxmlformats.org/drawingml/2006/main">
              <a:ext uri="{FF2B5EF4-FFF2-40B4-BE49-F238E27FC236}">
                <a16:creationId xmlns:a16="http://schemas.microsoft.com/office/drawing/2014/main" id="{F5EABCFE-4DCC-4A0F-B353-89109ACA6F69}"/>
              </a:ext>
            </a:extLst>
          </p:cNvPr>
          <p:cNvSpPr>
            <a:spLocks xmlns:a="http://schemas.openxmlformats.org/drawingml/2006/main" noGrp="1"/>
          </p:cNvSpPr>
          <p:nvPr/>
        </p:nvSpPr>
        <p:spPr>
          <a:xfrm xmlns:a="http://schemas.openxmlformats.org/drawingml/2006/main">
            <a:off x="609600" y="9077325"/>
            <a:ext cx="634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Service scheduling and contractor coordination</a:t>
            </a:r>
          </a:p>
        </p:txBody>
      </p:sp>
      <p:sp>
        <p:nvSpPr>
          <p:cNvPr id="17" name="profile-135">
            <a:extLst xmlns:a="http://schemas.openxmlformats.org/drawingml/2006/main">
              <a:ext uri="{FF2B5EF4-FFF2-40B4-BE49-F238E27FC236}">
                <a16:creationId xmlns:a16="http://schemas.microsoft.com/office/drawing/2014/main" id="{D814A7CE-4A3E-426F-AFC6-A7187F7AFCF6}"/>
              </a:ext>
            </a:extLst>
          </p:cNvPr>
          <p:cNvSpPr>
            <a:spLocks xmlns:a="http://schemas.openxmlformats.org/drawingml/2006/main" noGrp="1"/>
          </p:cNvSpPr>
          <p:nvPr/>
        </p:nvSpPr>
        <p:spPr>
          <a:xfrm xmlns:a="http://schemas.openxmlformats.org/drawingml/2006/main">
            <a:off x="609600" y="9763125"/>
            <a:ext cx="634365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Treatment and specialist requirements follow the site assessment.</a:t>
            </a:r>
          </a:p>
        </p:txBody>
      </p:sp>
      <p:sp>
        <p:nvSpPr>
          <p:cNvPr id="18" name="profile-136">
            <a:extLst xmlns:a="http://schemas.openxmlformats.org/drawingml/2006/main">
              <a:ext uri="{FF2B5EF4-FFF2-40B4-BE49-F238E27FC236}">
                <a16:creationId xmlns:a16="http://schemas.microsoft.com/office/drawing/2014/main" id="{9AA44362-2326-4918-A9A2-6C08255D1531}"/>
              </a:ext>
            </a:extLst>
          </p:cNvPr>
          <p:cNvSpPr>
            <a:spLocks xmlns:a="http://schemas.openxmlformats.org/drawingml/2006/main" noGrp="1"/>
          </p:cNvSpPr>
          <p:nvPr/>
        </p:nvSpPr>
        <p:spPr>
          <a:xfrm xmlns:a="http://schemas.openxmlformats.org/drawingml/2006/main">
            <a:off x="609600" y="10106025"/>
            <a:ext cx="634365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137">
            <a:extLst xmlns:a="http://schemas.openxmlformats.org/drawingml/2006/main">
              <a:ext uri="{FF2B5EF4-FFF2-40B4-BE49-F238E27FC236}">
                <a16:creationId xmlns:a16="http://schemas.microsoft.com/office/drawing/2014/main" id="{45F97169-19AF-4644-B9C8-B72F7B581963}"/>
              </a:ext>
            </a:extLst>
          </p:cNvPr>
          <p:cNvSpPr>
            <a:spLocks xmlns:a="http://schemas.openxmlformats.org/drawingml/2006/main" noGrp="1"/>
          </p:cNvSpPr>
          <p:nvPr/>
        </p:nvSpPr>
        <p:spPr>
          <a:xfrm xmlns:a="http://schemas.openxmlformats.org/drawingml/2006/main">
            <a:off x="609600" y="10287000"/>
            <a:ext cx="3810000"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Oceanides</a:t>
            </a:r>
          </a:p>
        </p:txBody>
      </p:sp>
      <p:sp>
        <p:nvSpPr>
          <p:cNvPr id="20" name="profile-138">
            <a:extLst xmlns:a="http://schemas.openxmlformats.org/drawingml/2006/main">
              <a:ext uri="{FF2B5EF4-FFF2-40B4-BE49-F238E27FC236}">
                <a16:creationId xmlns:a16="http://schemas.microsoft.com/office/drawing/2014/main" id="{505B4BE7-5801-4090-9D2C-9E8F77A0585F}"/>
              </a:ext>
            </a:extLst>
          </p:cNvPr>
          <p:cNvSpPr>
            <a:spLocks xmlns:a="http://schemas.openxmlformats.org/drawingml/2006/main" noGrp="1"/>
          </p:cNvSpPr>
          <p:nvPr/>
        </p:nvSpPr>
        <p:spPr>
          <a:xfrm xmlns:a="http://schemas.openxmlformats.org/drawingml/2006/main">
            <a:off x="6677025" y="10287000"/>
            <a:ext cx="276225" cy="180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63707D"/>
                </a:solidFill>
                <a:latin typeface="Arial"/>
                <a:ea typeface="Arial"/>
                <a:cs typeface="Arial"/>
              </a:defRPr>
            </a:pPr>
            <a:r>
              <a:rPr sz="975" b="0">
                <a:solidFill>
                  <a:srgbClr val="63707D"/>
                </a:solidFill>
                <a:latin typeface="Arial"/>
                <a:ea typeface="Arial"/>
                <a:cs typeface="Arial"/>
              </a:rPr>
              <a:t>06</a:t>
            </a:r>
          </a:p>
        </p:txBody>
      </p:sp>
    </p:spTree>
    <p:extLst>
      <p:ext uri="{BB962C8B-B14F-4D97-AF65-F5344CB8AC3E}">
        <p14:creationId xmlns:p14="http://schemas.microsoft.com/office/powerpoint/2010/main" val="120984850"/>
      </p:ext>
    </p:extLst>
  </p:cSld>
</p:sld>
</file>

<file path=ppt/slides/slide7.xml><?xml version="1.0" encoding="utf-8"?>
<p:sld xmlns:p="http://schemas.openxmlformats.org/presentationml/2006/main">
  <p:cSld>
    <p:bg>
      <p:bgPr>
        <a:solidFill xmlns:a="http://schemas.openxmlformats.org/drawingml/2006/main">
          <a:srgbClr val="0A1F45"/>
        </a:solidFill>
      </p:bgPr>
    </p:bg>
    <p:spTree>
      <p:nvGrpSpPr>
        <p:cNvPr id="1" name=""/>
        <p:cNvGrpSpPr/>
        <p:nvPr/>
      </p:nvGrpSpPr>
      <p:grpSpPr>
        <a:xfrm xmlns:a="http://schemas.openxmlformats.org/drawingml/2006/main"/>
      </p:grpSpPr>
      <p:sp>
        <p:nvSpPr>
          <p:cNvPr id="28" name="profile-139">
            <a:extLst xmlns:a="http://schemas.openxmlformats.org/drawingml/2006/main">
              <a:ext uri="{FF2B5EF4-FFF2-40B4-BE49-F238E27FC236}">
                <a16:creationId xmlns:a16="http://schemas.microsoft.com/office/drawing/2014/main" id="{A6E74AC4-52ED-4DE3-B010-7D221793B0B9}"/>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10294D"/>
          </a:solidFill>
          <a:ln xmlns:a="http://schemas.openxmlformats.org/drawingml/2006/main" w="0">
            <a:noFill/>
          </a:ln>
        </p:spPr>
      </p:sp>
      <p:sp>
        <p:nvSpPr>
          <p:cNvPr id="2" name="profile-140">
            <a:extLst xmlns:a="http://schemas.openxmlformats.org/drawingml/2006/main">
              <a:ext uri="{FF2B5EF4-FFF2-40B4-BE49-F238E27FC236}">
                <a16:creationId xmlns:a16="http://schemas.microsoft.com/office/drawing/2014/main" id="{DF1ACA1E-9689-4DC5-A832-48F437F75EA6}"/>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173759"/>
          </a:solidFill>
          <a:ln xmlns:a="http://schemas.openxmlformats.org/drawingml/2006/main" w="0">
            <a:noFill/>
          </a:ln>
        </p:spPr>
      </p:sp>
      <p:sp>
        <p:nvSpPr>
          <p:cNvPr id="3" name="profile-141">
            <a:extLst xmlns:a="http://schemas.openxmlformats.org/drawingml/2006/main">
              <a:ext uri="{FF2B5EF4-FFF2-40B4-BE49-F238E27FC236}">
                <a16:creationId xmlns:a16="http://schemas.microsoft.com/office/drawing/2014/main" id="{A7B936F2-DB67-4E40-B1FC-0BEEBB414AB5}"/>
              </a:ext>
            </a:extLst>
          </p:cNvPr>
          <p:cNvSpPr>
            <a:spLocks xmlns:a="http://schemas.openxmlformats.org/drawingml/2006/main" noGrp="1"/>
          </p:cNvSpPr>
          <p:nvPr/>
        </p:nvSpPr>
        <p:spPr>
          <a:xfrm xmlns:a="http://schemas.openxmlformats.org/drawingml/2006/main">
            <a:off x="619125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21486B"/>
          </a:solidFill>
          <a:ln xmlns:a="http://schemas.openxmlformats.org/drawingml/2006/main" w="0">
            <a:no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1848bcc55d54935"/>
          <a:stretch xmlns:a="http://schemas.openxmlformats.org/drawingml/2006/main"/>
        </p:blipFill>
        <p:spPr>
          <a:xfrm xmlns:a="http://schemas.openxmlformats.org/drawingml/2006/main">
            <a:off x="609600" y="276225"/>
            <a:ext cx="838200" cy="838200"/>
          </a:xfrm>
          <a:prstGeom xmlns:a="http://schemas.openxmlformats.org/drawingml/2006/main" prst="rect">
            <a:avLst/>
          </a:prstGeom>
        </p:spPr>
      </p:pic>
      <p:sp>
        <p:nvSpPr>
          <p:cNvPr id="5" name="profile-142">
            <a:extLst xmlns:a="http://schemas.openxmlformats.org/drawingml/2006/main">
              <a:ext uri="{FF2B5EF4-FFF2-40B4-BE49-F238E27FC236}">
                <a16:creationId xmlns:a16="http://schemas.microsoft.com/office/drawing/2014/main" id="{4971BB8D-522E-4999-9FA8-1449DACEEA06}"/>
              </a:ext>
            </a:extLst>
          </p:cNvPr>
          <p:cNvSpPr>
            <a:spLocks xmlns:a="http://schemas.openxmlformats.org/drawingml/2006/main" noGrp="1"/>
          </p:cNvSpPr>
          <p:nvPr/>
        </p:nvSpPr>
        <p:spPr>
          <a:xfrm xmlns:a="http://schemas.openxmlformats.org/drawingml/2006/main">
            <a:off x="609600" y="1504950"/>
            <a:ext cx="6343650"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8DFE9"/>
                </a:solidFill>
                <a:latin typeface="Arial"/>
                <a:ea typeface="Arial"/>
                <a:cs typeface="Arial"/>
              </a:defRPr>
            </a:pPr>
            <a:r>
              <a:rPr sz="1275" b="0">
                <a:solidFill>
                  <a:srgbClr val="D8DFE9"/>
                </a:solidFill>
                <a:latin typeface="Arial"/>
                <a:ea typeface="Arial"/>
                <a:cs typeface="Arial"/>
              </a:rPr>
              <a:t>Your next step</a:t>
            </a:r>
          </a:p>
        </p:txBody>
      </p:sp>
      <p:sp>
        <p:nvSpPr>
          <p:cNvPr id="6" name="profile-143">
            <a:extLst xmlns:a="http://schemas.openxmlformats.org/drawingml/2006/main">
              <a:ext uri="{FF2B5EF4-FFF2-40B4-BE49-F238E27FC236}">
                <a16:creationId xmlns:a16="http://schemas.microsoft.com/office/drawing/2014/main" id="{DB6A1024-54B6-45D6-9B92-264AC6F70F9F}"/>
              </a:ext>
            </a:extLst>
          </p:cNvPr>
          <p:cNvSpPr>
            <a:spLocks xmlns:a="http://schemas.openxmlformats.org/drawingml/2006/main" noGrp="1"/>
          </p:cNvSpPr>
          <p:nvPr/>
        </p:nvSpPr>
        <p:spPr>
          <a:xfrm xmlns:a="http://schemas.openxmlformats.org/drawingml/2006/main">
            <a:off x="609600" y="1962150"/>
            <a:ext cx="6343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Site assessment</a:t>
            </a:r>
          </a:p>
        </p:txBody>
      </p:sp>
      <p:sp>
        <p:nvSpPr>
          <p:cNvPr id="7" name="profile-144">
            <a:extLst xmlns:a="http://schemas.openxmlformats.org/drawingml/2006/main">
              <a:ext uri="{FF2B5EF4-FFF2-40B4-BE49-F238E27FC236}">
                <a16:creationId xmlns:a16="http://schemas.microsoft.com/office/drawing/2014/main" id="{5C04AAB5-239B-4E6B-8EA5-5385B9520DFB}"/>
              </a:ext>
            </a:extLst>
          </p:cNvPr>
          <p:cNvSpPr>
            <a:spLocks xmlns:a="http://schemas.openxmlformats.org/drawingml/2006/main" noGrp="1"/>
          </p:cNvSpPr>
          <p:nvPr/>
        </p:nvSpPr>
        <p:spPr>
          <a:xfrm xmlns:a="http://schemas.openxmlformats.org/drawingml/2006/main">
            <a:off x="609600" y="2571750"/>
            <a:ext cx="6343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Written quotation</a:t>
            </a:r>
          </a:p>
        </p:txBody>
      </p:sp>
      <p:sp>
        <p:nvSpPr>
          <p:cNvPr id="8" name="profile-145">
            <a:extLst xmlns:a="http://schemas.openxmlformats.org/drawingml/2006/main">
              <a:ext uri="{FF2B5EF4-FFF2-40B4-BE49-F238E27FC236}">
                <a16:creationId xmlns:a16="http://schemas.microsoft.com/office/drawing/2014/main" id="{82196F3F-A89B-427C-8370-45889AA162A5}"/>
              </a:ext>
            </a:extLst>
          </p:cNvPr>
          <p:cNvSpPr>
            <a:spLocks xmlns:a="http://schemas.openxmlformats.org/drawingml/2006/main" noGrp="1"/>
          </p:cNvSpPr>
          <p:nvPr/>
        </p:nvSpPr>
        <p:spPr>
          <a:xfrm xmlns:a="http://schemas.openxmlformats.org/drawingml/2006/main">
            <a:off x="609600" y="3476625"/>
            <a:ext cx="6343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D8DFE9"/>
                </a:solidFill>
                <a:latin typeface="Arial"/>
                <a:ea typeface="Arial"/>
                <a:cs typeface="Arial"/>
              </a:defRPr>
            </a:pPr>
            <a:r>
              <a:rPr sz="1575" b="0">
                <a:solidFill>
                  <a:srgbClr val="D8DFE9"/>
                </a:solidFill>
                <a:latin typeface="Arial"/>
                <a:ea typeface="Arial"/>
                <a:cs typeface="Arial"/>
              </a:rPr>
              <a:t>Tell us the service, site location and preferred inspection schedule.</a:t>
            </a:r>
          </a:p>
        </p:txBody>
      </p:sp>
      <p:sp>
        <p:nvSpPr>
          <p:cNvPr id="9" name="profile-146">
            <a:extLst xmlns:a="http://schemas.openxmlformats.org/drawingml/2006/main">
              <a:ext uri="{FF2B5EF4-FFF2-40B4-BE49-F238E27FC236}">
                <a16:creationId xmlns:a16="http://schemas.microsoft.com/office/drawing/2014/main" id="{D3E16969-DF00-4A4E-B7B0-590BEC75BD56}"/>
              </a:ext>
            </a:extLst>
          </p:cNvPr>
          <p:cNvSpPr>
            <a:spLocks xmlns:a="http://schemas.openxmlformats.org/drawingml/2006/main" noGrp="1"/>
          </p:cNvSpPr>
          <p:nvPr/>
        </p:nvSpPr>
        <p:spPr>
          <a:xfrm xmlns:a="http://schemas.openxmlformats.org/drawingml/2006/main">
            <a:off x="609600" y="4476750"/>
            <a:ext cx="6343650" cy="601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0">
                <a:solidFill>
                  <a:srgbClr val="FFFFFF"/>
                </a:solidFill>
                <a:latin typeface="Segoe UI"/>
                <a:ea typeface="Segoe UI"/>
                <a:cs typeface="Segoe UI"/>
              </a:defRPr>
            </a:pPr>
            <a:r>
              <a:rPr sz="3525" b="0">
                <a:solidFill>
                  <a:srgbClr val="FFFFFF"/>
                </a:solidFill>
                <a:latin typeface="Segoe UI"/>
                <a:ea typeface="Segoe UI"/>
                <a:cs typeface="Segoe UI"/>
              </a:rPr>
              <a:t>0917 671 6383</a:t>
            </a:r>
          </a:p>
        </p:txBody>
      </p:sp>
      <p:sp>
        <p:nvSpPr>
          <p:cNvPr id="10" name="profile-147">
            <a:extLst xmlns:a="http://schemas.openxmlformats.org/drawingml/2006/main">
              <a:ext uri="{FF2B5EF4-FFF2-40B4-BE49-F238E27FC236}">
                <a16:creationId xmlns:a16="http://schemas.microsoft.com/office/drawing/2014/main" id="{88AD87AE-3B0B-44B4-9D6A-E6B1C4FD3E20}"/>
              </a:ext>
            </a:extLst>
          </p:cNvPr>
          <p:cNvSpPr>
            <a:spLocks xmlns:a="http://schemas.openxmlformats.org/drawingml/2006/main" noGrp="1"/>
          </p:cNvSpPr>
          <p:nvPr/>
        </p:nvSpPr>
        <p:spPr>
          <a:xfrm xmlns:a="http://schemas.openxmlformats.org/drawingml/2006/main">
            <a:off x="609600" y="5219700"/>
            <a:ext cx="63436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8DFE9"/>
                </a:solidFill>
                <a:latin typeface="Arial"/>
                <a:ea typeface="Arial"/>
                <a:cs typeface="Arial"/>
              </a:defRPr>
            </a:pPr>
            <a:r>
              <a:rPr sz="1650" b="0">
                <a:solidFill>
                  <a:srgbClr val="D8DFE9"/>
                </a:solidFill>
                <a:latin typeface="Arial"/>
                <a:ea typeface="Arial"/>
                <a:cs typeface="Arial"/>
              </a:rPr>
              <a:t>marketing@oceanidessepticandpest.com</a:t>
            </a:r>
          </a:p>
        </p:txBody>
      </p:sp>
      <p:sp>
        <p:nvSpPr>
          <p:cNvPr id="11" name="profile-148">
            <a:extLst xmlns:a="http://schemas.openxmlformats.org/drawingml/2006/main">
              <a:ext uri="{FF2B5EF4-FFF2-40B4-BE49-F238E27FC236}">
                <a16:creationId xmlns:a16="http://schemas.microsoft.com/office/drawing/2014/main" id="{E19CA8F0-6115-43A2-9975-032E142BFCD5}"/>
              </a:ext>
            </a:extLst>
          </p:cNvPr>
          <p:cNvSpPr>
            <a:spLocks xmlns:a="http://schemas.openxmlformats.org/drawingml/2006/main" noGrp="1"/>
          </p:cNvSpPr>
          <p:nvPr/>
        </p:nvSpPr>
        <p:spPr>
          <a:xfrm xmlns:a="http://schemas.openxmlformats.org/drawingml/2006/main">
            <a:off x="609600" y="5610225"/>
            <a:ext cx="6343650" cy="192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AABCD3"/>
                </a:solidFill>
                <a:latin typeface="Arial"/>
                <a:ea typeface="Arial"/>
                <a:cs typeface="Arial"/>
              </a:defRPr>
            </a:pPr>
            <a:r>
              <a:rPr sz="1050" b="0">
                <a:solidFill>
                  <a:srgbClr val="AABCD3"/>
                </a:solidFill>
                <a:latin typeface="Arial"/>
                <a:ea typeface="Arial"/>
                <a:cs typeface="Arial"/>
              </a:rPr>
              <a:t>Globe</a:t>
            </a:r>
          </a:p>
        </p:txBody>
      </p:sp>
      <p:sp>
        <p:nvSpPr>
          <p:cNvPr id="12" name="profile-149">
            <a:extLst xmlns:a="http://schemas.openxmlformats.org/drawingml/2006/main">
              <a:ext uri="{FF2B5EF4-FFF2-40B4-BE49-F238E27FC236}">
                <a16:creationId xmlns:a16="http://schemas.microsoft.com/office/drawing/2014/main" id="{158CA88F-7F0D-4094-B068-5A3673349387}"/>
              </a:ext>
            </a:extLst>
          </p:cNvPr>
          <p:cNvSpPr>
            <a:spLocks xmlns:a="http://schemas.openxmlformats.org/drawingml/2006/main" noGrp="1"/>
          </p:cNvSpPr>
          <p:nvPr/>
        </p:nvSpPr>
        <p:spPr>
          <a:xfrm xmlns:a="http://schemas.openxmlformats.org/drawingml/2006/main">
            <a:off x="609600" y="5991225"/>
            <a:ext cx="6343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8DFE9"/>
                </a:solidFill>
                <a:latin typeface="Arial"/>
                <a:ea typeface="Arial"/>
                <a:cs typeface="Arial"/>
              </a:defRPr>
            </a:pPr>
            <a:r>
              <a:rPr sz="1275" b="0">
                <a:solidFill>
                  <a:srgbClr val="D8DFE9"/>
                </a:solidFill>
                <a:latin typeface="Arial"/>
                <a:ea typeface="Arial"/>
                <a:cs typeface="Arial"/>
              </a:rPr>
              <a:t>Tramo Street Corner Dandan, Pasay City, Philippines 1300</a:t>
            </a:r>
          </a:p>
        </p:txBody>
      </p:sp>
      <p:sp>
        <p:nvSpPr>
          <p:cNvPr id="13" name="profile-150">
            <a:extLst xmlns:a="http://schemas.openxmlformats.org/drawingml/2006/main">
              <a:ext uri="{FF2B5EF4-FFF2-40B4-BE49-F238E27FC236}">
                <a16:creationId xmlns:a16="http://schemas.microsoft.com/office/drawing/2014/main" id="{E3F5B8A3-6D3E-4CBC-88BA-6143CD629FDB}"/>
              </a:ext>
            </a:extLst>
          </p:cNvPr>
          <p:cNvSpPr>
            <a:spLocks xmlns:a="http://schemas.openxmlformats.org/drawingml/2006/main" noGrp="1"/>
          </p:cNvSpPr>
          <p:nvPr/>
        </p:nvSpPr>
        <p:spPr>
          <a:xfrm xmlns:a="http://schemas.openxmlformats.org/drawingml/2006/main">
            <a:off x="609600" y="6581775"/>
            <a:ext cx="6343650" cy="6668"/>
          </a:xfrm>
          <a:prstGeom xmlns:a="http://schemas.openxmlformats.org/drawingml/2006/main" prst="rect">
            <a:avLst/>
          </a:prstGeom>
          <a:solidFill xmlns:a="http://schemas.openxmlformats.org/drawingml/2006/main">
            <a:srgbClr val="263D5F"/>
          </a:solidFill>
          <a:ln xmlns:a="http://schemas.openxmlformats.org/drawingml/2006/main" w="0">
            <a:noFill/>
          </a:ln>
        </p:spPr>
      </p:sp>
      <p:sp>
        <p:nvSpPr>
          <p:cNvPr id="14" name="profile-151">
            <a:extLst xmlns:a="http://schemas.openxmlformats.org/drawingml/2006/main">
              <a:ext uri="{FF2B5EF4-FFF2-40B4-BE49-F238E27FC236}">
                <a16:creationId xmlns:a16="http://schemas.microsoft.com/office/drawing/2014/main" id="{6EEDC072-AFB6-43EB-884E-3FD9971E145E}"/>
              </a:ext>
            </a:extLst>
          </p:cNvPr>
          <p:cNvSpPr>
            <a:spLocks xmlns:a="http://schemas.openxmlformats.org/drawingml/2006/main" noGrp="1"/>
          </p:cNvSpPr>
          <p:nvPr/>
        </p:nvSpPr>
        <p:spPr>
          <a:xfrm xmlns:a="http://schemas.openxmlformats.org/drawingml/2006/main">
            <a:off x="609600" y="6924675"/>
            <a:ext cx="63436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7F7F2"/>
                </a:solidFill>
                <a:latin typeface="Segoe UI"/>
                <a:ea typeface="Segoe UI"/>
                <a:cs typeface="Segoe UI"/>
              </a:defRPr>
            </a:pPr>
            <a:r>
              <a:rPr sz="1650" b="1">
                <a:solidFill>
                  <a:srgbClr val="F7F7F2"/>
                </a:solidFill>
                <a:latin typeface="Segoe UI"/>
                <a:ea typeface="Segoe UI"/>
                <a:cs typeface="Segoe UI"/>
              </a:rPr>
              <a:t>Supplier accreditation</a:t>
            </a:r>
          </a:p>
        </p:txBody>
      </p:sp>
      <p:sp>
        <p:nvSpPr>
          <p:cNvPr id="15" name="profile-152">
            <a:extLst xmlns:a="http://schemas.openxmlformats.org/drawingml/2006/main">
              <a:ext uri="{FF2B5EF4-FFF2-40B4-BE49-F238E27FC236}">
                <a16:creationId xmlns:a16="http://schemas.microsoft.com/office/drawing/2014/main" id="{1AB49AB1-FF75-4EDF-A75C-7770D6B7016F}"/>
              </a:ext>
            </a:extLst>
          </p:cNvPr>
          <p:cNvSpPr>
            <a:spLocks xmlns:a="http://schemas.openxmlformats.org/drawingml/2006/main" noGrp="1"/>
          </p:cNvSpPr>
          <p:nvPr/>
        </p:nvSpPr>
        <p:spPr>
          <a:xfrm xmlns:a="http://schemas.openxmlformats.org/drawingml/2006/main">
            <a:off x="609600" y="7315200"/>
            <a:ext cx="634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D8DFE9"/>
                </a:solidFill>
                <a:latin typeface="Arial"/>
                <a:ea typeface="Arial"/>
                <a:cs typeface="Arial"/>
              </a:defRPr>
            </a:pPr>
            <a:r>
              <a:rPr sz="1350" b="0">
                <a:solidFill>
                  <a:srgbClr val="D8DFE9"/>
                </a:solidFill>
                <a:latin typeface="Arial"/>
                <a:ea typeface="Arial"/>
                <a:cs typeface="Arial"/>
              </a:rPr>
              <a:t>Share your procurement requirements. Oceanides can coordinate the company</a:t>
            </a:r>
          </a:p>
        </p:txBody>
      </p:sp>
      <p:sp>
        <p:nvSpPr>
          <p:cNvPr id="16" name="profile-153">
            <a:extLst xmlns:a="http://schemas.openxmlformats.org/drawingml/2006/main">
              <a:ext uri="{FF2B5EF4-FFF2-40B4-BE49-F238E27FC236}">
                <a16:creationId xmlns:a16="http://schemas.microsoft.com/office/drawing/2014/main" id="{9522CED4-30E5-44C5-A8C9-B21B0BF655E4}"/>
              </a:ext>
            </a:extLst>
          </p:cNvPr>
          <p:cNvSpPr>
            <a:spLocks xmlns:a="http://schemas.openxmlformats.org/drawingml/2006/main" noGrp="1"/>
          </p:cNvSpPr>
          <p:nvPr/>
        </p:nvSpPr>
        <p:spPr>
          <a:xfrm xmlns:a="http://schemas.openxmlformats.org/drawingml/2006/main">
            <a:off x="609600" y="7572375"/>
            <a:ext cx="634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D8DFE9"/>
                </a:solidFill>
                <a:latin typeface="Arial"/>
                <a:ea typeface="Arial"/>
                <a:cs typeface="Arial"/>
              </a:defRPr>
            </a:pPr>
            <a:r>
              <a:rPr sz="1350" b="0">
                <a:solidFill>
                  <a:srgbClr val="D8DFE9"/>
                </a:solidFill>
                <a:latin typeface="Arial"/>
                <a:ea typeface="Arial"/>
                <a:cs typeface="Arial"/>
              </a:rPr>
              <a:t>documents and project information for your review.</a:t>
            </a:r>
          </a:p>
        </p:txBody>
      </p:sp>
      <p:sp>
        <p:nvSpPr>
          <p:cNvPr id="17" name="profile-154">
            <a:extLst xmlns:a="http://schemas.openxmlformats.org/drawingml/2006/main">
              <a:ext uri="{FF2B5EF4-FFF2-40B4-BE49-F238E27FC236}">
                <a16:creationId xmlns:a16="http://schemas.microsoft.com/office/drawing/2014/main" id="{1AA6ABFE-847E-40D7-900A-63C89E690728}"/>
              </a:ext>
            </a:extLst>
          </p:cNvPr>
          <p:cNvSpPr>
            <a:spLocks xmlns:a="http://schemas.openxmlformats.org/drawingml/2006/main" noGrp="1"/>
          </p:cNvSpPr>
          <p:nvPr/>
        </p:nvSpPr>
        <p:spPr>
          <a:xfrm xmlns:a="http://schemas.openxmlformats.org/drawingml/2006/main">
            <a:off x="609600" y="8296275"/>
            <a:ext cx="30099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7F7F2"/>
                </a:solidFill>
                <a:latin typeface="Segoe UI"/>
                <a:ea typeface="Segoe UI"/>
                <a:cs typeface="Segoe UI"/>
              </a:defRPr>
            </a:pPr>
            <a:r>
              <a:rPr sz="1425" b="1">
                <a:solidFill>
                  <a:srgbClr val="F7F7F2"/>
                </a:solidFill>
                <a:latin typeface="Segoe UI"/>
                <a:ea typeface="Segoe UI"/>
                <a:cs typeface="Segoe UI"/>
              </a:rPr>
              <a:t>Site assessment</a:t>
            </a:r>
          </a:p>
        </p:txBody>
      </p:sp>
      <p:sp>
        <p:nvSpPr>
          <p:cNvPr id="18" name="profile-155">
            <a:extLst xmlns:a="http://schemas.openxmlformats.org/drawingml/2006/main">
              <a:ext uri="{FF2B5EF4-FFF2-40B4-BE49-F238E27FC236}">
                <a16:creationId xmlns:a16="http://schemas.microsoft.com/office/drawing/2014/main" id="{2B42CD51-5356-4FBE-82FA-289B8F7D89A5}"/>
              </a:ext>
            </a:extLst>
          </p:cNvPr>
          <p:cNvSpPr>
            <a:spLocks xmlns:a="http://schemas.openxmlformats.org/drawingml/2006/main" noGrp="1"/>
          </p:cNvSpPr>
          <p:nvPr/>
        </p:nvSpPr>
        <p:spPr>
          <a:xfrm xmlns:a="http://schemas.openxmlformats.org/drawingml/2006/main">
            <a:off x="609600" y="8610600"/>
            <a:ext cx="3009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Review the site and requirements.</a:t>
            </a:r>
          </a:p>
        </p:txBody>
      </p:sp>
      <p:sp>
        <p:nvSpPr>
          <p:cNvPr id="19" name="profile-156">
            <a:extLst xmlns:a="http://schemas.openxmlformats.org/drawingml/2006/main">
              <a:ext uri="{FF2B5EF4-FFF2-40B4-BE49-F238E27FC236}">
                <a16:creationId xmlns:a16="http://schemas.microsoft.com/office/drawing/2014/main" id="{380305A1-35A5-4B2A-B516-07D13E1CBEB7}"/>
              </a:ext>
            </a:extLst>
          </p:cNvPr>
          <p:cNvSpPr>
            <a:spLocks xmlns:a="http://schemas.openxmlformats.org/drawingml/2006/main" noGrp="1"/>
          </p:cNvSpPr>
          <p:nvPr/>
        </p:nvSpPr>
        <p:spPr>
          <a:xfrm xmlns:a="http://schemas.openxmlformats.org/drawingml/2006/main">
            <a:off x="3943350" y="8296275"/>
            <a:ext cx="30099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7F7F2"/>
                </a:solidFill>
                <a:latin typeface="Segoe UI"/>
                <a:ea typeface="Segoe UI"/>
                <a:cs typeface="Segoe UI"/>
              </a:defRPr>
            </a:pPr>
            <a:r>
              <a:rPr sz="1425" b="1">
                <a:solidFill>
                  <a:srgbClr val="F7F7F2"/>
                </a:solidFill>
                <a:latin typeface="Segoe UI"/>
                <a:ea typeface="Segoe UI"/>
                <a:cs typeface="Segoe UI"/>
              </a:rPr>
              <a:t>Written quotation</a:t>
            </a:r>
          </a:p>
        </p:txBody>
      </p:sp>
      <p:sp>
        <p:nvSpPr>
          <p:cNvPr id="20" name="profile-157">
            <a:extLst xmlns:a="http://schemas.openxmlformats.org/drawingml/2006/main">
              <a:ext uri="{FF2B5EF4-FFF2-40B4-BE49-F238E27FC236}">
                <a16:creationId xmlns:a16="http://schemas.microsoft.com/office/drawing/2014/main" id="{DC4E0D64-0E25-40F8-9662-40DE6BF76FA1}"/>
              </a:ext>
            </a:extLst>
          </p:cNvPr>
          <p:cNvSpPr>
            <a:spLocks xmlns:a="http://schemas.openxmlformats.org/drawingml/2006/main" noGrp="1"/>
          </p:cNvSpPr>
          <p:nvPr/>
        </p:nvSpPr>
        <p:spPr>
          <a:xfrm xmlns:a="http://schemas.openxmlformats.org/drawingml/2006/main">
            <a:off x="3943350" y="8610600"/>
            <a:ext cx="3009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Confirm the proposed scope and price.</a:t>
            </a:r>
          </a:p>
        </p:txBody>
      </p:sp>
      <p:sp>
        <p:nvSpPr>
          <p:cNvPr id="21" name="profile-158">
            <a:extLst xmlns:a="http://schemas.openxmlformats.org/drawingml/2006/main">
              <a:ext uri="{FF2B5EF4-FFF2-40B4-BE49-F238E27FC236}">
                <a16:creationId xmlns:a16="http://schemas.microsoft.com/office/drawing/2014/main" id="{D5648B2F-7BD5-47B3-956B-703B68DE6B32}"/>
              </a:ext>
            </a:extLst>
          </p:cNvPr>
          <p:cNvSpPr>
            <a:spLocks xmlns:a="http://schemas.openxmlformats.org/drawingml/2006/main" noGrp="1"/>
          </p:cNvSpPr>
          <p:nvPr/>
        </p:nvSpPr>
        <p:spPr>
          <a:xfrm xmlns:a="http://schemas.openxmlformats.org/drawingml/2006/main">
            <a:off x="609600" y="9058275"/>
            <a:ext cx="30099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7F7F2"/>
                </a:solidFill>
                <a:latin typeface="Segoe UI"/>
                <a:ea typeface="Segoe UI"/>
                <a:cs typeface="Segoe UI"/>
              </a:defRPr>
            </a:pPr>
            <a:r>
              <a:rPr sz="1425" b="1">
                <a:solidFill>
                  <a:srgbClr val="F7F7F2"/>
                </a:solidFill>
                <a:latin typeface="Segoe UI"/>
                <a:ea typeface="Segoe UI"/>
                <a:cs typeface="Segoe UI"/>
              </a:rPr>
              <a:t>Service coordination</a:t>
            </a:r>
          </a:p>
        </p:txBody>
      </p:sp>
      <p:sp>
        <p:nvSpPr>
          <p:cNvPr id="22" name="profile-159">
            <a:extLst xmlns:a="http://schemas.openxmlformats.org/drawingml/2006/main">
              <a:ext uri="{FF2B5EF4-FFF2-40B4-BE49-F238E27FC236}">
                <a16:creationId xmlns:a16="http://schemas.microsoft.com/office/drawing/2014/main" id="{921E649B-AEDA-4107-9601-867063979BE0}"/>
              </a:ext>
            </a:extLst>
          </p:cNvPr>
          <p:cNvSpPr>
            <a:spLocks xmlns:a="http://schemas.openxmlformats.org/drawingml/2006/main" noGrp="1"/>
          </p:cNvSpPr>
          <p:nvPr/>
        </p:nvSpPr>
        <p:spPr>
          <a:xfrm xmlns:a="http://schemas.openxmlformats.org/drawingml/2006/main">
            <a:off x="609600" y="9372600"/>
            <a:ext cx="3009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Arrange the field team or specialist.</a:t>
            </a:r>
          </a:p>
        </p:txBody>
      </p:sp>
      <p:sp>
        <p:nvSpPr>
          <p:cNvPr id="23" name="profile-160">
            <a:extLst xmlns:a="http://schemas.openxmlformats.org/drawingml/2006/main">
              <a:ext uri="{FF2B5EF4-FFF2-40B4-BE49-F238E27FC236}">
                <a16:creationId xmlns:a16="http://schemas.microsoft.com/office/drawing/2014/main" id="{472C6A7B-DD25-418E-BDEE-DB4F9DADAB5E}"/>
              </a:ext>
            </a:extLst>
          </p:cNvPr>
          <p:cNvSpPr>
            <a:spLocks xmlns:a="http://schemas.openxmlformats.org/drawingml/2006/main" noGrp="1"/>
          </p:cNvSpPr>
          <p:nvPr/>
        </p:nvSpPr>
        <p:spPr>
          <a:xfrm xmlns:a="http://schemas.openxmlformats.org/drawingml/2006/main">
            <a:off x="3943350" y="9058275"/>
            <a:ext cx="300990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7F7F2"/>
                </a:solidFill>
                <a:latin typeface="Segoe UI"/>
                <a:ea typeface="Segoe UI"/>
                <a:cs typeface="Segoe UI"/>
              </a:defRPr>
            </a:pPr>
            <a:r>
              <a:rPr sz="1425" b="1">
                <a:solidFill>
                  <a:srgbClr val="F7F7F2"/>
                </a:solidFill>
                <a:latin typeface="Segoe UI"/>
                <a:ea typeface="Segoe UI"/>
                <a:cs typeface="Segoe UI"/>
              </a:rPr>
              <a:t>Turnover</a:t>
            </a:r>
          </a:p>
        </p:txBody>
      </p:sp>
      <p:sp>
        <p:nvSpPr>
          <p:cNvPr id="24" name="profile-161">
            <a:extLst xmlns:a="http://schemas.openxmlformats.org/drawingml/2006/main">
              <a:ext uri="{FF2B5EF4-FFF2-40B4-BE49-F238E27FC236}">
                <a16:creationId xmlns:a16="http://schemas.microsoft.com/office/drawing/2014/main" id="{7938D6B8-7689-4FC9-A731-741A53F00B30}"/>
              </a:ext>
            </a:extLst>
          </p:cNvPr>
          <p:cNvSpPr>
            <a:spLocks xmlns:a="http://schemas.openxmlformats.org/drawingml/2006/main" noGrp="1"/>
          </p:cNvSpPr>
          <p:nvPr/>
        </p:nvSpPr>
        <p:spPr>
          <a:xfrm xmlns:a="http://schemas.openxmlformats.org/drawingml/2006/main">
            <a:off x="3943350" y="9372600"/>
            <a:ext cx="3009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Review the agreed work with the client.</a:t>
            </a:r>
          </a:p>
        </p:txBody>
      </p:sp>
      <p:sp>
        <p:nvSpPr>
          <p:cNvPr id="25" name="profile-162">
            <a:extLst xmlns:a="http://schemas.openxmlformats.org/drawingml/2006/main">
              <a:ext uri="{FF2B5EF4-FFF2-40B4-BE49-F238E27FC236}">
                <a16:creationId xmlns:a16="http://schemas.microsoft.com/office/drawing/2014/main" id="{EA75ED5C-6CA2-45F3-B00E-CB3161DED6C6}"/>
              </a:ext>
            </a:extLst>
          </p:cNvPr>
          <p:cNvSpPr>
            <a:spLocks xmlns:a="http://schemas.openxmlformats.org/drawingml/2006/main" noGrp="1"/>
          </p:cNvSpPr>
          <p:nvPr/>
        </p:nvSpPr>
        <p:spPr>
          <a:xfrm xmlns:a="http://schemas.openxmlformats.org/drawingml/2006/main">
            <a:off x="609600" y="9934575"/>
            <a:ext cx="6343650" cy="6668"/>
          </a:xfrm>
          <a:prstGeom xmlns:a="http://schemas.openxmlformats.org/drawingml/2006/main" prst="rect">
            <a:avLst/>
          </a:prstGeom>
          <a:solidFill xmlns:a="http://schemas.openxmlformats.org/drawingml/2006/main">
            <a:srgbClr val="263D5F"/>
          </a:solidFill>
          <a:ln xmlns:a="http://schemas.openxmlformats.org/drawingml/2006/main" w="0">
            <a:noFill/>
          </a:ln>
        </p:spPr>
      </p:sp>
      <p:sp>
        <p:nvSpPr>
          <p:cNvPr id="26" name="profile-163">
            <a:extLst xmlns:a="http://schemas.openxmlformats.org/drawingml/2006/main">
              <a:ext uri="{FF2B5EF4-FFF2-40B4-BE49-F238E27FC236}">
                <a16:creationId xmlns:a16="http://schemas.microsoft.com/office/drawing/2014/main" id="{572D9C58-E805-4672-818C-7CC3FC987EE0}"/>
              </a:ext>
            </a:extLst>
          </p:cNvPr>
          <p:cNvSpPr>
            <a:spLocks xmlns:a="http://schemas.openxmlformats.org/drawingml/2006/main" noGrp="1"/>
          </p:cNvSpPr>
          <p:nvPr/>
        </p:nvSpPr>
        <p:spPr>
          <a:xfrm xmlns:a="http://schemas.openxmlformats.org/drawingml/2006/main">
            <a:off x="609600" y="10125075"/>
            <a:ext cx="634365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D8DFE9"/>
                </a:solidFill>
                <a:latin typeface="Arial"/>
                <a:ea typeface="Arial"/>
                <a:cs typeface="Arial"/>
              </a:defRPr>
            </a:pPr>
            <a:r>
              <a:rPr sz="900" b="0">
                <a:solidFill>
                  <a:srgbClr val="D8DFE9"/>
                </a:solidFill>
                <a:latin typeface="Arial"/>
                <a:ea typeface="Arial"/>
                <a:cs typeface="Arial"/>
              </a:rPr>
              <a:t>Oceanides Plumbing Siphoning &amp; Pest Management Services OPC</a:t>
            </a:r>
          </a:p>
        </p:txBody>
      </p:sp>
      <p:sp>
        <p:nvSpPr>
          <p:cNvPr id="27" name="profile-164">
            <a:extLst xmlns:a="http://schemas.openxmlformats.org/drawingml/2006/main">
              <a:ext uri="{FF2B5EF4-FFF2-40B4-BE49-F238E27FC236}">
                <a16:creationId xmlns:a16="http://schemas.microsoft.com/office/drawing/2014/main" id="{AB9B721C-212E-431F-8CC3-4D5B0534B79A}"/>
              </a:ext>
            </a:extLst>
          </p:cNvPr>
          <p:cNvSpPr>
            <a:spLocks xmlns:a="http://schemas.openxmlformats.org/drawingml/2006/main" noGrp="1"/>
          </p:cNvSpPr>
          <p:nvPr/>
        </p:nvSpPr>
        <p:spPr>
          <a:xfrm xmlns:a="http://schemas.openxmlformats.org/drawingml/2006/main">
            <a:off x="609600" y="10382250"/>
            <a:ext cx="6343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AABCD3"/>
                </a:solidFill>
                <a:latin typeface="Arial"/>
                <a:ea typeface="Arial"/>
                <a:cs typeface="Arial"/>
              </a:defRPr>
            </a:pPr>
            <a:r>
              <a:rPr sz="825" b="0">
                <a:solidFill>
                  <a:srgbClr val="AABCD3"/>
                </a:solidFill>
                <a:latin typeface="Arial"/>
                <a:ea typeface="Arial"/>
                <a:cs typeface="Arial"/>
              </a:rPr>
              <a:t>Final scope, pricing and scheduling depend on the site assessment and the agreed quotation.</a:t>
            </a:r>
          </a:p>
        </p:txBody>
      </p:sp>
    </p:spTree>
    <p:extLst>
      <p:ext uri="{BB962C8B-B14F-4D97-AF65-F5344CB8AC3E}">
        <p14:creationId xmlns:p14="http://schemas.microsoft.com/office/powerpoint/2010/main" val="616017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2026-10-03T05:17:11.0090000Z</dcterms:created>
  <dcterms:modified xsi:type="dcterms:W3CDTF">2026-10-03T05:17:11.0090000Z</dcterms:modified>
</coreProperties>
</file>