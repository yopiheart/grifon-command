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E5703E1-F8F5-196A-99CD-4B5DDA83AF15}">
          <p14:sldIdLst>
            <p14:sldId id="256"/>
            <p14:sldId id="257"/>
            <p14:sldId id="258"/>
          </p14:sldIdLst>
        </p14:section>
        <p14:section name="Treatment Stages" id="{03E51454-9A0D-7E5F-CF1C-579F328AE6F3}">
          <p14:sldIdLst>
            <p14:sldId id="259"/>
            <p14:sldId id="260"/>
            <p14:sldId id="261"/>
            <p14:sldId id="262"/>
            <p14:sldId id="263"/>
          </p14:sldIdLst>
        </p14:section>
        <p14:section name="Conclusion" id="{15C907BA-36EE-B38C-2FE6-7AF914A503B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908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22201"/>
            <a:ext cx="12191970" cy="83759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/home/claude/build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" y="318211"/>
            <a:ext cx="1766804" cy="1766804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70382" y="2093427"/>
            <a:ext cx="10467045" cy="7955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70382" y="2930743"/>
            <a:ext cx="9210934" cy="4187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14720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7206"/>
            <a:ext cx="12191970" cy="58613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0" descr="/home/claude/build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698" y="117226"/>
            <a:ext cx="954634" cy="954634"/>
          </a:xfrm>
          <a:prstGeom prst="rect">
            <a:avLst/>
          </a:prstGeom>
        </p:spPr>
      </p:pic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519196" y="6430884"/>
            <a:ext cx="7536210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Oceanides Malabanan Services  |  Advanced Sewage Treatment Plant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17588" y="-125639"/>
            <a:ext cx="418704" cy="41870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2780050" y="418704"/>
            <a:ext cx="586130" cy="58613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5124663" y="602864"/>
            <a:ext cx="334945" cy="334945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5024171" y="293065"/>
            <a:ext cx="251186" cy="251186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2872130" y="293065"/>
            <a:ext cx="251186" cy="251186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4237055" y="787116"/>
            <a:ext cx="602864" cy="60286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3433206" y="1423538"/>
            <a:ext cx="753648" cy="75364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5819699" y="293065"/>
            <a:ext cx="669889" cy="669889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6732361" y="552663"/>
            <a:ext cx="602864" cy="60286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1" name="Shape 9"/>
          <p:cNvSpPr/>
          <p:nvPr/>
        </p:nvSpPr>
        <p:spPr>
          <a:xfrm>
            <a:off x="8046994" y="661477"/>
            <a:ext cx="351678" cy="35167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10934" y="569397"/>
            <a:ext cx="502371" cy="502371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72010" y="653156"/>
            <a:ext cx="167427" cy="167427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92592" y="720090"/>
            <a:ext cx="535930" cy="53593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44763" y="946221"/>
            <a:ext cx="452171" cy="452171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630894" y="1339779"/>
            <a:ext cx="351678" cy="35167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614160" y="1783537"/>
            <a:ext cx="753648" cy="75364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13266" y="2068281"/>
            <a:ext cx="669889" cy="669889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9" name="Shape 17"/>
          <p:cNvSpPr/>
          <p:nvPr/>
        </p:nvSpPr>
        <p:spPr>
          <a:xfrm>
            <a:off x="8356884" y="1356512"/>
            <a:ext cx="753648" cy="75364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18361" y="1230965"/>
            <a:ext cx="586130" cy="586130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014875" y="1574231"/>
            <a:ext cx="452171" cy="452171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88603" y="1758483"/>
            <a:ext cx="619689" cy="619689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87980" y="2361347"/>
            <a:ext cx="468904" cy="46890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4" name="Shape 22"/>
          <p:cNvSpPr/>
          <p:nvPr/>
        </p:nvSpPr>
        <p:spPr>
          <a:xfrm>
            <a:off x="7008693" y="2863809"/>
            <a:ext cx="301478" cy="30147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92312" y="3675979"/>
            <a:ext cx="200985" cy="200985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26271" y="4195176"/>
            <a:ext cx="351678" cy="351678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22060" y="4195176"/>
            <a:ext cx="267919" cy="267919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8" name="Shape 26"/>
          <p:cNvSpPr/>
          <p:nvPr/>
        </p:nvSpPr>
        <p:spPr>
          <a:xfrm>
            <a:off x="5258623" y="3525286"/>
            <a:ext cx="150693" cy="150693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08824" y="3734592"/>
            <a:ext cx="167427" cy="167427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0" name="Shape 28"/>
          <p:cNvSpPr/>
          <p:nvPr/>
        </p:nvSpPr>
        <p:spPr>
          <a:xfrm>
            <a:off x="9286372" y="4136563"/>
            <a:ext cx="686623" cy="686623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47849" y="4019337"/>
            <a:ext cx="284744" cy="28474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723065" y="4220322"/>
            <a:ext cx="334945" cy="334945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932371" y="3475086"/>
            <a:ext cx="418704" cy="418704"/>
          </a:xfrm>
          <a:prstGeom prst="ellipse">
            <a:avLst/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70382" y="2093427"/>
            <a:ext cx="1046704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Advanced Sewage Treatment Plant</a:t>
            </a:r>
            <a:endParaRPr lang="en-US" sz="4000" dirty="0"/>
          </a:p>
        </p:txBody>
      </p:sp>
      <p:sp>
        <p:nvSpPr>
          <p:cNvPr id="35" name="Text 1"/>
          <p:cNvSpPr>
            <a:spLocks noGrp="1"/>
          </p:cNvSpPr>
          <p:nvPr>
            <p:ph type="body" idx="103" hasCustomPrompt="1"/>
          </p:nvPr>
        </p:nvSpPr>
        <p:spPr>
          <a:xfrm>
            <a:off x="770382" y="2930743"/>
            <a:ext cx="9210934" cy="41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A cutting-edge, chemical-free, low-maintenance wastewater system</a:t>
            </a:r>
            <a:endParaRPr lang="en-US" sz="2000" dirty="0"/>
          </a:p>
        </p:txBody>
      </p:sp>
      <p:sp>
        <p:nvSpPr>
          <p:cNvPr id="36" name="Stages line"/>
          <p:cNvSpPr txBox="1"/>
          <p:nvPr/>
        </p:nvSpPr>
        <p:spPr>
          <a:xfrm>
            <a:off x="770382" y="3868644"/>
            <a:ext cx="9210934" cy="36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Electrocoagulation  |  Ultrafiltration  |  Fractionation Filter  |  Advanced Oxidation</a:t>
            </a:r>
            <a:endParaRPr lang="en-US" sz="1400" dirty="0"/>
          </a:p>
        </p:txBody>
      </p:sp>
      <p:sp>
        <p:nvSpPr>
          <p:cNvPr id="37" name="Company"/>
          <p:cNvSpPr txBox="1"/>
          <p:nvPr/>
        </p:nvSpPr>
        <p:spPr>
          <a:xfrm>
            <a:off x="770382" y="5057638"/>
            <a:ext cx="5861487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Oceanides Malabanan Services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Overview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A quick look at our Advanced STP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653156" y="1758483"/>
            <a:ext cx="6196432" cy="334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Chemical-free, low-maintenance design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Handles both domestic and industrial wastewater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Compliant with environmental regulations (DENR DAO 2016-08 and 2021-19)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Process begins at the effluent tank discharge, where a submersible pump starts the flow through every treatment stage</a:t>
            </a:r>
            <a:endParaRPr lang="en-US" sz="1600" dirty="0"/>
          </a:p>
        </p:txBody>
      </p:sp>
      <p:sp>
        <p:nvSpPr>
          <p:cNvPr id="5" name="Stages card"/>
          <p:cNvSpPr/>
          <p:nvPr/>
        </p:nvSpPr>
        <p:spPr>
          <a:xfrm>
            <a:off x="7745608" y="1398392"/>
            <a:ext cx="3935578" cy="4061216"/>
          </a:xfrm>
          <a:prstGeom prst="roundRect">
            <a:avLst>
              <a:gd name="adj" fmla="val 511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45608" y="1507206"/>
            <a:ext cx="3935578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Four Treatment Stages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88874" y="2143628"/>
            <a:ext cx="452171" cy="45217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88874" y="2143628"/>
            <a:ext cx="452171" cy="45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708563" y="2168774"/>
            <a:ext cx="2763317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Electrocoagulation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88874" y="2930743"/>
            <a:ext cx="452171" cy="45217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88874" y="2930743"/>
            <a:ext cx="452171" cy="45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708563" y="2955889"/>
            <a:ext cx="2763317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Ultrafiltration (UF)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88874" y="3717859"/>
            <a:ext cx="452171" cy="45217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88874" y="3717859"/>
            <a:ext cx="452171" cy="45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08563" y="3743005"/>
            <a:ext cx="2763317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Fractionation filter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88874" y="4504974"/>
            <a:ext cx="452171" cy="452171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88874" y="4504974"/>
            <a:ext cx="452171" cy="45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708563" y="4530120"/>
            <a:ext cx="2763317" cy="40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Advanced oxidation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Treatment Process Flow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From effluent tank to safe discharge</a:t>
            </a:r>
            <a:endParaRPr lang="en-US" sz="1200" dirty="0"/>
          </a:p>
        </p:txBody>
      </p:sp>
      <p:sp>
        <p:nvSpPr>
          <p:cNvPr id="4" name="Step 1"/>
          <p:cNvSpPr/>
          <p:nvPr/>
        </p:nvSpPr>
        <p:spPr>
          <a:xfrm>
            <a:off x="611276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Effluent tank + submersible pump</a:t>
            </a:r>
            <a:endParaRPr lang="en-US" sz="1400" dirty="0"/>
          </a:p>
        </p:txBody>
      </p:sp>
      <p:sp>
        <p:nvSpPr>
          <p:cNvPr id="5" name="Arrow 1"/>
          <p:cNvSpPr/>
          <p:nvPr/>
        </p:nvSpPr>
        <p:spPr>
          <a:xfrm>
            <a:off x="2235708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6" name="Step 2"/>
          <p:cNvSpPr/>
          <p:nvPr/>
        </p:nvSpPr>
        <p:spPr>
          <a:xfrm>
            <a:off x="2492014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Electro-coagulation reactor</a:t>
            </a:r>
            <a:endParaRPr lang="en-US" sz="1400" dirty="0"/>
          </a:p>
        </p:txBody>
      </p:sp>
      <p:sp>
        <p:nvSpPr>
          <p:cNvPr id="7" name="Arrow 2"/>
          <p:cNvSpPr/>
          <p:nvPr/>
        </p:nvSpPr>
        <p:spPr>
          <a:xfrm>
            <a:off x="4116446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Step 3"/>
          <p:cNvSpPr/>
          <p:nvPr/>
        </p:nvSpPr>
        <p:spPr>
          <a:xfrm>
            <a:off x="4372661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Ultra-filtration (UF)</a:t>
            </a:r>
            <a:endParaRPr lang="en-US" sz="1400" dirty="0"/>
          </a:p>
        </p:txBody>
      </p:sp>
      <p:sp>
        <p:nvSpPr>
          <p:cNvPr id="9" name="Arrow 3"/>
          <p:cNvSpPr/>
          <p:nvPr/>
        </p:nvSpPr>
        <p:spPr>
          <a:xfrm>
            <a:off x="5997184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0" name="Step 4"/>
          <p:cNvSpPr/>
          <p:nvPr/>
        </p:nvSpPr>
        <p:spPr>
          <a:xfrm>
            <a:off x="6253399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Fractionation filter</a:t>
            </a:r>
            <a:endParaRPr lang="en-US" sz="1400" dirty="0"/>
          </a:p>
        </p:txBody>
      </p:sp>
      <p:sp>
        <p:nvSpPr>
          <p:cNvPr id="11" name="Arrow 4"/>
          <p:cNvSpPr/>
          <p:nvPr/>
        </p:nvSpPr>
        <p:spPr>
          <a:xfrm>
            <a:off x="7877922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2" name="Step 5"/>
          <p:cNvSpPr/>
          <p:nvPr/>
        </p:nvSpPr>
        <p:spPr>
          <a:xfrm>
            <a:off x="8134137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Advanced oxidation O3 + UV</a:t>
            </a:r>
            <a:endParaRPr lang="en-US" sz="1400" dirty="0"/>
          </a:p>
        </p:txBody>
      </p:sp>
      <p:sp>
        <p:nvSpPr>
          <p:cNvPr id="13" name="Arrow 5"/>
          <p:cNvSpPr/>
          <p:nvPr/>
        </p:nvSpPr>
        <p:spPr>
          <a:xfrm>
            <a:off x="9758568" y="2662824"/>
            <a:ext cx="251186" cy="1339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4" name="Step 6"/>
          <p:cNvSpPr/>
          <p:nvPr/>
        </p:nvSpPr>
        <p:spPr>
          <a:xfrm>
            <a:off x="10014875" y="2034814"/>
            <a:ext cx="1574231" cy="1389979"/>
          </a:xfrm>
          <a:prstGeom prst="roundRect">
            <a:avLst>
              <a:gd name="adj" fmla="val 11841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Safe discharge</a:t>
            </a:r>
            <a:endParaRPr lang="en-US" sz="1400" dirty="0"/>
          </a:p>
        </p:txBody>
      </p:sp>
      <p:sp>
        <p:nvSpPr>
          <p:cNvPr id="15" name="Summary card"/>
          <p:cNvSpPr/>
          <p:nvPr/>
        </p:nvSpPr>
        <p:spPr>
          <a:xfrm>
            <a:off x="761970" y="3935578"/>
            <a:ext cx="10667939" cy="1783537"/>
          </a:xfrm>
          <a:prstGeom prst="roundRect">
            <a:avLst>
              <a:gd name="adj" fmla="val 11279"/>
            </a:avLst>
          </a:prstGeom>
          <a:solidFill>
            <a:schemeClr val="bg2"/>
          </a:solidFill>
          <a:ln/>
        </p:spPr>
      </p:sp>
      <p:sp>
        <p:nvSpPr>
          <p:cNvPr id="16" name="Summary text"/>
          <p:cNvSpPr txBox="1"/>
          <p:nvPr/>
        </p:nvSpPr>
        <p:spPr>
          <a:xfrm>
            <a:off x="761970" y="3935578"/>
            <a:ext cx="10667939" cy="1783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drop of water goes through meticulous, multi-stage purification.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Removes suspended solids, organics, bacteria, viruses and microbial contamination,</a:t>
            </a:r>
            <a:endParaRPr lang="en-US" sz="14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 effluent meets regulatory standards and is ready for responsible discharge.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Stage 1: Electrocoagulation Reactor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Treating wastewater with electrical current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519196" y="1716603"/>
            <a:ext cx="6447709" cy="3516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Electroflotation: electrical current treats and flocculates contaminants without adding coagulants such as alum or polymers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Pairs of metal rods: two anodes and two cathodes, using the principles of electrochemistry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anode is oxidized while water is reduced, improving overall treatment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Particulates are neutralized, forming hydroxide complexes that create flocs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Flocs settle at the bottom of the tank and are removed through filtration</a:t>
            </a:r>
            <a:endParaRPr lang="en-US" sz="1600" dirty="0"/>
          </a:p>
        </p:txBody>
      </p:sp>
      <p:sp>
        <p:nvSpPr>
          <p:cNvPr id="5" name="Diagram card"/>
          <p:cNvSpPr/>
          <p:nvPr/>
        </p:nvSpPr>
        <p:spPr>
          <a:xfrm>
            <a:off x="7368784" y="1272753"/>
            <a:ext cx="4312402" cy="4186763"/>
          </a:xfrm>
          <a:prstGeom prst="roundRect">
            <a:avLst>
              <a:gd name="adj" fmla="val 4805"/>
            </a:avLst>
          </a:prstGeom>
          <a:solidFill>
            <a:schemeClr val="bg2"/>
          </a:solidFill>
          <a:ln/>
        </p:spPr>
      </p:sp>
      <p:sp>
        <p:nvSpPr>
          <p:cNvPr id="6" name="Water"/>
          <p:cNvSpPr/>
          <p:nvPr/>
        </p:nvSpPr>
        <p:spPr>
          <a:xfrm>
            <a:off x="7887980" y="2805196"/>
            <a:ext cx="3039648" cy="2135307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5"/>
          <p:cNvSpPr/>
          <p:nvPr/>
        </p:nvSpPr>
        <p:spPr>
          <a:xfrm>
            <a:off x="7854422" y="2537186"/>
            <a:ext cx="0" cy="2428372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61004" y="2537186"/>
            <a:ext cx="0" cy="2428372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54422" y="4965558"/>
            <a:ext cx="3106583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0" name="Anode rod"/>
          <p:cNvSpPr/>
          <p:nvPr/>
        </p:nvSpPr>
        <p:spPr>
          <a:xfrm>
            <a:off x="8289859" y="2537186"/>
            <a:ext cx="184252" cy="2152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89859" y="2846984"/>
            <a:ext cx="184252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22432" y="2277588"/>
            <a:ext cx="519196" cy="18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Anode</a:t>
            </a:r>
            <a:endParaRPr lang="en-US" sz="1000" dirty="0"/>
          </a:p>
        </p:txBody>
      </p:sp>
      <p:sp>
        <p:nvSpPr>
          <p:cNvPr id="13" name="Cathode rod"/>
          <p:cNvSpPr/>
          <p:nvPr/>
        </p:nvSpPr>
        <p:spPr>
          <a:xfrm>
            <a:off x="8984894" y="2537186"/>
            <a:ext cx="184252" cy="2152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84894" y="2846984"/>
            <a:ext cx="184252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-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817376" y="2277588"/>
            <a:ext cx="519196" cy="18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Cathode</a:t>
            </a:r>
            <a:endParaRPr lang="en-US" sz="1000" dirty="0"/>
          </a:p>
        </p:txBody>
      </p:sp>
      <p:sp>
        <p:nvSpPr>
          <p:cNvPr id="16" name="Anode rod"/>
          <p:cNvSpPr/>
          <p:nvPr/>
        </p:nvSpPr>
        <p:spPr>
          <a:xfrm>
            <a:off x="9880824" y="2537186"/>
            <a:ext cx="184252" cy="21520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80824" y="2846984"/>
            <a:ext cx="184252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713397" y="2277588"/>
            <a:ext cx="519196" cy="18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Anode</a:t>
            </a:r>
            <a:endParaRPr lang="en-US" sz="1000" dirty="0"/>
          </a:p>
        </p:txBody>
      </p:sp>
      <p:sp>
        <p:nvSpPr>
          <p:cNvPr id="19" name="Cathode rod"/>
          <p:cNvSpPr/>
          <p:nvPr/>
        </p:nvSpPr>
        <p:spPr>
          <a:xfrm>
            <a:off x="10575859" y="2537186"/>
            <a:ext cx="184252" cy="21520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75859" y="2846984"/>
            <a:ext cx="184252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-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408432" y="2277588"/>
            <a:ext cx="519196" cy="18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Cathode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41045" y="3056382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3" name="Shape 21"/>
          <p:cNvSpPr/>
          <p:nvPr/>
        </p:nvSpPr>
        <p:spPr>
          <a:xfrm>
            <a:off x="9169055" y="2981035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4" name="Shape 22"/>
          <p:cNvSpPr/>
          <p:nvPr/>
        </p:nvSpPr>
        <p:spPr>
          <a:xfrm>
            <a:off x="8457377" y="3257367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5" name="Shape 23"/>
          <p:cNvSpPr/>
          <p:nvPr/>
        </p:nvSpPr>
        <p:spPr>
          <a:xfrm>
            <a:off x="9269547" y="3408060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6080" y="3525286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7" name="Shape 25"/>
          <p:cNvSpPr/>
          <p:nvPr/>
        </p:nvSpPr>
        <p:spPr>
          <a:xfrm>
            <a:off x="8206100" y="4027749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8" name="Shape 26"/>
          <p:cNvSpPr/>
          <p:nvPr/>
        </p:nvSpPr>
        <p:spPr>
          <a:xfrm>
            <a:off x="9026774" y="3952311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9" name="Shape 27"/>
          <p:cNvSpPr/>
          <p:nvPr/>
        </p:nvSpPr>
        <p:spPr>
          <a:xfrm>
            <a:off x="8917869" y="3977457"/>
            <a:ext cx="83759" cy="83759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0" name="Shape 28"/>
          <p:cNvSpPr/>
          <p:nvPr/>
        </p:nvSpPr>
        <p:spPr>
          <a:xfrm>
            <a:off x="9470532" y="4086362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31608" y="3851819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2" name="Shape 30"/>
          <p:cNvSpPr/>
          <p:nvPr/>
        </p:nvSpPr>
        <p:spPr>
          <a:xfrm>
            <a:off x="9889236" y="3893698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3" name="Shape 31"/>
          <p:cNvSpPr/>
          <p:nvPr/>
        </p:nvSpPr>
        <p:spPr>
          <a:xfrm>
            <a:off x="9730130" y="4228643"/>
            <a:ext cx="83759" cy="83759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43377" y="3073116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25658" y="3876965"/>
            <a:ext cx="100493" cy="100493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00020" y="3935578"/>
            <a:ext cx="83759" cy="83759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52191" y="4010924"/>
            <a:ext cx="83759" cy="83759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8" name="Shape 36"/>
          <p:cNvSpPr/>
          <p:nvPr/>
        </p:nvSpPr>
        <p:spPr>
          <a:xfrm>
            <a:off x="8038673" y="4295668"/>
            <a:ext cx="50201" cy="50201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9" name="Shape 37"/>
          <p:cNvSpPr/>
          <p:nvPr/>
        </p:nvSpPr>
        <p:spPr>
          <a:xfrm>
            <a:off x="7963327" y="4722693"/>
            <a:ext cx="184252" cy="1842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0" name="Shape 38"/>
          <p:cNvSpPr/>
          <p:nvPr/>
        </p:nvSpPr>
        <p:spPr>
          <a:xfrm>
            <a:off x="8130753" y="4764573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1" name="Shape 39"/>
          <p:cNvSpPr/>
          <p:nvPr/>
        </p:nvSpPr>
        <p:spPr>
          <a:xfrm>
            <a:off x="8457377" y="4806452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2" name="Shape 40"/>
          <p:cNvSpPr/>
          <p:nvPr/>
        </p:nvSpPr>
        <p:spPr>
          <a:xfrm>
            <a:off x="8515990" y="4697547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3" name="Shape 41"/>
          <p:cNvSpPr/>
          <p:nvPr/>
        </p:nvSpPr>
        <p:spPr>
          <a:xfrm>
            <a:off x="9127266" y="4772985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4" name="Shape 42"/>
          <p:cNvSpPr/>
          <p:nvPr/>
        </p:nvSpPr>
        <p:spPr>
          <a:xfrm>
            <a:off x="9495678" y="4747839"/>
            <a:ext cx="117226" cy="11722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5" name="Shape 43"/>
          <p:cNvSpPr/>
          <p:nvPr/>
        </p:nvSpPr>
        <p:spPr>
          <a:xfrm>
            <a:off x="9847356" y="4697547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99035" y="4772985"/>
            <a:ext cx="117226" cy="11722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7" name="Shape 45"/>
          <p:cNvSpPr/>
          <p:nvPr/>
        </p:nvSpPr>
        <p:spPr>
          <a:xfrm>
            <a:off x="10332994" y="4747839"/>
            <a:ext cx="184252" cy="18425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84271" y="4731106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9" name="Shape 47"/>
          <p:cNvSpPr/>
          <p:nvPr/>
        </p:nvSpPr>
        <p:spPr>
          <a:xfrm>
            <a:off x="10776844" y="4714372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0" name="Shape 48"/>
          <p:cNvSpPr/>
          <p:nvPr/>
        </p:nvSpPr>
        <p:spPr>
          <a:xfrm>
            <a:off x="10827045" y="4756252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846101" y="5091196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Flocs collect at the bottom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368784" y="5526542"/>
            <a:ext cx="431240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Illustration: simplified electrocoagulation cell</a:t>
            </a:r>
            <a:endParaRPr lang="en-US" sz="10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Electrocoagulation: What It Removes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Optimizing performance</a:t>
            </a:r>
            <a:endParaRPr lang="en-US" sz="1200" dirty="0"/>
          </a:p>
        </p:txBody>
      </p:sp>
      <p:sp>
        <p:nvSpPr>
          <p:cNvPr id="4" name="Pollutants card"/>
          <p:cNvSpPr/>
          <p:nvPr/>
        </p:nvSpPr>
        <p:spPr>
          <a:xfrm>
            <a:off x="569397" y="1398392"/>
            <a:ext cx="5333970" cy="3935578"/>
          </a:xfrm>
          <a:prstGeom prst="roundRect">
            <a:avLst>
              <a:gd name="adj" fmla="val 511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7608" y="1549085"/>
            <a:ext cx="4186763" cy="33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Pollutants removed</a:t>
            </a:r>
            <a:endParaRPr lang="en-US" sz="1800" dirty="0"/>
          </a:p>
        </p:txBody>
      </p:sp>
      <p:sp>
        <p:nvSpPr>
          <p:cNvPr id="6" name="Pollutant: Turbidity"/>
          <p:cNvSpPr/>
          <p:nvPr/>
        </p:nvSpPr>
        <p:spPr>
          <a:xfrm>
            <a:off x="887608" y="2051548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Turbidity</a:t>
            </a:r>
            <a:endParaRPr lang="en-US" sz="1400" dirty="0"/>
          </a:p>
        </p:txBody>
      </p:sp>
      <p:sp>
        <p:nvSpPr>
          <p:cNvPr id="7" name="Pollutant: BOD and COD"/>
          <p:cNvSpPr/>
          <p:nvPr/>
        </p:nvSpPr>
        <p:spPr>
          <a:xfrm>
            <a:off x="3424794" y="2051548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BOD and COD</a:t>
            </a:r>
            <a:endParaRPr lang="en-US" sz="1400" dirty="0"/>
          </a:p>
        </p:txBody>
      </p:sp>
      <p:sp>
        <p:nvSpPr>
          <p:cNvPr id="8" name="Pollutant: Oil and grease"/>
          <p:cNvSpPr/>
          <p:nvPr/>
        </p:nvSpPr>
        <p:spPr>
          <a:xfrm>
            <a:off x="887608" y="3014502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Oil and grease</a:t>
            </a:r>
            <a:endParaRPr lang="en-US" sz="1400" dirty="0"/>
          </a:p>
        </p:txBody>
      </p:sp>
      <p:sp>
        <p:nvSpPr>
          <p:cNvPr id="9" name="Pollutant: Surfactants"/>
          <p:cNvSpPr/>
          <p:nvPr/>
        </p:nvSpPr>
        <p:spPr>
          <a:xfrm>
            <a:off x="3424794" y="3014502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Surfactants</a:t>
            </a:r>
            <a:endParaRPr lang="en-US" sz="1400" dirty="0"/>
          </a:p>
        </p:txBody>
      </p:sp>
      <p:sp>
        <p:nvSpPr>
          <p:cNvPr id="10" name="Pollutant: Nitrates"/>
          <p:cNvSpPr/>
          <p:nvPr/>
        </p:nvSpPr>
        <p:spPr>
          <a:xfrm>
            <a:off x="887608" y="3977457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Nitrates</a:t>
            </a:r>
            <a:endParaRPr lang="en-US" sz="1400" dirty="0"/>
          </a:p>
        </p:txBody>
      </p:sp>
      <p:sp>
        <p:nvSpPr>
          <p:cNvPr id="11" name="Pollutant: Phosphates"/>
          <p:cNvSpPr/>
          <p:nvPr/>
        </p:nvSpPr>
        <p:spPr>
          <a:xfrm>
            <a:off x="3424794" y="3977457"/>
            <a:ext cx="2286000" cy="653156"/>
          </a:xfrm>
          <a:prstGeom prst="roundRect">
            <a:avLst>
              <a:gd name="adj" fmla="val 21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Phosphates</a:t>
            </a:r>
            <a:endParaRPr lang="en-US" sz="1400" dirty="0"/>
          </a:p>
        </p:txBody>
      </p:sp>
      <p:sp>
        <p:nvSpPr>
          <p:cNvPr id="12" name="Bullets"/>
          <p:cNvSpPr txBox="1"/>
          <p:nvPr/>
        </p:nvSpPr>
        <p:spPr>
          <a:xfrm>
            <a:off x="6363950" y="1674724"/>
            <a:ext cx="5191597" cy="318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Optimal removal depends on electrode material, pH and current density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Adept at removing small particles: direct current sets them in motion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Reduces residue, minimizing waste production in the treatment system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Stage 2: Ultrafiltration (UF)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Pressure-driven glass media filter separation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653156" y="1716603"/>
            <a:ext cx="6196432" cy="3516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Pressure-driven glass media filter separation process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Eliminates suspended particulate matter from water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Targets dissolved compounds of high molecular weight, such as organics and total dissolved solids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Efficiently removes bacteria and most viruses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Especially well suited for tertiary treatment of sewage</a:t>
            </a:r>
            <a:endParaRPr lang="en-US" sz="1600" dirty="0"/>
          </a:p>
        </p:txBody>
      </p:sp>
      <p:sp>
        <p:nvSpPr>
          <p:cNvPr id="5" name="Diagram card"/>
          <p:cNvSpPr/>
          <p:nvPr/>
        </p:nvSpPr>
        <p:spPr>
          <a:xfrm>
            <a:off x="7368784" y="1272753"/>
            <a:ext cx="4312402" cy="4186763"/>
          </a:xfrm>
          <a:prstGeom prst="roundRect">
            <a:avLst>
              <a:gd name="adj" fmla="val 4805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46101" y="1364925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Raw water 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14020" y="1733337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8214512" y="1624523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8348472" y="1649578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hape 8"/>
          <p:cNvSpPr/>
          <p:nvPr/>
        </p:nvSpPr>
        <p:spPr>
          <a:xfrm>
            <a:off x="8474111" y="1532352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Shape 9"/>
          <p:cNvSpPr/>
          <p:nvPr/>
        </p:nvSpPr>
        <p:spPr>
          <a:xfrm>
            <a:off x="8541045" y="1515618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hape 10"/>
          <p:cNvSpPr/>
          <p:nvPr/>
        </p:nvSpPr>
        <p:spPr>
          <a:xfrm>
            <a:off x="8658271" y="1599377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Inflow arrow"/>
          <p:cNvSpPr/>
          <p:nvPr/>
        </p:nvSpPr>
        <p:spPr>
          <a:xfrm>
            <a:off x="9411919" y="1825417"/>
            <a:ext cx="217719" cy="301478"/>
          </a:xfrm>
          <a:prstGeom prst="downArrow">
            <a:avLst/>
          </a:prstGeom>
          <a:solidFill>
            <a:schemeClr val="accent5"/>
          </a:solidFill>
          <a:ln/>
        </p:spPr>
      </p:sp>
      <p:sp>
        <p:nvSpPr>
          <p:cNvPr id="14" name="Filter vessel"/>
          <p:cNvSpPr/>
          <p:nvPr/>
        </p:nvSpPr>
        <p:spPr>
          <a:xfrm>
            <a:off x="8624804" y="2152040"/>
            <a:ext cx="1791950" cy="2553919"/>
          </a:xfrm>
          <a:prstGeom prst="roundRect">
            <a:avLst>
              <a:gd name="adj" fmla="val 5103"/>
            </a:avLst>
          </a:prstGeom>
          <a:solidFill>
            <a:srgbClr val="D8C8A5"/>
          </a:solidFill>
          <a:ln w="31750">
            <a:solidFill>
              <a:schemeClr val="tx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18361" y="2227387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16" name="Shape 14"/>
          <p:cNvSpPr/>
          <p:nvPr/>
        </p:nvSpPr>
        <p:spPr>
          <a:xfrm>
            <a:off x="9194201" y="2227387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17" name="Shape 15"/>
          <p:cNvSpPr/>
          <p:nvPr/>
        </p:nvSpPr>
        <p:spPr>
          <a:xfrm>
            <a:off x="9495678" y="224412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82301" y="224412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875989" y="237808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0" name="Shape 18"/>
          <p:cNvSpPr/>
          <p:nvPr/>
        </p:nvSpPr>
        <p:spPr>
          <a:xfrm>
            <a:off x="9093708" y="228600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1" name="Shape 19"/>
          <p:cNvSpPr/>
          <p:nvPr/>
        </p:nvSpPr>
        <p:spPr>
          <a:xfrm>
            <a:off x="9537558" y="238649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5568" y="241163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3" name="Shape 21"/>
          <p:cNvSpPr/>
          <p:nvPr/>
        </p:nvSpPr>
        <p:spPr>
          <a:xfrm>
            <a:off x="9336573" y="251204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0824" y="250371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5" name="Shape 23"/>
          <p:cNvSpPr/>
          <p:nvPr/>
        </p:nvSpPr>
        <p:spPr>
          <a:xfrm>
            <a:off x="9445386" y="263767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6" name="Shape 24"/>
          <p:cNvSpPr/>
          <p:nvPr/>
        </p:nvSpPr>
        <p:spPr>
          <a:xfrm>
            <a:off x="9512412" y="266282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7" name="Shape 25"/>
          <p:cNvSpPr/>
          <p:nvPr/>
        </p:nvSpPr>
        <p:spPr>
          <a:xfrm>
            <a:off x="9939437" y="257065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06955" y="263767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29" name="Shape 27"/>
          <p:cNvSpPr/>
          <p:nvPr/>
        </p:nvSpPr>
        <p:spPr>
          <a:xfrm>
            <a:off x="9160734" y="271302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0" name="Shape 28"/>
          <p:cNvSpPr/>
          <p:nvPr/>
        </p:nvSpPr>
        <p:spPr>
          <a:xfrm>
            <a:off x="8859256" y="2788371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1" name="Shape 29"/>
          <p:cNvSpPr/>
          <p:nvPr/>
        </p:nvSpPr>
        <p:spPr>
          <a:xfrm>
            <a:off x="8825789" y="288054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2" name="Shape 30"/>
          <p:cNvSpPr/>
          <p:nvPr/>
        </p:nvSpPr>
        <p:spPr>
          <a:xfrm>
            <a:off x="8850935" y="293915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3" name="Shape 31"/>
          <p:cNvSpPr/>
          <p:nvPr/>
        </p:nvSpPr>
        <p:spPr>
          <a:xfrm>
            <a:off x="9746864" y="292242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23196" y="288054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5" name="Shape 33"/>
          <p:cNvSpPr/>
          <p:nvPr/>
        </p:nvSpPr>
        <p:spPr>
          <a:xfrm>
            <a:off x="9445386" y="293915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32101" y="308984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7" name="Shape 35"/>
          <p:cNvSpPr/>
          <p:nvPr/>
        </p:nvSpPr>
        <p:spPr>
          <a:xfrm>
            <a:off x="8758763" y="314846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8" name="Shape 36"/>
          <p:cNvSpPr/>
          <p:nvPr/>
        </p:nvSpPr>
        <p:spPr>
          <a:xfrm>
            <a:off x="9277960" y="313172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39" name="Shape 37"/>
          <p:cNvSpPr/>
          <p:nvPr/>
        </p:nvSpPr>
        <p:spPr>
          <a:xfrm>
            <a:off x="9018361" y="321548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0" name="Shape 38"/>
          <p:cNvSpPr/>
          <p:nvPr/>
        </p:nvSpPr>
        <p:spPr>
          <a:xfrm>
            <a:off x="9545879" y="319875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48834" y="317360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2" name="Shape 40"/>
          <p:cNvSpPr/>
          <p:nvPr/>
        </p:nvSpPr>
        <p:spPr>
          <a:xfrm>
            <a:off x="9453799" y="3257367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3" name="Shape 41"/>
          <p:cNvSpPr/>
          <p:nvPr/>
        </p:nvSpPr>
        <p:spPr>
          <a:xfrm>
            <a:off x="8800643" y="342479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4" name="Shape 42"/>
          <p:cNvSpPr/>
          <p:nvPr/>
        </p:nvSpPr>
        <p:spPr>
          <a:xfrm>
            <a:off x="8951427" y="335786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5" name="Shape 43"/>
          <p:cNvSpPr/>
          <p:nvPr/>
        </p:nvSpPr>
        <p:spPr>
          <a:xfrm>
            <a:off x="9160734" y="341647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6" name="Shape 44"/>
          <p:cNvSpPr/>
          <p:nvPr/>
        </p:nvSpPr>
        <p:spPr>
          <a:xfrm>
            <a:off x="9060241" y="352528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7" name="Shape 45"/>
          <p:cNvSpPr/>
          <p:nvPr/>
        </p:nvSpPr>
        <p:spPr>
          <a:xfrm>
            <a:off x="9830623" y="3366181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8" name="Shape 46"/>
          <p:cNvSpPr/>
          <p:nvPr/>
        </p:nvSpPr>
        <p:spPr>
          <a:xfrm>
            <a:off x="9830623" y="350014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056663" y="329915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0" name="Shape 48"/>
          <p:cNvSpPr/>
          <p:nvPr/>
        </p:nvSpPr>
        <p:spPr>
          <a:xfrm>
            <a:off x="9562612" y="361736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1" name="Shape 49"/>
          <p:cNvSpPr/>
          <p:nvPr/>
        </p:nvSpPr>
        <p:spPr>
          <a:xfrm>
            <a:off x="9060241" y="365092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2" name="Shape 50"/>
          <p:cNvSpPr/>
          <p:nvPr/>
        </p:nvSpPr>
        <p:spPr>
          <a:xfrm>
            <a:off x="8926281" y="371785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3" name="Shape 51"/>
          <p:cNvSpPr/>
          <p:nvPr/>
        </p:nvSpPr>
        <p:spPr>
          <a:xfrm>
            <a:off x="9269547" y="3726271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4" name="Shape 52"/>
          <p:cNvSpPr/>
          <p:nvPr/>
        </p:nvSpPr>
        <p:spPr>
          <a:xfrm>
            <a:off x="9780331" y="365924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5" name="Shape 53"/>
          <p:cNvSpPr/>
          <p:nvPr/>
        </p:nvSpPr>
        <p:spPr>
          <a:xfrm>
            <a:off x="9838944" y="365092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6" name="Shape 54"/>
          <p:cNvSpPr/>
          <p:nvPr/>
        </p:nvSpPr>
        <p:spPr>
          <a:xfrm>
            <a:off x="9554291" y="381835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7" name="Shape 55"/>
          <p:cNvSpPr/>
          <p:nvPr/>
        </p:nvSpPr>
        <p:spPr>
          <a:xfrm>
            <a:off x="9545879" y="3851819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8" name="Shape 56"/>
          <p:cNvSpPr/>
          <p:nvPr/>
        </p:nvSpPr>
        <p:spPr>
          <a:xfrm>
            <a:off x="8926281" y="401092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59" name="Shape 57"/>
          <p:cNvSpPr/>
          <p:nvPr/>
        </p:nvSpPr>
        <p:spPr>
          <a:xfrm>
            <a:off x="9010040" y="4044483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0" name="Shape 58"/>
          <p:cNvSpPr/>
          <p:nvPr/>
        </p:nvSpPr>
        <p:spPr>
          <a:xfrm>
            <a:off x="9319839" y="4111417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1" name="Shape 59"/>
          <p:cNvSpPr/>
          <p:nvPr/>
        </p:nvSpPr>
        <p:spPr>
          <a:xfrm>
            <a:off x="9654784" y="406121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2" name="Shape 60"/>
          <p:cNvSpPr/>
          <p:nvPr/>
        </p:nvSpPr>
        <p:spPr>
          <a:xfrm>
            <a:off x="9880824" y="4144975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3" name="Shape 61"/>
          <p:cNvSpPr/>
          <p:nvPr/>
        </p:nvSpPr>
        <p:spPr>
          <a:xfrm>
            <a:off x="8775497" y="4245376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4" name="Shape 62"/>
          <p:cNvSpPr/>
          <p:nvPr/>
        </p:nvSpPr>
        <p:spPr>
          <a:xfrm>
            <a:off x="8859256" y="431240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5" name="Shape 63"/>
          <p:cNvSpPr/>
          <p:nvPr/>
        </p:nvSpPr>
        <p:spPr>
          <a:xfrm>
            <a:off x="9688251" y="4312402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6" name="Shape 64"/>
          <p:cNvSpPr/>
          <p:nvPr/>
        </p:nvSpPr>
        <p:spPr>
          <a:xfrm>
            <a:off x="9571025" y="442962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7" name="Shape 65"/>
          <p:cNvSpPr/>
          <p:nvPr/>
        </p:nvSpPr>
        <p:spPr>
          <a:xfrm>
            <a:off x="9755276" y="4429628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8" name="Shape 66"/>
          <p:cNvSpPr/>
          <p:nvPr/>
        </p:nvSpPr>
        <p:spPr>
          <a:xfrm>
            <a:off x="9076974" y="4454774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69" name="Shape 67"/>
          <p:cNvSpPr/>
          <p:nvPr/>
        </p:nvSpPr>
        <p:spPr>
          <a:xfrm>
            <a:off x="10182301" y="4479920"/>
            <a:ext cx="100493" cy="100493"/>
          </a:xfrm>
          <a:prstGeom prst="ellipse">
            <a:avLst/>
          </a:prstGeom>
          <a:solidFill>
            <a:srgbClr val="C0A880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792322" y="3265688"/>
            <a:ext cx="1457005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Glass media</a:t>
            </a:r>
            <a:endParaRPr lang="en-US" sz="1100" dirty="0"/>
          </a:p>
        </p:txBody>
      </p:sp>
      <p:sp>
        <p:nvSpPr>
          <p:cNvPr id="71" name="Outflow arrow"/>
          <p:cNvSpPr/>
          <p:nvPr/>
        </p:nvSpPr>
        <p:spPr>
          <a:xfrm>
            <a:off x="9411919" y="4756252"/>
            <a:ext cx="217719" cy="401970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7846101" y="5166543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Clean water out</a:t>
            </a:r>
            <a:endParaRPr lang="en-US" sz="110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Stage 3: Fractionation Filter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Preparing the water for final treatment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653156" y="1716603"/>
            <a:ext cx="6196432" cy="334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Maintains high removal efficiency with 0.1 micron pore size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Captures suspended particles, bacteria and viruses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Ensures a thorough purification process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Prepares the water for the final treatment stage</a:t>
            </a:r>
            <a:endParaRPr lang="en-US" sz="1600" dirty="0"/>
          </a:p>
        </p:txBody>
      </p:sp>
      <p:sp>
        <p:nvSpPr>
          <p:cNvPr id="5" name="Diagram card"/>
          <p:cNvSpPr/>
          <p:nvPr/>
        </p:nvSpPr>
        <p:spPr>
          <a:xfrm>
            <a:off x="7368784" y="1272753"/>
            <a:ext cx="4312402" cy="4186763"/>
          </a:xfrm>
          <a:prstGeom prst="roundRect">
            <a:avLst>
              <a:gd name="adj" fmla="val 4805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46101" y="1423538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Particles, bacteria, viruses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89366" y="1984522"/>
            <a:ext cx="167427" cy="167427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9947849" y="1791950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8608070" y="2101748"/>
            <a:ext cx="200985" cy="200985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Shape 8"/>
          <p:cNvSpPr/>
          <p:nvPr/>
        </p:nvSpPr>
        <p:spPr>
          <a:xfrm>
            <a:off x="7954914" y="2302734"/>
            <a:ext cx="200985" cy="200985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hape 9"/>
          <p:cNvSpPr/>
          <p:nvPr/>
        </p:nvSpPr>
        <p:spPr>
          <a:xfrm>
            <a:off x="10961004" y="2076694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Shape 10"/>
          <p:cNvSpPr/>
          <p:nvPr/>
        </p:nvSpPr>
        <p:spPr>
          <a:xfrm>
            <a:off x="8457377" y="2470252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Shape 11"/>
          <p:cNvSpPr/>
          <p:nvPr/>
        </p:nvSpPr>
        <p:spPr>
          <a:xfrm>
            <a:off x="8708563" y="2512040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3035" y="2470252"/>
            <a:ext cx="200985" cy="200985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Shape 13"/>
          <p:cNvSpPr/>
          <p:nvPr/>
        </p:nvSpPr>
        <p:spPr>
          <a:xfrm>
            <a:off x="9093708" y="2537186"/>
            <a:ext cx="133960" cy="133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hape 14"/>
          <p:cNvSpPr/>
          <p:nvPr/>
        </p:nvSpPr>
        <p:spPr>
          <a:xfrm>
            <a:off x="9478945" y="2553919"/>
            <a:ext cx="100493" cy="100493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65075" y="2327880"/>
            <a:ext cx="200985" cy="200985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9327" y="2327880"/>
            <a:ext cx="167427" cy="167427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25658" y="2553919"/>
            <a:ext cx="133960" cy="133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19216" y="2528865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Shape 19"/>
          <p:cNvSpPr/>
          <p:nvPr/>
        </p:nvSpPr>
        <p:spPr>
          <a:xfrm>
            <a:off x="8733709" y="2696291"/>
            <a:ext cx="133960" cy="133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Shape 20"/>
          <p:cNvSpPr/>
          <p:nvPr/>
        </p:nvSpPr>
        <p:spPr>
          <a:xfrm>
            <a:off x="8448965" y="2863809"/>
            <a:ext cx="100493" cy="1004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Shape 21"/>
          <p:cNvSpPr/>
          <p:nvPr/>
        </p:nvSpPr>
        <p:spPr>
          <a:xfrm>
            <a:off x="8608070" y="2930743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01005" y="2805196"/>
            <a:ext cx="150693" cy="150693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Membrane segment"/>
          <p:cNvSpPr/>
          <p:nvPr/>
        </p:nvSpPr>
        <p:spPr>
          <a:xfrm>
            <a:off x="7871155" y="3341035"/>
            <a:ext cx="318211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26" name="Membrane segment"/>
          <p:cNvSpPr/>
          <p:nvPr/>
        </p:nvSpPr>
        <p:spPr>
          <a:xfrm>
            <a:off x="8373618" y="3341035"/>
            <a:ext cx="385145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27" name="Membrane segment"/>
          <p:cNvSpPr/>
          <p:nvPr/>
        </p:nvSpPr>
        <p:spPr>
          <a:xfrm>
            <a:off x="8943015" y="3341035"/>
            <a:ext cx="385145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28" name="Membrane segment"/>
          <p:cNvSpPr/>
          <p:nvPr/>
        </p:nvSpPr>
        <p:spPr>
          <a:xfrm>
            <a:off x="9512412" y="3341035"/>
            <a:ext cx="393558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29" name="Membrane segment"/>
          <p:cNvSpPr/>
          <p:nvPr/>
        </p:nvSpPr>
        <p:spPr>
          <a:xfrm>
            <a:off x="10090221" y="3341035"/>
            <a:ext cx="385145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30" name="Membrane segment"/>
          <p:cNvSpPr/>
          <p:nvPr/>
        </p:nvSpPr>
        <p:spPr>
          <a:xfrm>
            <a:off x="10659618" y="3341035"/>
            <a:ext cx="385145" cy="284744"/>
          </a:xfrm>
          <a:prstGeom prst="rect">
            <a:avLst/>
          </a:prstGeom>
          <a:solidFill>
            <a:srgbClr val="C8D0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46101" y="3743005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Membrane: 0.1 micron pores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31246" y="42622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Shape 31"/>
          <p:cNvSpPr/>
          <p:nvPr/>
        </p:nvSpPr>
        <p:spPr>
          <a:xfrm>
            <a:off x="8800643" y="42622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4" name="Shape 32"/>
          <p:cNvSpPr/>
          <p:nvPr/>
        </p:nvSpPr>
        <p:spPr>
          <a:xfrm>
            <a:off x="9370040" y="42622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Shape 33"/>
          <p:cNvSpPr/>
          <p:nvPr/>
        </p:nvSpPr>
        <p:spPr>
          <a:xfrm>
            <a:off x="9939437" y="42622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08833" y="42622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Shape 35"/>
          <p:cNvSpPr/>
          <p:nvPr/>
        </p:nvSpPr>
        <p:spPr>
          <a:xfrm>
            <a:off x="11078322" y="4262201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8" name="Shape 36"/>
          <p:cNvSpPr/>
          <p:nvPr/>
        </p:nvSpPr>
        <p:spPr>
          <a:xfrm>
            <a:off x="8231246" y="46473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9" name="Shape 37"/>
          <p:cNvSpPr/>
          <p:nvPr/>
        </p:nvSpPr>
        <p:spPr>
          <a:xfrm>
            <a:off x="8800643" y="46473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0" name="Shape 38"/>
          <p:cNvSpPr/>
          <p:nvPr/>
        </p:nvSpPr>
        <p:spPr>
          <a:xfrm>
            <a:off x="9370040" y="46473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1" name="Shape 39"/>
          <p:cNvSpPr/>
          <p:nvPr/>
        </p:nvSpPr>
        <p:spPr>
          <a:xfrm>
            <a:off x="9939437" y="46473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08833" y="46473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78322" y="4647347"/>
            <a:ext cx="100493" cy="100493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846101" y="4973879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Purified water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Stage 4: Advanced Oxidation + UV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Ozone gas combined with ultraviolet disinfection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653156" y="1716603"/>
            <a:ext cx="6196432" cy="3349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Advanced oxidation with ozone gas removes microbial contamination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Ultraviolet disinfection is an effective final barrier, a crucial part of tertiary wastewater treatment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Microbes exposed to UV light have their DNA destroyed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Disinfects the water and ensures harmful microbes are eradicated</a:t>
            </a:r>
            <a:endParaRPr lang="en-US" sz="1600" dirty="0"/>
          </a:p>
        </p:txBody>
      </p:sp>
      <p:sp>
        <p:nvSpPr>
          <p:cNvPr id="5" name="Diagram card"/>
          <p:cNvSpPr/>
          <p:nvPr/>
        </p:nvSpPr>
        <p:spPr>
          <a:xfrm>
            <a:off x="7368784" y="1272753"/>
            <a:ext cx="4312402" cy="4186763"/>
          </a:xfrm>
          <a:prstGeom prst="roundRect">
            <a:avLst>
              <a:gd name="adj" fmla="val 4805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46101" y="1867296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UV lamp</a:t>
            </a:r>
            <a:endParaRPr lang="en-US" sz="1100" dirty="0"/>
          </a:p>
        </p:txBody>
      </p:sp>
      <p:sp>
        <p:nvSpPr>
          <p:cNvPr id="7" name="UV lamp"/>
          <p:cNvSpPr/>
          <p:nvPr/>
        </p:nvSpPr>
        <p:spPr>
          <a:xfrm>
            <a:off x="7996794" y="2185507"/>
            <a:ext cx="3056382" cy="226131"/>
          </a:xfrm>
          <a:prstGeom prst="roundRect">
            <a:avLst>
              <a:gd name="adj" fmla="val 40437"/>
            </a:avLst>
          </a:prstGeom>
          <a:solidFill>
            <a:schemeClr val="accent6"/>
          </a:solidFill>
          <a:ln/>
        </p:spPr>
      </p:sp>
      <p:sp>
        <p:nvSpPr>
          <p:cNvPr id="8" name="Shape 6"/>
          <p:cNvSpPr/>
          <p:nvPr/>
        </p:nvSpPr>
        <p:spPr>
          <a:xfrm>
            <a:off x="8247979" y="24702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28187" y="24702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08303" y="24702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88511" y="24702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68627" y="24702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8834" y="24702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28950" y="24702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09158" y="2470252"/>
            <a:ext cx="0" cy="703356"/>
          </a:xfrm>
          <a:prstGeom prst="line">
            <a:avLst/>
          </a:prstGeom>
          <a:noFill/>
          <a:ln w="25400">
            <a:solidFill>
              <a:srgbClr val="B9A0F0"/>
            </a:solidFill>
            <a:prstDash val="solid"/>
          </a:ln>
        </p:spPr>
      </p:sp>
      <p:sp>
        <p:nvSpPr>
          <p:cNvPr id="16" name="Water"/>
          <p:cNvSpPr/>
          <p:nvPr/>
        </p:nvSpPr>
        <p:spPr>
          <a:xfrm>
            <a:off x="7745608" y="3299155"/>
            <a:ext cx="3558753" cy="1649578"/>
          </a:xfrm>
          <a:prstGeom prst="roundRect">
            <a:avLst>
              <a:gd name="adj" fmla="val 6652"/>
            </a:avLst>
          </a:prstGeom>
          <a:solidFill>
            <a:schemeClr val="accent4"/>
          </a:solidFill>
          <a:ln/>
        </p:spPr>
      </p:sp>
      <p:sp>
        <p:nvSpPr>
          <p:cNvPr id="17" name="Shape 15"/>
          <p:cNvSpPr/>
          <p:nvPr/>
        </p:nvSpPr>
        <p:spPr>
          <a:xfrm>
            <a:off x="8909548" y="3466673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09548" y="3466673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420332" y="3475086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20332" y="3475086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023196" y="3751417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23196" y="3751417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458633" y="3776472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458633" y="3776472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274381" y="4111417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74381" y="4111417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938181" y="4270522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38181" y="4270522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887980" y="4479920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87980" y="4479920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716884" y="4655759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16884" y="4655759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542392" y="4580321"/>
            <a:ext cx="234452" cy="234452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542392" y="4580321"/>
            <a:ext cx="234452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O3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846101" y="5066050"/>
            <a:ext cx="3349447" cy="234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Ozone (O3) + UV in water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19196" y="284744"/>
            <a:ext cx="9880824" cy="519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2"/>
          <p:cNvSpPr>
            <a:spLocks noGrp="1"/>
          </p:cNvSpPr>
          <p:nvPr>
            <p:ph type="body" idx="104" hasCustomPrompt="1"/>
          </p:nvPr>
        </p:nvSpPr>
        <p:spPr>
          <a:xfrm>
            <a:off x="519196" y="787116"/>
            <a:ext cx="9880824" cy="251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Ready for responsible discharge</a:t>
            </a:r>
            <a:endParaRPr lang="en-US" sz="1200" dirty="0"/>
          </a:p>
        </p:txBody>
      </p:sp>
      <p:sp>
        <p:nvSpPr>
          <p:cNvPr id="4" name="Bullets"/>
          <p:cNvSpPr txBox="1"/>
          <p:nvPr/>
        </p:nvSpPr>
        <p:spPr>
          <a:xfrm>
            <a:off x="653156" y="1716603"/>
            <a:ext cx="10550713" cy="217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Effluent water surpasses regulatory standards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Comprehensive process combining cutting-edge technologies: electrocoagulation, ultrafiltration, fractionation filter and advanced oxidation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drop of water undergoes meticulous purification</a:t>
            </a:r>
            <a:endParaRPr lang="en-US" sz="1800" dirty="0"/>
          </a:p>
        </p:txBody>
      </p:sp>
      <p:sp>
        <p:nvSpPr>
          <p:cNvPr id="5" name="Thank you"/>
          <p:cNvSpPr/>
          <p:nvPr/>
        </p:nvSpPr>
        <p:spPr>
          <a:xfrm>
            <a:off x="2537186" y="4320814"/>
            <a:ext cx="7117598" cy="1147206"/>
          </a:xfrm>
          <a:prstGeom prst="roundRect">
            <a:avLst>
              <a:gd name="adj" fmla="val 1992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Thank you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5658" y="6430884"/>
            <a:ext cx="803849" cy="26791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ides STP">
  <a:themeElements>
    <a:clrScheme name="Oceanides STP">
      <a:dk1>
        <a:srgbClr val="1F2D3D"/>
      </a:dk1>
      <a:lt1>
        <a:srgbClr val="FFFFFF"/>
      </a:lt1>
      <a:dk2>
        <a:srgbClr val="0B3C5D"/>
      </a:dk2>
      <a:lt2>
        <a:srgbClr val="E8F5F4"/>
      </a:lt2>
      <a:accent1>
        <a:srgbClr val="1EA8A3"/>
      </a:accent1>
      <a:accent2>
        <a:srgbClr val="F28C28"/>
      </a:accent2>
      <a:accent3>
        <a:srgbClr val="8B6B4A"/>
      </a:accent3>
      <a:accent4>
        <a:srgbClr val="9ED8EA"/>
      </a:accent4>
      <a:accent5>
        <a:srgbClr val="6B7C8C"/>
      </a:accent5>
      <a:accent6>
        <a:srgbClr val="7B4FD6"/>
      </a:accent6>
      <a:hlink>
        <a:srgbClr val="1EA8A3"/>
      </a:hlink>
      <a:folHlink>
        <a:srgbClr val="6B7C8C"/>
      </a:folHlink>
    </a:clrScheme>
    <a:fontScheme name="Oceanides ST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PresentationFormat>Widescreen</PresentationFormat>
  <Paragraphs>118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Oceanides STP</vt:lpstr>
      <vt:lpstr>Advanced Sewage Treatment Plant</vt:lpstr>
      <vt:lpstr>Overview</vt:lpstr>
      <vt:lpstr>Treatment Process Flow</vt:lpstr>
      <vt:lpstr>Stage 1: Electrocoagulation Reactor</vt:lpstr>
      <vt:lpstr>Electrocoagulation: What It Removes</vt:lpstr>
      <vt:lpstr>Stage 2: Ultrafiltration (UF)</vt:lpstr>
      <vt:lpstr>Stage 3: Fractionation Filter</vt:lpstr>
      <vt:lpstr>Stage 4: Advanced Oxidation + UV</vt:lpstr>
      <vt:lpstr>Conclusion</vt:lpstr>
    </vt:vector>
  </TitlesOfParts>
  <Company>Oceanides Malabanan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Sewage Treatment Plant</dc:title>
  <dc:subject>PptxGenJS Presentation</dc:subject>
  <dc:creator>PptxGenJS</dc:creator>
  <cp:lastModifiedBy>acipriano</cp:lastModifiedBy>
  <cp:revision>1</cp:revision>
  <dcterms:created xsi:type="dcterms:W3CDTF">2026-10-13T15:24:56Z</dcterms:created>
  <dcterms:modified xsi:type="dcterms:W3CDTF">2026-10-13T15:30:10Z</dcterms:modified>
</cp:coreProperties>
</file>