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E5703E1-F8F5-196A-99CD-4B5DDA83AF15}">
          <p14:sldIdLst>
            <p14:sldId id="256"/>
            <p14:sldId id="257"/>
            <p14:sldId id="258"/>
          </p14:sldIdLst>
        </p14:section>
        <p14:section name="Treatment Stages" id="{03E51454-9A0D-7E5F-CF1C-579F328AE6F3}">
          <p14:sldIdLst>
            <p14:sldId id="259"/>
            <p14:sldId id="260"/>
            <p14:sldId id="261"/>
            <p14:sldId id="262"/>
            <p14:sldId id="263"/>
          </p14:sldIdLst>
        </p14:section>
        <p14:section name="Conclusion" id="{15C907BA-36EE-B38C-2FE6-7AF914A503B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90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70382" y="2093427"/>
            <a:ext cx="10467045" cy="7955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70382" y="2930743"/>
            <a:ext cx="9210934" cy="4187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brandLogo" Type="http://schemas.openxmlformats.org/officeDocument/2006/relationships/image" Target="../media/oceanides-brand-logo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brandLogo" Type="http://schemas.openxmlformats.org/officeDocument/2006/relationships/image" Target="../media/oceanides-brand-logo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7588" y="-125639"/>
            <a:ext cx="418704" cy="4187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2780050" y="418704"/>
            <a:ext cx="586130" cy="5861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5124663" y="602864"/>
            <a:ext cx="334945" cy="33494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5024171" y="293065"/>
            <a:ext cx="251186" cy="251186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2872130" y="293065"/>
            <a:ext cx="251186" cy="251186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4237055" y="787116"/>
            <a:ext cx="602864" cy="60286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3433206" y="1423538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5819699" y="293065"/>
            <a:ext cx="669889" cy="6698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6732361" y="552663"/>
            <a:ext cx="602864" cy="60286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994" y="661477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10934" y="569397"/>
            <a:ext cx="502371" cy="5023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72010" y="653156"/>
            <a:ext cx="167427" cy="167427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92592" y="720090"/>
            <a:ext cx="535930" cy="5359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44763" y="946221"/>
            <a:ext cx="452171" cy="4521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30894" y="1339779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4160" y="1783537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13266" y="2068281"/>
            <a:ext cx="669889" cy="6698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56884" y="1356512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8361" y="1230965"/>
            <a:ext cx="586130" cy="5861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14875" y="1574231"/>
            <a:ext cx="452171" cy="4521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88603" y="1758483"/>
            <a:ext cx="619689" cy="6196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87980" y="2361347"/>
            <a:ext cx="468904" cy="4689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08693" y="2863809"/>
            <a:ext cx="301478" cy="3014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2312" y="3675979"/>
            <a:ext cx="200985" cy="20098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26271" y="4195176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22060" y="4195176"/>
            <a:ext cx="267919" cy="26791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58623" y="3525286"/>
            <a:ext cx="150693" cy="150693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08824" y="3734592"/>
            <a:ext cx="167427" cy="167427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86372" y="4136563"/>
            <a:ext cx="686623" cy="686623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47849" y="4019337"/>
            <a:ext cx="284744" cy="28474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723065" y="4220322"/>
            <a:ext cx="334945" cy="33494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932371" y="3475086"/>
            <a:ext cx="418704" cy="4187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70382" y="2093427"/>
            <a:ext cx="1046704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Advanced Sewage Treatment Plant</a:t>
            </a:r>
            <a:endParaRPr lang="en-US" sz="4000" dirty="0"/>
          </a:p>
        </p:txBody>
      </p:sp>
      <p:sp>
        <p:nvSpPr>
          <p:cNvPr id="35" name="Text 1"/>
          <p:cNvSpPr>
            <a:spLocks noGrp="1"/>
          </p:cNvSpPr>
          <p:nvPr>
            <p:ph type="body" idx="103" hasCustomPrompt="1"/>
          </p:nvPr>
        </p:nvSpPr>
        <p:spPr>
          <a:xfrm>
            <a:off x="770382" y="2930743"/>
            <a:ext cx="9210934" cy="41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A cutting-edge, chemical-free, low-maintenance wastewater system</a:t>
            </a:r>
            <a:endParaRPr lang="en-US" sz="2000" dirty="0"/>
          </a:p>
        </p:txBody>
      </p:sp>
      <p:sp>
        <p:nvSpPr>
          <p:cNvPr id="36" name="Stages line"/>
          <p:cNvSpPr txBox="1"/>
          <p:nvPr/>
        </p:nvSpPr>
        <p:spPr>
          <a:xfrm>
            <a:off x="770382" y="3868644"/>
            <a:ext cx="9210934" cy="36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Electrocoagulation  |  Ultrafiltration  |  Fractionation Filter  |  Advanced Oxidation</a:t>
            </a:r>
            <a:endParaRPr lang="en-US" sz="1400" dirty="0"/>
          </a:p>
        </p:txBody>
      </p:sp>
      <p:sp>
        <p:nvSpPr>
          <p:cNvPr id="37" name="Oceanides header">
            <a:extLst>
              <a:ext uri="{FF2B5EF4-FFF2-40B4-BE49-F238E27FC236}">
                <a16:creationId xmlns:a16="http://schemas.microsoft.com/office/drawing/2014/main" id="{949B5F7C-A9BD-4242-87EB-BFA1D40B2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38" name="Oceanides header rule">
            <a:extLst>
              <a:ext uri="{FF2B5EF4-FFF2-40B4-BE49-F238E27FC236}">
                <a16:creationId xmlns:a16="http://schemas.microsoft.com/office/drawing/2014/main" id="{7140417C-1C98-4FB1-82F2-9886D3AFEC7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39" name="">
            <a:extLst>
              <a:ext uri="{FF2B5EF4-FFF2-40B4-BE49-F238E27FC236}">
                <a16:creationId xmlns:a16="http://schemas.microsoft.com/office/drawing/2014/main" id="{8D5F7767-CCBF-43AD-9EC9-F44178708AF3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40" name="Oceanides name">
            <a:extLst>
              <a:ext uri="{FF2B5EF4-FFF2-40B4-BE49-F238E27FC236}">
                <a16:creationId xmlns:a16="http://schemas.microsoft.com/office/drawing/2014/main" id="{B8D4D91A-E977-4501-BE56-13CBD6E3CCC3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41" name="Oceanides legal name">
            <a:extLst>
              <a:ext uri="{FF2B5EF4-FFF2-40B4-BE49-F238E27FC236}">
                <a16:creationId xmlns:a16="http://schemas.microsoft.com/office/drawing/2014/main" id="{86653E17-3456-45B4-8688-C3C8A10E7020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42" name="Oceanides contacts">
            <a:extLst>
              <a:ext uri="{FF2B5EF4-FFF2-40B4-BE49-F238E27FC236}">
                <a16:creationId xmlns:a16="http://schemas.microsoft.com/office/drawing/2014/main" id="{1825A5BF-3CD9-4C30-A587-63347F0B7645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43" name="Oceanides email">
            <a:extLst>
              <a:ext uri="{FF2B5EF4-FFF2-40B4-BE49-F238E27FC236}">
                <a16:creationId xmlns:a16="http://schemas.microsoft.com/office/drawing/2014/main" id="{55B338EC-33B5-411E-8824-6CBF76A6E457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44" name="Oceanides corporate TIN">
            <a:extLst>
              <a:ext uri="{FF2B5EF4-FFF2-40B4-BE49-F238E27FC236}">
                <a16:creationId xmlns:a16="http://schemas.microsoft.com/office/drawing/2014/main" id="{25BFC392-FEE1-45FC-A8F7-59446A399062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45" name="Oceanides footer">
            <a:extLst>
              <a:ext uri="{FF2B5EF4-FFF2-40B4-BE49-F238E27FC236}">
                <a16:creationId xmlns:a16="http://schemas.microsoft.com/office/drawing/2014/main" id="{AB9637A1-1410-4930-9E37-C3C8EA121D4C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46" name="Oceanides footer rule">
            <a:extLst>
              <a:ext uri="{FF2B5EF4-FFF2-40B4-BE49-F238E27FC236}">
                <a16:creationId xmlns:a16="http://schemas.microsoft.com/office/drawing/2014/main" id="{73311828-C905-4F23-AFD3-D20DBF336C51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47" name="Oceanides website and Facebook">
            <a:extLst>
              <a:ext uri="{FF2B5EF4-FFF2-40B4-BE49-F238E27FC236}">
                <a16:creationId xmlns:a16="http://schemas.microsoft.com/office/drawing/2014/main" id="{7623705F-B8F0-45CD-AA45-B486A91E9B4B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48" name="Oceanides company emails">
            <a:extLst>
              <a:ext uri="{FF2B5EF4-FFF2-40B4-BE49-F238E27FC236}">
                <a16:creationId xmlns:a16="http://schemas.microsoft.com/office/drawing/2014/main" id="{C84A7CFB-BFAA-4780-852D-FCCF0037C8D4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49" name="Oceanides slide number">
            <a:extLst>
              <a:ext uri="{FF2B5EF4-FFF2-40B4-BE49-F238E27FC236}">
                <a16:creationId xmlns:a16="http://schemas.microsoft.com/office/drawing/2014/main" id="{88B3A020-78D6-4D3E-B23B-4A5412DC155F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Overview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A quick look at our Advanced STP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53156" y="2093639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Chemical-free, low-maintenance design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Handles both domestic and industrial wastewater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Compliant with environmental regulations (DENR DAO 2016-08 and 2021-19)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begins at the effluent tank discharge, where a submersible pump starts the flow through every treatment stage</a:t>
            </a:r>
            <a:endParaRPr lang="en-US" sz="1600" dirty="0"/>
          </a:p>
        </p:txBody>
      </p:sp>
      <p:sp>
        <p:nvSpPr>
          <p:cNvPr id="5" name="Stages card"/>
          <p:cNvSpPr/>
          <p:nvPr/>
        </p:nvSpPr>
        <p:spPr>
          <a:xfrm>
            <a:off x="7745608" y="1733548"/>
            <a:ext cx="3935578" cy="4061216"/>
          </a:xfrm>
          <a:prstGeom prst="roundRect">
            <a:avLst>
              <a:gd name="adj" fmla="val 511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45608" y="1842362"/>
            <a:ext cx="3935578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Four Treatment Stages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88874" y="2478784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88874" y="2478784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708563" y="2503930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Electrocoagulation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88874" y="3265899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88874" y="3265899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08563" y="3291045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Ultrafiltration (UF)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88874" y="4053015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88874" y="4053015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08563" y="4078161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Fractionation filter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8874" y="4840130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88874" y="4840130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08563" y="4865276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Advanced oxidation</a:t>
            </a:r>
            <a:endParaRPr lang="en-US" sz="1600" dirty="0"/>
          </a:p>
        </p:txBody>
      </p:sp>
      <p:sp>
        <p:nvSpPr>
          <p:cNvPr id="19" name="Oceanides header">
            <a:extLst>
              <a:ext uri="{FF2B5EF4-FFF2-40B4-BE49-F238E27FC236}">
                <a16:creationId xmlns:a16="http://schemas.microsoft.com/office/drawing/2014/main" id="{60F44FF0-E3CB-408A-A0F1-F48317460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20" name="Oceanides header rule">
            <a:extLst>
              <a:ext uri="{FF2B5EF4-FFF2-40B4-BE49-F238E27FC236}">
                <a16:creationId xmlns:a16="http://schemas.microsoft.com/office/drawing/2014/main" id="{937EED60-E306-4918-90A4-AD58DE096635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21" name="">
            <a:extLst>
              <a:ext uri="{FF2B5EF4-FFF2-40B4-BE49-F238E27FC236}">
                <a16:creationId xmlns:a16="http://schemas.microsoft.com/office/drawing/2014/main" id="{AA0A9476-D794-4C2E-BAE4-65DE38C203C7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22" name="Oceanides name">
            <a:extLst>
              <a:ext uri="{FF2B5EF4-FFF2-40B4-BE49-F238E27FC236}">
                <a16:creationId xmlns:a16="http://schemas.microsoft.com/office/drawing/2014/main" id="{0A6B136A-6FBB-4127-8CB8-F8B3782196CA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23" name="Oceanides legal name">
            <a:extLst>
              <a:ext uri="{FF2B5EF4-FFF2-40B4-BE49-F238E27FC236}">
                <a16:creationId xmlns:a16="http://schemas.microsoft.com/office/drawing/2014/main" id="{651BC8B6-2576-4197-90A9-1E7ACED9085C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24" name="Oceanides contacts">
            <a:extLst>
              <a:ext uri="{FF2B5EF4-FFF2-40B4-BE49-F238E27FC236}">
                <a16:creationId xmlns:a16="http://schemas.microsoft.com/office/drawing/2014/main" id="{870BDCAA-7712-4460-8422-2C837208F6E8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25" name="Oceanides email">
            <a:extLst>
              <a:ext uri="{FF2B5EF4-FFF2-40B4-BE49-F238E27FC236}">
                <a16:creationId xmlns:a16="http://schemas.microsoft.com/office/drawing/2014/main" id="{59D66A43-F1DE-4896-8802-56626AB9DCC3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26" name="Oceanides corporate TIN">
            <a:extLst>
              <a:ext uri="{FF2B5EF4-FFF2-40B4-BE49-F238E27FC236}">
                <a16:creationId xmlns:a16="http://schemas.microsoft.com/office/drawing/2014/main" id="{F0FE2BAC-3EE7-43C0-8A86-A6345133B0D7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27" name="Oceanides footer">
            <a:extLst>
              <a:ext uri="{FF2B5EF4-FFF2-40B4-BE49-F238E27FC236}">
                <a16:creationId xmlns:a16="http://schemas.microsoft.com/office/drawing/2014/main" id="{D71F0747-0D90-4176-9A16-860A8E8C218D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28" name="Oceanides footer rule">
            <a:extLst>
              <a:ext uri="{FF2B5EF4-FFF2-40B4-BE49-F238E27FC236}">
                <a16:creationId xmlns:a16="http://schemas.microsoft.com/office/drawing/2014/main" id="{9952ABD9-44EB-47C4-9214-2DB5FADD067C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29" name="Oceanides website and Facebook">
            <a:extLst>
              <a:ext uri="{FF2B5EF4-FFF2-40B4-BE49-F238E27FC236}">
                <a16:creationId xmlns:a16="http://schemas.microsoft.com/office/drawing/2014/main" id="{A4A819E3-5971-4828-8540-AB8987289BCE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30" name="Oceanides company emails">
            <a:extLst>
              <a:ext uri="{FF2B5EF4-FFF2-40B4-BE49-F238E27FC236}">
                <a16:creationId xmlns:a16="http://schemas.microsoft.com/office/drawing/2014/main" id="{031FF2F5-D64C-4EC0-B7C6-D46F824C42B0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31" name="Oceanides slide number">
            <a:extLst>
              <a:ext uri="{FF2B5EF4-FFF2-40B4-BE49-F238E27FC236}">
                <a16:creationId xmlns:a16="http://schemas.microsoft.com/office/drawing/2014/main" id="{62153F91-FEE0-4F0C-9382-6C1616FA15CE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Treatment Process Flow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From effluent tank to safe discharge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Step 1"/>
          <p:cNvSpPr/>
          <p:nvPr/>
        </p:nvSpPr>
        <p:spPr>
          <a:xfrm>
            <a:off x="611276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Effluent tank + submersible pump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2235708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Step 2"/>
          <p:cNvSpPr/>
          <p:nvPr/>
        </p:nvSpPr>
        <p:spPr>
          <a:xfrm>
            <a:off x="2492014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Electro-coagulation reactor</a:t>
            </a:r>
            <a:endParaRPr lang="en-US" sz="1400" dirty="0"/>
          </a:p>
        </p:txBody>
      </p:sp>
      <p:sp>
        <p:nvSpPr>
          <p:cNvPr id="7" name="Arrow 2"/>
          <p:cNvSpPr/>
          <p:nvPr/>
        </p:nvSpPr>
        <p:spPr>
          <a:xfrm>
            <a:off x="4116446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Step 3"/>
          <p:cNvSpPr/>
          <p:nvPr/>
        </p:nvSpPr>
        <p:spPr>
          <a:xfrm>
            <a:off x="4372661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Ultra-filtration (UF)</a:t>
            </a:r>
            <a:endParaRPr lang="en-US" sz="1400" dirty="0"/>
          </a:p>
        </p:txBody>
      </p:sp>
      <p:sp>
        <p:nvSpPr>
          <p:cNvPr id="9" name="Arrow 3"/>
          <p:cNvSpPr/>
          <p:nvPr/>
        </p:nvSpPr>
        <p:spPr>
          <a:xfrm>
            <a:off x="5997184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ep 4"/>
          <p:cNvSpPr/>
          <p:nvPr/>
        </p:nvSpPr>
        <p:spPr>
          <a:xfrm>
            <a:off x="6253399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Fractionation filter</a:t>
            </a:r>
            <a:endParaRPr lang="en-US" sz="1400" dirty="0"/>
          </a:p>
        </p:txBody>
      </p:sp>
      <p:sp>
        <p:nvSpPr>
          <p:cNvPr id="11" name="Arrow 4"/>
          <p:cNvSpPr/>
          <p:nvPr/>
        </p:nvSpPr>
        <p:spPr>
          <a:xfrm>
            <a:off x="7877922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Step 5"/>
          <p:cNvSpPr/>
          <p:nvPr/>
        </p:nvSpPr>
        <p:spPr>
          <a:xfrm>
            <a:off x="8134137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Advanced oxidation O3 + UV</a:t>
            </a:r>
            <a:endParaRPr lang="en-US" sz="1400" dirty="0"/>
          </a:p>
        </p:txBody>
      </p:sp>
      <p:sp>
        <p:nvSpPr>
          <p:cNvPr id="13" name="Arrow 5"/>
          <p:cNvSpPr/>
          <p:nvPr/>
        </p:nvSpPr>
        <p:spPr>
          <a:xfrm>
            <a:off x="9758568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Step 6"/>
          <p:cNvSpPr/>
          <p:nvPr/>
        </p:nvSpPr>
        <p:spPr>
          <a:xfrm>
            <a:off x="10014875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Safe discharge</a:t>
            </a:r>
            <a:endParaRPr lang="en-US" sz="1400" dirty="0"/>
          </a:p>
        </p:txBody>
      </p:sp>
      <p:sp>
        <p:nvSpPr>
          <p:cNvPr id="15" name="Summary card"/>
          <p:cNvSpPr/>
          <p:nvPr/>
        </p:nvSpPr>
        <p:spPr>
          <a:xfrm>
            <a:off x="761970" y="3935578"/>
            <a:ext cx="10667939" cy="1783537"/>
          </a:xfrm>
          <a:prstGeom prst="roundRect">
            <a:avLst>
              <a:gd name="adj" fmla="val 11279"/>
            </a:avLst>
          </a:prstGeom>
          <a:solidFill>
            <a:schemeClr val="bg2"/>
          </a:solidFill>
          <a:ln/>
        </p:spPr>
      </p:sp>
      <p:sp>
        <p:nvSpPr>
          <p:cNvPr id="16" name="Summary text"/>
          <p:cNvSpPr txBox="1"/>
          <p:nvPr/>
        </p:nvSpPr>
        <p:spPr>
          <a:xfrm>
            <a:off x="761970" y="3935578"/>
            <a:ext cx="10667939" cy="178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drop of water goes through meticulous, multi-stage purification.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Removes suspended solids, organics, bacteria, viruses and microbial contamination,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 effluent meets regulatory standards and is ready for responsible discharge.</a:t>
            </a:r>
            <a:endParaRPr lang="en-US" sz="1400" dirty="0"/>
          </a:p>
        </p:txBody>
      </p:sp>
      <p:sp>
        <p:nvSpPr>
          <p:cNvPr id="17" name="Oceanides header">
            <a:extLst>
              <a:ext uri="{FF2B5EF4-FFF2-40B4-BE49-F238E27FC236}">
                <a16:creationId xmlns:a16="http://schemas.microsoft.com/office/drawing/2014/main" id="{15603071-D6CA-4E8D-9AA5-76231A3DCC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18" name="Oceanides header rule">
            <a:extLst>
              <a:ext uri="{FF2B5EF4-FFF2-40B4-BE49-F238E27FC236}">
                <a16:creationId xmlns:a16="http://schemas.microsoft.com/office/drawing/2014/main" id="{08162E4F-4C0E-4C82-811F-382E34CEA117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19" name="">
            <a:extLst>
              <a:ext uri="{FF2B5EF4-FFF2-40B4-BE49-F238E27FC236}">
                <a16:creationId xmlns:a16="http://schemas.microsoft.com/office/drawing/2014/main" id="{634D8E04-C938-4C90-9C44-A4BC59BE0E2B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20" name="Oceanides name">
            <a:extLst>
              <a:ext uri="{FF2B5EF4-FFF2-40B4-BE49-F238E27FC236}">
                <a16:creationId xmlns:a16="http://schemas.microsoft.com/office/drawing/2014/main" id="{7B905F35-6945-4595-98A4-50B4869FAEEB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21" name="Oceanides legal name">
            <a:extLst>
              <a:ext uri="{FF2B5EF4-FFF2-40B4-BE49-F238E27FC236}">
                <a16:creationId xmlns:a16="http://schemas.microsoft.com/office/drawing/2014/main" id="{2E72D011-8971-4237-8B1D-8C9BE7FF9F46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22" name="Oceanides contacts">
            <a:extLst>
              <a:ext uri="{FF2B5EF4-FFF2-40B4-BE49-F238E27FC236}">
                <a16:creationId xmlns:a16="http://schemas.microsoft.com/office/drawing/2014/main" id="{BF7DF39D-F506-4AA3-970E-B0777092A84D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23" name="Oceanides email">
            <a:extLst>
              <a:ext uri="{FF2B5EF4-FFF2-40B4-BE49-F238E27FC236}">
                <a16:creationId xmlns:a16="http://schemas.microsoft.com/office/drawing/2014/main" id="{4FCB8F85-36CD-472A-BE0E-366B03F0F6AE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24" name="Oceanides corporate TIN">
            <a:extLst>
              <a:ext uri="{FF2B5EF4-FFF2-40B4-BE49-F238E27FC236}">
                <a16:creationId xmlns:a16="http://schemas.microsoft.com/office/drawing/2014/main" id="{38655208-09EF-49A2-98AB-7803EBD15CA3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25" name="Oceanides footer">
            <a:extLst>
              <a:ext uri="{FF2B5EF4-FFF2-40B4-BE49-F238E27FC236}">
                <a16:creationId xmlns:a16="http://schemas.microsoft.com/office/drawing/2014/main" id="{65129B37-273F-4492-9D8B-2C55DDAED592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26" name="Oceanides footer rule">
            <a:extLst>
              <a:ext uri="{FF2B5EF4-FFF2-40B4-BE49-F238E27FC236}">
                <a16:creationId xmlns:a16="http://schemas.microsoft.com/office/drawing/2014/main" id="{766415B1-3BDC-485E-B05E-BA3B3C06D34E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27" name="Oceanides website and Facebook">
            <a:extLst>
              <a:ext uri="{FF2B5EF4-FFF2-40B4-BE49-F238E27FC236}">
                <a16:creationId xmlns:a16="http://schemas.microsoft.com/office/drawing/2014/main" id="{ED41CCD9-D0F6-4E95-ACA2-1A4853D2CBEA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28" name="Oceanides company emails">
            <a:extLst>
              <a:ext uri="{FF2B5EF4-FFF2-40B4-BE49-F238E27FC236}">
                <a16:creationId xmlns:a16="http://schemas.microsoft.com/office/drawing/2014/main" id="{97CD9A39-6DA2-466D-B2D0-50ED757E2255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29" name="Oceanides slide number">
            <a:extLst>
              <a:ext uri="{FF2B5EF4-FFF2-40B4-BE49-F238E27FC236}">
                <a16:creationId xmlns:a16="http://schemas.microsoft.com/office/drawing/2014/main" id="{522DBA10-22AB-4DF0-A723-BBD5D53D4EEE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Stage 1: Electrocoagulation Reactor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Treating wastewater with electrical current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519196" y="2032557"/>
            <a:ext cx="6447709" cy="351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Electroflotation: electrical current treats and flocculates contaminants without adding coagulants such as alum or polymers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Pairs of metal rods: two anodes and two cathodes, using the principles of electrochemistry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anode is oxidized while water is reduced, improving overall treatment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Particulates are neutralized, forming hydroxide complexes that create flocs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Flocs settle at the bottom of the tank and are removed through filtration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733550"/>
            <a:ext cx="4312402" cy="4041920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Water"/>
          <p:cNvSpPr/>
          <p:nvPr/>
        </p:nvSpPr>
        <p:spPr>
          <a:xfrm>
            <a:off x="7887980" y="3121150"/>
            <a:ext cx="3039648" cy="213530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854422" y="2853140"/>
            <a:ext cx="0" cy="2428372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1004" y="2853140"/>
            <a:ext cx="0" cy="2428372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54422" y="5281512"/>
            <a:ext cx="3106583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0" name="Anode rod"/>
          <p:cNvSpPr/>
          <p:nvPr/>
        </p:nvSpPr>
        <p:spPr>
          <a:xfrm>
            <a:off x="8289859" y="2853140"/>
            <a:ext cx="184252" cy="2152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89859" y="3162938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2432" y="2593542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Anode</a:t>
            </a:r>
            <a:endParaRPr lang="en-US" sz="1000" dirty="0"/>
          </a:p>
        </p:txBody>
      </p:sp>
      <p:sp>
        <p:nvSpPr>
          <p:cNvPr id="13" name="Cathode rod"/>
          <p:cNvSpPr/>
          <p:nvPr/>
        </p:nvSpPr>
        <p:spPr>
          <a:xfrm>
            <a:off x="8984894" y="2853140"/>
            <a:ext cx="184252" cy="2152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84894" y="3162938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-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17376" y="2593542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Cathode</a:t>
            </a:r>
            <a:endParaRPr lang="en-US" sz="1000" dirty="0"/>
          </a:p>
        </p:txBody>
      </p:sp>
      <p:sp>
        <p:nvSpPr>
          <p:cNvPr id="16" name="Anode rod"/>
          <p:cNvSpPr/>
          <p:nvPr/>
        </p:nvSpPr>
        <p:spPr>
          <a:xfrm>
            <a:off x="9880824" y="2853140"/>
            <a:ext cx="184252" cy="2152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80824" y="3162938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13397" y="2593542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Anode</a:t>
            </a:r>
            <a:endParaRPr lang="en-US" sz="1000" dirty="0"/>
          </a:p>
        </p:txBody>
      </p:sp>
      <p:sp>
        <p:nvSpPr>
          <p:cNvPr id="19" name="Cathode rod"/>
          <p:cNvSpPr/>
          <p:nvPr/>
        </p:nvSpPr>
        <p:spPr>
          <a:xfrm>
            <a:off x="10575859" y="2853140"/>
            <a:ext cx="184252" cy="2152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75859" y="3162938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-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408432" y="2593542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Cathode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41045" y="3372336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Shape 21"/>
          <p:cNvSpPr/>
          <p:nvPr/>
        </p:nvSpPr>
        <p:spPr>
          <a:xfrm>
            <a:off x="9169055" y="3296989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457377" y="3573321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Shape 23"/>
          <p:cNvSpPr/>
          <p:nvPr/>
        </p:nvSpPr>
        <p:spPr>
          <a:xfrm>
            <a:off x="9269547" y="3724014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6080" y="3841240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7" name="Shape 25"/>
          <p:cNvSpPr/>
          <p:nvPr/>
        </p:nvSpPr>
        <p:spPr>
          <a:xfrm>
            <a:off x="8206100" y="4343703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8" name="Shape 26"/>
          <p:cNvSpPr/>
          <p:nvPr/>
        </p:nvSpPr>
        <p:spPr>
          <a:xfrm>
            <a:off x="9026774" y="4268265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Shape 27"/>
          <p:cNvSpPr/>
          <p:nvPr/>
        </p:nvSpPr>
        <p:spPr>
          <a:xfrm>
            <a:off x="8917869" y="4293411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0532" y="4402316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31608" y="4167773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Shape 30"/>
          <p:cNvSpPr/>
          <p:nvPr/>
        </p:nvSpPr>
        <p:spPr>
          <a:xfrm>
            <a:off x="9889236" y="4209652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Shape 31"/>
          <p:cNvSpPr/>
          <p:nvPr/>
        </p:nvSpPr>
        <p:spPr>
          <a:xfrm>
            <a:off x="9730130" y="4544597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43377" y="3389070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25658" y="4192919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0020" y="4251532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52191" y="4326878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8" name="Shape 36"/>
          <p:cNvSpPr/>
          <p:nvPr/>
        </p:nvSpPr>
        <p:spPr>
          <a:xfrm>
            <a:off x="8038673" y="4611622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9" name="Shape 37"/>
          <p:cNvSpPr/>
          <p:nvPr/>
        </p:nvSpPr>
        <p:spPr>
          <a:xfrm>
            <a:off x="7963327" y="5038647"/>
            <a:ext cx="184252" cy="1842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0753" y="5080527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Shape 39"/>
          <p:cNvSpPr/>
          <p:nvPr/>
        </p:nvSpPr>
        <p:spPr>
          <a:xfrm>
            <a:off x="8457377" y="5122406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2" name="Shape 40"/>
          <p:cNvSpPr/>
          <p:nvPr/>
        </p:nvSpPr>
        <p:spPr>
          <a:xfrm>
            <a:off x="8515990" y="5013501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Shape 41"/>
          <p:cNvSpPr/>
          <p:nvPr/>
        </p:nvSpPr>
        <p:spPr>
          <a:xfrm>
            <a:off x="9127266" y="5088939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4" name="Shape 42"/>
          <p:cNvSpPr/>
          <p:nvPr/>
        </p:nvSpPr>
        <p:spPr>
          <a:xfrm>
            <a:off x="9495678" y="5063793"/>
            <a:ext cx="117226" cy="11722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5" name="Shape 43"/>
          <p:cNvSpPr/>
          <p:nvPr/>
        </p:nvSpPr>
        <p:spPr>
          <a:xfrm>
            <a:off x="9847356" y="5013501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99035" y="5088939"/>
            <a:ext cx="117226" cy="11722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32994" y="5063793"/>
            <a:ext cx="184252" cy="1842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84271" y="5047060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76844" y="5030326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27045" y="5072206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846101" y="5407150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Flocs collect at the bottom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68784" y="5842496"/>
            <a:ext cx="431240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Illustration: simplified electrocoagulation cell</a:t>
            </a:r>
            <a:endParaRPr lang="en-US" sz="1000" dirty="0"/>
          </a:p>
        </p:txBody>
      </p:sp>
      <p:sp>
        <p:nvSpPr>
          <p:cNvPr id="53" name="Oceanides header">
            <a:extLst>
              <a:ext uri="{FF2B5EF4-FFF2-40B4-BE49-F238E27FC236}">
                <a16:creationId xmlns:a16="http://schemas.microsoft.com/office/drawing/2014/main" id="{93857C54-5B01-4ABD-BB99-8D725545D9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54" name="Oceanides header rule">
            <a:extLst>
              <a:ext uri="{FF2B5EF4-FFF2-40B4-BE49-F238E27FC236}">
                <a16:creationId xmlns:a16="http://schemas.microsoft.com/office/drawing/2014/main" id="{9087A9DD-E058-4BC1-AA62-F7CBEEB71E01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55" name="">
            <a:extLst>
              <a:ext uri="{FF2B5EF4-FFF2-40B4-BE49-F238E27FC236}">
                <a16:creationId xmlns:a16="http://schemas.microsoft.com/office/drawing/2014/main" id="{A13458E5-FA08-4CBB-8A7B-CB7BCD280558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56" name="Oceanides name">
            <a:extLst>
              <a:ext uri="{FF2B5EF4-FFF2-40B4-BE49-F238E27FC236}">
                <a16:creationId xmlns:a16="http://schemas.microsoft.com/office/drawing/2014/main" id="{4E292DAD-96B6-4EF1-95DD-F564111BE405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7" name="Oceanides legal name">
            <a:extLst>
              <a:ext uri="{FF2B5EF4-FFF2-40B4-BE49-F238E27FC236}">
                <a16:creationId xmlns:a16="http://schemas.microsoft.com/office/drawing/2014/main" id="{299A38BB-672F-46A7-BCB3-2F74C2A563DD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58" name="Oceanides contacts">
            <a:extLst>
              <a:ext uri="{FF2B5EF4-FFF2-40B4-BE49-F238E27FC236}">
                <a16:creationId xmlns:a16="http://schemas.microsoft.com/office/drawing/2014/main" id="{27DF901F-FA0E-4418-B1BA-823328F47C0F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59" name="Oceanides email">
            <a:extLst>
              <a:ext uri="{FF2B5EF4-FFF2-40B4-BE49-F238E27FC236}">
                <a16:creationId xmlns:a16="http://schemas.microsoft.com/office/drawing/2014/main" id="{6CE6BED9-D77F-44A8-AC15-998CB1EEAB60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60" name="Oceanides corporate TIN">
            <a:extLst>
              <a:ext uri="{FF2B5EF4-FFF2-40B4-BE49-F238E27FC236}">
                <a16:creationId xmlns:a16="http://schemas.microsoft.com/office/drawing/2014/main" id="{F62EDBE6-F0B2-47CD-8A92-F02DC33B74BA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61" name="Oceanides footer">
            <a:extLst>
              <a:ext uri="{FF2B5EF4-FFF2-40B4-BE49-F238E27FC236}">
                <a16:creationId xmlns:a16="http://schemas.microsoft.com/office/drawing/2014/main" id="{693402CC-8281-4531-BCDA-79EF07FA9E67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62" name="Oceanides footer rule">
            <a:extLst>
              <a:ext uri="{FF2B5EF4-FFF2-40B4-BE49-F238E27FC236}">
                <a16:creationId xmlns:a16="http://schemas.microsoft.com/office/drawing/2014/main" id="{DC02C0D4-4CDF-4D33-A05D-34EB7BE1B0E6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63" name="Oceanides website and Facebook">
            <a:extLst>
              <a:ext uri="{FF2B5EF4-FFF2-40B4-BE49-F238E27FC236}">
                <a16:creationId xmlns:a16="http://schemas.microsoft.com/office/drawing/2014/main" id="{AEC3494A-719F-435C-B371-88D8E8615C9E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64" name="Oceanides company emails">
            <a:extLst>
              <a:ext uri="{FF2B5EF4-FFF2-40B4-BE49-F238E27FC236}">
                <a16:creationId xmlns:a16="http://schemas.microsoft.com/office/drawing/2014/main" id="{0448CB2C-C1E1-472C-A3F6-B63E51FD952E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65" name="Oceanides slide number">
            <a:extLst>
              <a:ext uri="{FF2B5EF4-FFF2-40B4-BE49-F238E27FC236}">
                <a16:creationId xmlns:a16="http://schemas.microsoft.com/office/drawing/2014/main" id="{33CC8CD9-1C58-441B-8EC1-4A8F23D89BC5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Electrocoagulation: What It Removes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Optimizing performance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Pollutants card"/>
          <p:cNvSpPr/>
          <p:nvPr/>
        </p:nvSpPr>
        <p:spPr>
          <a:xfrm>
            <a:off x="569397" y="1733548"/>
            <a:ext cx="5333970" cy="3935578"/>
          </a:xfrm>
          <a:prstGeom prst="roundRect">
            <a:avLst>
              <a:gd name="adj" fmla="val 511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7608" y="1884241"/>
            <a:ext cx="4186763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Pollutants removed</a:t>
            </a:r>
            <a:endParaRPr lang="en-US" sz="1800" dirty="0"/>
          </a:p>
        </p:txBody>
      </p:sp>
      <p:sp>
        <p:nvSpPr>
          <p:cNvPr id="6" name="Pollutant: Turbidity"/>
          <p:cNvSpPr/>
          <p:nvPr/>
        </p:nvSpPr>
        <p:spPr>
          <a:xfrm>
            <a:off x="887608" y="2386704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Turbidity</a:t>
            </a:r>
            <a:endParaRPr lang="en-US" sz="1400" dirty="0"/>
          </a:p>
        </p:txBody>
      </p:sp>
      <p:sp>
        <p:nvSpPr>
          <p:cNvPr id="7" name="Pollutant: BOD and COD"/>
          <p:cNvSpPr/>
          <p:nvPr/>
        </p:nvSpPr>
        <p:spPr>
          <a:xfrm>
            <a:off x="3424794" y="2386704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BOD and COD</a:t>
            </a:r>
            <a:endParaRPr lang="en-US" sz="1400" dirty="0"/>
          </a:p>
        </p:txBody>
      </p:sp>
      <p:sp>
        <p:nvSpPr>
          <p:cNvPr id="8" name="Pollutant: Oil and grease"/>
          <p:cNvSpPr/>
          <p:nvPr/>
        </p:nvSpPr>
        <p:spPr>
          <a:xfrm>
            <a:off x="887608" y="3349658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Oil and grease</a:t>
            </a:r>
            <a:endParaRPr lang="en-US" sz="1400" dirty="0"/>
          </a:p>
        </p:txBody>
      </p:sp>
      <p:sp>
        <p:nvSpPr>
          <p:cNvPr id="9" name="Pollutant: Surfactants"/>
          <p:cNvSpPr/>
          <p:nvPr/>
        </p:nvSpPr>
        <p:spPr>
          <a:xfrm>
            <a:off x="3424794" y="3349658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Surfactants</a:t>
            </a:r>
            <a:endParaRPr lang="en-US" sz="1400" dirty="0"/>
          </a:p>
        </p:txBody>
      </p:sp>
      <p:sp>
        <p:nvSpPr>
          <p:cNvPr id="10" name="Pollutant: Nitrates"/>
          <p:cNvSpPr/>
          <p:nvPr/>
        </p:nvSpPr>
        <p:spPr>
          <a:xfrm>
            <a:off x="887608" y="4312613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Nitrates</a:t>
            </a:r>
            <a:endParaRPr lang="en-US" sz="1400" dirty="0"/>
          </a:p>
        </p:txBody>
      </p:sp>
      <p:sp>
        <p:nvSpPr>
          <p:cNvPr id="11" name="Pollutant: Phosphates"/>
          <p:cNvSpPr/>
          <p:nvPr/>
        </p:nvSpPr>
        <p:spPr>
          <a:xfrm>
            <a:off x="3424794" y="4312613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Phosphates</a:t>
            </a:r>
            <a:endParaRPr lang="en-US" sz="1400" dirty="0"/>
          </a:p>
        </p:txBody>
      </p:sp>
      <p:sp>
        <p:nvSpPr>
          <p:cNvPr id="12" name="Bullets"/>
          <p:cNvSpPr txBox="1"/>
          <p:nvPr/>
        </p:nvSpPr>
        <p:spPr>
          <a:xfrm>
            <a:off x="6363950" y="2009880"/>
            <a:ext cx="5191597" cy="318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Optimal removal depends on electrode material, pH and current density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Adept at removing small particles: direct current sets them in motion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Reduces residue, minimizing waste production in the treatment system</a:t>
            </a:r>
            <a:endParaRPr lang="en-US" sz="1600" dirty="0"/>
          </a:p>
        </p:txBody>
      </p:sp>
      <p:sp>
        <p:nvSpPr>
          <p:cNvPr id="13" name="Oceanides header">
            <a:extLst>
              <a:ext uri="{FF2B5EF4-FFF2-40B4-BE49-F238E27FC236}">
                <a16:creationId xmlns:a16="http://schemas.microsoft.com/office/drawing/2014/main" id="{317696DD-E688-40AF-9BF1-52783E023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14" name="Oceanides header rule">
            <a:extLst>
              <a:ext uri="{FF2B5EF4-FFF2-40B4-BE49-F238E27FC236}">
                <a16:creationId xmlns:a16="http://schemas.microsoft.com/office/drawing/2014/main" id="{1993CC34-942F-49F2-B3CE-74646303FB7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15" name="">
            <a:extLst>
              <a:ext uri="{FF2B5EF4-FFF2-40B4-BE49-F238E27FC236}">
                <a16:creationId xmlns:a16="http://schemas.microsoft.com/office/drawing/2014/main" id="{321B44B5-4155-4610-BE00-7293CB2985CF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16" name="Oceanides name">
            <a:extLst>
              <a:ext uri="{FF2B5EF4-FFF2-40B4-BE49-F238E27FC236}">
                <a16:creationId xmlns:a16="http://schemas.microsoft.com/office/drawing/2014/main" id="{10752810-A6AD-4CF9-BC2F-41DF83B9E7CA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7" name="Oceanides legal name">
            <a:extLst>
              <a:ext uri="{FF2B5EF4-FFF2-40B4-BE49-F238E27FC236}">
                <a16:creationId xmlns:a16="http://schemas.microsoft.com/office/drawing/2014/main" id="{02DFBEA2-6E8D-405B-80BC-8A9BA9E13665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18" name="Oceanides contacts">
            <a:extLst>
              <a:ext uri="{FF2B5EF4-FFF2-40B4-BE49-F238E27FC236}">
                <a16:creationId xmlns:a16="http://schemas.microsoft.com/office/drawing/2014/main" id="{7AE341F3-3862-4DA5-9D54-5836CCF563B0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19" name="Oceanides email">
            <a:extLst>
              <a:ext uri="{FF2B5EF4-FFF2-40B4-BE49-F238E27FC236}">
                <a16:creationId xmlns:a16="http://schemas.microsoft.com/office/drawing/2014/main" id="{57B28E68-41A7-496C-ADAB-806340CD2A02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20" name="Oceanides corporate TIN">
            <a:extLst>
              <a:ext uri="{FF2B5EF4-FFF2-40B4-BE49-F238E27FC236}">
                <a16:creationId xmlns:a16="http://schemas.microsoft.com/office/drawing/2014/main" id="{DEB9D291-6F1E-4542-B017-A0D27952BD2A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21" name="Oceanides footer">
            <a:extLst>
              <a:ext uri="{FF2B5EF4-FFF2-40B4-BE49-F238E27FC236}">
                <a16:creationId xmlns:a16="http://schemas.microsoft.com/office/drawing/2014/main" id="{07A14B17-66C7-481B-BB10-E893632AB74F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22" name="Oceanides footer rule">
            <a:extLst>
              <a:ext uri="{FF2B5EF4-FFF2-40B4-BE49-F238E27FC236}">
                <a16:creationId xmlns:a16="http://schemas.microsoft.com/office/drawing/2014/main" id="{0FBCACB8-EAA0-4E35-A739-813F93938498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23" name="Oceanides website and Facebook">
            <a:extLst>
              <a:ext uri="{FF2B5EF4-FFF2-40B4-BE49-F238E27FC236}">
                <a16:creationId xmlns:a16="http://schemas.microsoft.com/office/drawing/2014/main" id="{EA3B56D2-CD37-4F04-9597-255178B6D35A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24" name="Oceanides company emails">
            <a:extLst>
              <a:ext uri="{FF2B5EF4-FFF2-40B4-BE49-F238E27FC236}">
                <a16:creationId xmlns:a16="http://schemas.microsoft.com/office/drawing/2014/main" id="{967C3983-6B3F-4B76-8214-FC2E8B6F84B8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25" name="Oceanides slide number">
            <a:extLst>
              <a:ext uri="{FF2B5EF4-FFF2-40B4-BE49-F238E27FC236}">
                <a16:creationId xmlns:a16="http://schemas.microsoft.com/office/drawing/2014/main" id="{38A076DB-EC74-47AA-BAC7-21B50FC07B19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Stage 2: Ultrafiltration (UF)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Pressure-driven glass media filter separation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53156" y="2177403"/>
            <a:ext cx="6196432" cy="351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Pressure-driven glass media filter separation process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Eliminates suspended particulate matter from water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Targets dissolved compounds of high molecular weight, such as organics and total dissolved solids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Efficiently removes bacteria and most viruses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Especially well suited for tertiary treatment of sewage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7335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1825725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Raw water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14020" y="2194137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8214512" y="2085323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348472" y="2110378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8474111" y="1993152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Shape 9"/>
          <p:cNvSpPr/>
          <p:nvPr/>
        </p:nvSpPr>
        <p:spPr>
          <a:xfrm>
            <a:off x="8541045" y="1976418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8271" y="2060177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Inflow arrow"/>
          <p:cNvSpPr/>
          <p:nvPr/>
        </p:nvSpPr>
        <p:spPr>
          <a:xfrm>
            <a:off x="9411919" y="2286217"/>
            <a:ext cx="217719" cy="30147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4" name="Filter vessel"/>
          <p:cNvSpPr/>
          <p:nvPr/>
        </p:nvSpPr>
        <p:spPr>
          <a:xfrm>
            <a:off x="8624804" y="2612840"/>
            <a:ext cx="1791950" cy="2553919"/>
          </a:xfrm>
          <a:prstGeom prst="roundRect">
            <a:avLst>
              <a:gd name="adj" fmla="val 5103"/>
            </a:avLst>
          </a:prstGeom>
          <a:solidFill>
            <a:srgbClr val="D8C8A5"/>
          </a:solidFill>
          <a:ln w="3175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18361" y="268818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4201" y="268818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95678" y="27049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82301" y="27049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875989" y="283888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3708" y="274680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1" name="Shape 19"/>
          <p:cNvSpPr/>
          <p:nvPr/>
        </p:nvSpPr>
        <p:spPr>
          <a:xfrm>
            <a:off x="9537558" y="284729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5568" y="287243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6573" y="297284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0824" y="296451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5" name="Shape 23"/>
          <p:cNvSpPr/>
          <p:nvPr/>
        </p:nvSpPr>
        <p:spPr>
          <a:xfrm>
            <a:off x="9445386" y="309847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6" name="Shape 24"/>
          <p:cNvSpPr/>
          <p:nvPr/>
        </p:nvSpPr>
        <p:spPr>
          <a:xfrm>
            <a:off x="9512412" y="312362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7" name="Shape 25"/>
          <p:cNvSpPr/>
          <p:nvPr/>
        </p:nvSpPr>
        <p:spPr>
          <a:xfrm>
            <a:off x="9939437" y="303145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6955" y="309847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9" name="Shape 27"/>
          <p:cNvSpPr/>
          <p:nvPr/>
        </p:nvSpPr>
        <p:spPr>
          <a:xfrm>
            <a:off x="9160734" y="31738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0" name="Shape 28"/>
          <p:cNvSpPr/>
          <p:nvPr/>
        </p:nvSpPr>
        <p:spPr>
          <a:xfrm>
            <a:off x="8859256" y="324917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1" name="Shape 29"/>
          <p:cNvSpPr/>
          <p:nvPr/>
        </p:nvSpPr>
        <p:spPr>
          <a:xfrm>
            <a:off x="8825789" y="334134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2" name="Shape 30"/>
          <p:cNvSpPr/>
          <p:nvPr/>
        </p:nvSpPr>
        <p:spPr>
          <a:xfrm>
            <a:off x="8850935" y="339995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3" name="Shape 31"/>
          <p:cNvSpPr/>
          <p:nvPr/>
        </p:nvSpPr>
        <p:spPr>
          <a:xfrm>
            <a:off x="9746864" y="338322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23196" y="334134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445386" y="339995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32101" y="355064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7" name="Shape 35"/>
          <p:cNvSpPr/>
          <p:nvPr/>
        </p:nvSpPr>
        <p:spPr>
          <a:xfrm>
            <a:off x="8758763" y="360926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8" name="Shape 36"/>
          <p:cNvSpPr/>
          <p:nvPr/>
        </p:nvSpPr>
        <p:spPr>
          <a:xfrm>
            <a:off x="9277960" y="359252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9" name="Shape 37"/>
          <p:cNvSpPr/>
          <p:nvPr/>
        </p:nvSpPr>
        <p:spPr>
          <a:xfrm>
            <a:off x="9018361" y="367628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0" name="Shape 38"/>
          <p:cNvSpPr/>
          <p:nvPr/>
        </p:nvSpPr>
        <p:spPr>
          <a:xfrm>
            <a:off x="9545879" y="365955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48834" y="363440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2" name="Shape 40"/>
          <p:cNvSpPr/>
          <p:nvPr/>
        </p:nvSpPr>
        <p:spPr>
          <a:xfrm>
            <a:off x="9453799" y="371816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3" name="Shape 41"/>
          <p:cNvSpPr/>
          <p:nvPr/>
        </p:nvSpPr>
        <p:spPr>
          <a:xfrm>
            <a:off x="8800643" y="388559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4" name="Shape 42"/>
          <p:cNvSpPr/>
          <p:nvPr/>
        </p:nvSpPr>
        <p:spPr>
          <a:xfrm>
            <a:off x="8951427" y="381866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5" name="Shape 43"/>
          <p:cNvSpPr/>
          <p:nvPr/>
        </p:nvSpPr>
        <p:spPr>
          <a:xfrm>
            <a:off x="9160734" y="387727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6" name="Shape 44"/>
          <p:cNvSpPr/>
          <p:nvPr/>
        </p:nvSpPr>
        <p:spPr>
          <a:xfrm>
            <a:off x="9060241" y="398608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7" name="Shape 45"/>
          <p:cNvSpPr/>
          <p:nvPr/>
        </p:nvSpPr>
        <p:spPr>
          <a:xfrm>
            <a:off x="9830623" y="382698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8" name="Shape 46"/>
          <p:cNvSpPr/>
          <p:nvPr/>
        </p:nvSpPr>
        <p:spPr>
          <a:xfrm>
            <a:off x="9830623" y="396094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056663" y="375995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0" name="Shape 48"/>
          <p:cNvSpPr/>
          <p:nvPr/>
        </p:nvSpPr>
        <p:spPr>
          <a:xfrm>
            <a:off x="9562612" y="407816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1" name="Shape 49"/>
          <p:cNvSpPr/>
          <p:nvPr/>
        </p:nvSpPr>
        <p:spPr>
          <a:xfrm>
            <a:off x="9060241" y="41117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2" name="Shape 50"/>
          <p:cNvSpPr/>
          <p:nvPr/>
        </p:nvSpPr>
        <p:spPr>
          <a:xfrm>
            <a:off x="8926281" y="417865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3" name="Shape 51"/>
          <p:cNvSpPr/>
          <p:nvPr/>
        </p:nvSpPr>
        <p:spPr>
          <a:xfrm>
            <a:off x="9269547" y="418707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780331" y="412004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8944" y="41117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6" name="Shape 54"/>
          <p:cNvSpPr/>
          <p:nvPr/>
        </p:nvSpPr>
        <p:spPr>
          <a:xfrm>
            <a:off x="9554291" y="427915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7" name="Shape 55"/>
          <p:cNvSpPr/>
          <p:nvPr/>
        </p:nvSpPr>
        <p:spPr>
          <a:xfrm>
            <a:off x="9545879" y="431261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8" name="Shape 56"/>
          <p:cNvSpPr/>
          <p:nvPr/>
        </p:nvSpPr>
        <p:spPr>
          <a:xfrm>
            <a:off x="8926281" y="447172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9" name="Shape 57"/>
          <p:cNvSpPr/>
          <p:nvPr/>
        </p:nvSpPr>
        <p:spPr>
          <a:xfrm>
            <a:off x="9010040" y="450528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0" name="Shape 58"/>
          <p:cNvSpPr/>
          <p:nvPr/>
        </p:nvSpPr>
        <p:spPr>
          <a:xfrm>
            <a:off x="9319839" y="457221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1" name="Shape 59"/>
          <p:cNvSpPr/>
          <p:nvPr/>
        </p:nvSpPr>
        <p:spPr>
          <a:xfrm>
            <a:off x="9654784" y="452201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2" name="Shape 60"/>
          <p:cNvSpPr/>
          <p:nvPr/>
        </p:nvSpPr>
        <p:spPr>
          <a:xfrm>
            <a:off x="9880824" y="460577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3" name="Shape 61"/>
          <p:cNvSpPr/>
          <p:nvPr/>
        </p:nvSpPr>
        <p:spPr>
          <a:xfrm>
            <a:off x="8775497" y="470617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4" name="Shape 62"/>
          <p:cNvSpPr/>
          <p:nvPr/>
        </p:nvSpPr>
        <p:spPr>
          <a:xfrm>
            <a:off x="8859256" y="477320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5" name="Shape 63"/>
          <p:cNvSpPr/>
          <p:nvPr/>
        </p:nvSpPr>
        <p:spPr>
          <a:xfrm>
            <a:off x="9688251" y="477320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6" name="Shape 64"/>
          <p:cNvSpPr/>
          <p:nvPr/>
        </p:nvSpPr>
        <p:spPr>
          <a:xfrm>
            <a:off x="9571025" y="489042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7" name="Shape 65"/>
          <p:cNvSpPr/>
          <p:nvPr/>
        </p:nvSpPr>
        <p:spPr>
          <a:xfrm>
            <a:off x="9755276" y="489042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8" name="Shape 66"/>
          <p:cNvSpPr/>
          <p:nvPr/>
        </p:nvSpPr>
        <p:spPr>
          <a:xfrm>
            <a:off x="9076974" y="491557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82301" y="49407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792322" y="3726488"/>
            <a:ext cx="1457005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Glass media</a:t>
            </a:r>
            <a:endParaRPr lang="en-US" sz="1100" dirty="0"/>
          </a:p>
        </p:txBody>
      </p:sp>
      <p:sp>
        <p:nvSpPr>
          <p:cNvPr id="71" name="Outflow arrow"/>
          <p:cNvSpPr/>
          <p:nvPr/>
        </p:nvSpPr>
        <p:spPr>
          <a:xfrm>
            <a:off x="9411919" y="5217052"/>
            <a:ext cx="217719" cy="40197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846101" y="5627343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Clean water out</a:t>
            </a:r>
            <a:endParaRPr lang="en-US" sz="1100" dirty="0"/>
          </a:p>
        </p:txBody>
      </p:sp>
      <p:sp>
        <p:nvSpPr>
          <p:cNvPr id="73" name="Oceanides header">
            <a:extLst>
              <a:ext uri="{FF2B5EF4-FFF2-40B4-BE49-F238E27FC236}">
                <a16:creationId xmlns:a16="http://schemas.microsoft.com/office/drawing/2014/main" id="{EF232518-006B-41CD-8427-90A95FD864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74" name="Oceanides header rule">
            <a:extLst>
              <a:ext uri="{FF2B5EF4-FFF2-40B4-BE49-F238E27FC236}">
                <a16:creationId xmlns:a16="http://schemas.microsoft.com/office/drawing/2014/main" id="{402D7688-25D9-4CC5-A173-87EA5D71A28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75" name="">
            <a:extLst>
              <a:ext uri="{FF2B5EF4-FFF2-40B4-BE49-F238E27FC236}">
                <a16:creationId xmlns:a16="http://schemas.microsoft.com/office/drawing/2014/main" id="{31C266C7-0C45-4275-9665-C85E807C3067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76" name="Oceanides name">
            <a:extLst>
              <a:ext uri="{FF2B5EF4-FFF2-40B4-BE49-F238E27FC236}">
                <a16:creationId xmlns:a16="http://schemas.microsoft.com/office/drawing/2014/main" id="{17F9C1AE-628B-4570-977C-B34C7A874308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77" name="Oceanides legal name">
            <a:extLst>
              <a:ext uri="{FF2B5EF4-FFF2-40B4-BE49-F238E27FC236}">
                <a16:creationId xmlns:a16="http://schemas.microsoft.com/office/drawing/2014/main" id="{3640C990-FC40-4D8B-8A81-FEBF3A23DEDB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78" name="Oceanides contacts">
            <a:extLst>
              <a:ext uri="{FF2B5EF4-FFF2-40B4-BE49-F238E27FC236}">
                <a16:creationId xmlns:a16="http://schemas.microsoft.com/office/drawing/2014/main" id="{6477A545-5687-4812-AE81-2AA392F7E632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79" name="Oceanides email">
            <a:extLst>
              <a:ext uri="{FF2B5EF4-FFF2-40B4-BE49-F238E27FC236}">
                <a16:creationId xmlns:a16="http://schemas.microsoft.com/office/drawing/2014/main" id="{0DF1E7C8-00D2-437C-926C-2C47D80C1CD1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80" name="Oceanides corporate TIN">
            <a:extLst>
              <a:ext uri="{FF2B5EF4-FFF2-40B4-BE49-F238E27FC236}">
                <a16:creationId xmlns:a16="http://schemas.microsoft.com/office/drawing/2014/main" id="{FDA7BEF6-453D-46D2-ACB2-3A256579EC18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81" name="Oceanides footer">
            <a:extLst>
              <a:ext uri="{FF2B5EF4-FFF2-40B4-BE49-F238E27FC236}">
                <a16:creationId xmlns:a16="http://schemas.microsoft.com/office/drawing/2014/main" id="{8466B54A-47A4-4CC0-A7B1-E3BC4C64E0AD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82" name="Oceanides footer rule">
            <a:extLst>
              <a:ext uri="{FF2B5EF4-FFF2-40B4-BE49-F238E27FC236}">
                <a16:creationId xmlns:a16="http://schemas.microsoft.com/office/drawing/2014/main" id="{CE7ABF01-3847-473B-B0D4-2A5236D600F4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83" name="Oceanides website and Facebook">
            <a:extLst>
              <a:ext uri="{FF2B5EF4-FFF2-40B4-BE49-F238E27FC236}">
                <a16:creationId xmlns:a16="http://schemas.microsoft.com/office/drawing/2014/main" id="{05C296F6-E7EE-4437-8EBA-6736CB275F86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84" name="Oceanides company emails">
            <a:extLst>
              <a:ext uri="{FF2B5EF4-FFF2-40B4-BE49-F238E27FC236}">
                <a16:creationId xmlns:a16="http://schemas.microsoft.com/office/drawing/2014/main" id="{C6A70A2E-9868-40CF-BC4A-B200E225BEE6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85" name="Oceanides slide number">
            <a:extLst>
              <a:ext uri="{FF2B5EF4-FFF2-40B4-BE49-F238E27FC236}">
                <a16:creationId xmlns:a16="http://schemas.microsoft.com/office/drawing/2014/main" id="{FC2B4EBD-036B-4BB9-B000-3CCE6D8FB287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Stage 3: Fractionation Filter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Preparing the water for final treatment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53156" y="2177403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Maintains high removal efficiency with 0.1 micron pore size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Captures suspended particles, bacteria and viruses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Ensures a thorough purification process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Prepares the water for the final treatment stage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7335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1884338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Particles, bacteria, viruses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89366" y="2445322"/>
            <a:ext cx="167427" cy="167427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9947849" y="2252750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608070" y="2562548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7954914" y="2763534"/>
            <a:ext cx="200985" cy="200985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9"/>
          <p:cNvSpPr/>
          <p:nvPr/>
        </p:nvSpPr>
        <p:spPr>
          <a:xfrm>
            <a:off x="10961004" y="2537494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7377" y="2931052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8708563" y="2972840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3035" y="2931052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3708" y="2997986"/>
            <a:ext cx="133960" cy="133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hape 14"/>
          <p:cNvSpPr/>
          <p:nvPr/>
        </p:nvSpPr>
        <p:spPr>
          <a:xfrm>
            <a:off x="9478945" y="3014719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65075" y="2788680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9327" y="2788680"/>
            <a:ext cx="167427" cy="167427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5658" y="3014719"/>
            <a:ext cx="133960" cy="133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19216" y="2989665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3709" y="3157091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8965" y="3324609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8608070" y="3391543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1005" y="3265996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Membrane segment"/>
          <p:cNvSpPr/>
          <p:nvPr/>
        </p:nvSpPr>
        <p:spPr>
          <a:xfrm>
            <a:off x="7871155" y="3801835"/>
            <a:ext cx="318211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6" name="Membrane segment"/>
          <p:cNvSpPr/>
          <p:nvPr/>
        </p:nvSpPr>
        <p:spPr>
          <a:xfrm>
            <a:off x="8373618" y="38018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7" name="Membrane segment"/>
          <p:cNvSpPr/>
          <p:nvPr/>
        </p:nvSpPr>
        <p:spPr>
          <a:xfrm>
            <a:off x="8943015" y="38018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8" name="Membrane segment"/>
          <p:cNvSpPr/>
          <p:nvPr/>
        </p:nvSpPr>
        <p:spPr>
          <a:xfrm>
            <a:off x="9512412" y="3801835"/>
            <a:ext cx="393558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9" name="Membrane segment"/>
          <p:cNvSpPr/>
          <p:nvPr/>
        </p:nvSpPr>
        <p:spPr>
          <a:xfrm>
            <a:off x="10090221" y="38018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30" name="Membrane segment"/>
          <p:cNvSpPr/>
          <p:nvPr/>
        </p:nvSpPr>
        <p:spPr>
          <a:xfrm>
            <a:off x="10659618" y="38018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46101" y="4203805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Membrane: 0.1 micron pores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31246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Shape 31"/>
          <p:cNvSpPr/>
          <p:nvPr/>
        </p:nvSpPr>
        <p:spPr>
          <a:xfrm>
            <a:off x="8800643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Shape 32"/>
          <p:cNvSpPr/>
          <p:nvPr/>
        </p:nvSpPr>
        <p:spPr>
          <a:xfrm>
            <a:off x="9370040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Shape 33"/>
          <p:cNvSpPr/>
          <p:nvPr/>
        </p:nvSpPr>
        <p:spPr>
          <a:xfrm>
            <a:off x="9939437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08833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78322" y="47230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Shape 36"/>
          <p:cNvSpPr/>
          <p:nvPr/>
        </p:nvSpPr>
        <p:spPr>
          <a:xfrm>
            <a:off x="8231246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Shape 37"/>
          <p:cNvSpPr/>
          <p:nvPr/>
        </p:nvSpPr>
        <p:spPr>
          <a:xfrm>
            <a:off x="8800643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Shape 38"/>
          <p:cNvSpPr/>
          <p:nvPr/>
        </p:nvSpPr>
        <p:spPr>
          <a:xfrm>
            <a:off x="9370040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1" name="Shape 39"/>
          <p:cNvSpPr/>
          <p:nvPr/>
        </p:nvSpPr>
        <p:spPr>
          <a:xfrm>
            <a:off x="9939437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08833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78322" y="51081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846101" y="5434679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Purified water</a:t>
            </a:r>
            <a:endParaRPr lang="en-US" sz="1100" dirty="0"/>
          </a:p>
        </p:txBody>
      </p:sp>
      <p:sp>
        <p:nvSpPr>
          <p:cNvPr id="45" name="Oceanides header">
            <a:extLst>
              <a:ext uri="{FF2B5EF4-FFF2-40B4-BE49-F238E27FC236}">
                <a16:creationId xmlns:a16="http://schemas.microsoft.com/office/drawing/2014/main" id="{9A921EC6-481D-4D44-AAB3-94635BA62C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46" name="Oceanides header rule">
            <a:extLst>
              <a:ext uri="{FF2B5EF4-FFF2-40B4-BE49-F238E27FC236}">
                <a16:creationId xmlns:a16="http://schemas.microsoft.com/office/drawing/2014/main" id="{20D69B2D-EB4B-4EF9-8254-EBAD2F4F278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47" name="">
            <a:extLst>
              <a:ext uri="{FF2B5EF4-FFF2-40B4-BE49-F238E27FC236}">
                <a16:creationId xmlns:a16="http://schemas.microsoft.com/office/drawing/2014/main" id="{A1B68D4E-9D3B-41E5-92C1-A3F8B698D84D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48" name="Oceanides name">
            <a:extLst>
              <a:ext uri="{FF2B5EF4-FFF2-40B4-BE49-F238E27FC236}">
                <a16:creationId xmlns:a16="http://schemas.microsoft.com/office/drawing/2014/main" id="{461E2A5C-531A-413C-87B4-E6A562A75AD2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49" name="Oceanides legal name">
            <a:extLst>
              <a:ext uri="{FF2B5EF4-FFF2-40B4-BE49-F238E27FC236}">
                <a16:creationId xmlns:a16="http://schemas.microsoft.com/office/drawing/2014/main" id="{5336E5D0-A5AD-46C0-B986-2F9790D246DC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50" name="Oceanides contacts">
            <a:extLst>
              <a:ext uri="{FF2B5EF4-FFF2-40B4-BE49-F238E27FC236}">
                <a16:creationId xmlns:a16="http://schemas.microsoft.com/office/drawing/2014/main" id="{AA6B406B-E7B5-4428-AEE9-6C43A74DBFA1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51" name="Oceanides email">
            <a:extLst>
              <a:ext uri="{FF2B5EF4-FFF2-40B4-BE49-F238E27FC236}">
                <a16:creationId xmlns:a16="http://schemas.microsoft.com/office/drawing/2014/main" id="{1B951FDF-1989-4019-8BE6-CAFBE13217E5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52" name="Oceanides corporate TIN">
            <a:extLst>
              <a:ext uri="{FF2B5EF4-FFF2-40B4-BE49-F238E27FC236}">
                <a16:creationId xmlns:a16="http://schemas.microsoft.com/office/drawing/2014/main" id="{74D12D41-6042-4A48-986E-C50754728F81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53" name="Oceanides footer">
            <a:extLst>
              <a:ext uri="{FF2B5EF4-FFF2-40B4-BE49-F238E27FC236}">
                <a16:creationId xmlns:a16="http://schemas.microsoft.com/office/drawing/2014/main" id="{DB1A12A5-79FB-4AFC-8A0A-8345F3CDB7DB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54" name="Oceanides footer rule">
            <a:extLst>
              <a:ext uri="{FF2B5EF4-FFF2-40B4-BE49-F238E27FC236}">
                <a16:creationId xmlns:a16="http://schemas.microsoft.com/office/drawing/2014/main" id="{E33A272B-6C9D-4AB0-B03E-ED2ECD035363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55" name="Oceanides website and Facebook">
            <a:extLst>
              <a:ext uri="{FF2B5EF4-FFF2-40B4-BE49-F238E27FC236}">
                <a16:creationId xmlns:a16="http://schemas.microsoft.com/office/drawing/2014/main" id="{53919948-ECE9-4230-B1D1-87823C652059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56" name="Oceanides company emails">
            <a:extLst>
              <a:ext uri="{FF2B5EF4-FFF2-40B4-BE49-F238E27FC236}">
                <a16:creationId xmlns:a16="http://schemas.microsoft.com/office/drawing/2014/main" id="{9D4DCC8F-E279-4E8F-A0B6-6FB9ABF81929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57" name="Oceanides slide number">
            <a:extLst>
              <a:ext uri="{FF2B5EF4-FFF2-40B4-BE49-F238E27FC236}">
                <a16:creationId xmlns:a16="http://schemas.microsoft.com/office/drawing/2014/main" id="{5F07080D-A268-4B77-9EA1-781A5083B44C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Stage 4: Advanced Oxidation + UV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Ozone gas combined with ultraviolet disinfection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53156" y="2177403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Advanced oxidation with ozone gas removes microbial contamination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Ultraviolet disinfection is an effective final barrier, a crucial part of tertiary wastewater treatment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Microbes exposed to UV light have their DNA destroyed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Disinfects the water and ensures harmful microbes are eradicated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7335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2328096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UV lamp</a:t>
            </a:r>
            <a:endParaRPr lang="en-US" sz="1100" dirty="0"/>
          </a:p>
        </p:txBody>
      </p:sp>
      <p:sp>
        <p:nvSpPr>
          <p:cNvPr id="7" name="UV lamp"/>
          <p:cNvSpPr/>
          <p:nvPr/>
        </p:nvSpPr>
        <p:spPr>
          <a:xfrm>
            <a:off x="7996794" y="2646307"/>
            <a:ext cx="3056382" cy="226131"/>
          </a:xfrm>
          <a:prstGeom prst="roundRect">
            <a:avLst>
              <a:gd name="adj" fmla="val 40437"/>
            </a:avLst>
          </a:prstGeom>
          <a:solidFill>
            <a:schemeClr val="accent6"/>
          </a:solidFill>
          <a:ln/>
        </p:spPr>
      </p:sp>
      <p:sp>
        <p:nvSpPr>
          <p:cNvPr id="8" name="Shape 6"/>
          <p:cNvSpPr/>
          <p:nvPr/>
        </p:nvSpPr>
        <p:spPr>
          <a:xfrm>
            <a:off x="8247979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8187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8303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8511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68627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8834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28950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09158" y="29310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6" name="Water"/>
          <p:cNvSpPr/>
          <p:nvPr/>
        </p:nvSpPr>
        <p:spPr>
          <a:xfrm>
            <a:off x="7745608" y="3759955"/>
            <a:ext cx="3558753" cy="1649578"/>
          </a:xfrm>
          <a:prstGeom prst="roundRect">
            <a:avLst>
              <a:gd name="adj" fmla="val 6652"/>
            </a:avLst>
          </a:prstGeom>
          <a:solidFill>
            <a:schemeClr val="accent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09548" y="3927473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09548" y="3927473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420332" y="3935886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20332" y="3935886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23196" y="4212217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23196" y="4212217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58633" y="4237272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58633" y="4237272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274381" y="4572217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74381" y="4572217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38181" y="4731322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38181" y="4731322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887980" y="4940720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87980" y="4940720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16884" y="5116559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16884" y="5116559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42392" y="5041121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542392" y="5041121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846101" y="5526850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Ozone (O3) + UV in water</a:t>
            </a:r>
            <a:endParaRPr lang="en-US" sz="1100" dirty="0"/>
          </a:p>
        </p:txBody>
      </p:sp>
      <p:sp>
        <p:nvSpPr>
          <p:cNvPr id="36" name="Oceanides header">
            <a:extLst>
              <a:ext uri="{FF2B5EF4-FFF2-40B4-BE49-F238E27FC236}">
                <a16:creationId xmlns:a16="http://schemas.microsoft.com/office/drawing/2014/main" id="{8BEEA7FD-7401-4F87-92CC-EECCFC18E1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37" name="Oceanides header rule">
            <a:extLst>
              <a:ext uri="{FF2B5EF4-FFF2-40B4-BE49-F238E27FC236}">
                <a16:creationId xmlns:a16="http://schemas.microsoft.com/office/drawing/2014/main" id="{78B19E41-90F7-446A-921E-1308293A6355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38" name="">
            <a:extLst>
              <a:ext uri="{FF2B5EF4-FFF2-40B4-BE49-F238E27FC236}">
                <a16:creationId xmlns:a16="http://schemas.microsoft.com/office/drawing/2014/main" id="{A1DEE1CC-8F84-4E42-91F2-4445646551B9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39" name="Oceanides name">
            <a:extLst>
              <a:ext uri="{FF2B5EF4-FFF2-40B4-BE49-F238E27FC236}">
                <a16:creationId xmlns:a16="http://schemas.microsoft.com/office/drawing/2014/main" id="{233E4E12-63F9-4E75-9BC8-54E17E113C44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40" name="Oceanides legal name">
            <a:extLst>
              <a:ext uri="{FF2B5EF4-FFF2-40B4-BE49-F238E27FC236}">
                <a16:creationId xmlns:a16="http://schemas.microsoft.com/office/drawing/2014/main" id="{1B14F765-6DAD-4A38-8653-ACDCC4FB1E11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41" name="Oceanides contacts">
            <a:extLst>
              <a:ext uri="{FF2B5EF4-FFF2-40B4-BE49-F238E27FC236}">
                <a16:creationId xmlns:a16="http://schemas.microsoft.com/office/drawing/2014/main" id="{2CD1EA58-88D6-4516-9091-216EA634D69B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42" name="Oceanides email">
            <a:extLst>
              <a:ext uri="{FF2B5EF4-FFF2-40B4-BE49-F238E27FC236}">
                <a16:creationId xmlns:a16="http://schemas.microsoft.com/office/drawing/2014/main" id="{1677FEE1-7F8B-4B26-BB75-F39AC4603DD0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43" name="Oceanides corporate TIN">
            <a:extLst>
              <a:ext uri="{FF2B5EF4-FFF2-40B4-BE49-F238E27FC236}">
                <a16:creationId xmlns:a16="http://schemas.microsoft.com/office/drawing/2014/main" id="{7A211122-9713-4113-AC49-C88C575C0706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44" name="Oceanides footer">
            <a:extLst>
              <a:ext uri="{FF2B5EF4-FFF2-40B4-BE49-F238E27FC236}">
                <a16:creationId xmlns:a16="http://schemas.microsoft.com/office/drawing/2014/main" id="{8F8B765D-205B-468D-A693-BBCB2EB63F6E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45" name="Oceanides footer rule">
            <a:extLst>
              <a:ext uri="{FF2B5EF4-FFF2-40B4-BE49-F238E27FC236}">
                <a16:creationId xmlns:a16="http://schemas.microsoft.com/office/drawing/2014/main" id="{7828FAF0-EA18-4287-BD5B-A124B4DF054D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46" name="Oceanides website and Facebook">
            <a:extLst>
              <a:ext uri="{FF2B5EF4-FFF2-40B4-BE49-F238E27FC236}">
                <a16:creationId xmlns:a16="http://schemas.microsoft.com/office/drawing/2014/main" id="{AC588424-B478-4D26-B467-6A7D05ED16A2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47" name="Oceanides company emails">
            <a:extLst>
              <a:ext uri="{FF2B5EF4-FFF2-40B4-BE49-F238E27FC236}">
                <a16:creationId xmlns:a16="http://schemas.microsoft.com/office/drawing/2014/main" id="{A896800B-579F-4362-92FA-59B53CBA6182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48" name="Oceanides slide number">
            <a:extLst>
              <a:ext uri="{FF2B5EF4-FFF2-40B4-BE49-F238E27FC236}">
                <a16:creationId xmlns:a16="http://schemas.microsoft.com/office/drawing/2014/main" id="{0F7907FE-08D1-4FEC-8FB2-03A816F6C0A4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981075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2C5E"/>
                </a:solidFill>
              </a:rPr>
              <a:t>Conclusion</a:t>
            </a:r>
            <a:endParaRPr lang="en-US" sz="2800" dirty="0">
              <a:solidFill>
                <a:srgbClr val="0E2C5E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1495425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2C5E"/>
                </a:solidFill>
              </a:rPr>
              <a:t>Ready for responsible discharge</a:t>
            </a:r>
            <a:endParaRPr lang="en-US" sz="1200" dirty="0">
              <a:solidFill>
                <a:srgbClr val="0E2C5E"/>
              </a:solidFill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653156" y="1733548"/>
            <a:ext cx="10550713" cy="21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Effluent water surpasses regulatory standards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Comprehensive process combining cutting-edge technologies: electrocoagulation, ultrafiltration, fractionation filter and advanced oxidation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drop of water undergoes meticulous purification</a:t>
            </a:r>
            <a:endParaRPr lang="en-US" sz="1800" dirty="0"/>
          </a:p>
        </p:txBody>
      </p:sp>
      <p:sp>
        <p:nvSpPr>
          <p:cNvPr id="5" name="Thank you"/>
          <p:cNvSpPr/>
          <p:nvPr/>
        </p:nvSpPr>
        <p:spPr>
          <a:xfrm>
            <a:off x="2537186" y="4337759"/>
            <a:ext cx="7117598" cy="1147206"/>
          </a:xfrm>
          <a:prstGeom prst="roundRect">
            <a:avLst>
              <a:gd name="adj" fmla="val 1992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6" name="Oceanides header">
            <a:extLst>
              <a:ext uri="{FF2B5EF4-FFF2-40B4-BE49-F238E27FC236}">
                <a16:creationId xmlns:a16="http://schemas.microsoft.com/office/drawing/2014/main" id="{124C81FF-1252-4EA2-B8E2-4D03F85179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ECF7FF"/>
          </a:solidFill>
          <a:ln w="0">
            <a:noFill/>
          </a:ln>
        </p:spPr>
      </p:sp>
      <p:sp>
        <p:nvSpPr>
          <p:cNvPr id="7" name="Oceanides header rule">
            <a:extLst>
              <a:ext uri="{FF2B5EF4-FFF2-40B4-BE49-F238E27FC236}">
                <a16:creationId xmlns:a16="http://schemas.microsoft.com/office/drawing/2014/main" id="{00F1BFE0-0DCE-4FC4-85E5-A6A4F1D65194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38100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pic>
        <p:nvPicPr>
          <p:cNvPr id="8" name="">
            <a:extLst>
              <a:ext uri="{FF2B5EF4-FFF2-40B4-BE49-F238E27FC236}">
                <a16:creationId xmlns:a16="http://schemas.microsoft.com/office/drawing/2014/main" id="{8FF0ED4C-10FD-48AD-9EED-8BE6E3DFFBF3}"/>
              </a:ext>
            </a:extLst>
          </p:cNvPr>
          <p:cNvPicPr>
            <a:picLocks noChangeAspect="1"/>
          </p:cNvPicPr>
          <p:nvPr/>
        </p:nvPicPr>
        <p:blipFill>
          <a:blip r:embed="RbrandLogo"/>
          <a:stretch/>
        </p:blipFill>
        <p:spPr>
          <a:xfrm>
            <a:off x="400050" y="85725"/>
            <a:ext cx="666750" cy="666750"/>
          </a:xfrm>
          <a:prstGeom prst="rect">
            <a:avLst/>
          </a:prstGeom>
        </p:spPr>
      </p:pic>
      <p:sp>
        <p:nvSpPr>
          <p:cNvPr id="9" name="Oceanides name">
            <a:extLst>
              <a:ext uri="{FF2B5EF4-FFF2-40B4-BE49-F238E27FC236}">
                <a16:creationId xmlns:a16="http://schemas.microsoft.com/office/drawing/2014/main" id="{660A8FC6-AC43-4249-802C-E868C025B99B}"/>
              </a:ext>
            </a:extLst>
          </p:cNvPr>
          <p:cNvSpPr>
            <a:spLocks noGrp="1"/>
          </p:cNvSpPr>
          <p:nvPr/>
        </p:nvSpPr>
        <p:spPr>
          <a:xfrm>
            <a:off x="1257300" y="66675"/>
            <a:ext cx="7715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10" name="Oceanides legal name">
            <a:extLst>
              <a:ext uri="{FF2B5EF4-FFF2-40B4-BE49-F238E27FC236}">
                <a16:creationId xmlns:a16="http://schemas.microsoft.com/office/drawing/2014/main" id="{B235E881-9611-48DB-9B37-8A43808B3EC9}"/>
              </a:ext>
            </a:extLst>
          </p:cNvPr>
          <p:cNvSpPr>
            <a:spLocks noGrp="1"/>
          </p:cNvSpPr>
          <p:nvPr/>
        </p:nvSpPr>
        <p:spPr>
          <a:xfrm>
            <a:off x="1257300" y="314325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38" b="1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238" b="1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Plumbing Siphoning &amp; Pest Management Services OPC</a:t>
            </a:r>
          </a:p>
        </p:txBody>
      </p:sp>
      <p:sp>
        <p:nvSpPr>
          <p:cNvPr id="11" name="Oceanides contacts">
            <a:extLst>
              <a:ext uri="{FF2B5EF4-FFF2-40B4-BE49-F238E27FC236}">
                <a16:creationId xmlns:a16="http://schemas.microsoft.com/office/drawing/2014/main" id="{192F8F20-8D07-4532-A2AE-8A007A5E6F6B}"/>
              </a:ext>
            </a:extLst>
          </p:cNvPr>
          <p:cNvSpPr>
            <a:spLocks noGrp="1"/>
          </p:cNvSpPr>
          <p:nvPr/>
        </p:nvSpPr>
        <p:spPr>
          <a:xfrm>
            <a:off x="1257300" y="533400"/>
            <a:ext cx="1000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1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101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(02) 8633 8486 / 8330 1329   |   Globe 0917 671 6383   |   Smart 0939 245 6217</a:t>
            </a:r>
          </a:p>
        </p:txBody>
      </p:sp>
      <p:sp>
        <p:nvSpPr>
          <p:cNvPr id="12" name="Oceanides email">
            <a:extLst>
              <a:ext uri="{FF2B5EF4-FFF2-40B4-BE49-F238E27FC236}">
                <a16:creationId xmlns:a16="http://schemas.microsoft.com/office/drawing/2014/main" id="{958B9C02-EF16-48CB-B2D5-AC2784D30AD3}"/>
              </a:ext>
            </a:extLst>
          </p:cNvPr>
          <p:cNvSpPr>
            <a:spLocks noGrp="1"/>
          </p:cNvSpPr>
          <p:nvPr/>
        </p:nvSpPr>
        <p:spPr>
          <a:xfrm>
            <a:off x="1257300" y="704850"/>
            <a:ext cx="80962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0">
                <a:solidFill>
                  <a:srgbClr val="0E2C5E"/>
                </a:solidFill>
                <a:latin typeface="Segoe UI"/>
                <a:ea typeface="Segoe UI"/>
                <a:cs typeface="Segoe UI"/>
              </a:defRPr>
            </a:pPr>
            <a:r>
              <a:rPr sz="863" b="0">
                <a:solidFill>
                  <a:srgbClr val="0E2C5E"/>
                </a:solidFill>
                <a:latin typeface="Segoe UI"/>
                <a:ea typeface="Segoe UI"/>
                <a:cs typeface="Segoe UI"/>
              </a:rPr>
              <a:t>marketing@oceanidessepticandpest.com</a:t>
            </a:r>
          </a:p>
        </p:txBody>
      </p:sp>
      <p:sp>
        <p:nvSpPr>
          <p:cNvPr id="13" name="Oceanides corporate TIN">
            <a:extLst>
              <a:ext uri="{FF2B5EF4-FFF2-40B4-BE49-F238E27FC236}">
                <a16:creationId xmlns:a16="http://schemas.microsoft.com/office/drawing/2014/main" id="{B0411EAB-A50F-4C36-AFA7-C6F3AB26829F}"/>
              </a:ext>
            </a:extLst>
          </p:cNvPr>
          <p:cNvSpPr>
            <a:spLocks noGrp="1"/>
          </p:cNvSpPr>
          <p:nvPr/>
        </p:nvSpPr>
        <p:spPr>
          <a:xfrm>
            <a:off x="9658350" y="952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863" b="1">
                <a:solidFill>
                  <a:srgbClr val="1267A5"/>
                </a:solidFill>
                <a:latin typeface="Segoe UI"/>
                <a:ea typeface="Segoe UI"/>
                <a:cs typeface="Segoe UI"/>
              </a:defRPr>
            </a:pPr>
            <a:r>
              <a:rPr sz="863" b="1">
                <a:solidFill>
                  <a:srgbClr val="1267A5"/>
                </a:solidFill>
                <a:latin typeface="Segoe UI"/>
                <a:ea typeface="Segoe UI"/>
                <a:cs typeface="Segoe UI"/>
              </a:rPr>
              <a:t>OPC TIN: 693-974-075-00000</a:t>
            </a:r>
          </a:p>
        </p:txBody>
      </p:sp>
      <p:sp>
        <p:nvSpPr>
          <p:cNvPr id="14" name="Oceanides footer">
            <a:extLst>
              <a:ext uri="{FF2B5EF4-FFF2-40B4-BE49-F238E27FC236}">
                <a16:creationId xmlns:a16="http://schemas.microsoft.com/office/drawing/2014/main" id="{F5C39779-5279-43D2-8FFC-9CB23D55EC85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0E2C5E"/>
          </a:solidFill>
          <a:ln w="0">
            <a:noFill/>
          </a:ln>
        </p:spPr>
      </p:sp>
      <p:sp>
        <p:nvSpPr>
          <p:cNvPr id="15" name="Oceanides footer rule">
            <a:extLst>
              <a:ext uri="{FF2B5EF4-FFF2-40B4-BE49-F238E27FC236}">
                <a16:creationId xmlns:a16="http://schemas.microsoft.com/office/drawing/2014/main" id="{6A41EBDF-D559-4707-839C-0007F89E03E3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12192000" cy="28575"/>
          </a:xfrm>
          <a:prstGeom prst="rect">
            <a:avLst/>
          </a:prstGeom>
          <a:solidFill>
            <a:srgbClr val="2DAEEC"/>
          </a:solidFill>
          <a:ln w="0">
            <a:noFill/>
          </a:ln>
        </p:spPr>
      </p:sp>
      <p:sp>
        <p:nvSpPr>
          <p:cNvPr id="16" name="Oceanides website and Facebook">
            <a:extLst>
              <a:ext uri="{FF2B5EF4-FFF2-40B4-BE49-F238E27FC236}">
                <a16:creationId xmlns:a16="http://schemas.microsoft.com/office/drawing/2014/main" id="{E46FCA58-391C-4F70-9AC4-38E965B685A9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oceanidesph.com   |   facebook.com/OceanidesMalabanan</a:t>
            </a:r>
          </a:p>
        </p:txBody>
      </p:sp>
      <p:sp>
        <p:nvSpPr>
          <p:cNvPr id="17" name="Oceanides company emails">
            <a:extLst>
              <a:ext uri="{FF2B5EF4-FFF2-40B4-BE49-F238E27FC236}">
                <a16:creationId xmlns:a16="http://schemas.microsoft.com/office/drawing/2014/main" id="{F26538BB-AA42-43CF-890E-66D69D064870}"/>
              </a:ext>
            </a:extLst>
          </p:cNvPr>
          <p:cNvSpPr>
            <a:spLocks noGrp="1"/>
          </p:cNvSpPr>
          <p:nvPr/>
        </p:nvSpPr>
        <p:spPr>
          <a:xfrm>
            <a:off x="400050" y="6619875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marketing@oceanidessepticandpest.com   |   corporate@oceanidessepticandpest.com</a:t>
            </a:r>
          </a:p>
        </p:txBody>
      </p:sp>
      <p:sp>
        <p:nvSpPr>
          <p:cNvPr id="18" name="Oceanides slide number">
            <a:extLst>
              <a:ext uri="{FF2B5EF4-FFF2-40B4-BE49-F238E27FC236}">
                <a16:creationId xmlns:a16="http://schemas.microsoft.com/office/drawing/2014/main" id="{D3548321-B8E0-4E50-A5CA-350D835EE48F}"/>
              </a:ext>
            </a:extLst>
          </p:cNvPr>
          <p:cNvSpPr>
            <a:spLocks noGrp="1"/>
          </p:cNvSpPr>
          <p:nvPr/>
        </p:nvSpPr>
        <p:spPr>
          <a:xfrm>
            <a:off x="11487150" y="661035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ides STP">
  <a:themeElements>
    <a:clrScheme name="Oceanides STP">
      <a:dk1>
        <a:srgbClr val="1F2D3D"/>
      </a:dk1>
      <a:lt1>
        <a:srgbClr val="FFFFFF"/>
      </a:lt1>
      <a:dk2>
        <a:srgbClr val="0B3C5D"/>
      </a:dk2>
      <a:lt2>
        <a:srgbClr val="E8F5F4"/>
      </a:lt2>
      <a:accent1>
        <a:srgbClr val="1EA8A3"/>
      </a:accent1>
      <a:accent2>
        <a:srgbClr val="F28C28"/>
      </a:accent2>
      <a:accent3>
        <a:srgbClr val="8B6B4A"/>
      </a:accent3>
      <a:accent4>
        <a:srgbClr val="9ED8EA"/>
      </a:accent4>
      <a:accent5>
        <a:srgbClr val="6B7C8C"/>
      </a:accent5>
      <a:accent6>
        <a:srgbClr val="7B4FD6"/>
      </a:accent6>
      <a:hlink>
        <a:srgbClr val="1EA8A3"/>
      </a:hlink>
      <a:folHlink>
        <a:srgbClr val="6B7C8C"/>
      </a:folHlink>
    </a:clrScheme>
    <a:fontScheme name="Oceanides ST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Oceanides STP</vt:lpstr>
      <vt:lpstr>Advanced Sewage Treatment Plant</vt:lpstr>
      <vt:lpstr>Overview</vt:lpstr>
      <vt:lpstr>Treatment Process Flow</vt:lpstr>
      <vt:lpstr>Stage 1: Electrocoagulation Reactor</vt:lpstr>
      <vt:lpstr>Electrocoagulation: What It Removes</vt:lpstr>
      <vt:lpstr>Stage 2: Ultrafiltration (UF)</vt:lpstr>
      <vt:lpstr>Stage 3: Fractionation Filter</vt:lpstr>
      <vt:lpstr>Stage 4: Advanced Oxidation + UV</vt:lpstr>
      <vt:lpstr>Conclusion</vt:lpstr>
    </vt:vector>
  </TitlesOfParts>
  <Company>Oceanides Malabanan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Sewage Treatment Plant</dc:title>
  <dc:subject>PptxGenJS Presentation</dc:subject>
  <dc:creator>PptxGenJS</dc:creator>
  <cp:lastModifiedBy>acipriano</cp:lastModifiedBy>
  <cp:revision>1</cp:revision>
  <dcterms:created xsi:type="dcterms:W3CDTF">2026-10-13T15:24:56Z</dcterms:created>
  <dcterms:modified xsi:type="dcterms:W3CDTF">2026-10-13T15:30:10Z</dcterms:modified>
</cp:coreProperties>
</file>